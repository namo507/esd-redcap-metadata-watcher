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opening with the framing that matters most for how this deck should be read. This is an exploratory segmentation of caregiver attitudes toward infant autism screening, and everything I show comes straight out of the notebook in the project folder. I clustered on ten theory guided acceptability composites only, and I deliberately held out the four families the team asked about, which are demographics, values, autism knowledge, and the screening decision itself. That hold out is what lets me treat the screening gap you will see in a few slides as an actual finding rather than something I built into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short version before I walk through the evidence. Two profiles came out of the ten acceptability domains, splitting the clustered sample 84 to 47. The held out screening question separates them hard, seventy percent versus twenty eight percent saying definitely yes, and I want to stress again that screening never touched the model. What I did not find is just as useful. The silhouette sits at 0.18, which tells me these are regions along a gradient rather than clean caregiver types, and once I applied FDR correction within the values and demographics families, nothing survived. So the actionable signal here is attitudinal and logistical, and I would not build any targeting on demographics from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explicit about role locking because it is the part of the design that carries the most weight. Only the ten acceptability composites went into the model. The screening endpoint follows the definition already recorded in the analysis tracker, which is definitely yes against every other valid answer, and missing stays missing rather than being folded into the no group. Values, knowledge, and demographics sat completely outside the fitting step, so when I compare them across profiles later I am running a genuine out of sample check. I also never loaded the direct identifiers into the analytic table, which means nothing downstream can accidentally leak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hashed every input before touching it so this deck can be tied back to exact files later. The two REDCap exports agree on 177 records and on record order, which is what let me validate the raw and labeled files against each other. The cleaned file is where my one real lineage gap sits. It names 135 IDs and I could not find any local documentation of how those 135 were chosen out of 177. I am treating that cohort as given because the team supplied it, but it is the first thing I would want written down before any of this gets used operationally.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checks I ran before any modeling, and two of them shaped later decisions. Four of the 135 selected records are partial, which is why my clustering cohort is 131 rather than 135. Caregiver age drops to 126 valid because I refused to treat zeros as real ages. The schema difference is small but it would have been a silent error if I had missed it. Three extra columns in the labeled demographic block mean position based zipping would have shifted labels onto the wrong variables, so I coded everything from the raw export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attrition path in full. I required at least eight of the ten domains to be observed before a respondent could be clustered, which cost me four people and left 131. Of those, 127 also had a usable screening answer, and that 127 is the denominator behind the screening comparison. The bottom row is the one I check for bias. Those four people were excluded from clustering but did answer the screening item, and not one of them said definitely yes, so dropping them did not quietly remove enthusiastic screeners from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domain is aligned so that higher always means more accepting or more supportive, which is what makes the profile plots readable later. Two things in this table shaped my expectations before I ran anything. Low aversive affect has a mean of 96 and a standard deviation of 10, so almost nobody reports disgust or anger about screening and that domain has very little room to separate people. At the other end, blood test openness has a standard deviation of 32 and accuracy tolerance sits at a mean of 38, so those are where caregivers actually disagree. Sure enough, those are the domains that end up doing the work in the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not want to oversell k equals two, so here is the full grid. Three of the five criteria favor two clusters and two of them do not, and that disagreement is itself informative. The practical tiebreaker for me was the smallest cluster column. From k equals three onward there is always a group of nine or fewer people, and I cannot responsibly characterize a group that size on held out demographics or knowledge scores. The other thing to sit with is that no value of k clears the 0.25 silhouette reference. Whatever structure is here, it is a soft gradient and I would resist language that turns these into caregiver personality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inertia curve in the top left is the clearest signal in this figure, and what it tells me is that there is no elbow. It just decays. If there were genuinely separate caregiver populations I would expect a kink, and there is none. The silhouette panel sits entirely below the dashed reference line. The stability panel is worth a second look because the shaded band runs from the tenth percentile up to the mean, and even at its best around k equals three the tenth percentile is only about 0.53, meaning one run in ten reshuffles a lot of people. The gap statistic keeps rising with k, so its one standard error rule picks the smallest defensible value, which is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defend this choice out loud rather than let it pass silently. Two clusters wins on the separation metrics and it is the parsimonious choice given that nothing is well separated anywhere. The decisive practical argument is cluster size, because a nine person cluster cannot support any of the held out comparisons that follow. The bottom row is my caveat and I would not drop it from any version of this deck. Under Ward linkage the split moves to 88 and 43, and under complete case filtering the agreement with my primary solution falls to 0.58, so the boundary between these two groups is real but soft.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panel is the whole segmentation in one view. Every domain is higher in the blue profile, and that is exactly what a gradient looks like rather than two groups with different shapes. Notice the bottom row, low aversive affect, where the two profiles sit at 98 and 93 and effectively touch. That domain contributes almost nothing. The right panel carries a caution I do not want buried. The Higher acceptability profile has a mean silhouette of 0.24 with no negatively assigned cases, but the Conditional profile sits at 0.07 with twelve people, a quarter of that group, showing negative silhouettes. Those twelve are closer to the other cluster than to their own, so the Conditional label is doing looser work than the Higher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 by the gap tells me what the model actually keyed on. The top three are positive affect and clinical trust, blood test openness, and ethical or moral support, each about 25 points apart. That combination reads to me as trust plus tolerance for invasiveness rather than any general enthusiasm about autism screening. The bottom row is the useful null. Low aversive affect differs by only 4.2 points, so no one in either profile is repelled by the idea. And the low burden modality row at 91 versus 75 is the most encouraging number on this slide, because it says the Conditional group is not refusing screening, it is refusing certain versions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this point on is an out of sample check. I fitted and named the clusters before looking at any of these four families, which is what gives the next few slides their credibility. I also let each measure use its own valid denominator instead of forcing a common complete case sample, because forcing one would have thrown away real information for no methodological gain. Where a family contains several tests I corrected within that family using Benjamini Hochberg, and I will flag every place that correction changes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Seventy percent of the Higher acceptability profile say they would definitely screen against twenty eight percent of the Conditional profile, and the Wilson intervals are nowhere near each other. Because screening was held out entirely, I read this as evidence that the acceptability composites carry real information about stated intent. The second stat card matters for how we talk about the Conditional group. On the looser probably or definitely measure they reach sixty percent, so the honest framing is that they are hesitant rather than opposed. I also checked the four excluded partial records and none of them said definitely yes, so my exclusion rule did not manufacture this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hand panel is the one I would put in front of a clinical audience because it shows the whole response distribution rather than a single collapsed rate. In the Conditional profile, forty percent land in the no, probably not, or unsure band and another thirty two percent say probably. That middle band is where the design opportunity sits. These are not refusers, they are people waiting to hear how the screening would actually work. In the Higher acceptability profile only ten percent fall into that first band, so there is very little left to persuade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was the family I most expected to separate the profiles, and it does not. The Higher acceptability group scores 3.90 out of seven against 3.41, and the Mann Whitney p is 0.099, which does not clear the line even before I think about multiplicity. I ran the eight item version both ways to handle the unresolved behavior age key and got 0.064 and 0.228, so the answer does not hinge on that unresolved item. The self rated row is the one I find most interesting. Both profiles rate their own knowledge at essentially the same level, around 3.5 out of five, while their objective scores differ slightly. Perceived expertise is not tracking actual expertise here, and it is certainly not what is driving screening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Breaking the score into items is where I found the most directly useful content in this whole analysis. The two profiles answer in nearly the same rank order, which reinforces that knowledge is not what divides them. What jumps out instead is the shared gap. Vaccines and Tylenol are at roughly seventy five percent correct in both groups, which is genuinely good news about public messaging on those myths. Genetics is at thirty percent and twenty one percent, sibling recurrence sits in the low forties, and prevalence is at fifty and thirty. So caregivers have absorbed what autism is not caused by and have not absorbed the heritability picture, which is precisely the content that would make an early screening offer make sense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panel shows the bootstrap intervals overlapping across most of their range, which is the visual version of that p equals 0.099. The right panel is the one I keep coming back to. Read down the vertical ordering and the two colors track each other closely at the top and stay close at the bottom. The only items with visible daylight between them are prevalence and why diagnoses increased, and even those have overlapping intervals in the table. If knowledge were driving acceptability I would expect the blue dots to sit consistently to the right, and they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separate value scores means ten separate chances to find something by accident, so I corrected within the family rather than reporting them one at a time. Self direction is the only one that would look significant on its own, at p equals 0.013 with a small to moderate effect size around 0.48, and it is a plausible story that caregivers who prize autonomy are more open to a screening offer. But once I adjust, the smallest p in the family is 0.129 and nothing clears. I am reporting it because it is a reasonable hypothesis for a future study, not because this sample supports it. I should also flag that the local files never document how these value scores were computed or centered, so the absolute levels should be treated cautiously.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Visually this is a slide about how small these gaps are. Self direction at the top has the widest separation on the plot and it is still under half a scale point on a one to six range. From benevolence downward the two dots essentially sit on top of each other, and for achievement, tradition, and conformity the ordering actually flips, with the Conditional profile scoring marginally higher. That flip is the clearest sign that I am looking at noise. Both profiles share the same value hierarchy, putting benevolence, universalism, and self direction at the top and power and tradition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should stop anyone from building demographic targeting on top of this work. Eleven measures, not one of them adjusting below 0.5. Education, employment, rurality, and healthcare access are flat across the profiles. The two rows worth a second look both run against the intuitive direction. The Conditional profile is slightly more likely to have an autistic child at home, fifty one against forty two percent, and noticeably more likely to report a premature birth, forty seven against thirty percent with a raw p right at 0.051. If that premature birth pattern holds in a larger sample it would be worth chasing, since those families have more medical system contact and may be reacting to burden rather than to autism screening itself. In this sample it is a hypothesis,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this plot from the bottom up, the first five rows are nearly stacked, which is exactly the flat picture the table describes. The top two rows are where the dots pull apart, and in both cases the orange dot sits to the right, meaning the Conditional profile reports more premature births and more children with special needs. That is the opposite of what a simple exposure story would predict, where families with more disability experience would be more comfortable with screening. It fits better with a burden story, that these families already carry a heavy appointment load and are reacting to what screening would cost them in time and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table I would hand to someone designing the actual screening offer. Note that the defining dimensions are identical for both profiles, which is worth saying out loud. The same three things separate them, so I am not describing two groups who care about different issues, I am describing one issue set where two groups sit at different points. That is why the decision guidance differs in emphasis rather than in kind. For the Higher acceptability group the work is mostly logistical, keep the pathway light and make the next step immediate before enthusiasm decays. For the Conditional group the work is upstream of logistics, and it is about trust, choice, being straight about accuracy, and naming the ethical safeguards.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four checks and they split cleanly into good news and a caution. The good news is the ethics exclusion test. Ethical and moral support was one of the three domains defining the split, and the screening question itself has an ethical flavor, so I wanted to know whether I had built a circular result. Removing that domain entirely still leaves a twenty two point gap with a Fisher p of 0.018, so the association is not an artifact. The caution is the ARI column. Agreement with my primary solution ranges from 0.585 to 0.822 depending on preprocessing, and Ward linkage moves four people across the boundary and rebalances to 88 and 43. So the profiles describe a real pattern in the aggregate, but I would never tell an individual caregiver which cluster they are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over disclose here than have someone else find these later. The cohort rule is my biggest unknown, because if the 135 were selected in any way related to engagement or attitude then both the profile sizes and the screening gap inherit that bias and I cannot bound it. The separation weakness I have already covered, but the twelve negative silhouettes in the Conditional group deserve repeating, since a quarter of that group sits closer to the other cluster. And the endpoint is stated intent, not behavior. The gap between what caregivers say in a survey and what they do at a four month well child visit is exactly the kind of gap that has embarrassed intention research before, so I would want prospective validation before anyone builds a pathway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people remember one thing from this deck I want it to be the third point. The temptation with any segmentation is to reach for demographics, and this analysis actively argues against that. What separates these caregivers is how they feel about trust, invasiveness, accuracy, and ethics, and every one of those is something we can address through how the offer is designed and described. That is a far better position than if the split had been by education or geography, because attitudes about a specific offer are movable in a way that demographics are not. The fourth point is the honest ask. Before any of this drives a real pathway I need the data dictionary, the values scoring documentation, the behavior age key, and a written cohort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this so someone else can rerun it without asking me questions. The seed is fixed, the K means runs use a hundred initializations so I am not reporting a lucky local optimum, and every input file is hashed in table one so a future run can prove it used the same data. The manifest also hashes every output, which means if a table in this deck ever drifts from what the notebook produced, that is detectable rather than a matter of trust. On the privacy side, nothing row level leaves the notebook and any binary demographic cell with fewer than five in either direction is suppressed.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stop there and open it up. The short summary I would give if someone asks for one sentence is that caregiver acceptability sits on a gradient rather than in types, that where a caregiver sits on that gradient tracks strongly with whether they say they would screen, and that it does not track with who they are demographically or with how much they know about autism. The four items on the left are what I need to move this from exploratory to something we could act on, and the cohort rule is the one I would chase first because it affects every number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366FF"/>
        </a:solidFill>
      </p:bgPr>
    </p:bg>
    <p:spTree>
      <p:nvGrpSpPr>
        <p:cNvPr id="1" name=""/>
        <p:cNvGrpSpPr/>
        <p:nvPr/>
      </p:nvGrpSpPr>
      <p:grpSpPr>
        <a:xfrm>
          <a:off x="0" y="0"/>
          <a:ext cx="0" cy="0"/>
          <a:chOff x="0" y="0"/>
          <a:chExt cx="0" cy="0"/>
        </a:xfrm>
      </p:grpSpPr>
      <p:pic>
        <p:nvPicPr>
          <p:cNvPr id="2" name="Image 0" descr="/sessions/ecstatic-gifted-franklin/mnt/.claude/skills/esd-lab/assets/patterns/pattern-icon-band-white.png">    </p:cNvPr>
          <p:cNvPicPr>
            <a:picLocks noChangeAspect="1"/>
          </p:cNvPicPr>
          <p:nvPr/>
        </p:nvPicPr>
        <p:blipFill>
          <a:blip r:embed="rId1">
            <a:alphaModFix amt="26000"/>
          </a:blip>
          <a:stretch>
            <a:fillRect/>
          </a:stretch>
        </p:blipFill>
        <p:spPr>
          <a:xfrm>
            <a:off x="-822960" y="-1298448"/>
            <a:ext cx="13807440" cy="1828800"/>
          </a:xfrm>
          <a:prstGeom prst="rect">
            <a:avLst/>
          </a:prstGeom>
        </p:spPr>
      </p:pic>
      <p:pic>
        <p:nvPicPr>
          <p:cNvPr id="3" name="Image 1" descr="/sessions/ecstatic-gifted-franklin/mnt/.claude/skills/esd-lab/assets/patterns/pattern-icon-band-white.png">    </p:cNvPr>
          <p:cNvPicPr>
            <a:picLocks noChangeAspect="1"/>
          </p:cNvPicPr>
          <p:nvPr/>
        </p:nvPicPr>
        <p:blipFill>
          <a:blip r:embed="rId2">
            <a:alphaModFix amt="26000"/>
          </a:blip>
          <a:stretch>
            <a:fillRect/>
          </a:stretch>
        </p:blipFill>
        <p:spPr>
          <a:xfrm>
            <a:off x="-822960" y="6144768"/>
            <a:ext cx="13807440" cy="1828800"/>
          </a:xfrm>
          <a:prstGeom prst="rect">
            <a:avLst/>
          </a:prstGeom>
        </p:spPr>
      </p:pic>
      <p:pic>
        <p:nvPicPr>
          <p:cNvPr id="4" name="Image 2" descr="/sessions/ecstatic-gifted-franklin/mnt/.claude/skills/esd-lab/assets/logos/logo-horizontal-cool-white.png">    </p:cNvPr>
          <p:cNvPicPr>
            <a:picLocks noChangeAspect="1"/>
          </p:cNvPicPr>
          <p:nvPr/>
        </p:nvPicPr>
        <p:blipFill>
          <a:blip r:embed="rId3"/>
          <a:stretch>
            <a:fillRect/>
          </a:stretch>
        </p:blipFill>
        <p:spPr>
          <a:xfrm>
            <a:off x="502920" y="475488"/>
            <a:ext cx="2157984" cy="1005840"/>
          </a:xfrm>
          <a:prstGeom prst="rect">
            <a:avLst/>
          </a:prstGeom>
        </p:spPr>
      </p:pic>
      <p:sp>
        <p:nvSpPr>
          <p:cNvPr id="5" name="Text 0"/>
          <p:cNvSpPr/>
          <p:nvPr/>
        </p:nvSpPr>
        <p:spPr>
          <a:xfrm>
            <a:off x="502920" y="2084832"/>
            <a:ext cx="10607040" cy="274320"/>
          </a:xfrm>
          <a:prstGeom prst="rect">
            <a:avLst/>
          </a:prstGeom>
          <a:noFill/>
          <a:ln/>
        </p:spPr>
        <p:txBody>
          <a:bodyPr wrap="square" lIns="0" tIns="0" rIns="0" bIns="0" rtlCol="0" anchor="ctr"/>
          <a:lstStyle/>
          <a:p>
            <a:pPr indent="0" marL="0">
              <a:buNone/>
            </a:pPr>
            <a:r>
              <a:rPr lang="en-US" sz="1200" b="1" spc="160" kern="0" dirty="0">
                <a:solidFill>
                  <a:srgbClr val="91BAF4"/>
                </a:solidFill>
                <a:latin typeface="Libre Franklin" pitchFamily="34" charset="0"/>
                <a:ea typeface="Libre Franklin" pitchFamily="34" charset="-122"/>
                <a:cs typeface="Libre Franklin" pitchFamily="34" charset="-120"/>
              </a:rPr>
              <a:t>EXPLORATORY SEGMENTATION ANALYSIS</a:t>
            </a:r>
            <a:endParaRPr lang="en-US" sz="1200" dirty="0"/>
          </a:p>
        </p:txBody>
      </p:sp>
      <p:sp>
        <p:nvSpPr>
          <p:cNvPr id="6" name="Text 1"/>
          <p:cNvSpPr/>
          <p:nvPr/>
        </p:nvSpPr>
        <p:spPr>
          <a:xfrm>
            <a:off x="502920" y="2432304"/>
            <a:ext cx="10789920" cy="1572768"/>
          </a:xfrm>
          <a:prstGeom prst="rect">
            <a:avLst/>
          </a:prstGeom>
          <a:noFill/>
          <a:ln/>
        </p:spPr>
        <p:txBody>
          <a:bodyPr wrap="square" lIns="0" tIns="0" rIns="0" bIns="0" rtlCol="0" anchor="ctr"/>
          <a:lstStyle/>
          <a:p>
            <a:pPr indent="0" marL="0">
              <a:lnSpc>
                <a:spcPts val="4600"/>
              </a:lnSpc>
              <a:buNone/>
            </a:pPr>
            <a:r>
              <a:rPr lang="en-US" sz="4100" b="1" spc="-40" kern="0" dirty="0">
                <a:solidFill>
                  <a:srgbClr val="F4F4F6"/>
                </a:solidFill>
                <a:latin typeface="Libre Franklin" pitchFamily="34" charset="0"/>
                <a:ea typeface="Libre Franklin" pitchFamily="34" charset="-122"/>
                <a:cs typeface="Libre Franklin" pitchFamily="34" charset="-120"/>
              </a:rPr>
              <a:t>Caregiver acceptability clusters</a:t>
            </a:r>
            <a:endParaRPr lang="en-US" sz="4100" dirty="0"/>
          </a:p>
          <a:p>
            <a:pPr indent="0" marL="0">
              <a:lnSpc>
                <a:spcPts val="4600"/>
              </a:lnSpc>
              <a:buNone/>
            </a:pPr>
            <a:r>
              <a:rPr lang="en-US" sz="4100" b="1" spc="-40" kern="0" dirty="0">
                <a:solidFill>
                  <a:srgbClr val="F4F4F6"/>
                </a:solidFill>
                <a:latin typeface="Libre Franklin" pitchFamily="34" charset="0"/>
                <a:ea typeface="Libre Franklin" pitchFamily="34" charset="-122"/>
                <a:cs typeface="Libre Franklin" pitchFamily="34" charset="-120"/>
              </a:rPr>
              <a:t>and held-out outcomes</a:t>
            </a:r>
            <a:endParaRPr lang="en-US" sz="4100" dirty="0"/>
          </a:p>
        </p:txBody>
      </p:sp>
      <p:sp>
        <p:nvSpPr>
          <p:cNvPr id="7" name="Text 2"/>
          <p:cNvSpPr/>
          <p:nvPr/>
        </p:nvSpPr>
        <p:spPr>
          <a:xfrm>
            <a:off x="502920" y="4133088"/>
            <a:ext cx="10789920" cy="310896"/>
          </a:xfrm>
          <a:prstGeom prst="rect">
            <a:avLst/>
          </a:prstGeom>
          <a:noFill/>
          <a:ln/>
        </p:spPr>
        <p:txBody>
          <a:bodyPr wrap="square" lIns="0" tIns="0" rIns="0" bIns="0" rtlCol="0" anchor="ctr"/>
          <a:lstStyle/>
          <a:p>
            <a:pPr indent="0" marL="0">
              <a:buNone/>
            </a:pPr>
            <a:r>
              <a:rPr lang="en-US" sz="1400" dirty="0">
                <a:solidFill>
                  <a:srgbClr val="E6EEFC"/>
                </a:solidFill>
                <a:latin typeface="Libre Franklin Medium" pitchFamily="34" charset="0"/>
                <a:ea typeface="Libre Franklin Medium" pitchFamily="34" charset="-122"/>
                <a:cs typeface="Libre Franklin Medium" pitchFamily="34" charset="-120"/>
              </a:rPr>
              <a:t>Infant Autism Screening caregiver survey  |  REDCap export 2026-01-20  |  n = 135 selected, 131 clustered</a:t>
            </a:r>
            <a:endParaRPr lang="en-US" sz="1400" dirty="0"/>
          </a:p>
        </p:txBody>
      </p:sp>
      <p:sp>
        <p:nvSpPr>
          <p:cNvPr id="8" name="Shape 3"/>
          <p:cNvSpPr/>
          <p:nvPr/>
        </p:nvSpPr>
        <p:spPr>
          <a:xfrm>
            <a:off x="502920" y="4681728"/>
            <a:ext cx="1828800" cy="32004"/>
          </a:xfrm>
          <a:prstGeom prst="rect">
            <a:avLst/>
          </a:prstGeom>
          <a:solidFill>
            <a:srgbClr val="91BAF4"/>
          </a:solidFill>
          <a:ln/>
        </p:spPr>
      </p:sp>
      <p:sp>
        <p:nvSpPr>
          <p:cNvPr id="9" name="Text 4"/>
          <p:cNvSpPr/>
          <p:nvPr/>
        </p:nvSpPr>
        <p:spPr>
          <a:xfrm>
            <a:off x="502920" y="4919472"/>
            <a:ext cx="10789920" cy="658368"/>
          </a:xfrm>
          <a:prstGeom prst="rect">
            <a:avLst/>
          </a:prstGeom>
          <a:noFill/>
          <a:ln/>
        </p:spPr>
        <p:txBody>
          <a:bodyPr wrap="square" lIns="0" tIns="0" rIns="0" bIns="0" rtlCol="0" anchor="ctr"/>
          <a:lstStyle/>
          <a:p>
            <a:pPr indent="0" marL="0">
              <a:lnSpc>
                <a:spcPts val="1900"/>
              </a:lnSpc>
              <a:buNone/>
            </a:pPr>
            <a:r>
              <a:rPr lang="en-US" sz="1250" dirty="0">
                <a:solidFill>
                  <a:srgbClr val="F4F4F6"/>
                </a:solidFill>
                <a:latin typeface="Libre Franklin Medium" pitchFamily="34" charset="0"/>
                <a:ea typeface="Libre Franklin Medium" pitchFamily="34" charset="-122"/>
                <a:cs typeface="Libre Franklin Medium" pitchFamily="34" charset="-120"/>
              </a:rPr>
              <a:t>Early Social Development Lab  ·  University of South Carolina</a:t>
            </a:r>
            <a:endParaRPr lang="en-US" sz="1250" dirty="0"/>
          </a:p>
          <a:p>
            <a:pPr indent="0" marL="0">
              <a:lnSpc>
                <a:spcPts val="1900"/>
              </a:lnSpc>
              <a:buNone/>
            </a:pPr>
            <a:r>
              <a:rPr lang="en-US" sz="1250" dirty="0">
                <a:solidFill>
                  <a:srgbClr val="F4F4F6"/>
                </a:solidFill>
                <a:latin typeface="Libre Franklin Medium" pitchFamily="34" charset="0"/>
                <a:ea typeface="Libre Franklin Medium" pitchFamily="34" charset="-122"/>
                <a:cs typeface="Libre Franklin Medium" pitchFamily="34" charset="-120"/>
              </a:rPr>
              <a:t>Lab meeting  ·  Analysis notebook: caregiver_cluster_analysis.ipynb</a:t>
            </a:r>
            <a:endParaRPr lang="en-US" sz="1250" dirty="0"/>
          </a:p>
        </p:txBody>
      </p:sp>
      <p:pic>
        <p:nvPicPr>
          <p:cNvPr id="10" name="Image 3" descr="/sessions/ecstatic-gifted-franklin/mnt/outputs/gen/sunburst-cw.png">    </p:cNvPr>
          <p:cNvPicPr>
            <a:picLocks noChangeAspect="1"/>
          </p:cNvPicPr>
          <p:nvPr/>
        </p:nvPicPr>
        <p:blipFill>
          <a:blip r:embed="rId4">
            <a:alphaModFix amt="48000"/>
          </a:blip>
          <a:stretch>
            <a:fillRect/>
          </a:stretch>
        </p:blipFill>
        <p:spPr>
          <a:xfrm>
            <a:off x="10378440" y="2395728"/>
            <a:ext cx="1170432" cy="14228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HEADLINE</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What the analysis found</a:t>
            </a:r>
            <a:endParaRPr lang="en-US" sz="2700" dirty="0"/>
          </a:p>
        </p:txBody>
      </p:sp>
      <p:sp>
        <p:nvSpPr>
          <p:cNvPr id="4" name="Shape 2"/>
          <p:cNvSpPr/>
          <p:nvPr/>
        </p:nvSpPr>
        <p:spPr>
          <a:xfrm>
            <a:off x="502920" y="1481328"/>
            <a:ext cx="5477256" cy="1975104"/>
          </a:xfrm>
          <a:prstGeom prst="roundRect">
            <a:avLst>
              <a:gd name="adj" fmla="val 7407"/>
            </a:avLst>
          </a:prstGeom>
          <a:solidFill>
            <a:srgbClr val="3366FF"/>
          </a:solidFill>
          <a:ln/>
        </p:spPr>
      </p:sp>
      <p:pic>
        <p:nvPicPr>
          <p:cNvPr id="5" name="Image 0" descr="/sessions/ecstatic-gifted-franklin/mnt/.claude/skills/esd-lab/assets/icons/suite/icon-person-2-science-blue.png">    </p:cNvPr>
          <p:cNvPicPr>
            <a:picLocks noChangeAspect="1"/>
          </p:cNvPicPr>
          <p:nvPr/>
        </p:nvPicPr>
        <p:blipFill>
          <a:blip r:embed="rId1">
            <a:alphaModFix amt="90000"/>
          </a:blip>
          <a:stretch>
            <a:fillRect/>
          </a:stretch>
        </p:blipFill>
        <p:spPr>
          <a:xfrm>
            <a:off x="4873752" y="1737360"/>
            <a:ext cx="786384" cy="786384"/>
          </a:xfrm>
          <a:prstGeom prst="rect">
            <a:avLst/>
          </a:prstGeom>
        </p:spPr>
      </p:pic>
      <p:sp>
        <p:nvSpPr>
          <p:cNvPr id="6" name="Text 3"/>
          <p:cNvSpPr/>
          <p:nvPr/>
        </p:nvSpPr>
        <p:spPr>
          <a:xfrm>
            <a:off x="813816" y="1792224"/>
            <a:ext cx="4023360" cy="713232"/>
          </a:xfrm>
          <a:prstGeom prst="rect">
            <a:avLst/>
          </a:prstGeom>
          <a:noFill/>
          <a:ln/>
        </p:spPr>
        <p:txBody>
          <a:bodyPr wrap="square" lIns="0" tIns="0" rIns="0" bIns="0" rtlCol="0" anchor="ctr"/>
          <a:lstStyle/>
          <a:p>
            <a:pPr indent="0" marL="0">
              <a:buNone/>
            </a:pPr>
            <a:r>
              <a:rPr lang="en-US" sz="3000" b="1" spc="-50" kern="0" dirty="0">
                <a:solidFill>
                  <a:srgbClr val="F4F4F6"/>
                </a:solidFill>
                <a:latin typeface="Libre Franklin" pitchFamily="34" charset="0"/>
                <a:ea typeface="Libre Franklin" pitchFamily="34" charset="-122"/>
                <a:cs typeface="Libre Franklin" pitchFamily="34" charset="-120"/>
              </a:rPr>
              <a:t>84 / 47</a:t>
            </a:r>
            <a:endParaRPr lang="en-US" sz="3000" dirty="0"/>
          </a:p>
        </p:txBody>
      </p:sp>
      <p:sp>
        <p:nvSpPr>
          <p:cNvPr id="7" name="Text 4"/>
          <p:cNvSpPr/>
          <p:nvPr/>
        </p:nvSpPr>
        <p:spPr>
          <a:xfrm>
            <a:off x="813816" y="2560320"/>
            <a:ext cx="4846320" cy="713232"/>
          </a:xfrm>
          <a:prstGeom prst="rect">
            <a:avLst/>
          </a:prstGeom>
          <a:noFill/>
          <a:ln/>
        </p:spPr>
        <p:txBody>
          <a:bodyPr wrap="square" lIns="0" tIns="0" rIns="0" bIns="0" rtlCol="0" anchor="ctr"/>
          <a:lstStyle/>
          <a:p>
            <a:pPr indent="0" marL="0">
              <a:lnSpc>
                <a:spcPts val="1700"/>
              </a:lnSpc>
              <a:buNone/>
            </a:pPr>
            <a:r>
              <a:rPr lang="en-US" sz="1250" dirty="0">
                <a:solidFill>
                  <a:srgbClr val="E6EEFC"/>
                </a:solidFill>
                <a:latin typeface="Libre Franklin Medium" pitchFamily="34" charset="0"/>
                <a:ea typeface="Libre Franklin Medium" pitchFamily="34" charset="-122"/>
                <a:cs typeface="Libre Franklin Medium" pitchFamily="34" charset="-120"/>
              </a:rPr>
              <a:t>Profile sizes</a:t>
            </a:r>
            <a:endParaRPr lang="en-US" sz="1250" dirty="0"/>
          </a:p>
          <a:p>
            <a:pPr indent="0" marL="0">
              <a:lnSpc>
                <a:spcPts val="1700"/>
              </a:lnSpc>
              <a:buNone/>
            </a:pPr>
            <a:r>
              <a:rPr lang="en-US" sz="1250" dirty="0">
                <a:solidFill>
                  <a:srgbClr val="E6EEFC"/>
                </a:solidFill>
                <a:latin typeface="Libre Franklin Medium" pitchFamily="34" charset="0"/>
                <a:ea typeface="Libre Franklin Medium" pitchFamily="34" charset="-122"/>
                <a:cs typeface="Libre Franklin Medium" pitchFamily="34" charset="-120"/>
              </a:rPr>
              <a:t>Higher vs Conditional acceptability</a:t>
            </a:r>
            <a:endParaRPr lang="en-US" sz="1250" dirty="0"/>
          </a:p>
        </p:txBody>
      </p:sp>
      <p:sp>
        <p:nvSpPr>
          <p:cNvPr id="8" name="Shape 5"/>
          <p:cNvSpPr/>
          <p:nvPr/>
        </p:nvSpPr>
        <p:spPr>
          <a:xfrm>
            <a:off x="6208776" y="1481328"/>
            <a:ext cx="5477256" cy="1975104"/>
          </a:xfrm>
          <a:prstGeom prst="roundRect">
            <a:avLst>
              <a:gd name="adj" fmla="val 7407"/>
            </a:avLst>
          </a:prstGeom>
          <a:solidFill>
            <a:srgbClr val="3366FF"/>
          </a:solidFill>
          <a:ln/>
        </p:spPr>
      </p:sp>
      <p:pic>
        <p:nvPicPr>
          <p:cNvPr id="9" name="Image 1" descr="/sessions/ecstatic-gifted-franklin/mnt/.claude/skills/esd-lab/assets/icons/suite/icon-checklist-science-blue.png">    </p:cNvPr>
          <p:cNvPicPr>
            <a:picLocks noChangeAspect="1"/>
          </p:cNvPicPr>
          <p:nvPr/>
        </p:nvPicPr>
        <p:blipFill>
          <a:blip r:embed="rId2">
            <a:alphaModFix amt="90000"/>
          </a:blip>
          <a:stretch>
            <a:fillRect/>
          </a:stretch>
        </p:blipFill>
        <p:spPr>
          <a:xfrm>
            <a:off x="10579608" y="1737360"/>
            <a:ext cx="786384" cy="786384"/>
          </a:xfrm>
          <a:prstGeom prst="rect">
            <a:avLst/>
          </a:prstGeom>
        </p:spPr>
      </p:pic>
      <p:sp>
        <p:nvSpPr>
          <p:cNvPr id="10" name="Text 6"/>
          <p:cNvSpPr/>
          <p:nvPr/>
        </p:nvSpPr>
        <p:spPr>
          <a:xfrm>
            <a:off x="6519672" y="1792224"/>
            <a:ext cx="4023360" cy="713232"/>
          </a:xfrm>
          <a:prstGeom prst="rect">
            <a:avLst/>
          </a:prstGeom>
          <a:noFill/>
          <a:ln/>
        </p:spPr>
        <p:txBody>
          <a:bodyPr wrap="square" lIns="0" tIns="0" rIns="0" bIns="0" rtlCol="0" anchor="ctr"/>
          <a:lstStyle/>
          <a:p>
            <a:pPr indent="0" marL="0">
              <a:buNone/>
            </a:pPr>
            <a:r>
              <a:rPr lang="en-US" sz="3000" b="1" spc="-50" kern="0" dirty="0">
                <a:solidFill>
                  <a:srgbClr val="F4F4F6"/>
                </a:solidFill>
                <a:latin typeface="Libre Franklin" pitchFamily="34" charset="0"/>
                <a:ea typeface="Libre Franklin" pitchFamily="34" charset="-122"/>
                <a:cs typeface="Libre Franklin" pitchFamily="34" charset="-120"/>
              </a:rPr>
              <a:t>70.0% vs 27.7%</a:t>
            </a:r>
            <a:endParaRPr lang="en-US" sz="3000" dirty="0"/>
          </a:p>
        </p:txBody>
      </p:sp>
      <p:sp>
        <p:nvSpPr>
          <p:cNvPr id="11" name="Text 7"/>
          <p:cNvSpPr/>
          <p:nvPr/>
        </p:nvSpPr>
        <p:spPr>
          <a:xfrm>
            <a:off x="6519672" y="2560320"/>
            <a:ext cx="4846320" cy="713232"/>
          </a:xfrm>
          <a:prstGeom prst="rect">
            <a:avLst/>
          </a:prstGeom>
          <a:noFill/>
          <a:ln/>
        </p:spPr>
        <p:txBody>
          <a:bodyPr wrap="square" lIns="0" tIns="0" rIns="0" bIns="0" rtlCol="0" anchor="ctr"/>
          <a:lstStyle/>
          <a:p>
            <a:pPr indent="0" marL="0">
              <a:lnSpc>
                <a:spcPts val="1700"/>
              </a:lnSpc>
              <a:buNone/>
            </a:pPr>
            <a:r>
              <a:rPr lang="en-US" sz="1250" dirty="0">
                <a:solidFill>
                  <a:srgbClr val="E6EEFC"/>
                </a:solidFill>
                <a:latin typeface="Libre Franklin Medium" pitchFamily="34" charset="0"/>
                <a:ea typeface="Libre Franklin Medium" pitchFamily="34" charset="-122"/>
                <a:cs typeface="Libre Franklin Medium" pitchFamily="34" charset="-120"/>
              </a:rPr>
              <a:t>Would definitely screen</a:t>
            </a:r>
            <a:endParaRPr lang="en-US" sz="1250" dirty="0"/>
          </a:p>
          <a:p>
            <a:pPr indent="0" marL="0">
              <a:lnSpc>
                <a:spcPts val="1700"/>
              </a:lnSpc>
              <a:buNone/>
            </a:pPr>
            <a:r>
              <a:rPr lang="en-US" sz="1250" dirty="0">
                <a:solidFill>
                  <a:srgbClr val="E6EEFC"/>
                </a:solidFill>
                <a:latin typeface="Libre Franklin Medium" pitchFamily="34" charset="0"/>
                <a:ea typeface="Libre Franklin Medium" pitchFamily="34" charset="-122"/>
                <a:cs typeface="Libre Franklin Medium" pitchFamily="34" charset="-120"/>
              </a:rPr>
              <a:t>56/80 vs 13/47 valid respondents</a:t>
            </a:r>
            <a:endParaRPr lang="en-US" sz="1250" dirty="0"/>
          </a:p>
        </p:txBody>
      </p:sp>
      <p:sp>
        <p:nvSpPr>
          <p:cNvPr id="12" name="Shape 8"/>
          <p:cNvSpPr/>
          <p:nvPr/>
        </p:nvSpPr>
        <p:spPr>
          <a:xfrm>
            <a:off x="502920" y="3694176"/>
            <a:ext cx="5477256" cy="1975104"/>
          </a:xfrm>
          <a:prstGeom prst="roundRect">
            <a:avLst>
              <a:gd name="adj" fmla="val 7407"/>
            </a:avLst>
          </a:prstGeom>
          <a:solidFill>
            <a:srgbClr val="3366FF"/>
          </a:solidFill>
          <a:ln/>
        </p:spPr>
      </p:sp>
      <p:pic>
        <p:nvPicPr>
          <p:cNvPr id="13" name="Image 2" descr="/sessions/ecstatic-gifted-franklin/mnt/.claude/skills/esd-lab/assets/icons/suite/icon-bar-chart-science-blue.png">    </p:cNvPr>
          <p:cNvPicPr>
            <a:picLocks noChangeAspect="1"/>
          </p:cNvPicPr>
          <p:nvPr/>
        </p:nvPicPr>
        <p:blipFill>
          <a:blip r:embed="rId3">
            <a:alphaModFix amt="90000"/>
          </a:blip>
          <a:stretch>
            <a:fillRect/>
          </a:stretch>
        </p:blipFill>
        <p:spPr>
          <a:xfrm>
            <a:off x="4873752" y="3950208"/>
            <a:ext cx="786384" cy="786384"/>
          </a:xfrm>
          <a:prstGeom prst="rect">
            <a:avLst/>
          </a:prstGeom>
        </p:spPr>
      </p:pic>
      <p:sp>
        <p:nvSpPr>
          <p:cNvPr id="14" name="Text 9"/>
          <p:cNvSpPr/>
          <p:nvPr/>
        </p:nvSpPr>
        <p:spPr>
          <a:xfrm>
            <a:off x="813816" y="4005072"/>
            <a:ext cx="4023360" cy="713232"/>
          </a:xfrm>
          <a:prstGeom prst="rect">
            <a:avLst/>
          </a:prstGeom>
          <a:noFill/>
          <a:ln/>
        </p:spPr>
        <p:txBody>
          <a:bodyPr wrap="square" lIns="0" tIns="0" rIns="0" bIns="0" rtlCol="0" anchor="ctr"/>
          <a:lstStyle/>
          <a:p>
            <a:pPr indent="0" marL="0">
              <a:buNone/>
            </a:pPr>
            <a:r>
              <a:rPr lang="en-US" sz="3000" b="1" spc="-50" kern="0" dirty="0">
                <a:solidFill>
                  <a:srgbClr val="F4F4F6"/>
                </a:solidFill>
                <a:latin typeface="Libre Franklin" pitchFamily="34" charset="0"/>
                <a:ea typeface="Libre Franklin" pitchFamily="34" charset="-122"/>
                <a:cs typeface="Libre Franklin" pitchFamily="34" charset="-120"/>
              </a:rPr>
              <a:t>0.180</a:t>
            </a:r>
            <a:endParaRPr lang="en-US" sz="3000" dirty="0"/>
          </a:p>
        </p:txBody>
      </p:sp>
      <p:sp>
        <p:nvSpPr>
          <p:cNvPr id="15" name="Text 10"/>
          <p:cNvSpPr/>
          <p:nvPr/>
        </p:nvSpPr>
        <p:spPr>
          <a:xfrm>
            <a:off x="813816" y="4773168"/>
            <a:ext cx="4846320" cy="713232"/>
          </a:xfrm>
          <a:prstGeom prst="rect">
            <a:avLst/>
          </a:prstGeom>
          <a:noFill/>
          <a:ln/>
        </p:spPr>
        <p:txBody>
          <a:bodyPr wrap="square" lIns="0" tIns="0" rIns="0" bIns="0" rtlCol="0" anchor="ctr"/>
          <a:lstStyle/>
          <a:p>
            <a:pPr indent="0" marL="0">
              <a:lnSpc>
                <a:spcPts val="1700"/>
              </a:lnSpc>
              <a:buNone/>
            </a:pPr>
            <a:r>
              <a:rPr lang="en-US" sz="1250" dirty="0">
                <a:solidFill>
                  <a:srgbClr val="E6EEFC"/>
                </a:solidFill>
                <a:latin typeface="Libre Franklin Medium" pitchFamily="34" charset="0"/>
                <a:ea typeface="Libre Franklin Medium" pitchFamily="34" charset="-122"/>
                <a:cs typeface="Libre Franklin Medium" pitchFamily="34" charset="-120"/>
              </a:rPr>
              <a:t>Average silhouette at k = 2</a:t>
            </a:r>
            <a:endParaRPr lang="en-US" sz="1250" dirty="0"/>
          </a:p>
          <a:p>
            <a:pPr indent="0" marL="0">
              <a:lnSpc>
                <a:spcPts val="1700"/>
              </a:lnSpc>
              <a:buNone/>
            </a:pPr>
            <a:r>
              <a:rPr lang="en-US" sz="1250" dirty="0">
                <a:solidFill>
                  <a:srgbClr val="E6EEFC"/>
                </a:solidFill>
                <a:latin typeface="Libre Franklin Medium" pitchFamily="34" charset="0"/>
                <a:ea typeface="Libre Franklin Medium" pitchFamily="34" charset="-122"/>
                <a:cs typeface="Libre Franklin Medium" pitchFamily="34" charset="-120"/>
              </a:rPr>
              <a:t>Modest separation, not discrete types</a:t>
            </a:r>
            <a:endParaRPr lang="en-US" sz="1250" dirty="0"/>
          </a:p>
        </p:txBody>
      </p:sp>
      <p:sp>
        <p:nvSpPr>
          <p:cNvPr id="16" name="Shape 11"/>
          <p:cNvSpPr/>
          <p:nvPr/>
        </p:nvSpPr>
        <p:spPr>
          <a:xfrm>
            <a:off x="6208776" y="3694176"/>
            <a:ext cx="5477256" cy="1975104"/>
          </a:xfrm>
          <a:prstGeom prst="roundRect">
            <a:avLst>
              <a:gd name="adj" fmla="val 7407"/>
            </a:avLst>
          </a:prstGeom>
          <a:solidFill>
            <a:srgbClr val="3366FF"/>
          </a:solidFill>
          <a:ln/>
        </p:spPr>
      </p:sp>
      <p:pic>
        <p:nvPicPr>
          <p:cNvPr id="17" name="Image 3" descr="/sessions/ecstatic-gifted-franklin/mnt/.claude/skills/esd-lab/assets/icons/suite/icon-brain-connections-science-blue.png">    </p:cNvPr>
          <p:cNvPicPr>
            <a:picLocks noChangeAspect="1"/>
          </p:cNvPicPr>
          <p:nvPr/>
        </p:nvPicPr>
        <p:blipFill>
          <a:blip r:embed="rId4">
            <a:alphaModFix amt="90000"/>
          </a:blip>
          <a:stretch>
            <a:fillRect/>
          </a:stretch>
        </p:blipFill>
        <p:spPr>
          <a:xfrm>
            <a:off x="10579608" y="3950208"/>
            <a:ext cx="786384" cy="786384"/>
          </a:xfrm>
          <a:prstGeom prst="rect">
            <a:avLst/>
          </a:prstGeom>
        </p:spPr>
      </p:pic>
      <p:sp>
        <p:nvSpPr>
          <p:cNvPr id="18" name="Text 12"/>
          <p:cNvSpPr/>
          <p:nvPr/>
        </p:nvSpPr>
        <p:spPr>
          <a:xfrm>
            <a:off x="6519672" y="4005072"/>
            <a:ext cx="4023360" cy="713232"/>
          </a:xfrm>
          <a:prstGeom prst="rect">
            <a:avLst/>
          </a:prstGeom>
          <a:noFill/>
          <a:ln/>
        </p:spPr>
        <p:txBody>
          <a:bodyPr wrap="square" lIns="0" tIns="0" rIns="0" bIns="0" rtlCol="0" anchor="ctr"/>
          <a:lstStyle/>
          <a:p>
            <a:pPr indent="0" marL="0">
              <a:buNone/>
            </a:pPr>
            <a:r>
              <a:rPr lang="en-US" sz="3000" b="1" spc="-50" kern="0" dirty="0">
                <a:solidFill>
                  <a:srgbClr val="F4F4F6"/>
                </a:solidFill>
                <a:latin typeface="Libre Franklin" pitchFamily="34" charset="0"/>
                <a:ea typeface="Libre Franklin" pitchFamily="34" charset="-122"/>
                <a:cs typeface="Libre Franklin" pitchFamily="34" charset="-120"/>
              </a:rPr>
              <a:t>0 of 20</a:t>
            </a:r>
            <a:endParaRPr lang="en-US" sz="3000" dirty="0"/>
          </a:p>
        </p:txBody>
      </p:sp>
      <p:sp>
        <p:nvSpPr>
          <p:cNvPr id="19" name="Text 13"/>
          <p:cNvSpPr/>
          <p:nvPr/>
        </p:nvSpPr>
        <p:spPr>
          <a:xfrm>
            <a:off x="6519672" y="4773168"/>
            <a:ext cx="4846320" cy="713232"/>
          </a:xfrm>
          <a:prstGeom prst="rect">
            <a:avLst/>
          </a:prstGeom>
          <a:noFill/>
          <a:ln/>
        </p:spPr>
        <p:txBody>
          <a:bodyPr wrap="square" lIns="0" tIns="0" rIns="0" bIns="0" rtlCol="0" anchor="ctr"/>
          <a:lstStyle/>
          <a:p>
            <a:pPr indent="0" marL="0">
              <a:lnSpc>
                <a:spcPts val="1700"/>
              </a:lnSpc>
              <a:buNone/>
            </a:pPr>
            <a:r>
              <a:rPr lang="en-US" sz="1250" dirty="0">
                <a:solidFill>
                  <a:srgbClr val="E6EEFC"/>
                </a:solidFill>
                <a:latin typeface="Libre Franklin Medium" pitchFamily="34" charset="0"/>
                <a:ea typeface="Libre Franklin Medium" pitchFamily="34" charset="-122"/>
                <a:cs typeface="Libre Franklin Medium" pitchFamily="34" charset="-120"/>
              </a:rPr>
              <a:t>Held-out values and demographics</a:t>
            </a:r>
            <a:endParaRPr lang="en-US" sz="1250" dirty="0"/>
          </a:p>
          <a:p>
            <a:pPr indent="0" marL="0">
              <a:lnSpc>
                <a:spcPts val="1700"/>
              </a:lnSpc>
              <a:buNone/>
            </a:pPr>
            <a:r>
              <a:rPr lang="en-US" sz="1250" dirty="0">
                <a:solidFill>
                  <a:srgbClr val="E6EEFC"/>
                </a:solidFill>
                <a:latin typeface="Libre Franklin Medium" pitchFamily="34" charset="0"/>
                <a:ea typeface="Libre Franklin Medium" pitchFamily="34" charset="-122"/>
                <a:cs typeface="Libre Franklin Medium" pitchFamily="34" charset="-120"/>
              </a:rPr>
              <a:t>comparisons surviving FDR</a:t>
            </a:r>
            <a:endParaRPr lang="en-US" sz="1250" dirty="0"/>
          </a:p>
        </p:txBody>
      </p:sp>
      <p:sp>
        <p:nvSpPr>
          <p:cNvPr id="20" name="Text 14"/>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All figures below are reproduced verbatim from Caregiver Outputs (tables 1-10, figures 1-6).</a:t>
            </a:r>
            <a:endParaRPr lang="en-US" sz="850" dirty="0"/>
          </a:p>
        </p:txBody>
      </p:sp>
      <p:pic>
        <p:nvPicPr>
          <p:cNvPr id="21" name="Image 4" descr="/sessions/ecstatic-gifted-franklin/mnt/.claude/skills/esd-lab/assets/logos/wordmark-discovery-blue.png">    </p:cNvPr>
          <p:cNvPicPr>
            <a:picLocks noChangeAspect="1"/>
          </p:cNvPicPr>
          <p:nvPr/>
        </p:nvPicPr>
        <p:blipFill>
          <a:blip r:embed="rId5"/>
          <a:stretch>
            <a:fillRect/>
          </a:stretch>
        </p:blipFill>
        <p:spPr>
          <a:xfrm>
            <a:off x="11228832" y="6272784"/>
            <a:ext cx="420624" cy="393192"/>
          </a:xfrm>
          <a:prstGeom prst="rect">
            <a:avLst/>
          </a:prstGeom>
        </p:spPr>
      </p:pic>
      <p:sp>
        <p:nvSpPr>
          <p:cNvPr id="22" name="Text 15"/>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DESIGN</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Analytical question and locked variable roles</a:t>
            </a:r>
            <a:endParaRPr lang="en-US" sz="2700" dirty="0"/>
          </a:p>
        </p:txBody>
      </p:sp>
      <p:sp>
        <p:nvSpPr>
          <p:cNvPr id="4" name="Shape 2"/>
          <p:cNvSpPr/>
          <p:nvPr/>
        </p:nvSpPr>
        <p:spPr>
          <a:xfrm>
            <a:off x="502920" y="1389888"/>
            <a:ext cx="11183112" cy="786384"/>
          </a:xfrm>
          <a:prstGeom prst="roundRect">
            <a:avLst>
              <a:gd name="adj" fmla="val 13953"/>
            </a:avLst>
          </a:prstGeom>
          <a:solidFill>
            <a:srgbClr val="E6EEFC"/>
          </a:solidFill>
          <a:ln/>
        </p:spPr>
      </p:sp>
      <p:sp>
        <p:nvSpPr>
          <p:cNvPr id="5" name="Text 3"/>
          <p:cNvSpPr/>
          <p:nvPr/>
        </p:nvSpPr>
        <p:spPr>
          <a:xfrm>
            <a:off x="758952" y="1389888"/>
            <a:ext cx="10698480" cy="786384"/>
          </a:xfrm>
          <a:prstGeom prst="rect">
            <a:avLst/>
          </a:prstGeom>
          <a:noFill/>
          <a:ln/>
        </p:spPr>
        <p:txBody>
          <a:bodyPr wrap="square" lIns="0" tIns="0" rIns="0" bIns="0" rtlCol="0" anchor="ctr"/>
          <a:lstStyle/>
          <a:p>
            <a:pPr indent="0" marL="0">
              <a:buNone/>
            </a:pPr>
            <a:r>
              <a:rPr lang="en-US" sz="1350" b="1" dirty="0">
                <a:solidFill>
                  <a:srgbClr val="3366FF"/>
                </a:solidFill>
                <a:latin typeface="Libre Franklin Medium" pitchFamily="34" charset="0"/>
                <a:ea typeface="Libre Franklin Medium" pitchFamily="34" charset="-122"/>
                <a:cs typeface="Libre Franklin Medium" pitchFamily="34" charset="-120"/>
              </a:rPr>
              <a:t>Question:  </a:t>
            </a:r>
            <a:pPr indent="0" marL="0">
              <a:buNone/>
            </a:pPr>
            <a:r>
              <a:rPr lang="en-US" sz="1350" dirty="0">
                <a:solidFill>
                  <a:srgbClr val="000000"/>
                </a:solidFill>
                <a:latin typeface="Libre Franklin Medium" pitchFamily="34" charset="0"/>
                <a:ea typeface="Libre Franklin Medium" pitchFamily="34" charset="-122"/>
                <a:cs typeface="Libre Franklin Medium" pitchFamily="34" charset="-120"/>
              </a:rPr>
              <a:t>Can caregivers be grouped by pre-outcome acceptability patterns, and how do those groups differ on the four requested held-out characterization families?</a:t>
            </a:r>
            <a:endParaRPr lang="en-US" sz="1350" dirty="0"/>
          </a:p>
        </p:txBody>
      </p:sp>
      <p:sp>
        <p:nvSpPr>
          <p:cNvPr id="6" name="Shape 4"/>
          <p:cNvSpPr/>
          <p:nvPr/>
        </p:nvSpPr>
        <p:spPr>
          <a:xfrm>
            <a:off x="521208" y="2487168"/>
            <a:ext cx="658368" cy="658368"/>
          </a:xfrm>
          <a:prstGeom prst="ellipse">
            <a:avLst/>
          </a:prstGeom>
          <a:solidFill>
            <a:srgbClr val="E6EEFC"/>
          </a:solidFill>
          <a:ln/>
        </p:spPr>
      </p:sp>
      <p:pic>
        <p:nvPicPr>
          <p:cNvPr id="7" name="Image 0" descr="/sessions/ecstatic-gifted-franklin/mnt/.claude/skills/esd-lab/assets/icons/suite/icon-checklist-science-blue.png">    </p:cNvPr>
          <p:cNvPicPr>
            <a:picLocks noChangeAspect="1"/>
          </p:cNvPicPr>
          <p:nvPr/>
        </p:nvPicPr>
        <p:blipFill>
          <a:blip r:embed="rId1"/>
          <a:stretch>
            <a:fillRect/>
          </a:stretch>
        </p:blipFill>
        <p:spPr>
          <a:xfrm>
            <a:off x="640080" y="2606040"/>
            <a:ext cx="420624" cy="420624"/>
          </a:xfrm>
          <a:prstGeom prst="rect">
            <a:avLst/>
          </a:prstGeom>
        </p:spPr>
      </p:pic>
      <p:sp>
        <p:nvSpPr>
          <p:cNvPr id="8" name="Text 5"/>
          <p:cNvSpPr/>
          <p:nvPr/>
        </p:nvSpPr>
        <p:spPr>
          <a:xfrm>
            <a:off x="1362456" y="2450592"/>
            <a:ext cx="2743200" cy="365760"/>
          </a:xfrm>
          <a:prstGeom prst="rect">
            <a:avLst/>
          </a:prstGeom>
          <a:noFill/>
          <a:ln/>
        </p:spPr>
        <p:txBody>
          <a:bodyPr wrap="square" lIns="0" tIns="0" rIns="0" bIns="0" rtlCol="0" anchor="ctr"/>
          <a:lstStyle/>
          <a:p>
            <a:pPr indent="0" marL="0">
              <a:buNone/>
            </a:pPr>
            <a:r>
              <a:rPr lang="en-US" sz="1400" b="1" dirty="0">
                <a:solidFill>
                  <a:srgbClr val="3366FF"/>
                </a:solidFill>
                <a:latin typeface="Libre Franklin" pitchFamily="34" charset="0"/>
                <a:ea typeface="Libre Franklin" pitchFamily="34" charset="-122"/>
                <a:cs typeface="Libre Franklin" pitchFamily="34" charset="-120"/>
              </a:rPr>
              <a:t>Cluster inputs</a:t>
            </a:r>
            <a:endParaRPr lang="en-US" sz="1400" dirty="0"/>
          </a:p>
        </p:txBody>
      </p:sp>
      <p:sp>
        <p:nvSpPr>
          <p:cNvPr id="9" name="Text 6"/>
          <p:cNvSpPr/>
          <p:nvPr/>
        </p:nvSpPr>
        <p:spPr>
          <a:xfrm>
            <a:off x="1362456" y="2798064"/>
            <a:ext cx="5943600" cy="402336"/>
          </a:xfrm>
          <a:prstGeom prst="rect">
            <a:avLst/>
          </a:prstGeom>
          <a:noFill/>
          <a:ln/>
        </p:spPr>
        <p:txBody>
          <a:bodyPr wrap="square" lIns="0" tIns="0" rIns="0" bIns="0" rtlCol="0" anchor="t"/>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10 directionally aligned TFA composites, each rescaled 0-100</a:t>
            </a:r>
            <a:endParaRPr lang="en-US" sz="1150" dirty="0"/>
          </a:p>
        </p:txBody>
      </p:sp>
      <p:sp>
        <p:nvSpPr>
          <p:cNvPr id="10" name="Text 7"/>
          <p:cNvSpPr/>
          <p:nvPr/>
        </p:nvSpPr>
        <p:spPr>
          <a:xfrm>
            <a:off x="7498080" y="2523744"/>
            <a:ext cx="4206240" cy="603504"/>
          </a:xfrm>
          <a:prstGeom prst="rect">
            <a:avLst/>
          </a:prstGeom>
          <a:noFill/>
          <a:ln/>
        </p:spPr>
        <p:txBody>
          <a:bodyPr wrap="square" lIns="0" tIns="0" rIns="0" bIns="0" rtlCol="0" anchor="ctr"/>
          <a:lstStyle/>
          <a:p>
            <a:pPr indent="0" marL="0">
              <a:buNone/>
            </a:pPr>
            <a:r>
              <a:rPr lang="en-US" sz="1100" i="1" dirty="0">
                <a:solidFill>
                  <a:srgbClr val="000000"/>
                </a:solidFill>
                <a:latin typeface="Libre Franklin Medium" pitchFamily="34" charset="0"/>
                <a:ea typeface="Libre Franklin Medium" pitchFamily="34" charset="-122"/>
                <a:cs typeface="Libre Franklin Medium" pitchFamily="34" charset="-120"/>
              </a:rPr>
              <a:t>Defines the response profiles</a:t>
            </a:r>
            <a:endParaRPr lang="en-US" sz="1100" dirty="0"/>
          </a:p>
        </p:txBody>
      </p:sp>
      <p:sp>
        <p:nvSpPr>
          <p:cNvPr id="11" name="Shape 8"/>
          <p:cNvSpPr/>
          <p:nvPr/>
        </p:nvSpPr>
        <p:spPr>
          <a:xfrm>
            <a:off x="521208" y="3456432"/>
            <a:ext cx="658368" cy="658368"/>
          </a:xfrm>
          <a:prstGeom prst="ellipse">
            <a:avLst/>
          </a:prstGeom>
          <a:solidFill>
            <a:srgbClr val="E6EEFC"/>
          </a:solidFill>
          <a:ln/>
        </p:spPr>
      </p:sp>
      <p:pic>
        <p:nvPicPr>
          <p:cNvPr id="12" name="Image 1" descr="/sessions/ecstatic-gifted-franklin/mnt/.claude/skills/esd-lab/assets/icons/suite/icon-growth-chart-science-blue.png">    </p:cNvPr>
          <p:cNvPicPr>
            <a:picLocks noChangeAspect="1"/>
          </p:cNvPicPr>
          <p:nvPr/>
        </p:nvPicPr>
        <p:blipFill>
          <a:blip r:embed="rId2"/>
          <a:stretch>
            <a:fillRect/>
          </a:stretch>
        </p:blipFill>
        <p:spPr>
          <a:xfrm>
            <a:off x="640080" y="3575304"/>
            <a:ext cx="420624" cy="420624"/>
          </a:xfrm>
          <a:prstGeom prst="rect">
            <a:avLst/>
          </a:prstGeom>
        </p:spPr>
      </p:pic>
      <p:sp>
        <p:nvSpPr>
          <p:cNvPr id="13" name="Text 9"/>
          <p:cNvSpPr/>
          <p:nvPr/>
        </p:nvSpPr>
        <p:spPr>
          <a:xfrm>
            <a:off x="1362456" y="3419856"/>
            <a:ext cx="2743200" cy="365760"/>
          </a:xfrm>
          <a:prstGeom prst="rect">
            <a:avLst/>
          </a:prstGeom>
          <a:noFill/>
          <a:ln/>
        </p:spPr>
        <p:txBody>
          <a:bodyPr wrap="square" lIns="0" tIns="0" rIns="0" bIns="0" rtlCol="0" anchor="ctr"/>
          <a:lstStyle/>
          <a:p>
            <a:pPr indent="0" marL="0">
              <a:buNone/>
            </a:pPr>
            <a:r>
              <a:rPr lang="en-US" sz="1400" b="1" dirty="0">
                <a:solidFill>
                  <a:srgbClr val="3366FF"/>
                </a:solidFill>
                <a:latin typeface="Libre Franklin" pitchFamily="34" charset="0"/>
                <a:ea typeface="Libre Franklin" pitchFamily="34" charset="-122"/>
                <a:cs typeface="Libre Franklin" pitchFamily="34" charset="-120"/>
              </a:rPr>
              <a:t>Held-out outcome</a:t>
            </a:r>
            <a:endParaRPr lang="en-US" sz="1400" dirty="0"/>
          </a:p>
        </p:txBody>
      </p:sp>
      <p:sp>
        <p:nvSpPr>
          <p:cNvPr id="14" name="Text 10"/>
          <p:cNvSpPr/>
          <p:nvPr/>
        </p:nvSpPr>
        <p:spPr>
          <a:xfrm>
            <a:off x="1362456" y="3767328"/>
            <a:ext cx="5943600" cy="402336"/>
          </a:xfrm>
          <a:prstGeom prst="rect">
            <a:avLst/>
          </a:prstGeom>
          <a:noFill/>
          <a:ln/>
        </p:spPr>
        <p:txBody>
          <a:bodyPr wrap="square" lIns="0" tIns="0" rIns="0" bIns="0" rtlCol="0" anchor="t"/>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tfa_free_screen: Definitely yes (code 4) vs all other valid responses (0-3)</a:t>
            </a:r>
            <a:endParaRPr lang="en-US" sz="1150" dirty="0"/>
          </a:p>
        </p:txBody>
      </p:sp>
      <p:sp>
        <p:nvSpPr>
          <p:cNvPr id="15" name="Text 11"/>
          <p:cNvSpPr/>
          <p:nvPr/>
        </p:nvSpPr>
        <p:spPr>
          <a:xfrm>
            <a:off x="7498080" y="3493008"/>
            <a:ext cx="4206240" cy="603504"/>
          </a:xfrm>
          <a:prstGeom prst="rect">
            <a:avLst/>
          </a:prstGeom>
          <a:noFill/>
          <a:ln/>
        </p:spPr>
        <p:txBody>
          <a:bodyPr wrap="square" lIns="0" tIns="0" rIns="0" bIns="0" rtlCol="0" anchor="ctr"/>
          <a:lstStyle/>
          <a:p>
            <a:pPr indent="0" marL="0">
              <a:buNone/>
            </a:pPr>
            <a:r>
              <a:rPr lang="en-US" sz="1100" i="1" dirty="0">
                <a:solidFill>
                  <a:srgbClr val="000000"/>
                </a:solidFill>
                <a:latin typeface="Libre Franklin Medium" pitchFamily="34" charset="0"/>
                <a:ea typeface="Libre Franklin Medium" pitchFamily="34" charset="-122"/>
                <a:cs typeface="Libre Franklin Medium" pitchFamily="34" charset="-120"/>
              </a:rPr>
              <a:t>Primary endpoint, never used to fit or name clusters</a:t>
            </a:r>
            <a:endParaRPr lang="en-US" sz="1100" dirty="0"/>
          </a:p>
        </p:txBody>
      </p:sp>
      <p:sp>
        <p:nvSpPr>
          <p:cNvPr id="16" name="Shape 12"/>
          <p:cNvSpPr/>
          <p:nvPr/>
        </p:nvSpPr>
        <p:spPr>
          <a:xfrm>
            <a:off x="521208" y="4425696"/>
            <a:ext cx="658368" cy="658368"/>
          </a:xfrm>
          <a:prstGeom prst="ellipse">
            <a:avLst/>
          </a:prstGeom>
          <a:solidFill>
            <a:srgbClr val="E6EEFC"/>
          </a:solidFill>
          <a:ln/>
        </p:spPr>
      </p:sp>
      <p:pic>
        <p:nvPicPr>
          <p:cNvPr id="17" name="Image 2" descr="/sessions/ecstatic-gifted-franklin/mnt/.claude/skills/esd-lab/assets/icons/suite/icon-brain-science-blue.png">    </p:cNvPr>
          <p:cNvPicPr>
            <a:picLocks noChangeAspect="1"/>
          </p:cNvPicPr>
          <p:nvPr/>
        </p:nvPicPr>
        <p:blipFill>
          <a:blip r:embed="rId3"/>
          <a:stretch>
            <a:fillRect/>
          </a:stretch>
        </p:blipFill>
        <p:spPr>
          <a:xfrm>
            <a:off x="640080" y="4544568"/>
            <a:ext cx="420624" cy="420624"/>
          </a:xfrm>
          <a:prstGeom prst="rect">
            <a:avLst/>
          </a:prstGeom>
        </p:spPr>
      </p:pic>
      <p:sp>
        <p:nvSpPr>
          <p:cNvPr id="18" name="Text 13"/>
          <p:cNvSpPr/>
          <p:nvPr/>
        </p:nvSpPr>
        <p:spPr>
          <a:xfrm>
            <a:off x="1362456" y="4389120"/>
            <a:ext cx="2743200" cy="365760"/>
          </a:xfrm>
          <a:prstGeom prst="rect">
            <a:avLst/>
          </a:prstGeom>
          <a:noFill/>
          <a:ln/>
        </p:spPr>
        <p:txBody>
          <a:bodyPr wrap="square" lIns="0" tIns="0" rIns="0" bIns="0" rtlCol="0" anchor="ctr"/>
          <a:lstStyle/>
          <a:p>
            <a:pPr indent="0" marL="0">
              <a:buNone/>
            </a:pPr>
            <a:r>
              <a:rPr lang="en-US" sz="1400" b="1" dirty="0">
                <a:solidFill>
                  <a:srgbClr val="3366FF"/>
                </a:solidFill>
                <a:latin typeface="Libre Franklin" pitchFamily="34" charset="0"/>
                <a:ea typeface="Libre Franklin" pitchFamily="34" charset="-122"/>
                <a:cs typeface="Libre Franklin" pitchFamily="34" charset="-120"/>
              </a:rPr>
              <a:t>Held-out characterization</a:t>
            </a:r>
            <a:endParaRPr lang="en-US" sz="1400" dirty="0"/>
          </a:p>
        </p:txBody>
      </p:sp>
      <p:sp>
        <p:nvSpPr>
          <p:cNvPr id="19" name="Text 14"/>
          <p:cNvSpPr/>
          <p:nvPr/>
        </p:nvSpPr>
        <p:spPr>
          <a:xfrm>
            <a:off x="1362456" y="4736592"/>
            <a:ext cx="5943600" cy="402336"/>
          </a:xfrm>
          <a:prstGeom prst="rect">
            <a:avLst/>
          </a:prstGeom>
          <a:noFill/>
          <a:ln/>
        </p:spPr>
        <p:txBody>
          <a:bodyPr wrap="square" lIns="0" tIns="0" rIns="0" bIns="0" rtlCol="0" anchor="t"/>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Demographics · Values (10 scores) · Autism knowledge (7 verified keys)</a:t>
            </a:r>
            <a:endParaRPr lang="en-US" sz="1150" dirty="0"/>
          </a:p>
        </p:txBody>
      </p:sp>
      <p:sp>
        <p:nvSpPr>
          <p:cNvPr id="20" name="Text 15"/>
          <p:cNvSpPr/>
          <p:nvPr/>
        </p:nvSpPr>
        <p:spPr>
          <a:xfrm>
            <a:off x="7498080" y="4462272"/>
            <a:ext cx="4206240" cy="603504"/>
          </a:xfrm>
          <a:prstGeom prst="rect">
            <a:avLst/>
          </a:prstGeom>
          <a:noFill/>
          <a:ln/>
        </p:spPr>
        <p:txBody>
          <a:bodyPr wrap="square" lIns="0" tIns="0" rIns="0" bIns="0" rtlCol="0" anchor="ctr"/>
          <a:lstStyle/>
          <a:p>
            <a:pPr indent="0" marL="0">
              <a:buNone/>
            </a:pPr>
            <a:r>
              <a:rPr lang="en-US" sz="1100" i="1" dirty="0">
                <a:solidFill>
                  <a:srgbClr val="000000"/>
                </a:solidFill>
                <a:latin typeface="Libre Franklin Medium" pitchFamily="34" charset="0"/>
                <a:ea typeface="Libre Franklin Medium" pitchFamily="34" charset="-122"/>
                <a:cs typeface="Libre Franklin Medium" pitchFamily="34" charset="-120"/>
              </a:rPr>
              <a:t>Examined only after assignment; FDR-adjusted within family</a:t>
            </a:r>
            <a:endParaRPr lang="en-US" sz="1100" dirty="0"/>
          </a:p>
        </p:txBody>
      </p:sp>
      <p:sp>
        <p:nvSpPr>
          <p:cNvPr id="21" name="Shape 16"/>
          <p:cNvSpPr/>
          <p:nvPr/>
        </p:nvSpPr>
        <p:spPr>
          <a:xfrm>
            <a:off x="521208" y="5394960"/>
            <a:ext cx="658368" cy="658368"/>
          </a:xfrm>
          <a:prstGeom prst="ellipse">
            <a:avLst/>
          </a:prstGeom>
          <a:solidFill>
            <a:srgbClr val="E6EEFC"/>
          </a:solidFill>
          <a:ln/>
        </p:spPr>
      </p:sp>
      <p:pic>
        <p:nvPicPr>
          <p:cNvPr id="22" name="Image 3" descr="/sessions/ecstatic-gifted-franklin/mnt/.claude/skills/esd-lab/assets/icons/suite/icon-eye-science-blue.png">    </p:cNvPr>
          <p:cNvPicPr>
            <a:picLocks noChangeAspect="1"/>
          </p:cNvPicPr>
          <p:nvPr/>
        </p:nvPicPr>
        <p:blipFill>
          <a:blip r:embed="rId4"/>
          <a:stretch>
            <a:fillRect/>
          </a:stretch>
        </p:blipFill>
        <p:spPr>
          <a:xfrm>
            <a:off x="640080" y="5513832"/>
            <a:ext cx="420624" cy="420624"/>
          </a:xfrm>
          <a:prstGeom prst="rect">
            <a:avLst/>
          </a:prstGeom>
        </p:spPr>
      </p:pic>
      <p:sp>
        <p:nvSpPr>
          <p:cNvPr id="23" name="Text 17"/>
          <p:cNvSpPr/>
          <p:nvPr/>
        </p:nvSpPr>
        <p:spPr>
          <a:xfrm>
            <a:off x="1362456" y="5358384"/>
            <a:ext cx="2743200" cy="365760"/>
          </a:xfrm>
          <a:prstGeom prst="rect">
            <a:avLst/>
          </a:prstGeom>
          <a:noFill/>
          <a:ln/>
        </p:spPr>
        <p:txBody>
          <a:bodyPr wrap="square" lIns="0" tIns="0" rIns="0" bIns="0" rtlCol="0" anchor="ctr"/>
          <a:lstStyle/>
          <a:p>
            <a:pPr indent="0" marL="0">
              <a:buNone/>
            </a:pPr>
            <a:r>
              <a:rPr lang="en-US" sz="1400" b="1" dirty="0">
                <a:solidFill>
                  <a:srgbClr val="3366FF"/>
                </a:solidFill>
                <a:latin typeface="Libre Franklin" pitchFamily="34" charset="0"/>
                <a:ea typeface="Libre Franklin" pitchFamily="34" charset="-122"/>
                <a:cs typeface="Libre Franklin" pitchFamily="34" charset="-120"/>
              </a:rPr>
              <a:t>Never loaded</a:t>
            </a:r>
            <a:endParaRPr lang="en-US" sz="1400" dirty="0"/>
          </a:p>
        </p:txBody>
      </p:sp>
      <p:sp>
        <p:nvSpPr>
          <p:cNvPr id="24" name="Text 18"/>
          <p:cNvSpPr/>
          <p:nvPr/>
        </p:nvSpPr>
        <p:spPr>
          <a:xfrm>
            <a:off x="1362456" y="5705856"/>
            <a:ext cx="5943600" cy="402336"/>
          </a:xfrm>
          <a:prstGeom prst="rect">
            <a:avLst/>
          </a:prstGeom>
          <a:noFill/>
          <a:ln/>
        </p:spPr>
        <p:txBody>
          <a:bodyPr wrap="square" lIns="0" tIns="0" rIns="0" bIns="0" rtlCol="0" anchor="t"/>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Birth date, ZIP, occupation, free text, detailed race / ethnicity / income</a:t>
            </a:r>
            <a:endParaRPr lang="en-US" sz="1150" dirty="0"/>
          </a:p>
        </p:txBody>
      </p:sp>
      <p:sp>
        <p:nvSpPr>
          <p:cNvPr id="25" name="Text 19"/>
          <p:cNvSpPr/>
          <p:nvPr/>
        </p:nvSpPr>
        <p:spPr>
          <a:xfrm>
            <a:off x="7498080" y="5431536"/>
            <a:ext cx="4206240" cy="603504"/>
          </a:xfrm>
          <a:prstGeom prst="rect">
            <a:avLst/>
          </a:prstGeom>
          <a:noFill/>
          <a:ln/>
        </p:spPr>
        <p:txBody>
          <a:bodyPr wrap="square" lIns="0" tIns="0" rIns="0" bIns="0" rtlCol="0" anchor="ctr"/>
          <a:lstStyle/>
          <a:p>
            <a:pPr indent="0" marL="0">
              <a:buNone/>
            </a:pPr>
            <a:r>
              <a:rPr lang="en-US" sz="1100" i="1" dirty="0">
                <a:solidFill>
                  <a:srgbClr val="000000"/>
                </a:solidFill>
                <a:latin typeface="Libre Franklin Medium" pitchFamily="34" charset="0"/>
                <a:ea typeface="Libre Franklin Medium" pitchFamily="34" charset="-122"/>
                <a:cs typeface="Libre Franklin Medium" pitchFamily="34" charset="-120"/>
              </a:rPr>
              <a:t>Privacy-conscious analytic table</a:t>
            </a:r>
            <a:endParaRPr lang="en-US" sz="1100" dirty="0"/>
          </a:p>
        </p:txBody>
      </p:sp>
      <p:sp>
        <p:nvSpPr>
          <p:cNvPr id="26" name="Text 20"/>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Seed 20260725 · K-means n_init = 100 · 100 subsample stability repeats · 100 gap-statistic references</a:t>
            </a:r>
            <a:endParaRPr lang="en-US" sz="850" dirty="0"/>
          </a:p>
        </p:txBody>
      </p:sp>
      <p:pic>
        <p:nvPicPr>
          <p:cNvPr id="27" name="Image 4" descr="/sessions/ecstatic-gifted-franklin/mnt/.claude/skills/esd-lab/assets/logos/wordmark-discovery-blue.png">    </p:cNvPr>
          <p:cNvPicPr>
            <a:picLocks noChangeAspect="1"/>
          </p:cNvPicPr>
          <p:nvPr/>
        </p:nvPicPr>
        <p:blipFill>
          <a:blip r:embed="rId5"/>
          <a:stretch>
            <a:fillRect/>
          </a:stretch>
        </p:blipFill>
        <p:spPr>
          <a:xfrm>
            <a:off x="11228832" y="6272784"/>
            <a:ext cx="420624" cy="393192"/>
          </a:xfrm>
          <a:prstGeom prst="rect">
            <a:avLst/>
          </a:prstGeom>
        </p:spPr>
      </p:pic>
      <p:sp>
        <p:nvSpPr>
          <p:cNvPr id="28" name="Text 21"/>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1</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Local file inventory and lineage</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185855" cy="914400"/>
        </p:xfrm>
        <a:graphic>
          <a:graphicData uri="http://schemas.openxmlformats.org/drawingml/2006/table">
            <a:tbl>
              <a:tblPr/>
              <a:tblGrid>
                <a:gridCol w="3703320"/>
                <a:gridCol w="566928"/>
                <a:gridCol w="566928"/>
                <a:gridCol w="777240"/>
                <a:gridCol w="1298448"/>
                <a:gridCol w="4270248"/>
              </a:tblGrid>
              <a:tr h="0">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File</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Rows</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Cols</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Size (KB)</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SHA-256 (12)</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Role in the analysis</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InfantAutismScreenin-FullDataset_DATA_2026-01-20_0940.csv</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177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183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187.5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0aadc4ee96cf</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Authoritative raw-code export</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InfantAutismScreenin-FullDataset_DATA_LABELS_2026-01-20_0940.csv</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177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186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442.2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55ea1f9e12de</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Question/response labels; sensitive fields not loaded</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cleaned_autism_study_data.csv</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135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186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429.7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89293f2be8eb</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135-ID analytic cohort definition; selection rule undocumented</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Analysis questions - Sheet3.csv</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0cc7ef113532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Local analysis definitions and prior-result tracker</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bl>
          </a:graphicData>
        </a:graphic>
      </p:graphicFrame>
      <p:sp>
        <p:nvSpPr>
          <p:cNvPr id="5" name="Shape 2"/>
          <p:cNvSpPr/>
          <p:nvPr/>
        </p:nvSpPr>
        <p:spPr>
          <a:xfrm>
            <a:off x="502920" y="3529584"/>
            <a:ext cx="11183112" cy="1188720"/>
          </a:xfrm>
          <a:prstGeom prst="roundRect">
            <a:avLst>
              <a:gd name="adj" fmla="val 9231"/>
            </a:avLst>
          </a:prstGeom>
          <a:solidFill>
            <a:srgbClr val="F4F4F6"/>
          </a:solidFill>
          <a:ln/>
        </p:spPr>
      </p:sp>
      <p:pic>
        <p:nvPicPr>
          <p:cNvPr id="6" name="Image 0" descr="/sessions/ecstatic-gifted-franklin/mnt/.claude/skills/esd-lab/assets/icons/star-confident-orange.png">    </p:cNvPr>
          <p:cNvPicPr>
            <a:picLocks noChangeAspect="1"/>
          </p:cNvPicPr>
          <p:nvPr/>
        </p:nvPicPr>
        <p:blipFill>
          <a:blip r:embed="rId1"/>
          <a:stretch>
            <a:fillRect/>
          </a:stretch>
        </p:blipFill>
        <p:spPr>
          <a:xfrm>
            <a:off x="740664" y="3877056"/>
            <a:ext cx="493776" cy="493776"/>
          </a:xfrm>
          <a:prstGeom prst="rect">
            <a:avLst/>
          </a:prstGeom>
        </p:spPr>
      </p:pic>
      <p:sp>
        <p:nvSpPr>
          <p:cNvPr id="7" name="Text 3"/>
          <p:cNvSpPr/>
          <p:nvPr/>
        </p:nvSpPr>
        <p:spPr>
          <a:xfrm>
            <a:off x="1417320" y="3529584"/>
            <a:ext cx="10058400" cy="1188720"/>
          </a:xfrm>
          <a:prstGeom prst="rect">
            <a:avLst/>
          </a:prstGeom>
          <a:noFill/>
          <a:ln/>
        </p:spPr>
        <p:txBody>
          <a:bodyPr wrap="square" lIns="0" tIns="0" rIns="0" bIns="0" rtlCol="0" anchor="ctr"/>
          <a:lstStyle/>
          <a:p>
            <a:pPr indent="0" marL="0">
              <a:buNone/>
            </a:pPr>
            <a:r>
              <a:rPr lang="en-US" sz="1200" b="1" dirty="0">
                <a:solidFill>
                  <a:srgbClr val="F57F00"/>
                </a:solidFill>
                <a:latin typeface="Libre Franklin Medium" pitchFamily="34" charset="0"/>
                <a:ea typeface="Libre Franklin Medium" pitchFamily="34" charset="-122"/>
                <a:cs typeface="Libre Franklin Medium" pitchFamily="34" charset="-120"/>
              </a:rPr>
              <a:t>Open item.  </a:t>
            </a:r>
            <a:pP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The raw export holds 177 records and the cleaned file names 135. The rule that selected those 135 IDs is not documented in any local file, so it is carried forward as a stated assumption rather than a verified step.</a:t>
            </a:r>
            <a:endParaRPr lang="en-US" sz="1200" dirty="0"/>
          </a:p>
        </p:txBody>
      </p:sp>
      <p:sp>
        <p:nvSpPr>
          <p:cNvPr id="8" name="Shape 4"/>
          <p:cNvSpPr/>
          <p:nvPr/>
        </p:nvSpPr>
        <p:spPr>
          <a:xfrm>
            <a:off x="502920" y="4937760"/>
            <a:ext cx="3547872" cy="1207008"/>
          </a:xfrm>
          <a:prstGeom prst="roundRect">
            <a:avLst>
              <a:gd name="adj" fmla="val 9091"/>
            </a:avLst>
          </a:prstGeom>
          <a:solidFill>
            <a:srgbClr val="E6EEFC"/>
          </a:solidFill>
          <a:ln/>
        </p:spPr>
      </p:sp>
      <p:sp>
        <p:nvSpPr>
          <p:cNvPr id="9" name="Text 5"/>
          <p:cNvSpPr/>
          <p:nvPr/>
        </p:nvSpPr>
        <p:spPr>
          <a:xfrm>
            <a:off x="758952" y="5084064"/>
            <a:ext cx="3108960" cy="310896"/>
          </a:xfrm>
          <a:prstGeom prst="rect">
            <a:avLst/>
          </a:prstGeom>
          <a:noFill/>
          <a:ln/>
        </p:spPr>
        <p:txBody>
          <a:bodyPr wrap="square" lIns="0" tIns="0" rIns="0" bIns="0" rtlCol="0" anchor="ctr"/>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177 = 177</a:t>
            </a:r>
            <a:endParaRPr lang="en-US" sz="1500" dirty="0"/>
          </a:p>
        </p:txBody>
      </p:sp>
      <p:sp>
        <p:nvSpPr>
          <p:cNvPr id="10" name="Text 6"/>
          <p:cNvSpPr/>
          <p:nvPr/>
        </p:nvSpPr>
        <p:spPr>
          <a:xfrm>
            <a:off x="758952" y="5394960"/>
            <a:ext cx="3072384" cy="658368"/>
          </a:xfrm>
          <a:prstGeom prst="rect">
            <a:avLst/>
          </a:prstGeom>
          <a:noFill/>
          <a:ln/>
        </p:spPr>
        <p:txBody>
          <a:bodyPr wrap="square" lIns="0" tIns="0" rIns="0" bIns="0" rtlCol="0" anchor="ctr"/>
          <a:lstStyle/>
          <a:p>
            <a:pPr indent="0" marL="0">
              <a:lnSpc>
                <a:spcPts val="1350"/>
              </a:lnSpc>
              <a:buNone/>
            </a:pPr>
            <a:r>
              <a:rPr lang="en-US" sz="1000" dirty="0">
                <a:solidFill>
                  <a:srgbClr val="000000"/>
                </a:solidFill>
                <a:latin typeface="Libre Franklin Medium" pitchFamily="34" charset="0"/>
                <a:ea typeface="Libre Franklin Medium" pitchFamily="34" charset="-122"/>
                <a:cs typeface="Libre Franklin Medium" pitchFamily="34" charset="-120"/>
              </a:rPr>
              <a:t>Raw and labeled exports match on record count AND record order, so the two files can be validated against each other row by row.</a:t>
            </a:r>
            <a:endParaRPr lang="en-US" sz="1000" dirty="0"/>
          </a:p>
        </p:txBody>
      </p:sp>
      <p:sp>
        <p:nvSpPr>
          <p:cNvPr id="11" name="Shape 7"/>
          <p:cNvSpPr/>
          <p:nvPr/>
        </p:nvSpPr>
        <p:spPr>
          <a:xfrm>
            <a:off x="4270248" y="4937760"/>
            <a:ext cx="3547872" cy="1207008"/>
          </a:xfrm>
          <a:prstGeom prst="roundRect">
            <a:avLst>
              <a:gd name="adj" fmla="val 9091"/>
            </a:avLst>
          </a:prstGeom>
          <a:solidFill>
            <a:srgbClr val="E6EEFC"/>
          </a:solidFill>
          <a:ln/>
        </p:spPr>
      </p:sp>
      <p:sp>
        <p:nvSpPr>
          <p:cNvPr id="12" name="Text 8"/>
          <p:cNvSpPr/>
          <p:nvPr/>
        </p:nvSpPr>
        <p:spPr>
          <a:xfrm>
            <a:off x="4526280" y="5084064"/>
            <a:ext cx="3108960" cy="310896"/>
          </a:xfrm>
          <a:prstGeom prst="rect">
            <a:avLst/>
          </a:prstGeom>
          <a:noFill/>
          <a:ln/>
        </p:spPr>
        <p:txBody>
          <a:bodyPr wrap="square" lIns="0" tIns="0" rIns="0" bIns="0" rtlCol="0" anchor="ctr"/>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135 of 177</a:t>
            </a:r>
            <a:endParaRPr lang="en-US" sz="1500" dirty="0"/>
          </a:p>
        </p:txBody>
      </p:sp>
      <p:sp>
        <p:nvSpPr>
          <p:cNvPr id="13" name="Text 9"/>
          <p:cNvSpPr/>
          <p:nvPr/>
        </p:nvSpPr>
        <p:spPr>
          <a:xfrm>
            <a:off x="4526280" y="5394960"/>
            <a:ext cx="3072384" cy="658368"/>
          </a:xfrm>
          <a:prstGeom prst="rect">
            <a:avLst/>
          </a:prstGeom>
          <a:noFill/>
          <a:ln/>
        </p:spPr>
        <p:txBody>
          <a:bodyPr wrap="square" lIns="0" tIns="0" rIns="0" bIns="0" rtlCol="0" anchor="ctr"/>
          <a:lstStyle/>
          <a:p>
            <a:pPr indent="0" marL="0">
              <a:lnSpc>
                <a:spcPts val="1350"/>
              </a:lnSpc>
              <a:buNone/>
            </a:pPr>
            <a:r>
              <a:rPr lang="en-US" sz="1000" dirty="0">
                <a:solidFill>
                  <a:srgbClr val="000000"/>
                </a:solidFill>
                <a:latin typeface="Libre Franklin Medium" pitchFamily="34" charset="0"/>
                <a:ea typeface="Libre Franklin Medium" pitchFamily="34" charset="-122"/>
                <a:cs typeface="Libre Franklin Medium" pitchFamily="34" charset="-120"/>
              </a:rPr>
              <a:t>Every selected ID is present in both exports. No selected ID is missing from the source.</a:t>
            </a:r>
            <a:endParaRPr lang="en-US" sz="1000" dirty="0"/>
          </a:p>
        </p:txBody>
      </p:sp>
      <p:sp>
        <p:nvSpPr>
          <p:cNvPr id="14" name="Shape 10"/>
          <p:cNvSpPr/>
          <p:nvPr/>
        </p:nvSpPr>
        <p:spPr>
          <a:xfrm>
            <a:off x="8037576" y="4937760"/>
            <a:ext cx="3547872" cy="1207008"/>
          </a:xfrm>
          <a:prstGeom prst="roundRect">
            <a:avLst>
              <a:gd name="adj" fmla="val 9091"/>
            </a:avLst>
          </a:prstGeom>
          <a:solidFill>
            <a:srgbClr val="E6EEFC"/>
          </a:solidFill>
          <a:ln/>
        </p:spPr>
      </p:sp>
      <p:sp>
        <p:nvSpPr>
          <p:cNvPr id="15" name="Text 11"/>
          <p:cNvSpPr/>
          <p:nvPr/>
        </p:nvSpPr>
        <p:spPr>
          <a:xfrm>
            <a:off x="8293608" y="5084064"/>
            <a:ext cx="3108960" cy="310896"/>
          </a:xfrm>
          <a:prstGeom prst="rect">
            <a:avLst/>
          </a:prstGeom>
          <a:noFill/>
          <a:ln/>
        </p:spPr>
        <p:txBody>
          <a:bodyPr wrap="square" lIns="0" tIns="0" rIns="0" bIns="0" rtlCol="0" anchor="ctr"/>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0 identifiers</a:t>
            </a:r>
            <a:endParaRPr lang="en-US" sz="1500" dirty="0"/>
          </a:p>
        </p:txBody>
      </p:sp>
      <p:sp>
        <p:nvSpPr>
          <p:cNvPr id="16" name="Text 12"/>
          <p:cNvSpPr/>
          <p:nvPr/>
        </p:nvSpPr>
        <p:spPr>
          <a:xfrm>
            <a:off x="8293608" y="5394960"/>
            <a:ext cx="3072384" cy="658368"/>
          </a:xfrm>
          <a:prstGeom prst="rect">
            <a:avLst/>
          </a:prstGeom>
          <a:noFill/>
          <a:ln/>
        </p:spPr>
        <p:txBody>
          <a:bodyPr wrap="square" lIns="0" tIns="0" rIns="0" bIns="0" rtlCol="0" anchor="ctr"/>
          <a:lstStyle/>
          <a:p>
            <a:pPr indent="0" marL="0">
              <a:lnSpc>
                <a:spcPts val="1350"/>
              </a:lnSpc>
              <a:buNone/>
            </a:pPr>
            <a:r>
              <a:rPr lang="en-US" sz="1000" dirty="0">
                <a:solidFill>
                  <a:srgbClr val="000000"/>
                </a:solidFill>
                <a:latin typeface="Libre Franklin Medium" pitchFamily="34" charset="0"/>
                <a:ea typeface="Libre Franklin Medium" pitchFamily="34" charset="-122"/>
                <a:cs typeface="Libre Franklin Medium" pitchFamily="34" charset="-120"/>
              </a:rPr>
              <a:t>Birth date, ZIP, occupation and free text are never read into the analytic table.</a:t>
            </a:r>
            <a:endParaRPr lang="en-US" sz="1000" dirty="0"/>
          </a:p>
        </p:txBody>
      </p:sp>
      <p:sp>
        <p:nvSpPr>
          <p:cNvPr id="17" name="Text 13"/>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Outputs/table_1_file_inventory.csv · hashes are the first 12 hex characters of the full SHA-256</a:t>
            </a:r>
            <a:endParaRPr lang="en-US" sz="850" dirty="0"/>
          </a:p>
        </p:txBody>
      </p:sp>
      <p:pic>
        <p:nvPicPr>
          <p:cNvPr id="18" name="Image 1" descr="/sessions/ecstatic-gifted-franklin/mnt/.claude/skills/esd-lab/assets/logos/wordmark-discovery-blue.png">    </p:cNvPr>
          <p:cNvPicPr>
            <a:picLocks noChangeAspect="1"/>
          </p:cNvPicPr>
          <p:nvPr/>
        </p:nvPicPr>
        <p:blipFill>
          <a:blip r:embed="rId2"/>
          <a:stretch>
            <a:fillRect/>
          </a:stretch>
        </p:blipFill>
        <p:spPr>
          <a:xfrm>
            <a:off x="11228832" y="6272784"/>
            <a:ext cx="420624" cy="393192"/>
          </a:xfrm>
          <a:prstGeom prst="rect">
            <a:avLst/>
          </a:prstGeom>
        </p:spPr>
      </p:pic>
      <p:sp>
        <p:nvSpPr>
          <p:cNvPr id="19" name="Text 14"/>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2</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Data quality and validation checks</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185855" cy="914400"/>
        </p:xfrm>
        <a:graphic>
          <a:graphicData uri="http://schemas.openxmlformats.org/drawingml/2006/table">
            <a:tbl>
              <a:tblPr/>
              <a:tblGrid>
                <a:gridCol w="3931920"/>
                <a:gridCol w="1920240"/>
                <a:gridCol w="5330952"/>
              </a:tblGrid>
              <a:tr h="402336">
                <a:tc>
                  <a:txBody>
                    <a:bodyPr/>
                    <a:lstStyle/>
                    <a:p>
                      <a:pPr algn="ctr" indent="0" marL="0">
                        <a:buNone/>
                      </a:pPr>
                      <a:r>
                        <a:rPr lang="en-US" sz="1150" b="1" dirty="0">
                          <a:solidFill>
                            <a:srgbClr val="F4F4F6"/>
                          </a:solidFill>
                          <a:latin typeface="Libre Franklin" pitchFamily="34" charset="0"/>
                          <a:ea typeface="Libre Franklin" pitchFamily="34" charset="-122"/>
                          <a:cs typeface="Libre Franklin" pitchFamily="34" charset="-120"/>
                        </a:rPr>
                        <a:t>Check</a:t>
                      </a:r>
                      <a:endParaRPr lang="en-US" sz="11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150" b="1" dirty="0">
                          <a:solidFill>
                            <a:srgbClr val="F4F4F6"/>
                          </a:solidFill>
                          <a:latin typeface="Libre Franklin" pitchFamily="34" charset="0"/>
                          <a:ea typeface="Libre Franklin" pitchFamily="34" charset="-122"/>
                          <a:cs typeface="Libre Franklin" pitchFamily="34" charset="-120"/>
                        </a:rPr>
                        <a:t>n or difference</a:t>
                      </a:r>
                      <a:endParaRPr lang="en-US" sz="11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150" b="1" dirty="0">
                          <a:solidFill>
                            <a:srgbClr val="F4F4F6"/>
                          </a:solidFill>
                          <a:latin typeface="Libre Franklin" pitchFamily="34" charset="0"/>
                          <a:ea typeface="Libre Franklin" pitchFamily="34" charset="-122"/>
                          <a:cs typeface="Libre Franklin" pitchFamily="34" charset="-120"/>
                        </a:rPr>
                        <a:t>Interpretation</a:t>
                      </a:r>
                      <a:endParaRPr lang="en-US" sz="11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402336">
                <a:tc>
                  <a:txBody>
                    <a:bodyPr/>
                    <a:lstStyle/>
                    <a:p>
                      <a:pPr algn="l" indent="0" marL="0">
                        <a:buNone/>
                      </a:pPr>
                      <a:r>
                        <a:rPr lang="en-US" sz="1200" b="1" dirty="0">
                          <a:solidFill>
                            <a:srgbClr val="3366FF"/>
                          </a:solidFill>
                          <a:latin typeface="Libre Franklin Medium" pitchFamily="34" charset="0"/>
                          <a:ea typeface="Libre Franklin Medium" pitchFamily="34" charset="-122"/>
                          <a:cs typeface="Libre Franklin Medium" pitchFamily="34" charset="-120"/>
                        </a:rPr>
                        <a:t>Raw REDCap records</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177</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Source population in export</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402336">
                <a:tc>
                  <a:txBody>
                    <a:bodyPr/>
                    <a:lstStyle/>
                    <a:p>
                      <a:pPr algn="l" indent="0" marL="0">
                        <a:buNone/>
                      </a:pPr>
                      <a:r>
                        <a:rPr lang="en-US" sz="1200" b="1" dirty="0">
                          <a:solidFill>
                            <a:srgbClr val="3366FF"/>
                          </a:solidFill>
                          <a:latin typeface="Libre Franklin Medium" pitchFamily="34" charset="0"/>
                          <a:ea typeface="Libre Franklin Medium" pitchFamily="34" charset="-122"/>
                          <a:cs typeface="Libre Franklin Medium" pitchFamily="34" charset="-120"/>
                        </a:rPr>
                        <a:t>Selected analytic IDs</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135</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Exact IDs in cleaned labeled subset</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402336">
                <a:tc>
                  <a:txBody>
                    <a:bodyPr/>
                    <a:lstStyle/>
                    <a:p>
                      <a:pPr algn="l" indent="0" marL="0">
                        <a:buNone/>
                      </a:pPr>
                      <a:r>
                        <a:rPr lang="en-US" sz="1200" b="1" dirty="0">
                          <a:solidFill>
                            <a:srgbClr val="3366FF"/>
                          </a:solidFill>
                          <a:latin typeface="Libre Franklin Medium" pitchFamily="34" charset="0"/>
                          <a:ea typeface="Libre Franklin Medium" pitchFamily="34" charset="-122"/>
                          <a:cs typeface="Libre Franklin Medium" pitchFamily="34" charset="-120"/>
                        </a:rPr>
                        <a:t>All three forms complete</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131</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4 selected records are partial</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402336">
                <a:tc>
                  <a:txBody>
                    <a:bodyPr/>
                    <a:lstStyle/>
                    <a:p>
                      <a:pPr algn="l" indent="0" marL="0">
                        <a:buNone/>
                      </a:pPr>
                      <a:r>
                        <a:rPr lang="en-US" sz="1200" b="1" dirty="0">
                          <a:solidFill>
                            <a:srgbClr val="3366FF"/>
                          </a:solidFill>
                          <a:latin typeface="Libre Franklin Medium" pitchFamily="34" charset="0"/>
                          <a:ea typeface="Libre Franklin Medium" pitchFamily="34" charset="-122"/>
                          <a:cs typeface="Libre Franklin Medium" pitchFamily="34" charset="-120"/>
                        </a:rPr>
                        <a:t>Valid primary screen outcome</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131</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4 missing remain missing</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402336">
                <a:tc>
                  <a:txBody>
                    <a:bodyPr/>
                    <a:lstStyle/>
                    <a:p>
                      <a:pPr algn="l" indent="0" marL="0">
                        <a:buNone/>
                      </a:pPr>
                      <a:r>
                        <a:rPr lang="en-US" sz="1200" b="1" dirty="0">
                          <a:solidFill>
                            <a:srgbClr val="3366FF"/>
                          </a:solidFill>
                          <a:latin typeface="Libre Franklin Medium" pitchFamily="34" charset="0"/>
                          <a:ea typeface="Libre Franklin Medium" pitchFamily="34" charset="-122"/>
                          <a:cs typeface="Libre Franklin Medium" pitchFamily="34" charset="-120"/>
                        </a:rPr>
                        <a:t>Valid calculated caregiver age</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126</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Zeros and missing excluded</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402336">
                <a:tc>
                  <a:txBody>
                    <a:bodyPr/>
                    <a:lstStyle/>
                    <a:p>
                      <a:pPr algn="l" indent="0" marL="0">
                        <a:buNone/>
                      </a:pPr>
                      <a:r>
                        <a:rPr lang="en-US" sz="1200" b="1" dirty="0">
                          <a:solidFill>
                            <a:srgbClr val="3366FF"/>
                          </a:solidFill>
                          <a:latin typeface="Libre Franklin Medium" pitchFamily="34" charset="0"/>
                          <a:ea typeface="Libre Franklin Medium" pitchFamily="34" charset="-122"/>
                          <a:cs typeface="Libre Franklin Medium" pitchFamily="34" charset="-120"/>
                        </a:rPr>
                        <a:t>Raw/labeled schema difference</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3</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200" dirty="0">
                          <a:solidFill>
                            <a:srgbClr val="000000"/>
                          </a:solidFill>
                          <a:latin typeface="Libre Franklin Medium" pitchFamily="34" charset="0"/>
                          <a:ea typeface="Libre Franklin Medium" pitchFamily="34" charset="-122"/>
                          <a:cs typeface="Libre Franklin Medium" pitchFamily="34" charset="-120"/>
                        </a:rPr>
                        <a:t>Demographic labels cannot be position-zipped</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bl>
          </a:graphicData>
        </a:graphic>
      </p:graphicFrame>
      <p:sp>
        <p:nvSpPr>
          <p:cNvPr id="5" name="Shape 2"/>
          <p:cNvSpPr/>
          <p:nvPr/>
        </p:nvSpPr>
        <p:spPr>
          <a:xfrm>
            <a:off x="502920" y="4864608"/>
            <a:ext cx="11183112" cy="1133856"/>
          </a:xfrm>
          <a:prstGeom prst="roundRect">
            <a:avLst>
              <a:gd name="adj" fmla="val 9677"/>
            </a:avLst>
          </a:prstGeom>
          <a:solidFill>
            <a:srgbClr val="E6EEFC"/>
          </a:solidFill>
          <a:ln/>
        </p:spPr>
      </p:sp>
      <p:sp>
        <p:nvSpPr>
          <p:cNvPr id="6" name="Text 3"/>
          <p:cNvSpPr/>
          <p:nvPr/>
        </p:nvSpPr>
        <p:spPr>
          <a:xfrm>
            <a:off x="777240" y="4864608"/>
            <a:ext cx="10607040" cy="1133856"/>
          </a:xfrm>
          <a:prstGeom prst="rect">
            <a:avLst/>
          </a:prstGeom>
          <a:noFill/>
          <a:ln/>
        </p:spPr>
        <p:txBody>
          <a:bodyPr wrap="square" lIns="0" tIns="0" rIns="0" bIns="0" rtlCol="0" anchor="ctr"/>
          <a:lstStyle/>
          <a:p>
            <a:pPr indent="0" marL="0">
              <a:lnSpc>
                <a:spcPts val="1700"/>
              </a:lnSpc>
              <a:buNone/>
            </a:pPr>
            <a:r>
              <a:rPr lang="en-US" sz="1200" b="1" dirty="0">
                <a:solidFill>
                  <a:srgbClr val="3366FF"/>
                </a:solidFill>
                <a:latin typeface="Libre Franklin Medium" pitchFamily="34" charset="0"/>
                <a:ea typeface="Libre Franklin Medium" pitchFamily="34" charset="-122"/>
                <a:cs typeface="Libre Franklin Medium" pitchFamily="34" charset="-120"/>
              </a:rPr>
              <a:t>Why the schema difference matters.  </a:t>
            </a:r>
            <a:pPr indent="0" marL="0">
              <a:lnSpc>
                <a:spcPts val="17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The raw and labeled exports differ by three columns in the demographic block, so I could not zip label text onto raw codes by column position. Every demographic measure in this deck is therefore derived from the raw coded export and coded explicitly, not read off label strings.</a:t>
            </a:r>
            <a:endParaRPr lang="en-US" sz="1200" dirty="0"/>
          </a:p>
        </p:txBody>
      </p:sp>
      <p:sp>
        <p:nvSpPr>
          <p:cNvPr id="7" name="Text 4"/>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Outputs/table_2_data_quality_summary.csv</a:t>
            </a:r>
            <a:endParaRPr lang="en-US" sz="850" dirty="0"/>
          </a:p>
        </p:txBody>
      </p:sp>
      <p:pic>
        <p:nvPicPr>
          <p:cNvPr id="8"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9" name="Text 5"/>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5B</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Cohort flow from selected sample to primary comparison</a:t>
            </a:r>
            <a:endParaRPr lang="en-US" sz="2700" dirty="0"/>
          </a:p>
        </p:txBody>
      </p:sp>
      <p:sp>
        <p:nvSpPr>
          <p:cNvPr id="4" name="Shape 2"/>
          <p:cNvSpPr/>
          <p:nvPr/>
        </p:nvSpPr>
        <p:spPr>
          <a:xfrm>
            <a:off x="502920" y="1517904"/>
            <a:ext cx="11183112" cy="969264"/>
          </a:xfrm>
          <a:prstGeom prst="roundRect">
            <a:avLst>
              <a:gd name="adj" fmla="val 11321"/>
            </a:avLst>
          </a:prstGeom>
          <a:solidFill>
            <a:srgbClr val="E6EEFC"/>
          </a:solidFill>
          <a:ln/>
        </p:spPr>
      </p:sp>
      <p:sp>
        <p:nvSpPr>
          <p:cNvPr id="5" name="Shape 3"/>
          <p:cNvSpPr/>
          <p:nvPr/>
        </p:nvSpPr>
        <p:spPr>
          <a:xfrm>
            <a:off x="649224" y="1645920"/>
            <a:ext cx="1371600" cy="713232"/>
          </a:xfrm>
          <a:prstGeom prst="roundRect">
            <a:avLst>
              <a:gd name="adj" fmla="val 12821"/>
            </a:avLst>
          </a:prstGeom>
          <a:solidFill>
            <a:srgbClr val="3366FF"/>
          </a:solidFill>
          <a:ln/>
        </p:spPr>
      </p:sp>
      <p:sp>
        <p:nvSpPr>
          <p:cNvPr id="6" name="Text 4"/>
          <p:cNvSpPr/>
          <p:nvPr/>
        </p:nvSpPr>
        <p:spPr>
          <a:xfrm>
            <a:off x="649224" y="1645920"/>
            <a:ext cx="1371600" cy="713232"/>
          </a:xfrm>
          <a:prstGeom prst="rect">
            <a:avLst/>
          </a:prstGeom>
          <a:noFill/>
          <a:ln/>
        </p:spPr>
        <p:txBody>
          <a:bodyPr wrap="square" lIns="0" tIns="0" rIns="0" bIns="0" rtlCol="0" anchor="ctr"/>
          <a:lstStyle/>
          <a:p>
            <a:pPr algn="ctr" indent="0" marL="0">
              <a:buNone/>
            </a:pPr>
            <a:r>
              <a:rPr lang="en-US" sz="1900" b="1" dirty="0">
                <a:solidFill>
                  <a:srgbClr val="F4F4F6"/>
                </a:solidFill>
                <a:latin typeface="Libre Franklin" pitchFamily="34" charset="0"/>
                <a:ea typeface="Libre Franklin" pitchFamily="34" charset="-122"/>
                <a:cs typeface="Libre Franklin" pitchFamily="34" charset="-120"/>
              </a:rPr>
              <a:t>n = 135</a:t>
            </a:r>
            <a:endParaRPr lang="en-US" sz="1900" dirty="0"/>
          </a:p>
        </p:txBody>
      </p:sp>
      <p:sp>
        <p:nvSpPr>
          <p:cNvPr id="7" name="Text 5"/>
          <p:cNvSpPr/>
          <p:nvPr/>
        </p:nvSpPr>
        <p:spPr>
          <a:xfrm>
            <a:off x="2221992" y="1645920"/>
            <a:ext cx="5212080" cy="713232"/>
          </a:xfrm>
          <a:prstGeom prst="rect">
            <a:avLst/>
          </a:prstGeom>
          <a:noFill/>
          <a:ln/>
        </p:spPr>
        <p:txBody>
          <a:bodyPr wrap="square" lIns="0" tIns="0" rIns="0" bIns="0" rtlCol="0" anchor="ctr"/>
          <a:lstStyle/>
          <a:p>
            <a:pPr indent="0" marL="0">
              <a:buNone/>
            </a:pPr>
            <a:r>
              <a:rPr lang="en-US" sz="1450" b="1" dirty="0">
                <a:solidFill>
                  <a:srgbClr val="3366FF"/>
                </a:solidFill>
                <a:latin typeface="Libre Franklin" pitchFamily="34" charset="0"/>
                <a:ea typeface="Libre Franklin" pitchFamily="34" charset="-122"/>
                <a:cs typeface="Libre Franklin" pitchFamily="34" charset="-120"/>
              </a:rPr>
              <a:t>Selected analytic cohort</a:t>
            </a:r>
            <a:endParaRPr lang="en-US" sz="1450" dirty="0"/>
          </a:p>
        </p:txBody>
      </p:sp>
      <p:sp>
        <p:nvSpPr>
          <p:cNvPr id="8" name="Text 6"/>
          <p:cNvSpPr/>
          <p:nvPr/>
        </p:nvSpPr>
        <p:spPr>
          <a:xfrm>
            <a:off x="7543800" y="1645920"/>
            <a:ext cx="4114800" cy="713232"/>
          </a:xfrm>
          <a:prstGeom prst="rect">
            <a:avLst/>
          </a:prstGeom>
          <a:noFill/>
          <a:ln/>
        </p:spPr>
        <p:txBody>
          <a:bodyPr wrap="square" lIns="0" tIns="0" rIns="0" bIns="0" rtlCol="0" anchor="ct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Cohort supplied in cleaned_autism_study_data.csv</a:t>
            </a:r>
            <a:endParaRPr lang="en-US" sz="1150" dirty="0"/>
          </a:p>
        </p:txBody>
      </p:sp>
      <p:sp>
        <p:nvSpPr>
          <p:cNvPr id="9" name="Shape 7"/>
          <p:cNvSpPr/>
          <p:nvPr/>
        </p:nvSpPr>
        <p:spPr>
          <a:xfrm>
            <a:off x="1298448" y="2487168"/>
            <a:ext cx="50292" cy="164592"/>
          </a:xfrm>
          <a:prstGeom prst="rect">
            <a:avLst/>
          </a:prstGeom>
          <a:solidFill>
            <a:srgbClr val="91BAF4"/>
          </a:solidFill>
          <a:ln/>
        </p:spPr>
      </p:sp>
      <p:sp>
        <p:nvSpPr>
          <p:cNvPr id="10" name="Shape 8"/>
          <p:cNvSpPr/>
          <p:nvPr/>
        </p:nvSpPr>
        <p:spPr>
          <a:xfrm>
            <a:off x="502920" y="2651760"/>
            <a:ext cx="11183112" cy="969264"/>
          </a:xfrm>
          <a:prstGeom prst="roundRect">
            <a:avLst>
              <a:gd name="adj" fmla="val 11321"/>
            </a:avLst>
          </a:prstGeom>
          <a:solidFill>
            <a:srgbClr val="E6EEFC"/>
          </a:solidFill>
          <a:ln/>
        </p:spPr>
      </p:sp>
      <p:sp>
        <p:nvSpPr>
          <p:cNvPr id="11" name="Shape 9"/>
          <p:cNvSpPr/>
          <p:nvPr/>
        </p:nvSpPr>
        <p:spPr>
          <a:xfrm>
            <a:off x="649224" y="2779776"/>
            <a:ext cx="1371600" cy="713232"/>
          </a:xfrm>
          <a:prstGeom prst="roundRect">
            <a:avLst>
              <a:gd name="adj" fmla="val 12821"/>
            </a:avLst>
          </a:prstGeom>
          <a:solidFill>
            <a:srgbClr val="3366FF"/>
          </a:solidFill>
          <a:ln/>
        </p:spPr>
      </p:sp>
      <p:sp>
        <p:nvSpPr>
          <p:cNvPr id="12" name="Text 10"/>
          <p:cNvSpPr/>
          <p:nvPr/>
        </p:nvSpPr>
        <p:spPr>
          <a:xfrm>
            <a:off x="649224" y="2779776"/>
            <a:ext cx="1371600" cy="713232"/>
          </a:xfrm>
          <a:prstGeom prst="rect">
            <a:avLst/>
          </a:prstGeom>
          <a:noFill/>
          <a:ln/>
        </p:spPr>
        <p:txBody>
          <a:bodyPr wrap="square" lIns="0" tIns="0" rIns="0" bIns="0" rtlCol="0" anchor="ctr"/>
          <a:lstStyle/>
          <a:p>
            <a:pPr algn="ctr" indent="0" marL="0">
              <a:buNone/>
            </a:pPr>
            <a:r>
              <a:rPr lang="en-US" sz="1900" b="1" dirty="0">
                <a:solidFill>
                  <a:srgbClr val="F4F4F6"/>
                </a:solidFill>
                <a:latin typeface="Libre Franklin" pitchFamily="34" charset="0"/>
                <a:ea typeface="Libre Franklin" pitchFamily="34" charset="-122"/>
                <a:cs typeface="Libre Franklin" pitchFamily="34" charset="-120"/>
              </a:rPr>
              <a:t>n = 131</a:t>
            </a:r>
            <a:endParaRPr lang="en-US" sz="1900" dirty="0"/>
          </a:p>
        </p:txBody>
      </p:sp>
      <p:sp>
        <p:nvSpPr>
          <p:cNvPr id="13" name="Text 11"/>
          <p:cNvSpPr/>
          <p:nvPr/>
        </p:nvSpPr>
        <p:spPr>
          <a:xfrm>
            <a:off x="2221992" y="2779776"/>
            <a:ext cx="5212080" cy="713232"/>
          </a:xfrm>
          <a:prstGeom prst="rect">
            <a:avLst/>
          </a:prstGeom>
          <a:noFill/>
          <a:ln/>
        </p:spPr>
        <p:txBody>
          <a:bodyPr wrap="square" lIns="0" tIns="0" rIns="0" bIns="0" rtlCol="0" anchor="ctr"/>
          <a:lstStyle/>
          <a:p>
            <a:pPr indent="0" marL="0">
              <a:buNone/>
            </a:pPr>
            <a:r>
              <a:rPr lang="en-US" sz="1450" b="1" dirty="0">
                <a:solidFill>
                  <a:srgbClr val="3366FF"/>
                </a:solidFill>
                <a:latin typeface="Libre Franklin" pitchFamily="34" charset="0"/>
                <a:ea typeface="Libre Franklin" pitchFamily="34" charset="-122"/>
                <a:cs typeface="Libre Franklin" pitchFamily="34" charset="-120"/>
              </a:rPr>
              <a:t>Cluster-assigned (≥8/10 input domains)</a:t>
            </a:r>
            <a:endParaRPr lang="en-US" sz="1450" dirty="0"/>
          </a:p>
        </p:txBody>
      </p:sp>
      <p:sp>
        <p:nvSpPr>
          <p:cNvPr id="14" name="Text 12"/>
          <p:cNvSpPr/>
          <p:nvPr/>
        </p:nvSpPr>
        <p:spPr>
          <a:xfrm>
            <a:off x="7543800" y="2779776"/>
            <a:ext cx="4114800" cy="713232"/>
          </a:xfrm>
          <a:prstGeom prst="rect">
            <a:avLst/>
          </a:prstGeom>
          <a:noFill/>
          <a:ln/>
        </p:spPr>
        <p:txBody>
          <a:bodyPr wrap="square" lIns="0" tIns="0" rIns="0" bIns="0" rtlCol="0" anchor="ct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Primary clustering cohort</a:t>
            </a:r>
            <a:endParaRPr lang="en-US" sz="1150" dirty="0"/>
          </a:p>
        </p:txBody>
      </p:sp>
      <p:sp>
        <p:nvSpPr>
          <p:cNvPr id="15" name="Shape 13"/>
          <p:cNvSpPr/>
          <p:nvPr/>
        </p:nvSpPr>
        <p:spPr>
          <a:xfrm>
            <a:off x="1298448" y="3621024"/>
            <a:ext cx="50292" cy="164592"/>
          </a:xfrm>
          <a:prstGeom prst="rect">
            <a:avLst/>
          </a:prstGeom>
          <a:solidFill>
            <a:srgbClr val="91BAF4"/>
          </a:solidFill>
          <a:ln/>
        </p:spPr>
      </p:sp>
      <p:sp>
        <p:nvSpPr>
          <p:cNvPr id="16" name="Shape 14"/>
          <p:cNvSpPr/>
          <p:nvPr/>
        </p:nvSpPr>
        <p:spPr>
          <a:xfrm>
            <a:off x="502920" y="3785616"/>
            <a:ext cx="11183112" cy="969264"/>
          </a:xfrm>
          <a:prstGeom prst="roundRect">
            <a:avLst>
              <a:gd name="adj" fmla="val 11321"/>
            </a:avLst>
          </a:prstGeom>
          <a:solidFill>
            <a:srgbClr val="E6EEFC"/>
          </a:solidFill>
          <a:ln/>
        </p:spPr>
      </p:sp>
      <p:sp>
        <p:nvSpPr>
          <p:cNvPr id="17" name="Shape 15"/>
          <p:cNvSpPr/>
          <p:nvPr/>
        </p:nvSpPr>
        <p:spPr>
          <a:xfrm>
            <a:off x="649224" y="3913632"/>
            <a:ext cx="1371600" cy="713232"/>
          </a:xfrm>
          <a:prstGeom prst="roundRect">
            <a:avLst>
              <a:gd name="adj" fmla="val 12821"/>
            </a:avLst>
          </a:prstGeom>
          <a:solidFill>
            <a:srgbClr val="3366FF"/>
          </a:solidFill>
          <a:ln/>
        </p:spPr>
      </p:sp>
      <p:sp>
        <p:nvSpPr>
          <p:cNvPr id="18" name="Text 16"/>
          <p:cNvSpPr/>
          <p:nvPr/>
        </p:nvSpPr>
        <p:spPr>
          <a:xfrm>
            <a:off x="649224" y="3913632"/>
            <a:ext cx="1371600" cy="713232"/>
          </a:xfrm>
          <a:prstGeom prst="rect">
            <a:avLst/>
          </a:prstGeom>
          <a:noFill/>
          <a:ln/>
        </p:spPr>
        <p:txBody>
          <a:bodyPr wrap="square" lIns="0" tIns="0" rIns="0" bIns="0" rtlCol="0" anchor="ctr"/>
          <a:lstStyle/>
          <a:p>
            <a:pPr algn="ctr" indent="0" marL="0">
              <a:buNone/>
            </a:pPr>
            <a:r>
              <a:rPr lang="en-US" sz="1900" b="1" dirty="0">
                <a:solidFill>
                  <a:srgbClr val="F4F4F6"/>
                </a:solidFill>
                <a:latin typeface="Libre Franklin" pitchFamily="34" charset="0"/>
                <a:ea typeface="Libre Franklin" pitchFamily="34" charset="-122"/>
                <a:cs typeface="Libre Franklin" pitchFamily="34" charset="-120"/>
              </a:rPr>
              <a:t>n = 127</a:t>
            </a:r>
            <a:endParaRPr lang="en-US" sz="1900" dirty="0"/>
          </a:p>
        </p:txBody>
      </p:sp>
      <p:sp>
        <p:nvSpPr>
          <p:cNvPr id="19" name="Text 17"/>
          <p:cNvSpPr/>
          <p:nvPr/>
        </p:nvSpPr>
        <p:spPr>
          <a:xfrm>
            <a:off x="2221992" y="3913632"/>
            <a:ext cx="5212080" cy="713232"/>
          </a:xfrm>
          <a:prstGeom prst="rect">
            <a:avLst/>
          </a:prstGeom>
          <a:noFill/>
          <a:ln/>
        </p:spPr>
        <p:txBody>
          <a:bodyPr wrap="square" lIns="0" tIns="0" rIns="0" bIns="0" rtlCol="0" anchor="ctr"/>
          <a:lstStyle/>
          <a:p>
            <a:pPr indent="0" marL="0">
              <a:buNone/>
            </a:pPr>
            <a:r>
              <a:rPr lang="en-US" sz="1450" b="1" dirty="0">
                <a:solidFill>
                  <a:srgbClr val="3366FF"/>
                </a:solidFill>
                <a:latin typeface="Libre Franklin" pitchFamily="34" charset="0"/>
                <a:ea typeface="Libre Franklin" pitchFamily="34" charset="-122"/>
                <a:cs typeface="Libre Franklin" pitchFamily="34" charset="-120"/>
              </a:rPr>
              <a:t>Cluster-assigned with valid screening outcome</a:t>
            </a:r>
            <a:endParaRPr lang="en-US" sz="1450" dirty="0"/>
          </a:p>
        </p:txBody>
      </p:sp>
      <p:sp>
        <p:nvSpPr>
          <p:cNvPr id="20" name="Text 18"/>
          <p:cNvSpPr/>
          <p:nvPr/>
        </p:nvSpPr>
        <p:spPr>
          <a:xfrm>
            <a:off x="7543800" y="3913632"/>
            <a:ext cx="4114800" cy="713232"/>
          </a:xfrm>
          <a:prstGeom prst="rect">
            <a:avLst/>
          </a:prstGeom>
          <a:noFill/>
          <a:ln/>
        </p:spPr>
        <p:txBody>
          <a:bodyPr wrap="square" lIns="0" tIns="0" rIns="0" bIns="0" rtlCol="0" anchor="ct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Primary held-out screening comparison</a:t>
            </a:r>
            <a:endParaRPr lang="en-US" sz="1150" dirty="0"/>
          </a:p>
        </p:txBody>
      </p:sp>
      <p:sp>
        <p:nvSpPr>
          <p:cNvPr id="21" name="Shape 19"/>
          <p:cNvSpPr/>
          <p:nvPr/>
        </p:nvSpPr>
        <p:spPr>
          <a:xfrm>
            <a:off x="502920" y="4919472"/>
            <a:ext cx="11183112" cy="969264"/>
          </a:xfrm>
          <a:prstGeom prst="roundRect">
            <a:avLst>
              <a:gd name="adj" fmla="val 11321"/>
            </a:avLst>
          </a:prstGeom>
          <a:solidFill>
            <a:srgbClr val="F4F4F6"/>
          </a:solidFill>
          <a:ln/>
        </p:spPr>
      </p:sp>
      <p:sp>
        <p:nvSpPr>
          <p:cNvPr id="22" name="Shape 20"/>
          <p:cNvSpPr/>
          <p:nvPr/>
        </p:nvSpPr>
        <p:spPr>
          <a:xfrm>
            <a:off x="649224" y="5047488"/>
            <a:ext cx="1371600" cy="713232"/>
          </a:xfrm>
          <a:prstGeom prst="roundRect">
            <a:avLst>
              <a:gd name="adj" fmla="val 12821"/>
            </a:avLst>
          </a:prstGeom>
          <a:solidFill>
            <a:srgbClr val="F57F00"/>
          </a:solidFill>
          <a:ln/>
        </p:spPr>
      </p:sp>
      <p:sp>
        <p:nvSpPr>
          <p:cNvPr id="23" name="Text 21"/>
          <p:cNvSpPr/>
          <p:nvPr/>
        </p:nvSpPr>
        <p:spPr>
          <a:xfrm>
            <a:off x="649224" y="5047488"/>
            <a:ext cx="1371600" cy="713232"/>
          </a:xfrm>
          <a:prstGeom prst="rect">
            <a:avLst/>
          </a:prstGeom>
          <a:noFill/>
          <a:ln/>
        </p:spPr>
        <p:txBody>
          <a:bodyPr wrap="square" lIns="0" tIns="0" rIns="0" bIns="0" rtlCol="0" anchor="ctr"/>
          <a:lstStyle/>
          <a:p>
            <a:pPr algn="ctr" indent="0" marL="0">
              <a:buNone/>
            </a:pPr>
            <a:r>
              <a:rPr lang="en-US" sz="1900" b="1" dirty="0">
                <a:solidFill>
                  <a:srgbClr val="FFFFFF"/>
                </a:solidFill>
                <a:latin typeface="Libre Franklin" pitchFamily="34" charset="0"/>
                <a:ea typeface="Libre Franklin" pitchFamily="34" charset="-122"/>
                <a:cs typeface="Libre Franklin" pitchFamily="34" charset="-120"/>
              </a:rPr>
              <a:t>n = 4</a:t>
            </a:r>
            <a:endParaRPr lang="en-US" sz="1900" dirty="0"/>
          </a:p>
        </p:txBody>
      </p:sp>
      <p:sp>
        <p:nvSpPr>
          <p:cNvPr id="24" name="Text 22"/>
          <p:cNvSpPr/>
          <p:nvPr/>
        </p:nvSpPr>
        <p:spPr>
          <a:xfrm>
            <a:off x="2221992" y="5047488"/>
            <a:ext cx="5212080" cy="713232"/>
          </a:xfrm>
          <a:prstGeom prst="rect">
            <a:avLst/>
          </a:prstGeom>
          <a:noFill/>
          <a:ln/>
        </p:spPr>
        <p:txBody>
          <a:bodyPr wrap="square" lIns="0" tIns="0" rIns="0" bIns="0" rtlCol="0" anchor="ctr"/>
          <a:lstStyle/>
          <a:p>
            <a:pPr indent="0" marL="0">
              <a:buNone/>
            </a:pPr>
            <a:r>
              <a:rPr lang="en-US" sz="1450" b="1" dirty="0">
                <a:solidFill>
                  <a:srgbClr val="F57F00"/>
                </a:solidFill>
                <a:latin typeface="Libre Franklin" pitchFamily="34" charset="0"/>
                <a:ea typeface="Libre Franklin" pitchFamily="34" charset="-122"/>
                <a:cs typeface="Libre Franklin" pitchFamily="34" charset="-120"/>
              </a:rPr>
              <a:t>Excluded from clustering but screening-valid</a:t>
            </a:r>
            <a:endParaRPr lang="en-US" sz="1450" dirty="0"/>
          </a:p>
        </p:txBody>
      </p:sp>
      <p:sp>
        <p:nvSpPr>
          <p:cNvPr id="25" name="Text 23"/>
          <p:cNvSpPr/>
          <p:nvPr/>
        </p:nvSpPr>
        <p:spPr>
          <a:xfrm>
            <a:off x="7543800" y="5047488"/>
            <a:ext cx="4114800" cy="713232"/>
          </a:xfrm>
          <a:prstGeom prst="rect">
            <a:avLst/>
          </a:prstGeom>
          <a:noFill/>
          <a:ln/>
        </p:spPr>
        <p:txBody>
          <a:bodyPr wrap="square" lIns="0" tIns="0" rIns="0" bIns="0" rtlCol="0" anchor="ctr"/>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0 answered Definitely yes</a:t>
            </a:r>
            <a:endParaRPr lang="en-US" sz="1150" dirty="0"/>
          </a:p>
        </p:txBody>
      </p:sp>
      <p:sp>
        <p:nvSpPr>
          <p:cNvPr id="26" name="Text 24"/>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Outputs/table_5b_cohort_flow.csv · 131 clustered, of whom 127 carry a valid screening response</a:t>
            </a:r>
            <a:endParaRPr lang="en-US" sz="850" dirty="0"/>
          </a:p>
        </p:txBody>
      </p:sp>
      <p:pic>
        <p:nvPicPr>
          <p:cNvPr id="27"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28" name="Text 25"/>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CLUSTER INPUTS</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The ten TFA domains and their observed distributions</a:t>
            </a:r>
            <a:endParaRPr lang="en-US" sz="27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499616"/>
          <a:ext cx="11185855" cy="914400"/>
        </p:xfrm>
        <a:graphic>
          <a:graphicData uri="http://schemas.openxmlformats.org/drawingml/2006/table">
            <a:tbl>
              <a:tblPr/>
              <a:tblGrid>
                <a:gridCol w="4526280"/>
                <a:gridCol w="868680"/>
                <a:gridCol w="960120"/>
                <a:gridCol w="1005840"/>
                <a:gridCol w="1005840"/>
                <a:gridCol w="1408176"/>
                <a:gridCol w="1408176"/>
              </a:tblGrid>
              <a:tr h="292608">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Domain (0-100, higher = more accepting)</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n obs.</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Missing</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Mean</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SD</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Min</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Max</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292608">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Positive affect / clinical trust</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129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64.1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22.4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Low distress</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129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74.6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26.0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292608">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Low aversive affect</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130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96.1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50.0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Feasibility across pathways</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135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66.7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19.0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16.7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292608">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Low-burden modality openness</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132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85.1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15.4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12.5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Equipment-intensive openness</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133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41.0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24.5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292608">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Blood-test openness</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128</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60.3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32.1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Accuracy tolerance</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135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37.8</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25.3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292608">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Perceived screening utility</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135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76.8</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22.0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292608">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Ethical / moral support</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135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78.1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22.0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100.0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bl>
          </a:graphicData>
        </a:graphic>
      </p:graphicFrame>
      <p:sp>
        <p:nvSpPr>
          <p:cNvPr id="5" name="Text 2"/>
          <p:cNvSpPr/>
          <p:nvPr/>
        </p:nvSpPr>
        <p:spPr>
          <a:xfrm>
            <a:off x="502920" y="5138928"/>
            <a:ext cx="11183112" cy="822960"/>
          </a:xfrm>
          <a:prstGeom prst="rect">
            <a:avLst/>
          </a:prstGeom>
          <a:noFill/>
          <a:ln/>
        </p:spPr>
        <p:txBody>
          <a:bodyPr wrap="square" lIns="0" tIns="0" rIns="0" bIns="0" rtlCol="0" anchor="ctr"/>
          <a:lstStyle/>
          <a:p>
            <a:pPr indent="0" marL="0">
              <a:lnSpc>
                <a:spcPts val="1600"/>
              </a:lnSpc>
              <a:buNone/>
            </a:pPr>
            <a:r>
              <a:rPr lang="en-US" sz="1150" b="1" dirty="0">
                <a:solidFill>
                  <a:srgbClr val="3366FF"/>
                </a:solidFill>
                <a:latin typeface="Libre Franklin Medium" pitchFamily="34" charset="0"/>
                <a:ea typeface="Libre Franklin Medium" pitchFamily="34" charset="-122"/>
                <a:cs typeface="Libre Franklin Medium" pitchFamily="34" charset="-120"/>
              </a:rPr>
              <a:t>Construction rule.  </a:t>
            </a:r>
            <a:pPr indent="0" marL="0">
              <a:lnSpc>
                <a:spcPts val="16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Each item is rescaled to 0-100 and reverse-coded where needed, then averaged within its domain. A respondent needs ≥8 of 10 domains observed to be clustered; median imputation is applied only to sparse domain nonresponse, never to outcomes. Standardization gives every domain equal weight and assumes ordinal steps are roughly evenly spaced.</a:t>
            </a:r>
            <a:endParaRPr lang="en-US" sz="1150" dirty="0"/>
          </a:p>
        </p:txBody>
      </p:sp>
      <p:sp>
        <p:nvSpPr>
          <p:cNvPr id="6" name="Text 3"/>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Notebook cell 5 output (Construct directionally aligned cluster inputs), X_cluster shape (131, 10)</a:t>
            </a:r>
            <a:endParaRPr lang="en-US" sz="850" dirty="0"/>
          </a:p>
        </p:txBody>
      </p:sp>
      <p:pic>
        <p:nvPicPr>
          <p:cNvPr id="7"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8" name="Text 4"/>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3</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Cluster-count diagnostics, k = 2 through 6</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5855" cy="914400"/>
        </p:xfrm>
        <a:graphic>
          <a:graphicData uri="http://schemas.openxmlformats.org/drawingml/2006/table">
            <a:tbl>
              <a:tblPr/>
              <a:tblGrid>
                <a:gridCol w="502920"/>
                <a:gridCol w="1143000"/>
                <a:gridCol w="1143000"/>
                <a:gridCol w="1508760"/>
                <a:gridCol w="1463040"/>
                <a:gridCol w="1600200"/>
                <a:gridCol w="1554480"/>
                <a:gridCol w="960120"/>
                <a:gridCol w="1307592"/>
              </a:tblGrid>
              <a:tr h="274320">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k</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Inertia</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Silhouette</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Calinski–Harabasz</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Davies–Bouldin</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Mean subsample ARI</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P10 subsample ARI</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Smallest n</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Smallest %</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274320">
                <a:tc>
                  <a:txBody>
                    <a:bodyPr/>
                    <a:lstStyle/>
                    <a:p>
                      <a:pPr algn="ctr" indent="0" marL="0">
                        <a:buNone/>
                      </a:pPr>
                      <a:r>
                        <a:rPr lang="en-US" sz="1200" b="1" dirty="0">
                          <a:solidFill>
                            <a:srgbClr val="3366FF"/>
                          </a:solidFill>
                          <a:latin typeface="Libre Franklin Medium" pitchFamily="34" charset="0"/>
                          <a:ea typeface="Libre Franklin Medium" pitchFamily="34" charset="-122"/>
                          <a:cs typeface="Libre Franklin Medium" pitchFamily="34" charset="-120"/>
                        </a:rPr>
                        <a:t>2</a:t>
                      </a:r>
                      <a:endParaRPr lang="en-US" sz="12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1067.386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0.180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29.321</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1.970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0.704</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0.435</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47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35.878</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274320">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3</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949.226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0.143</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24.325</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1.954</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0.806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0.534</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9</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6.870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274320">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4</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869.340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0.118</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21.458</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1.954</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0.742</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0.454</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9</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6.870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274320">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5</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811.154</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0.122</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19.372</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1.877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0.576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0.412</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9</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6.870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274320">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765.447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0.127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17.785</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1.786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0.555</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0.398</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5</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3.817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3401568"/>
            <a:ext cx="5120640" cy="292608"/>
          </a:xfrm>
          <a:prstGeom prst="rect">
            <a:avLst/>
          </a:prstGeom>
          <a:noFill/>
          <a:ln/>
        </p:spPr>
        <p:txBody>
          <a:bodyPr wrap="square" lIns="0" tIns="0" rIns="0" bIns="0" rtlCol="0" anchor="ctr"/>
          <a:lstStyle/>
          <a:p>
            <a:pPr indent="0" marL="0">
              <a:buNone/>
            </a:pPr>
            <a:r>
              <a:rPr lang="en-US" sz="1400" b="1" dirty="0">
                <a:solidFill>
                  <a:srgbClr val="3366FF"/>
                </a:solidFill>
                <a:latin typeface="Libre Franklin" pitchFamily="34" charset="0"/>
                <a:ea typeface="Libre Franklin" pitchFamily="34" charset="-122"/>
                <a:cs typeface="Libre Franklin" pitchFamily="34" charset="-120"/>
              </a:rPr>
              <a:t>Preferred k by criterion</a:t>
            </a:r>
            <a:endParaRPr lang="en-US" sz="14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02920" y="3767328"/>
          <a:ext cx="5120640" cy="914400"/>
        </p:xfrm>
        <a:graphic>
          <a:graphicData uri="http://schemas.openxmlformats.org/drawingml/2006/table">
            <a:tbl>
              <a:tblPr/>
              <a:tblGrid>
                <a:gridCol w="3794760"/>
                <a:gridCol w="1325880"/>
              </a:tblGrid>
              <a:tr h="310896">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Criterion</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Preferred k</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Highest silhouette</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2</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Highest Calinski–Harabasz</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2</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Lowest Davies–Bouldin</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Highest mean subsample stability</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3</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Gap statistic 1-SE choice</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2</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bl>
          </a:graphicData>
        </a:graphic>
      </p:graphicFrame>
      <p:sp>
        <p:nvSpPr>
          <p:cNvPr id="7" name="Shape 3"/>
          <p:cNvSpPr/>
          <p:nvPr/>
        </p:nvSpPr>
        <p:spPr>
          <a:xfrm>
            <a:off x="5989320" y="3401568"/>
            <a:ext cx="5696712" cy="2487168"/>
          </a:xfrm>
          <a:prstGeom prst="roundRect">
            <a:avLst>
              <a:gd name="adj" fmla="val 5147"/>
            </a:avLst>
          </a:prstGeom>
          <a:solidFill>
            <a:srgbClr val="E6EEFC"/>
          </a:solidFill>
          <a:ln/>
        </p:spPr>
      </p:sp>
      <p:sp>
        <p:nvSpPr>
          <p:cNvPr id="8" name="Text 4"/>
          <p:cNvSpPr/>
          <p:nvPr/>
        </p:nvSpPr>
        <p:spPr>
          <a:xfrm>
            <a:off x="6263640" y="3602736"/>
            <a:ext cx="5212080" cy="310896"/>
          </a:xfrm>
          <a:prstGeom prst="rect">
            <a:avLst/>
          </a:prstGeom>
          <a:noFill/>
          <a:ln/>
        </p:spPr>
        <p:txBody>
          <a:bodyPr wrap="square" lIns="0" tIns="0" rIns="0" bIns="0" rtlCol="0" anchor="ctr"/>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Reading this honestly</a:t>
            </a:r>
            <a:endParaRPr lang="en-US" sz="1500" dirty="0"/>
          </a:p>
        </p:txBody>
      </p:sp>
      <p:sp>
        <p:nvSpPr>
          <p:cNvPr id="9" name="Text 5"/>
          <p:cNvSpPr/>
          <p:nvPr/>
        </p:nvSpPr>
        <p:spPr>
          <a:xfrm>
            <a:off x="6263640" y="3968496"/>
            <a:ext cx="5175504" cy="1773936"/>
          </a:xfrm>
          <a:prstGeom prst="rect">
            <a:avLst/>
          </a:prstGeom>
          <a:noFill/>
          <a:ln/>
        </p:spPr>
        <p:txBody>
          <a:bodyPr wrap="square" lIns="0" tIns="0" rIns="0" bIns="0" rtlCol="0" anchor="ctr"/>
          <a:lstStyle/>
          <a:p>
            <a:pPr indent="0" marL="0">
              <a:lnSpc>
                <a:spcPts val="1550"/>
              </a:lnSpc>
              <a:spcAft>
                <a:spcPts val="700"/>
              </a:spcAft>
              <a:buNone/>
            </a:pPr>
            <a:r>
              <a:rPr lang="en-US" sz="1150" b="1" dirty="0">
                <a:solidFill>
                  <a:srgbClr val="3366FF"/>
                </a:solidFill>
                <a:latin typeface="Libre Franklin Medium" pitchFamily="34" charset="0"/>
                <a:ea typeface="Libre Franklin Medium" pitchFamily="34" charset="-122"/>
                <a:cs typeface="Libre Franklin Medium" pitchFamily="34" charset="-120"/>
              </a:rPr>
              <a:t>Criteria disagree. </a:t>
            </a:r>
            <a:pPr indent="0" marL="0">
              <a:lnSpc>
                <a:spcPts val="1550"/>
              </a:lnSpc>
              <a:spcAft>
                <a:spcPts val="700"/>
              </a:spcAft>
              <a:buNone/>
            </a:pPr>
            <a:r>
              <a:rPr lang="en-US" sz="1150" dirty="0">
                <a:solidFill>
                  <a:srgbClr val="000000"/>
                </a:solidFill>
                <a:latin typeface="Libre Franklin Medium" pitchFamily="34" charset="0"/>
                <a:ea typeface="Libre Franklin Medium" pitchFamily="34" charset="-122"/>
                <a:cs typeface="Libre Franklin Medium" pitchFamily="34" charset="-120"/>
              </a:rPr>
              <a:t>Silhouette, Calinski–Harabasz and the gap statistic point to k = 2; Davies–Bouldin prefers 6 and stability prefers 3.</a:t>
            </a:r>
            <a:endParaRPr lang="en-US" sz="1150" dirty="0"/>
          </a:p>
          <a:p>
            <a:pPr indent="0" marL="0">
              <a:lnSpc>
                <a:spcPts val="1550"/>
              </a:lnSpc>
              <a:spcAft>
                <a:spcPts val="700"/>
              </a:spcAft>
              <a:buNone/>
            </a:pPr>
            <a:r>
              <a:rPr lang="en-US" sz="1150" b="1" dirty="0">
                <a:solidFill>
                  <a:srgbClr val="3366FF"/>
                </a:solidFill>
                <a:latin typeface="Libre Franklin Medium" pitchFamily="34" charset="0"/>
                <a:ea typeface="Libre Franklin Medium" pitchFamily="34" charset="-122"/>
                <a:cs typeface="Libre Franklin Medium" pitchFamily="34" charset="-120"/>
              </a:rPr>
              <a:t>k ≥ 3 fragments. </a:t>
            </a:r>
            <a:pPr indent="0" marL="0">
              <a:lnSpc>
                <a:spcPts val="1550"/>
              </a:lnSpc>
              <a:spcAft>
                <a:spcPts val="700"/>
              </a:spcAft>
              <a:buNone/>
            </a:pPr>
            <a:r>
              <a:rPr lang="en-US" sz="1150" dirty="0">
                <a:solidFill>
                  <a:srgbClr val="000000"/>
                </a:solidFill>
                <a:latin typeface="Libre Franklin Medium" pitchFamily="34" charset="0"/>
                <a:ea typeface="Libre Franklin Medium" pitchFamily="34" charset="-122"/>
                <a:cs typeface="Libre Franklin Medium" pitchFamily="34" charset="-120"/>
              </a:rPr>
              <a:t>Every solution from 3 upward produces a cluster of 9 or fewer people (≤6.9% of the sample), too small to characterize on held-out measures.</a:t>
            </a:r>
            <a:endParaRPr lang="en-US" sz="1150" dirty="0"/>
          </a:p>
          <a:p>
            <a:pPr indent="0" marL="0">
              <a:lnSpc>
                <a:spcPts val="1550"/>
              </a:lnSpc>
              <a:spcAft>
                <a:spcPts val="700"/>
              </a:spcAft>
              <a:buNone/>
            </a:pPr>
            <a:r>
              <a:rPr lang="en-US" sz="1150" b="1" dirty="0">
                <a:solidFill>
                  <a:srgbClr val="3366FF"/>
                </a:solidFill>
                <a:latin typeface="Libre Franklin Medium" pitchFamily="34" charset="0"/>
                <a:ea typeface="Libre Franklin Medium" pitchFamily="34" charset="-122"/>
                <a:cs typeface="Libre Franklin Medium" pitchFamily="34" charset="-120"/>
              </a:rPr>
              <a:t>Separation is weak everywhere. </a:t>
            </a:r>
            <a:pPr indent="0" marL="0">
              <a:lnSpc>
                <a:spcPts val="1550"/>
              </a:lnSpc>
              <a:spcAft>
                <a:spcPts val="700"/>
              </a:spcAft>
              <a:buNone/>
            </a:pPr>
            <a:r>
              <a:rPr lang="en-US" sz="1150" dirty="0">
                <a:solidFill>
                  <a:srgbClr val="000000"/>
                </a:solidFill>
                <a:latin typeface="Libre Franklin Medium" pitchFamily="34" charset="0"/>
                <a:ea typeface="Libre Franklin Medium" pitchFamily="34" charset="-122"/>
                <a:cs typeface="Libre Franklin Medium" pitchFamily="34" charset="-120"/>
              </a:rPr>
              <a:t>No k reaches the 0.25 silhouette reference line. This is a gradient, not a set of natural kinds.</a:t>
            </a:r>
            <a:endParaRPr lang="en-US" sz="1150" dirty="0"/>
          </a:p>
        </p:txBody>
      </p:sp>
      <p:sp>
        <p:nvSpPr>
          <p:cNvPr id="10" name="Text 6"/>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Outputs/table_3_cluster_diagnostics.csv, values shown at notebook display precision</a:t>
            </a:r>
            <a:endParaRPr lang="en-US" sz="850" dirty="0"/>
          </a:p>
        </p:txBody>
      </p:sp>
      <p:pic>
        <p:nvPicPr>
          <p:cNvPr id="11"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12" name="Text 7"/>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FIGURE 1</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Cluster-count diagnostics for the 10 TFA domains</a:t>
            </a:r>
            <a:endParaRPr lang="en-US" sz="2700" dirty="0"/>
          </a:p>
        </p:txBody>
      </p:sp>
      <p:pic>
        <p:nvPicPr>
          <p:cNvPr id="4" name="Image 0" descr="/sessions/ecstatic-gifted-franklin/mnt/Caregiver Project/Caregiver Outputs/figure_1_cluster_count_diagnostics.png">    </p:cNvPr>
          <p:cNvPicPr>
            <a:picLocks noChangeAspect="1"/>
          </p:cNvPicPr>
          <p:nvPr/>
        </p:nvPicPr>
        <p:blipFill>
          <a:blip r:embed="rId1"/>
          <a:stretch>
            <a:fillRect/>
          </a:stretch>
        </p:blipFill>
        <p:spPr>
          <a:xfrm>
            <a:off x="2633472" y="1243584"/>
            <a:ext cx="6931152" cy="4732934"/>
          </a:xfrm>
          <a:prstGeom prst="rect">
            <a:avLst/>
          </a:prstGeom>
        </p:spPr>
      </p:pic>
      <p:sp>
        <p:nvSpPr>
          <p:cNvPr id="5" name="Text 2"/>
          <p:cNvSpPr/>
          <p:nvPr/>
        </p:nvSpPr>
        <p:spPr>
          <a:xfrm>
            <a:off x="502920" y="6035040"/>
            <a:ext cx="11183112" cy="274320"/>
          </a:xfrm>
          <a:prstGeom prst="rect">
            <a:avLst/>
          </a:prstGeom>
          <a:noFill/>
          <a:ln/>
        </p:spPr>
        <p:txBody>
          <a:bodyPr wrap="square" lIns="0" tIns="0" rIns="0" bIns="0" rtlCol="0" anchor="ct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Inertia falls smoothly with no elbow  ·  silhouette peaks at k = 2 but never reaches 0.25  ·  subsample ARI peaks at k = 3  ·  the gap statistic 1-SE rule selects k = 2</a:t>
            </a:r>
            <a:endParaRPr lang="en-US" sz="1050" dirty="0"/>
          </a:p>
        </p:txBody>
      </p:sp>
      <p:sp>
        <p:nvSpPr>
          <p:cNvPr id="6" name="Text 3"/>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Outputs/figure_1_cluster_count_diagnostics.png (240 dpi export)</a:t>
            </a:r>
            <a:endParaRPr lang="en-US" sz="850" dirty="0"/>
          </a:p>
        </p:txBody>
      </p:sp>
      <p:pic>
        <p:nvPicPr>
          <p:cNvPr id="7" name="Image 1" descr="/sessions/ecstatic-gifted-franklin/mnt/.claude/skills/esd-lab/assets/logos/wordmark-discovery-blue.png">    </p:cNvPr>
          <p:cNvPicPr>
            <a:picLocks noChangeAspect="1"/>
          </p:cNvPicPr>
          <p:nvPr/>
        </p:nvPicPr>
        <p:blipFill>
          <a:blip r:embed="rId2"/>
          <a:stretch>
            <a:fillRect/>
          </a:stretch>
        </p:blipFill>
        <p:spPr>
          <a:xfrm>
            <a:off x="11228832" y="6272784"/>
            <a:ext cx="420624" cy="393192"/>
          </a:xfrm>
          <a:prstGeom prst="rect">
            <a:avLst/>
          </a:prstGeom>
        </p:spPr>
      </p:pic>
      <p:sp>
        <p:nvSpPr>
          <p:cNvPr id="8" name="Text 4"/>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DECISION</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Why the deck reports k = 2</a:t>
            </a:r>
            <a:endParaRPr lang="en-US" sz="2700" dirty="0"/>
          </a:p>
        </p:txBody>
      </p:sp>
      <p:sp>
        <p:nvSpPr>
          <p:cNvPr id="4" name="Shape 2"/>
          <p:cNvSpPr/>
          <p:nvPr/>
        </p:nvSpPr>
        <p:spPr>
          <a:xfrm>
            <a:off x="502920" y="1481328"/>
            <a:ext cx="11183112" cy="1005840"/>
          </a:xfrm>
          <a:prstGeom prst="roundRect">
            <a:avLst>
              <a:gd name="adj" fmla="val 10909"/>
            </a:avLst>
          </a:prstGeom>
          <a:solidFill>
            <a:srgbClr val="E6EEFC"/>
          </a:solidFill>
          <a:ln/>
        </p:spPr>
      </p:sp>
      <p:sp>
        <p:nvSpPr>
          <p:cNvPr id="5" name="Shape 3"/>
          <p:cNvSpPr/>
          <p:nvPr/>
        </p:nvSpPr>
        <p:spPr>
          <a:xfrm>
            <a:off x="722376" y="1709928"/>
            <a:ext cx="548640" cy="548640"/>
          </a:xfrm>
          <a:prstGeom prst="ellipse">
            <a:avLst/>
          </a:prstGeom>
          <a:solidFill>
            <a:srgbClr val="3366FF"/>
          </a:solidFill>
          <a:ln/>
        </p:spPr>
      </p:sp>
      <p:sp>
        <p:nvSpPr>
          <p:cNvPr id="6" name="Text 4"/>
          <p:cNvSpPr/>
          <p:nvPr/>
        </p:nvSpPr>
        <p:spPr>
          <a:xfrm>
            <a:off x="722376" y="1709928"/>
            <a:ext cx="548640" cy="548640"/>
          </a:xfrm>
          <a:prstGeom prst="rect">
            <a:avLst/>
          </a:prstGeom>
          <a:noFill/>
          <a:ln/>
        </p:spPr>
        <p:txBody>
          <a:bodyPr wrap="square" lIns="0" tIns="0" rIns="0" bIns="0" rtlCol="0" anchor="ctr"/>
          <a:lstStyle/>
          <a:p>
            <a:pPr algn="ctr" indent="0" marL="0">
              <a:buNone/>
            </a:pPr>
            <a:r>
              <a:rPr lang="en-US" sz="1800" b="1" dirty="0">
                <a:solidFill>
                  <a:srgbClr val="F4F4F6"/>
                </a:solidFill>
                <a:latin typeface="Libre Franklin" pitchFamily="34" charset="0"/>
                <a:ea typeface="Libre Franklin" pitchFamily="34" charset="-122"/>
                <a:cs typeface="Libre Franklin" pitchFamily="34" charset="-120"/>
              </a:rPr>
              <a:t>1</a:t>
            </a:r>
            <a:endParaRPr lang="en-US" sz="1800" dirty="0"/>
          </a:p>
        </p:txBody>
      </p:sp>
      <p:sp>
        <p:nvSpPr>
          <p:cNvPr id="7" name="Text 5"/>
          <p:cNvSpPr/>
          <p:nvPr/>
        </p:nvSpPr>
        <p:spPr>
          <a:xfrm>
            <a:off x="1472184" y="1627632"/>
            <a:ext cx="4572000" cy="365760"/>
          </a:xfrm>
          <a:prstGeom prst="rect">
            <a:avLst/>
          </a:prstGeom>
          <a:noFill/>
          <a:ln/>
        </p:spPr>
        <p:txBody>
          <a:bodyPr wrap="square" lIns="0" tIns="0" rIns="0" bIns="0" rtlCol="0" anchor="ctr"/>
          <a:lstStyle/>
          <a:p>
            <a:pPr indent="0" marL="0">
              <a:buNone/>
            </a:pPr>
            <a:r>
              <a:rPr lang="en-US" sz="1450" b="1" dirty="0">
                <a:solidFill>
                  <a:srgbClr val="3366FF"/>
                </a:solidFill>
                <a:latin typeface="Libre Franklin" pitchFamily="34" charset="0"/>
                <a:ea typeface="Libre Franklin" pitchFamily="34" charset="-122"/>
                <a:cs typeface="Libre Franklin" pitchFamily="34" charset="-120"/>
              </a:rPr>
              <a:t>Strongest separation metrics</a:t>
            </a:r>
            <a:endParaRPr lang="en-US" sz="1450" dirty="0"/>
          </a:p>
        </p:txBody>
      </p:sp>
      <p:sp>
        <p:nvSpPr>
          <p:cNvPr id="8" name="Text 6"/>
          <p:cNvSpPr/>
          <p:nvPr/>
        </p:nvSpPr>
        <p:spPr>
          <a:xfrm>
            <a:off x="1472184" y="1975104"/>
            <a:ext cx="9784080" cy="420624"/>
          </a:xfrm>
          <a:prstGeom prst="rect">
            <a:avLst/>
          </a:prstGeom>
          <a:noFill/>
          <a:ln/>
        </p:spPr>
        <p:txBody>
          <a:bodyPr wrap="square" lIns="0" tIns="0" rIns="0" bIns="0" rtlCol="0" anchor="t"/>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k = 2 has the highest silhouette (0.180) and the highest Calinski–Harabasz (29.321) of any candidate, and it is the gap statistic's 1-SE choice.</a:t>
            </a:r>
            <a:endParaRPr lang="en-US" sz="1150" dirty="0"/>
          </a:p>
        </p:txBody>
      </p:sp>
      <p:sp>
        <p:nvSpPr>
          <p:cNvPr id="9" name="Shape 7"/>
          <p:cNvSpPr/>
          <p:nvPr/>
        </p:nvSpPr>
        <p:spPr>
          <a:xfrm>
            <a:off x="502920" y="2651760"/>
            <a:ext cx="11183112" cy="1005840"/>
          </a:xfrm>
          <a:prstGeom prst="roundRect">
            <a:avLst>
              <a:gd name="adj" fmla="val 10909"/>
            </a:avLst>
          </a:prstGeom>
          <a:solidFill>
            <a:srgbClr val="E6EEFC"/>
          </a:solidFill>
          <a:ln/>
        </p:spPr>
      </p:sp>
      <p:sp>
        <p:nvSpPr>
          <p:cNvPr id="10" name="Shape 8"/>
          <p:cNvSpPr/>
          <p:nvPr/>
        </p:nvSpPr>
        <p:spPr>
          <a:xfrm>
            <a:off x="722376" y="2880360"/>
            <a:ext cx="548640" cy="548640"/>
          </a:xfrm>
          <a:prstGeom prst="ellipse">
            <a:avLst/>
          </a:prstGeom>
          <a:solidFill>
            <a:srgbClr val="3366FF"/>
          </a:solidFill>
          <a:ln/>
        </p:spPr>
      </p:sp>
      <p:sp>
        <p:nvSpPr>
          <p:cNvPr id="11" name="Text 9"/>
          <p:cNvSpPr/>
          <p:nvPr/>
        </p:nvSpPr>
        <p:spPr>
          <a:xfrm>
            <a:off x="722376" y="2880360"/>
            <a:ext cx="548640" cy="548640"/>
          </a:xfrm>
          <a:prstGeom prst="rect">
            <a:avLst/>
          </a:prstGeom>
          <a:noFill/>
          <a:ln/>
        </p:spPr>
        <p:txBody>
          <a:bodyPr wrap="square" lIns="0" tIns="0" rIns="0" bIns="0" rtlCol="0" anchor="ctr"/>
          <a:lstStyle/>
          <a:p>
            <a:pPr algn="ctr" indent="0" marL="0">
              <a:buNone/>
            </a:pPr>
            <a:r>
              <a:rPr lang="en-US" sz="1800" b="1" dirty="0">
                <a:solidFill>
                  <a:srgbClr val="F4F4F6"/>
                </a:solidFill>
                <a:latin typeface="Libre Franklin" pitchFamily="34" charset="0"/>
                <a:ea typeface="Libre Franklin" pitchFamily="34" charset="-122"/>
                <a:cs typeface="Libre Franklin" pitchFamily="34" charset="-120"/>
              </a:rPr>
              <a:t>2</a:t>
            </a:r>
            <a:endParaRPr lang="en-US" sz="1800" dirty="0"/>
          </a:p>
        </p:txBody>
      </p:sp>
      <p:sp>
        <p:nvSpPr>
          <p:cNvPr id="12" name="Text 10"/>
          <p:cNvSpPr/>
          <p:nvPr/>
        </p:nvSpPr>
        <p:spPr>
          <a:xfrm>
            <a:off x="1472184" y="2798064"/>
            <a:ext cx="4572000" cy="365760"/>
          </a:xfrm>
          <a:prstGeom prst="rect">
            <a:avLst/>
          </a:prstGeom>
          <a:noFill/>
          <a:ln/>
        </p:spPr>
        <p:txBody>
          <a:bodyPr wrap="square" lIns="0" tIns="0" rIns="0" bIns="0" rtlCol="0" anchor="ctr"/>
          <a:lstStyle/>
          <a:p>
            <a:pPr indent="0" marL="0">
              <a:buNone/>
            </a:pPr>
            <a:r>
              <a:rPr lang="en-US" sz="1450" b="1" dirty="0">
                <a:solidFill>
                  <a:srgbClr val="3366FF"/>
                </a:solidFill>
                <a:latin typeface="Libre Franklin" pitchFamily="34" charset="0"/>
                <a:ea typeface="Libre Franklin" pitchFamily="34" charset="-122"/>
                <a:cs typeface="Libre Franklin" pitchFamily="34" charset="-120"/>
              </a:rPr>
              <a:t>Both groups are large enough to characterize</a:t>
            </a:r>
            <a:endParaRPr lang="en-US" sz="1450" dirty="0"/>
          </a:p>
        </p:txBody>
      </p:sp>
      <p:sp>
        <p:nvSpPr>
          <p:cNvPr id="13" name="Text 11"/>
          <p:cNvSpPr/>
          <p:nvPr/>
        </p:nvSpPr>
        <p:spPr>
          <a:xfrm>
            <a:off x="1472184" y="3145536"/>
            <a:ext cx="9784080" cy="420624"/>
          </a:xfrm>
          <a:prstGeom prst="rect">
            <a:avLst/>
          </a:prstGeom>
          <a:noFill/>
          <a:ln/>
        </p:spPr>
        <p:txBody>
          <a:bodyPr wrap="square" lIns="0" tIns="0" rIns="0" bIns="0" rtlCol="0" anchor="t"/>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47 and 84 people. Every k ≥ 3 solution produces a cluster of 9 or fewer (≤6.9%), too small for held-out comparison.</a:t>
            </a:r>
            <a:endParaRPr lang="en-US" sz="1150" dirty="0"/>
          </a:p>
        </p:txBody>
      </p:sp>
      <p:sp>
        <p:nvSpPr>
          <p:cNvPr id="14" name="Shape 12"/>
          <p:cNvSpPr/>
          <p:nvPr/>
        </p:nvSpPr>
        <p:spPr>
          <a:xfrm>
            <a:off x="502920" y="3822192"/>
            <a:ext cx="11183112" cy="1005840"/>
          </a:xfrm>
          <a:prstGeom prst="roundRect">
            <a:avLst>
              <a:gd name="adj" fmla="val 10909"/>
            </a:avLst>
          </a:prstGeom>
          <a:solidFill>
            <a:srgbClr val="E6EEFC"/>
          </a:solidFill>
          <a:ln/>
        </p:spPr>
      </p:sp>
      <p:sp>
        <p:nvSpPr>
          <p:cNvPr id="15" name="Shape 13"/>
          <p:cNvSpPr/>
          <p:nvPr/>
        </p:nvSpPr>
        <p:spPr>
          <a:xfrm>
            <a:off x="722376" y="4050792"/>
            <a:ext cx="548640" cy="548640"/>
          </a:xfrm>
          <a:prstGeom prst="ellipse">
            <a:avLst/>
          </a:prstGeom>
          <a:solidFill>
            <a:srgbClr val="3366FF"/>
          </a:solidFill>
          <a:ln/>
        </p:spPr>
      </p:sp>
      <p:sp>
        <p:nvSpPr>
          <p:cNvPr id="16" name="Text 14"/>
          <p:cNvSpPr/>
          <p:nvPr/>
        </p:nvSpPr>
        <p:spPr>
          <a:xfrm>
            <a:off x="722376" y="4050792"/>
            <a:ext cx="548640" cy="548640"/>
          </a:xfrm>
          <a:prstGeom prst="rect">
            <a:avLst/>
          </a:prstGeom>
          <a:noFill/>
          <a:ln/>
        </p:spPr>
        <p:txBody>
          <a:bodyPr wrap="square" lIns="0" tIns="0" rIns="0" bIns="0" rtlCol="0" anchor="ctr"/>
          <a:lstStyle/>
          <a:p>
            <a:pPr algn="ctr" indent="0" marL="0">
              <a:buNone/>
            </a:pPr>
            <a:r>
              <a:rPr lang="en-US" sz="1800" b="1" dirty="0">
                <a:solidFill>
                  <a:srgbClr val="F4F4F6"/>
                </a:solidFill>
                <a:latin typeface="Libre Franklin" pitchFamily="34" charset="0"/>
                <a:ea typeface="Libre Franklin" pitchFamily="34" charset="-122"/>
                <a:cs typeface="Libre Franklin" pitchFamily="34" charset="-120"/>
              </a:rPr>
              <a:t>3</a:t>
            </a:r>
            <a:endParaRPr lang="en-US" sz="1800" dirty="0"/>
          </a:p>
        </p:txBody>
      </p:sp>
      <p:sp>
        <p:nvSpPr>
          <p:cNvPr id="17" name="Text 15"/>
          <p:cNvSpPr/>
          <p:nvPr/>
        </p:nvSpPr>
        <p:spPr>
          <a:xfrm>
            <a:off x="1472184" y="3968496"/>
            <a:ext cx="4572000" cy="365760"/>
          </a:xfrm>
          <a:prstGeom prst="rect">
            <a:avLst/>
          </a:prstGeom>
          <a:noFill/>
          <a:ln/>
        </p:spPr>
        <p:txBody>
          <a:bodyPr wrap="square" lIns="0" tIns="0" rIns="0" bIns="0" rtlCol="0" anchor="ctr"/>
          <a:lstStyle/>
          <a:p>
            <a:pPr indent="0" marL="0">
              <a:buNone/>
            </a:pPr>
            <a:r>
              <a:rPr lang="en-US" sz="1450" b="1" dirty="0">
                <a:solidFill>
                  <a:srgbClr val="3366FF"/>
                </a:solidFill>
                <a:latin typeface="Libre Franklin" pitchFamily="34" charset="0"/>
                <a:ea typeface="Libre Franklin" pitchFamily="34" charset="-122"/>
                <a:cs typeface="Libre Franklin" pitchFamily="34" charset="-120"/>
              </a:rPr>
              <a:t>Parsimony under acknowledged uncertainty</a:t>
            </a:r>
            <a:endParaRPr lang="en-US" sz="1450" dirty="0"/>
          </a:p>
        </p:txBody>
      </p:sp>
      <p:sp>
        <p:nvSpPr>
          <p:cNvPr id="18" name="Text 16"/>
          <p:cNvSpPr/>
          <p:nvPr/>
        </p:nvSpPr>
        <p:spPr>
          <a:xfrm>
            <a:off x="1472184" y="4315968"/>
            <a:ext cx="9784080" cy="420624"/>
          </a:xfrm>
          <a:prstGeom prst="rect">
            <a:avLst/>
          </a:prstGeom>
          <a:noFill/>
          <a:ln/>
        </p:spPr>
        <p:txBody>
          <a:bodyPr wrap="square" lIns="0" tIns="0" rIns="0" bIns="0" rtlCol="0" anchor="t"/>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Since no k is well separated, the fewest groups that still carry a decision-relevant difference is the defensible choice.</a:t>
            </a:r>
            <a:endParaRPr lang="en-US" sz="1150" dirty="0"/>
          </a:p>
        </p:txBody>
      </p:sp>
      <p:sp>
        <p:nvSpPr>
          <p:cNvPr id="19" name="Shape 17"/>
          <p:cNvSpPr/>
          <p:nvPr/>
        </p:nvSpPr>
        <p:spPr>
          <a:xfrm>
            <a:off x="502920" y="4992624"/>
            <a:ext cx="11183112" cy="1005840"/>
          </a:xfrm>
          <a:prstGeom prst="roundRect">
            <a:avLst>
              <a:gd name="adj" fmla="val 10909"/>
            </a:avLst>
          </a:prstGeom>
          <a:solidFill>
            <a:srgbClr val="F4F4F6"/>
          </a:solidFill>
          <a:ln/>
        </p:spPr>
      </p:sp>
      <p:sp>
        <p:nvSpPr>
          <p:cNvPr id="20" name="Shape 18"/>
          <p:cNvSpPr/>
          <p:nvPr/>
        </p:nvSpPr>
        <p:spPr>
          <a:xfrm>
            <a:off x="722376" y="5221224"/>
            <a:ext cx="548640" cy="548640"/>
          </a:xfrm>
          <a:prstGeom prst="ellipse">
            <a:avLst/>
          </a:prstGeom>
          <a:solidFill>
            <a:srgbClr val="F57F00"/>
          </a:solidFill>
          <a:ln/>
        </p:spPr>
      </p:sp>
      <p:sp>
        <p:nvSpPr>
          <p:cNvPr id="21" name="Text 19"/>
          <p:cNvSpPr/>
          <p:nvPr/>
        </p:nvSpPr>
        <p:spPr>
          <a:xfrm>
            <a:off x="722376" y="5221224"/>
            <a:ext cx="548640" cy="548640"/>
          </a:xfrm>
          <a:prstGeom prst="rect">
            <a:avLst/>
          </a:prstGeom>
          <a:noFill/>
          <a:ln/>
        </p:spPr>
        <p:txBody>
          <a:bodyPr wrap="square" lIns="0" tIns="0" rIns="0" bIns="0" rtlCol="0" anchor="ctr"/>
          <a:lstStyle/>
          <a:p>
            <a:pPr algn="ctr" indent="0" marL="0">
              <a:buNone/>
            </a:pPr>
            <a:r>
              <a:rPr lang="en-US" sz="1800" b="1" dirty="0">
                <a:solidFill>
                  <a:srgbClr val="F4F4F6"/>
                </a:solidFill>
                <a:latin typeface="Libre Franklin" pitchFamily="34" charset="0"/>
                <a:ea typeface="Libre Franklin" pitchFamily="34" charset="-122"/>
                <a:cs typeface="Libre Franklin" pitchFamily="34" charset="-120"/>
              </a:rPr>
              <a:t>!</a:t>
            </a:r>
            <a:endParaRPr lang="en-US" sz="1800" dirty="0"/>
          </a:p>
        </p:txBody>
      </p:sp>
      <p:sp>
        <p:nvSpPr>
          <p:cNvPr id="22" name="Text 20"/>
          <p:cNvSpPr/>
          <p:nvPr/>
        </p:nvSpPr>
        <p:spPr>
          <a:xfrm>
            <a:off x="1472184" y="5138928"/>
            <a:ext cx="4572000" cy="365760"/>
          </a:xfrm>
          <a:prstGeom prst="rect">
            <a:avLst/>
          </a:prstGeom>
          <a:noFill/>
          <a:ln/>
        </p:spPr>
        <p:txBody>
          <a:bodyPr wrap="square" lIns="0" tIns="0" rIns="0" bIns="0" rtlCol="0" anchor="ctr"/>
          <a:lstStyle/>
          <a:p>
            <a:pPr indent="0" marL="0">
              <a:buNone/>
            </a:pPr>
            <a:r>
              <a:rPr lang="en-US" sz="1450" b="1" dirty="0">
                <a:solidFill>
                  <a:srgbClr val="F57F00"/>
                </a:solidFill>
                <a:latin typeface="Libre Franklin" pitchFamily="34" charset="0"/>
                <a:ea typeface="Libre Franklin" pitchFamily="34" charset="-122"/>
                <a:cs typeface="Libre Franklin" pitchFamily="34" charset="-120"/>
              </a:rPr>
              <a:t>What this is not</a:t>
            </a:r>
            <a:endParaRPr lang="en-US" sz="1450" dirty="0"/>
          </a:p>
        </p:txBody>
      </p:sp>
      <p:sp>
        <p:nvSpPr>
          <p:cNvPr id="23" name="Text 21"/>
          <p:cNvSpPr/>
          <p:nvPr/>
        </p:nvSpPr>
        <p:spPr>
          <a:xfrm>
            <a:off x="1472184" y="5486400"/>
            <a:ext cx="9784080" cy="420624"/>
          </a:xfrm>
          <a:prstGeom prst="rect">
            <a:avLst/>
          </a:prstGeom>
          <a:noFill/>
          <a:ln/>
        </p:spPr>
        <p:txBody>
          <a:bodyPr wrap="square" lIns="0" tIns="0" rIns="0" bIns="0" rtlCol="0" anchor="t"/>
          <a:lstStyle/>
          <a:p>
            <a:pPr indent="0" marL="0">
              <a:buNone/>
            </a:pPr>
            <a:r>
              <a:rPr lang="en-US" sz="1150" dirty="0">
                <a:solidFill>
                  <a:srgbClr val="000000"/>
                </a:solidFill>
                <a:latin typeface="Libre Franklin Medium" pitchFamily="34" charset="0"/>
                <a:ea typeface="Libre Franklin Medium" pitchFamily="34" charset="-122"/>
                <a:cs typeface="Libre Franklin Medium" pitchFamily="34" charset="-120"/>
              </a:rPr>
              <a:t>Not proof of naturally discrete caregiver populations. Membership shifts under alternative preprocessing and under Ward clustering (see Table 10).</a:t>
            </a:r>
            <a:endParaRPr lang="en-US" sz="1150" dirty="0"/>
          </a:p>
        </p:txBody>
      </p:sp>
      <p:sp>
        <p:nvSpPr>
          <p:cNvPr id="24" name="Text 22"/>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SELECTED_K = 2 in the notebook; k = 3–6 models were fitted and diagnosed but are not reported downstream</a:t>
            </a:r>
            <a:endParaRPr lang="en-US" sz="850" dirty="0"/>
          </a:p>
        </p:txBody>
      </p:sp>
      <p:pic>
        <p:nvPicPr>
          <p:cNvPr id="25"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26" name="Text 23"/>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FIGURE 2</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Primary exploratory caregiver acceptability profiles</a:t>
            </a:r>
            <a:endParaRPr lang="en-US" sz="2700" dirty="0"/>
          </a:p>
        </p:txBody>
      </p:sp>
      <p:pic>
        <p:nvPicPr>
          <p:cNvPr id="4" name="Image 0" descr="/sessions/ecstatic-gifted-franklin/mnt/Caregiver Project/Caregiver Outputs/figure_2_primary_cluster_profiles.png">    </p:cNvPr>
          <p:cNvPicPr>
            <a:picLocks noChangeAspect="1"/>
          </p:cNvPicPr>
          <p:nvPr/>
        </p:nvPicPr>
        <p:blipFill>
          <a:blip r:embed="rId1"/>
          <a:stretch>
            <a:fillRect/>
          </a:stretch>
        </p:blipFill>
        <p:spPr>
          <a:xfrm>
            <a:off x="841248" y="1389888"/>
            <a:ext cx="10515600" cy="4713732"/>
          </a:xfrm>
          <a:prstGeom prst="rect">
            <a:avLst/>
          </a:prstGeom>
        </p:spPr>
      </p:pic>
      <p:sp>
        <p:nvSpPr>
          <p:cNvPr id="5" name="Text 2"/>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Outputs/figure_2_primary_cluster_profiles.png · Higher acceptability mean silhouette 0.24 (0 negative) · Conditional 0.07 (12 negative, 25.5%)</a:t>
            </a:r>
            <a:endParaRPr lang="en-US" sz="850" dirty="0"/>
          </a:p>
        </p:txBody>
      </p:sp>
      <p:pic>
        <p:nvPicPr>
          <p:cNvPr id="6" name="Image 1" descr="/sessions/ecstatic-gifted-franklin/mnt/.claude/skills/esd-lab/assets/logos/wordmark-discovery-blue.png">    </p:cNvPr>
          <p:cNvPicPr>
            <a:picLocks noChangeAspect="1"/>
          </p:cNvPicPr>
          <p:nvPr/>
        </p:nvPicPr>
        <p:blipFill>
          <a:blip r:embed="rId2"/>
          <a:stretch>
            <a:fillRect/>
          </a:stretch>
        </p:blipFill>
        <p:spPr>
          <a:xfrm>
            <a:off x="11228832" y="6272784"/>
            <a:ext cx="420624" cy="393192"/>
          </a:xfrm>
          <a:prstGeom prst="rect">
            <a:avLst/>
          </a:prstGeom>
        </p:spPr>
      </p:pic>
      <p:sp>
        <p:nvSpPr>
          <p:cNvPr id="7" name="Text 3"/>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4</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Cluster-defining domain profiles, ranked by gap</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499616"/>
          <a:ext cx="11185855" cy="914400"/>
        </p:xfrm>
        <a:graphic>
          <a:graphicData uri="http://schemas.openxmlformats.org/drawingml/2006/table">
            <a:tbl>
              <a:tblPr/>
              <a:tblGrid>
                <a:gridCol w="3977640"/>
                <a:gridCol w="1737360"/>
                <a:gridCol w="1828800"/>
                <a:gridCol w="1051560"/>
                <a:gridCol w="960120"/>
                <a:gridCol w="1627632"/>
              </a:tblGrid>
              <a:tr h="0">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TFA domain</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Higher acceptability</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Conditional acceptability</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n (higher)</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n (cond.)</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Difference (points)</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Positive affect / clinical trust</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73.6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47.7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25.9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Blood-test openness</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70.7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44.9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79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25.7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Ethical / moral support</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87.7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62.3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25.3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Low distress</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82.9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60.1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22.8</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Perceived screening utility</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83.7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64.5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19.2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Accuracy tolerance</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44.6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26.6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18.0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Equipment-intensive openness</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47.4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29.9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17.5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Feasibility across pathways</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73.1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55.8</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17.3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Low-burden modality openness</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91.1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74.5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16.6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Low aversive affect</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97.6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93.4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4.2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bl>
          </a:graphicData>
        </a:graphic>
      </p:graphicFrame>
      <p:sp>
        <p:nvSpPr>
          <p:cNvPr id="5" name="Text 2"/>
          <p:cNvSpPr/>
          <p:nvPr/>
        </p:nvSpPr>
        <p:spPr>
          <a:xfrm>
            <a:off x="502920" y="5541264"/>
            <a:ext cx="11183112" cy="676656"/>
          </a:xfrm>
          <a:prstGeom prst="rect">
            <a:avLst/>
          </a:prstGeom>
          <a:noFill/>
          <a:ln/>
        </p:spPr>
        <p:txBody>
          <a:bodyPr wrap="square" lIns="0" tIns="0" rIns="0" bIns="0" rtlCol="0" anchor="ctr"/>
          <a:lstStyle/>
          <a:p>
            <a:pPr indent="0" marL="0">
              <a:lnSpc>
                <a:spcPts val="1500"/>
              </a:lnSpc>
              <a:buNone/>
            </a:pPr>
            <a:r>
              <a:rPr lang="en-US" sz="1100" b="1" dirty="0">
                <a:solidFill>
                  <a:srgbClr val="3366FF"/>
                </a:solidFill>
                <a:latin typeface="Libre Franklin Medium" pitchFamily="34" charset="0"/>
                <a:ea typeface="Libre Franklin Medium" pitchFamily="34" charset="-122"/>
                <a:cs typeface="Libre Franklin Medium" pitchFamily="34" charset="-120"/>
              </a:rPr>
              <a:t>Both profiles stay comparatively open to low-burden modalities (91.1 vs 74.5) and neither reports much aversion (97.6 vs 93.4). </a:t>
            </a:r>
            <a:pPr indent="0" marL="0">
              <a:lnSpc>
                <a:spcPts val="1500"/>
              </a:lnSpc>
              <a:buNone/>
            </a:pPr>
            <a:r>
              <a:rPr lang="en-US" sz="1100" dirty="0">
                <a:solidFill>
                  <a:srgbClr val="000000"/>
                </a:solidFill>
                <a:latin typeface="Libre Franklin Medium" pitchFamily="34" charset="0"/>
                <a:ea typeface="Libre Franklin Medium" pitchFamily="34" charset="-122"/>
                <a:cs typeface="Libre Franklin Medium" pitchFamily="34" charset="-120"/>
              </a:rPr>
              <a:t>The separation is concentrated in trust, invasiveness tolerance, ethical comfort and perceived accuracy, all of which are addressable through pathway design and communication.</a:t>
            </a:r>
            <a:endParaRPr lang="en-US" sz="1100" dirty="0"/>
          </a:p>
        </p:txBody>
      </p:sp>
      <p:sp>
        <p:nvSpPr>
          <p:cNvPr id="6" name="Shape 3"/>
          <p:cNvSpPr/>
          <p:nvPr/>
        </p:nvSpPr>
        <p:spPr>
          <a:xfrm>
            <a:off x="502920" y="4517136"/>
            <a:ext cx="3547872" cy="914400"/>
          </a:xfrm>
          <a:prstGeom prst="roundRect">
            <a:avLst>
              <a:gd name="adj" fmla="val 14000"/>
            </a:avLst>
          </a:prstGeom>
          <a:solidFill>
            <a:srgbClr val="3366FF"/>
          </a:solidFill>
          <a:ln/>
        </p:spPr>
      </p:sp>
      <p:sp>
        <p:nvSpPr>
          <p:cNvPr id="7" name="Text 4"/>
          <p:cNvSpPr/>
          <p:nvPr/>
        </p:nvSpPr>
        <p:spPr>
          <a:xfrm>
            <a:off x="777240" y="4590288"/>
            <a:ext cx="3017520" cy="402336"/>
          </a:xfrm>
          <a:prstGeom prst="rect">
            <a:avLst/>
          </a:prstGeom>
          <a:noFill/>
          <a:ln/>
        </p:spPr>
        <p:txBody>
          <a:bodyPr wrap="square" lIns="0" tIns="0" rIns="0" bIns="0" rtlCol="0" anchor="ctr"/>
          <a:lstStyle/>
          <a:p>
            <a:pPr indent="0" marL="0">
              <a:buNone/>
            </a:pPr>
            <a:r>
              <a:rPr lang="en-US" sz="2100" b="1" dirty="0">
                <a:solidFill>
                  <a:srgbClr val="F4F4F6"/>
                </a:solidFill>
                <a:latin typeface="Libre Franklin" pitchFamily="34" charset="0"/>
                <a:ea typeface="Libre Franklin" pitchFamily="34" charset="-122"/>
                <a:cs typeface="Libre Franklin" pitchFamily="34" charset="-120"/>
              </a:rPr>
              <a:t>25.9 pts</a:t>
            </a:r>
            <a:endParaRPr lang="en-US" sz="2100" dirty="0"/>
          </a:p>
        </p:txBody>
      </p:sp>
      <p:sp>
        <p:nvSpPr>
          <p:cNvPr id="8" name="Text 5"/>
          <p:cNvSpPr/>
          <p:nvPr/>
        </p:nvSpPr>
        <p:spPr>
          <a:xfrm>
            <a:off x="777240" y="4992624"/>
            <a:ext cx="3035808" cy="365760"/>
          </a:xfrm>
          <a:prstGeom prst="rect">
            <a:avLst/>
          </a:prstGeom>
          <a:noFill/>
          <a:ln/>
        </p:spPr>
        <p:txBody>
          <a:bodyPr wrap="square" lIns="0" tIns="0" rIns="0" bIns="0" rtlCol="0" anchor="ctr"/>
          <a:lstStyle/>
          <a:p>
            <a:pPr indent="0" marL="0">
              <a:buNone/>
            </a:pPr>
            <a:r>
              <a:rPr lang="en-US" sz="1100" dirty="0">
                <a:solidFill>
                  <a:srgbClr val="E6EEFC"/>
                </a:solidFill>
                <a:latin typeface="Libre Franklin Medium" pitchFamily="34" charset="0"/>
                <a:ea typeface="Libre Franklin Medium" pitchFamily="34" charset="-122"/>
                <a:cs typeface="Libre Franklin Medium" pitchFamily="34" charset="-120"/>
              </a:rPr>
              <a:t>Positive affect / clinical trust</a:t>
            </a:r>
            <a:endParaRPr lang="en-US" sz="1100" dirty="0"/>
          </a:p>
        </p:txBody>
      </p:sp>
      <p:sp>
        <p:nvSpPr>
          <p:cNvPr id="9" name="Shape 6"/>
          <p:cNvSpPr/>
          <p:nvPr/>
        </p:nvSpPr>
        <p:spPr>
          <a:xfrm>
            <a:off x="4270248" y="4517136"/>
            <a:ext cx="3547872" cy="914400"/>
          </a:xfrm>
          <a:prstGeom prst="roundRect">
            <a:avLst>
              <a:gd name="adj" fmla="val 14000"/>
            </a:avLst>
          </a:prstGeom>
          <a:solidFill>
            <a:srgbClr val="3366FF"/>
          </a:solidFill>
          <a:ln/>
        </p:spPr>
      </p:sp>
      <p:sp>
        <p:nvSpPr>
          <p:cNvPr id="10" name="Text 7"/>
          <p:cNvSpPr/>
          <p:nvPr/>
        </p:nvSpPr>
        <p:spPr>
          <a:xfrm>
            <a:off x="4544568" y="4590288"/>
            <a:ext cx="3017520" cy="402336"/>
          </a:xfrm>
          <a:prstGeom prst="rect">
            <a:avLst/>
          </a:prstGeom>
          <a:noFill/>
          <a:ln/>
        </p:spPr>
        <p:txBody>
          <a:bodyPr wrap="square" lIns="0" tIns="0" rIns="0" bIns="0" rtlCol="0" anchor="ctr"/>
          <a:lstStyle/>
          <a:p>
            <a:pPr indent="0" marL="0">
              <a:buNone/>
            </a:pPr>
            <a:r>
              <a:rPr lang="en-US" sz="2100" b="1" dirty="0">
                <a:solidFill>
                  <a:srgbClr val="F4F4F6"/>
                </a:solidFill>
                <a:latin typeface="Libre Franklin" pitchFamily="34" charset="0"/>
                <a:ea typeface="Libre Franklin" pitchFamily="34" charset="-122"/>
                <a:cs typeface="Libre Franklin" pitchFamily="34" charset="-120"/>
              </a:rPr>
              <a:t>25.7 pts</a:t>
            </a:r>
            <a:endParaRPr lang="en-US" sz="2100" dirty="0"/>
          </a:p>
        </p:txBody>
      </p:sp>
      <p:sp>
        <p:nvSpPr>
          <p:cNvPr id="11" name="Text 8"/>
          <p:cNvSpPr/>
          <p:nvPr/>
        </p:nvSpPr>
        <p:spPr>
          <a:xfrm>
            <a:off x="4544568" y="4992624"/>
            <a:ext cx="3035808" cy="365760"/>
          </a:xfrm>
          <a:prstGeom prst="rect">
            <a:avLst/>
          </a:prstGeom>
          <a:noFill/>
          <a:ln/>
        </p:spPr>
        <p:txBody>
          <a:bodyPr wrap="square" lIns="0" tIns="0" rIns="0" bIns="0" rtlCol="0" anchor="ctr"/>
          <a:lstStyle/>
          <a:p>
            <a:pPr indent="0" marL="0">
              <a:buNone/>
            </a:pPr>
            <a:r>
              <a:rPr lang="en-US" sz="1100" dirty="0">
                <a:solidFill>
                  <a:srgbClr val="E6EEFC"/>
                </a:solidFill>
                <a:latin typeface="Libre Franklin Medium" pitchFamily="34" charset="0"/>
                <a:ea typeface="Libre Franklin Medium" pitchFamily="34" charset="-122"/>
                <a:cs typeface="Libre Franklin Medium" pitchFamily="34" charset="-120"/>
              </a:rPr>
              <a:t>Blood-test openness</a:t>
            </a:r>
            <a:endParaRPr lang="en-US" sz="1100" dirty="0"/>
          </a:p>
        </p:txBody>
      </p:sp>
      <p:sp>
        <p:nvSpPr>
          <p:cNvPr id="12" name="Shape 9"/>
          <p:cNvSpPr/>
          <p:nvPr/>
        </p:nvSpPr>
        <p:spPr>
          <a:xfrm>
            <a:off x="8037576" y="4517136"/>
            <a:ext cx="3547872" cy="914400"/>
          </a:xfrm>
          <a:prstGeom prst="roundRect">
            <a:avLst>
              <a:gd name="adj" fmla="val 14000"/>
            </a:avLst>
          </a:prstGeom>
          <a:solidFill>
            <a:srgbClr val="3366FF"/>
          </a:solidFill>
          <a:ln/>
        </p:spPr>
      </p:sp>
      <p:sp>
        <p:nvSpPr>
          <p:cNvPr id="13" name="Text 10"/>
          <p:cNvSpPr/>
          <p:nvPr/>
        </p:nvSpPr>
        <p:spPr>
          <a:xfrm>
            <a:off x="8311896" y="4590288"/>
            <a:ext cx="3017520" cy="402336"/>
          </a:xfrm>
          <a:prstGeom prst="rect">
            <a:avLst/>
          </a:prstGeom>
          <a:noFill/>
          <a:ln/>
        </p:spPr>
        <p:txBody>
          <a:bodyPr wrap="square" lIns="0" tIns="0" rIns="0" bIns="0" rtlCol="0" anchor="ctr"/>
          <a:lstStyle/>
          <a:p>
            <a:pPr indent="0" marL="0">
              <a:buNone/>
            </a:pPr>
            <a:r>
              <a:rPr lang="en-US" sz="2100" b="1" dirty="0">
                <a:solidFill>
                  <a:srgbClr val="F4F4F6"/>
                </a:solidFill>
                <a:latin typeface="Libre Franklin" pitchFamily="34" charset="0"/>
                <a:ea typeface="Libre Franklin" pitchFamily="34" charset="-122"/>
                <a:cs typeface="Libre Franklin" pitchFamily="34" charset="-120"/>
              </a:rPr>
              <a:t>25.3 pts</a:t>
            </a:r>
            <a:endParaRPr lang="en-US" sz="2100" dirty="0"/>
          </a:p>
        </p:txBody>
      </p:sp>
      <p:sp>
        <p:nvSpPr>
          <p:cNvPr id="14" name="Text 11"/>
          <p:cNvSpPr/>
          <p:nvPr/>
        </p:nvSpPr>
        <p:spPr>
          <a:xfrm>
            <a:off x="8311896" y="4992624"/>
            <a:ext cx="3035808" cy="365760"/>
          </a:xfrm>
          <a:prstGeom prst="rect">
            <a:avLst/>
          </a:prstGeom>
          <a:noFill/>
          <a:ln/>
        </p:spPr>
        <p:txBody>
          <a:bodyPr wrap="square" lIns="0" tIns="0" rIns="0" bIns="0" rtlCol="0" anchor="ctr"/>
          <a:lstStyle/>
          <a:p>
            <a:pPr indent="0" marL="0">
              <a:buNone/>
            </a:pPr>
            <a:r>
              <a:rPr lang="en-US" sz="1100" dirty="0">
                <a:solidFill>
                  <a:srgbClr val="E6EEFC"/>
                </a:solidFill>
                <a:latin typeface="Libre Franklin Medium" pitchFamily="34" charset="0"/>
                <a:ea typeface="Libre Franklin Medium" pitchFamily="34" charset="-122"/>
                <a:cs typeface="Libre Franklin Medium" pitchFamily="34" charset="-120"/>
              </a:rPr>
              <a:t>Ethical / moral support</a:t>
            </a:r>
            <a:endParaRPr lang="en-US" sz="1100" dirty="0"/>
          </a:p>
        </p:txBody>
      </p:sp>
      <p:sp>
        <p:nvSpPr>
          <p:cNvPr id="15" name="Text 12"/>
          <p:cNvSpPr/>
          <p:nvPr/>
        </p:nvSpPr>
        <p:spPr>
          <a:xfrm>
            <a:off x="502920" y="4206240"/>
            <a:ext cx="5486400" cy="256032"/>
          </a:xfrm>
          <a:prstGeom prst="rect">
            <a:avLst/>
          </a:prstGeom>
          <a:noFill/>
          <a:ln/>
        </p:spPr>
        <p:txBody>
          <a:bodyPr wrap="square" lIns="0" tIns="0" rIns="0" bIns="0" rtlCol="0" anchor="ctr"/>
          <a:lstStyle/>
          <a:p>
            <a:pPr indent="0" marL="0">
              <a:buNone/>
            </a:pPr>
            <a:r>
              <a:rPr lang="en-US" sz="1050" b="1" spc="110" kern="0" dirty="0">
                <a:solidFill>
                  <a:srgbClr val="F57F00"/>
                </a:solidFill>
                <a:latin typeface="Libre Franklin" pitchFamily="34" charset="0"/>
                <a:ea typeface="Libre Franklin" pitchFamily="34" charset="-122"/>
                <a:cs typeface="Libre Franklin" pitchFamily="34" charset="-120"/>
              </a:rPr>
              <a:t>THE THREE WIDEST GAPS</a:t>
            </a:r>
            <a:endParaRPr lang="en-US" sz="1050" dirty="0"/>
          </a:p>
        </p:txBody>
      </p:sp>
      <p:sp>
        <p:nvSpPr>
          <p:cNvPr id="16" name="Text 13"/>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Outputs/table_4_cluster_defining_profiles.csv · displayed means use available raw composites, so n varies by domain</a:t>
            </a:r>
            <a:endParaRPr lang="en-US" sz="850" dirty="0"/>
          </a:p>
        </p:txBody>
      </p:sp>
      <p:pic>
        <p:nvPicPr>
          <p:cNvPr id="17"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18" name="Text 14"/>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366FF"/>
        </a:solidFill>
      </p:bgPr>
    </p:bg>
    <p:spTree>
      <p:nvGrpSpPr>
        <p:cNvPr id="1" name=""/>
        <p:cNvGrpSpPr/>
        <p:nvPr/>
      </p:nvGrpSpPr>
      <p:grpSpPr>
        <a:xfrm>
          <a:off x="0" y="0"/>
          <a:ext cx="0" cy="0"/>
          <a:chOff x="0" y="0"/>
          <a:chExt cx="0" cy="0"/>
        </a:xfrm>
      </p:grpSpPr>
      <p:pic>
        <p:nvPicPr>
          <p:cNvPr id="2" name="Image 0" descr="/sessions/ecstatic-gifted-franklin/mnt/.claude/skills/esd-lab/assets/patterns/pattern-icon-band-white.png">    </p:cNvPr>
          <p:cNvPicPr>
            <a:picLocks noChangeAspect="1"/>
          </p:cNvPicPr>
          <p:nvPr/>
        </p:nvPicPr>
        <p:blipFill>
          <a:blip r:embed="rId1">
            <a:alphaModFix amt="24000"/>
          </a:blip>
          <a:stretch>
            <a:fillRect/>
          </a:stretch>
        </p:blipFill>
        <p:spPr>
          <a:xfrm>
            <a:off x="-822960" y="5257800"/>
            <a:ext cx="13807440" cy="2194560"/>
          </a:xfrm>
          <a:prstGeom prst="rect">
            <a:avLst/>
          </a:prstGeom>
        </p:spPr>
      </p:pic>
      <p:sp>
        <p:nvSpPr>
          <p:cNvPr id="3" name="Text 0"/>
          <p:cNvSpPr/>
          <p:nvPr/>
        </p:nvSpPr>
        <p:spPr>
          <a:xfrm>
            <a:off x="502920" y="2212848"/>
            <a:ext cx="8229600" cy="274320"/>
          </a:xfrm>
          <a:prstGeom prst="rect">
            <a:avLst/>
          </a:prstGeom>
          <a:noFill/>
          <a:ln/>
        </p:spPr>
        <p:txBody>
          <a:bodyPr wrap="square" lIns="0" tIns="0" rIns="0" bIns="0" rtlCol="0" anchor="ctr"/>
          <a:lstStyle/>
          <a:p>
            <a:pPr indent="0" marL="0">
              <a:buNone/>
            </a:pPr>
            <a:r>
              <a:rPr lang="en-US" sz="1200" b="1" spc="160" kern="0" dirty="0">
                <a:solidFill>
                  <a:srgbClr val="91BAF4"/>
                </a:solidFill>
                <a:latin typeface="Libre Franklin" pitchFamily="34" charset="0"/>
                <a:ea typeface="Libre Franklin" pitchFamily="34" charset="-122"/>
                <a:cs typeface="Libre Franklin" pitchFamily="34" charset="-120"/>
              </a:rPr>
              <a:t>PART TWO</a:t>
            </a:r>
            <a:endParaRPr lang="en-US" sz="1200" dirty="0"/>
          </a:p>
        </p:txBody>
      </p:sp>
      <p:sp>
        <p:nvSpPr>
          <p:cNvPr id="4" name="Text 1"/>
          <p:cNvSpPr/>
          <p:nvPr/>
        </p:nvSpPr>
        <p:spPr>
          <a:xfrm>
            <a:off x="502920" y="2560320"/>
            <a:ext cx="9509760" cy="822960"/>
          </a:xfrm>
          <a:prstGeom prst="rect">
            <a:avLst/>
          </a:prstGeom>
          <a:noFill/>
          <a:ln/>
        </p:spPr>
        <p:txBody>
          <a:bodyPr wrap="square" lIns="0" tIns="0" rIns="0" bIns="0" rtlCol="0" anchor="ctr"/>
          <a:lstStyle/>
          <a:p>
            <a:pPr indent="0" marL="0">
              <a:buNone/>
            </a:pPr>
            <a:r>
              <a:rPr lang="en-US" sz="4000" b="1" spc="-40" kern="0" dirty="0">
                <a:solidFill>
                  <a:srgbClr val="F4F4F6"/>
                </a:solidFill>
                <a:latin typeface="Libre Franklin" pitchFamily="34" charset="0"/>
                <a:ea typeface="Libre Franklin" pitchFamily="34" charset="-122"/>
                <a:cs typeface="Libre Franklin" pitchFamily="34" charset="-120"/>
              </a:rPr>
              <a:t>Held-out characterization</a:t>
            </a:r>
            <a:endParaRPr lang="en-US" sz="4000" dirty="0"/>
          </a:p>
        </p:txBody>
      </p:sp>
      <p:sp>
        <p:nvSpPr>
          <p:cNvPr id="5" name="Text 2"/>
          <p:cNvSpPr/>
          <p:nvPr/>
        </p:nvSpPr>
        <p:spPr>
          <a:xfrm>
            <a:off x="502920" y="3529584"/>
            <a:ext cx="9692640" cy="822960"/>
          </a:xfrm>
          <a:prstGeom prst="rect">
            <a:avLst/>
          </a:prstGeom>
          <a:noFill/>
          <a:ln/>
        </p:spPr>
        <p:txBody>
          <a:bodyPr wrap="square" lIns="0" tIns="0" rIns="0" bIns="0" rtlCol="0" anchor="ctr"/>
          <a:lstStyle/>
          <a:p>
            <a:pPr indent="0" marL="0">
              <a:lnSpc>
                <a:spcPts val="2200"/>
              </a:lnSpc>
              <a:buNone/>
            </a:pPr>
            <a:r>
              <a:rPr lang="en-US" sz="1400" dirty="0">
                <a:solidFill>
                  <a:srgbClr val="E6EEFC"/>
                </a:solidFill>
                <a:latin typeface="Libre Franklin Medium" pitchFamily="34" charset="0"/>
                <a:ea typeface="Libre Franklin Medium" pitchFamily="34" charset="-122"/>
                <a:cs typeface="Libre Franklin Medium" pitchFamily="34" charset="-120"/>
              </a:rPr>
              <a:t>Screen vs not  ·  autism knowledge  ·  values  ·  demographics and family context</a:t>
            </a:r>
            <a:endParaRPr lang="en-US" sz="1400" dirty="0"/>
          </a:p>
          <a:p>
            <a:pPr indent="0" marL="0">
              <a:lnSpc>
                <a:spcPts val="2200"/>
              </a:lnSpc>
              <a:buNone/>
            </a:pPr>
            <a:r>
              <a:rPr lang="en-US" sz="1400" dirty="0">
                <a:solidFill>
                  <a:srgbClr val="E6EEFC"/>
                </a:solidFill>
                <a:latin typeface="Libre Franklin Medium" pitchFamily="34" charset="0"/>
                <a:ea typeface="Libre Franklin Medium" pitchFamily="34" charset="-122"/>
                <a:cs typeface="Libre Franklin Medium" pitchFamily="34" charset="-120"/>
              </a:rPr>
              <a:t>None of these measures influenced cluster fitting or cluster naming. Each uses its own valid denominator.</a:t>
            </a:r>
            <a:endParaRPr lang="en-US" sz="1400" dirty="0"/>
          </a:p>
        </p:txBody>
      </p:sp>
      <p:pic>
        <p:nvPicPr>
          <p:cNvPr id="6" name="Image 1" descr="/sessions/ecstatic-gifted-franklin/mnt/outputs/gen/sunburst-cw.png">    </p:cNvPr>
          <p:cNvPicPr>
            <a:picLocks noChangeAspect="1"/>
          </p:cNvPicPr>
          <p:nvPr/>
        </p:nvPicPr>
        <p:blipFill>
          <a:blip r:embed="rId2">
            <a:alphaModFix amt="45000"/>
          </a:blip>
          <a:stretch>
            <a:fillRect/>
          </a:stretch>
        </p:blipFill>
        <p:spPr>
          <a:xfrm>
            <a:off x="10058400" y="2286000"/>
            <a:ext cx="1371600" cy="166603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5</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Held-out primary outcome: would you screen?</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11185855" cy="914400"/>
        </p:xfrm>
        <a:graphic>
          <a:graphicData uri="http://schemas.openxmlformats.org/drawingml/2006/table">
            <a:tbl>
              <a:tblPr/>
              <a:tblGrid>
                <a:gridCol w="2121408"/>
                <a:gridCol w="749808"/>
                <a:gridCol w="603504"/>
                <a:gridCol w="731520"/>
                <a:gridCol w="1572768"/>
                <a:gridCol w="941832"/>
                <a:gridCol w="1188720"/>
                <a:gridCol w="1773936"/>
                <a:gridCol w="1499616"/>
              </a:tblGrid>
              <a:tr h="566928">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Profile</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Cluster n</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Valid</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Missing</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No / probably not / unsure</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Probably</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Definitely yes</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Wilson 95% CI (definitely yes)</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Probably or definitely yes</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566928">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Higher acceptability</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  (10.0%)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16  (20.0%)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56  (70.0%)</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59.2%  to  78.9%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72  (90.0%)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566928">
                <a:tc>
                  <a:txBody>
                    <a:bodyPr/>
                    <a:lstStyle/>
                    <a:p>
                      <a:pPr algn="l"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Conditional acceptability</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19  (40.4%)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15  (31.9%)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50" b="1" dirty="0">
                          <a:solidFill>
                            <a:srgbClr val="F57F00"/>
                          </a:solidFill>
                          <a:latin typeface="Libre Franklin Medium" pitchFamily="34" charset="0"/>
                          <a:ea typeface="Libre Franklin Medium" pitchFamily="34" charset="-122"/>
                          <a:cs typeface="Libre Franklin Medium" pitchFamily="34" charset="-120"/>
                        </a:rPr>
                        <a:t>13  (27.7%)</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16.9%  to  41.8%</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28  (59.6%)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bl>
          </a:graphicData>
        </a:graphic>
      </p:graphicFrame>
      <p:sp>
        <p:nvSpPr>
          <p:cNvPr id="5" name="Shape 2"/>
          <p:cNvSpPr/>
          <p:nvPr/>
        </p:nvSpPr>
        <p:spPr>
          <a:xfrm>
            <a:off x="502920" y="3675888"/>
            <a:ext cx="3547872" cy="1481328"/>
          </a:xfrm>
          <a:prstGeom prst="roundRect">
            <a:avLst>
              <a:gd name="adj" fmla="val 8642"/>
            </a:avLst>
          </a:prstGeom>
          <a:solidFill>
            <a:srgbClr val="E6EEFC"/>
          </a:solidFill>
          <a:ln/>
        </p:spPr>
      </p:sp>
      <p:sp>
        <p:nvSpPr>
          <p:cNvPr id="6" name="Text 3"/>
          <p:cNvSpPr/>
          <p:nvPr/>
        </p:nvSpPr>
        <p:spPr>
          <a:xfrm>
            <a:off x="758952" y="3803904"/>
            <a:ext cx="3017520" cy="548640"/>
          </a:xfrm>
          <a:prstGeom prst="rect">
            <a:avLst/>
          </a:prstGeom>
          <a:noFill/>
          <a:ln/>
        </p:spPr>
        <p:txBody>
          <a:bodyPr wrap="square" lIns="0" tIns="0" rIns="0" bIns="0" rtlCol="0" anchor="ctr"/>
          <a:lstStyle/>
          <a:p>
            <a:pPr indent="0" marL="0">
              <a:buNone/>
            </a:pPr>
            <a:r>
              <a:rPr lang="en-US" sz="3000" b="1" dirty="0">
                <a:solidFill>
                  <a:srgbClr val="3366FF"/>
                </a:solidFill>
                <a:latin typeface="Libre Franklin" pitchFamily="34" charset="0"/>
                <a:ea typeface="Libre Franklin" pitchFamily="34" charset="-122"/>
                <a:cs typeface="Libre Franklin" pitchFamily="34" charset="-120"/>
              </a:rPr>
              <a:t>42.3</a:t>
            </a:r>
            <a:endParaRPr lang="en-US" sz="3000" dirty="0"/>
          </a:p>
        </p:txBody>
      </p:sp>
      <p:sp>
        <p:nvSpPr>
          <p:cNvPr id="7" name="Text 4"/>
          <p:cNvSpPr/>
          <p:nvPr/>
        </p:nvSpPr>
        <p:spPr>
          <a:xfrm>
            <a:off x="758952" y="4352544"/>
            <a:ext cx="3017520" cy="237744"/>
          </a:xfrm>
          <a:prstGeom prst="rect">
            <a:avLst/>
          </a:prstGeom>
          <a:noFill/>
          <a:ln/>
        </p:spPr>
        <p:txBody>
          <a:bodyPr wrap="square" lIns="0" tIns="0" rIns="0" bIns="0" rtlCol="0" anchor="ctr"/>
          <a:lstStyle/>
          <a:p>
            <a:pPr indent="0" marL="0">
              <a:buNone/>
            </a:pPr>
            <a:r>
              <a:rPr lang="en-US" sz="1100" b="1" dirty="0">
                <a:solidFill>
                  <a:srgbClr val="000000"/>
                </a:solidFill>
                <a:latin typeface="Libre Franklin Medium" pitchFamily="34" charset="0"/>
                <a:ea typeface="Libre Franklin Medium" pitchFamily="34" charset="-122"/>
                <a:cs typeface="Libre Franklin Medium" pitchFamily="34" charset="-120"/>
              </a:rPr>
              <a:t>percentage points</a:t>
            </a:r>
            <a:endParaRPr lang="en-US" sz="1100" dirty="0"/>
          </a:p>
        </p:txBody>
      </p:sp>
      <p:sp>
        <p:nvSpPr>
          <p:cNvPr id="8" name="Text 5"/>
          <p:cNvSpPr/>
          <p:nvPr/>
        </p:nvSpPr>
        <p:spPr>
          <a:xfrm>
            <a:off x="758952" y="4608576"/>
            <a:ext cx="3072384" cy="457200"/>
          </a:xfrm>
          <a:prstGeom prst="rect">
            <a:avLst/>
          </a:prstGeom>
          <a:noFill/>
          <a:ln/>
        </p:spPr>
        <p:txBody>
          <a:bodyPr wrap="square" lIns="0" tIns="0" rIns="0" bIns="0" rtlCol="0" anchor="ctr"/>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Absolute gap in definitely-yes rate</a:t>
            </a:r>
            <a:endParaRPr lang="en-US" sz="1150" dirty="0"/>
          </a:p>
        </p:txBody>
      </p:sp>
      <p:sp>
        <p:nvSpPr>
          <p:cNvPr id="9" name="Shape 6"/>
          <p:cNvSpPr/>
          <p:nvPr/>
        </p:nvSpPr>
        <p:spPr>
          <a:xfrm>
            <a:off x="4270248" y="3675888"/>
            <a:ext cx="3547872" cy="1481328"/>
          </a:xfrm>
          <a:prstGeom prst="roundRect">
            <a:avLst>
              <a:gd name="adj" fmla="val 8642"/>
            </a:avLst>
          </a:prstGeom>
          <a:solidFill>
            <a:srgbClr val="E6EEFC"/>
          </a:solidFill>
          <a:ln/>
        </p:spPr>
      </p:sp>
      <p:sp>
        <p:nvSpPr>
          <p:cNvPr id="10" name="Text 7"/>
          <p:cNvSpPr/>
          <p:nvPr/>
        </p:nvSpPr>
        <p:spPr>
          <a:xfrm>
            <a:off x="4526280" y="3803904"/>
            <a:ext cx="3017520" cy="548640"/>
          </a:xfrm>
          <a:prstGeom prst="rect">
            <a:avLst/>
          </a:prstGeom>
          <a:noFill/>
          <a:ln/>
        </p:spPr>
        <p:txBody>
          <a:bodyPr wrap="square" lIns="0" tIns="0" rIns="0" bIns="0" rtlCol="0" anchor="ctr"/>
          <a:lstStyle/>
          <a:p>
            <a:pPr indent="0" marL="0">
              <a:buNone/>
            </a:pPr>
            <a:r>
              <a:rPr lang="en-US" sz="3000" b="1" dirty="0">
                <a:solidFill>
                  <a:srgbClr val="91BAF4"/>
                </a:solidFill>
                <a:latin typeface="Libre Franklin" pitchFamily="34" charset="0"/>
                <a:ea typeface="Libre Franklin" pitchFamily="34" charset="-122"/>
                <a:cs typeface="Libre Franklin" pitchFamily="34" charset="-120"/>
              </a:rPr>
              <a:t>30.4</a:t>
            </a:r>
            <a:endParaRPr lang="en-US" sz="3000" dirty="0"/>
          </a:p>
        </p:txBody>
      </p:sp>
      <p:sp>
        <p:nvSpPr>
          <p:cNvPr id="11" name="Text 8"/>
          <p:cNvSpPr/>
          <p:nvPr/>
        </p:nvSpPr>
        <p:spPr>
          <a:xfrm>
            <a:off x="4526280" y="4352544"/>
            <a:ext cx="3017520" cy="237744"/>
          </a:xfrm>
          <a:prstGeom prst="rect">
            <a:avLst/>
          </a:prstGeom>
          <a:noFill/>
          <a:ln/>
        </p:spPr>
        <p:txBody>
          <a:bodyPr wrap="square" lIns="0" tIns="0" rIns="0" bIns="0" rtlCol="0" anchor="ctr"/>
          <a:lstStyle/>
          <a:p>
            <a:pPr indent="0" marL="0">
              <a:buNone/>
            </a:pPr>
            <a:r>
              <a:rPr lang="en-US" sz="1100" b="1" dirty="0">
                <a:solidFill>
                  <a:srgbClr val="000000"/>
                </a:solidFill>
                <a:latin typeface="Libre Franklin Medium" pitchFamily="34" charset="0"/>
                <a:ea typeface="Libre Franklin Medium" pitchFamily="34" charset="-122"/>
                <a:cs typeface="Libre Franklin Medium" pitchFamily="34" charset="-120"/>
              </a:rPr>
              <a:t>percentage points</a:t>
            </a:r>
            <a:endParaRPr lang="en-US" sz="1100" dirty="0"/>
          </a:p>
        </p:txBody>
      </p:sp>
      <p:sp>
        <p:nvSpPr>
          <p:cNvPr id="12" name="Text 9"/>
          <p:cNvSpPr/>
          <p:nvPr/>
        </p:nvSpPr>
        <p:spPr>
          <a:xfrm>
            <a:off x="4526280" y="4608576"/>
            <a:ext cx="3072384" cy="457200"/>
          </a:xfrm>
          <a:prstGeom prst="rect">
            <a:avLst/>
          </a:prstGeom>
          <a:noFill/>
          <a:ln/>
        </p:spPr>
        <p:txBody>
          <a:bodyPr wrap="square" lIns="0" tIns="0" rIns="0" bIns="0" rtlCol="0" anchor="ctr"/>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Gap on the wider probably-or-definitely measure</a:t>
            </a:r>
            <a:endParaRPr lang="en-US" sz="1150" dirty="0"/>
          </a:p>
        </p:txBody>
      </p:sp>
      <p:sp>
        <p:nvSpPr>
          <p:cNvPr id="13" name="Shape 10"/>
          <p:cNvSpPr/>
          <p:nvPr/>
        </p:nvSpPr>
        <p:spPr>
          <a:xfrm>
            <a:off x="8037576" y="3675888"/>
            <a:ext cx="3547872" cy="1481328"/>
          </a:xfrm>
          <a:prstGeom prst="roundRect">
            <a:avLst>
              <a:gd name="adj" fmla="val 8642"/>
            </a:avLst>
          </a:prstGeom>
          <a:solidFill>
            <a:srgbClr val="E6EEFC"/>
          </a:solidFill>
          <a:ln/>
        </p:spPr>
      </p:sp>
      <p:sp>
        <p:nvSpPr>
          <p:cNvPr id="14" name="Text 11"/>
          <p:cNvSpPr/>
          <p:nvPr/>
        </p:nvSpPr>
        <p:spPr>
          <a:xfrm>
            <a:off x="8293608" y="3803904"/>
            <a:ext cx="3017520" cy="548640"/>
          </a:xfrm>
          <a:prstGeom prst="rect">
            <a:avLst/>
          </a:prstGeom>
          <a:noFill/>
          <a:ln/>
        </p:spPr>
        <p:txBody>
          <a:bodyPr wrap="square" lIns="0" tIns="0" rIns="0" bIns="0" rtlCol="0" anchor="ctr"/>
          <a:lstStyle/>
          <a:p>
            <a:pPr indent="0" marL="0">
              <a:buNone/>
            </a:pPr>
            <a:r>
              <a:rPr lang="en-US" sz="3000" b="1" dirty="0">
                <a:solidFill>
                  <a:srgbClr val="F57F00"/>
                </a:solidFill>
                <a:latin typeface="Libre Franklin" pitchFamily="34" charset="0"/>
                <a:ea typeface="Libre Franklin" pitchFamily="34" charset="-122"/>
                <a:cs typeface="Libre Franklin" pitchFamily="34" charset="-120"/>
              </a:rPr>
              <a:t>0</a:t>
            </a:r>
            <a:endParaRPr lang="en-US" sz="3000" dirty="0"/>
          </a:p>
        </p:txBody>
      </p:sp>
      <p:sp>
        <p:nvSpPr>
          <p:cNvPr id="15" name="Text 12"/>
          <p:cNvSpPr/>
          <p:nvPr/>
        </p:nvSpPr>
        <p:spPr>
          <a:xfrm>
            <a:off x="8293608" y="4352544"/>
            <a:ext cx="3017520" cy="237744"/>
          </a:xfrm>
          <a:prstGeom prst="rect">
            <a:avLst/>
          </a:prstGeom>
          <a:noFill/>
          <a:ln/>
        </p:spPr>
        <p:txBody>
          <a:bodyPr wrap="square" lIns="0" tIns="0" rIns="0" bIns="0" rtlCol="0" anchor="ctr"/>
          <a:lstStyle/>
          <a:p>
            <a:pPr indent="0" marL="0">
              <a:buNone/>
            </a:pPr>
            <a:r>
              <a:rPr lang="en-US" sz="1100" b="1" dirty="0">
                <a:solidFill>
                  <a:srgbClr val="000000"/>
                </a:solidFill>
                <a:latin typeface="Libre Franklin Medium" pitchFamily="34" charset="0"/>
                <a:ea typeface="Libre Franklin Medium" pitchFamily="34" charset="-122"/>
                <a:cs typeface="Libre Franklin Medium" pitchFamily="34" charset="-120"/>
              </a:rPr>
              <a:t>of 4</a:t>
            </a:r>
            <a:endParaRPr lang="en-US" sz="1100" dirty="0"/>
          </a:p>
        </p:txBody>
      </p:sp>
      <p:sp>
        <p:nvSpPr>
          <p:cNvPr id="16" name="Text 13"/>
          <p:cNvSpPr/>
          <p:nvPr/>
        </p:nvSpPr>
        <p:spPr>
          <a:xfrm>
            <a:off x="8293608" y="4608576"/>
            <a:ext cx="3072384" cy="457200"/>
          </a:xfrm>
          <a:prstGeom prst="rect">
            <a:avLst/>
          </a:prstGeom>
          <a:noFill/>
          <a:ln/>
        </p:spPr>
        <p:txBody>
          <a:bodyPr wrap="square" lIns="0" tIns="0" rIns="0" bIns="0" rtlCol="0" anchor="ctr"/>
          <a:lstStyle/>
          <a:p>
            <a:pPr indent="0" marL="0">
              <a:lnSpc>
                <a:spcPts val="15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Excluded partial records answering definitely yes</a:t>
            </a:r>
            <a:endParaRPr lang="en-US" sz="1150" dirty="0"/>
          </a:p>
        </p:txBody>
      </p:sp>
      <p:sp>
        <p:nvSpPr>
          <p:cNvPr id="17" name="Text 14"/>
          <p:cNvSpPr/>
          <p:nvPr/>
        </p:nvSpPr>
        <p:spPr>
          <a:xfrm>
            <a:off x="502920" y="5340096"/>
            <a:ext cx="11183112" cy="786384"/>
          </a:xfrm>
          <a:prstGeom prst="rect">
            <a:avLst/>
          </a:prstGeom>
          <a:noFill/>
          <a:ln/>
        </p:spPr>
        <p:txBody>
          <a:bodyPr wrap="square" lIns="0" tIns="0" rIns="0" bIns="0" rtlCol="0" anchor="ctr"/>
          <a:lstStyle/>
          <a:p>
            <a:pPr indent="0" marL="0">
              <a:lnSpc>
                <a:spcPts val="1700"/>
              </a:lnSpc>
              <a:buNone/>
            </a:pPr>
            <a:r>
              <a:rPr lang="en-US" sz="1250" b="1" dirty="0">
                <a:solidFill>
                  <a:srgbClr val="3366FF"/>
                </a:solidFill>
                <a:latin typeface="Libre Franklin Medium" pitchFamily="34" charset="0"/>
                <a:ea typeface="Libre Franklin Medium" pitchFamily="34" charset="-122"/>
                <a:cs typeface="Libre Franklin Medium" pitchFamily="34" charset="-120"/>
              </a:rPr>
              <a:t>The Wilson intervals do not overlap.  </a:t>
            </a:r>
            <a:pPr indent="0" marL="0">
              <a:lnSpc>
                <a:spcPts val="1700"/>
              </a:lnSpc>
              <a:buNone/>
            </a:pPr>
            <a:r>
              <a:rPr lang="en-US" sz="1250" dirty="0">
                <a:solidFill>
                  <a:srgbClr val="000000"/>
                </a:solidFill>
                <a:latin typeface="Libre Franklin Medium" pitchFamily="34" charset="0"/>
                <a:ea typeface="Libre Franklin Medium" pitchFamily="34" charset="-122"/>
                <a:cs typeface="Libre Franklin Medium" pitchFamily="34" charset="-120"/>
              </a:rPr>
              <a:t>59.2–78.9% against 16.9–41.8%. This is the single largest held-out difference in the analysis, and it comes from a measure the clustering never saw.</a:t>
            </a:r>
            <a:endParaRPr lang="en-US" sz="1250" dirty="0"/>
          </a:p>
        </p:txBody>
      </p:sp>
      <p:sp>
        <p:nvSpPr>
          <p:cNvPr id="18" name="Text 15"/>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Outputs/table_5_screening_outcome.csv · endpoint per Analysis questions - Sheet3.csv: code 4 vs codes 0–3, missing stays missing</a:t>
            </a:r>
            <a:endParaRPr lang="en-US" sz="850" dirty="0"/>
          </a:p>
        </p:txBody>
      </p:sp>
      <p:pic>
        <p:nvPicPr>
          <p:cNvPr id="19"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20" name="Text 16"/>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FIGURE 3</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Held-out screening outcome by caregiver profile</a:t>
            </a:r>
            <a:endParaRPr lang="en-US" sz="2700" dirty="0"/>
          </a:p>
        </p:txBody>
      </p:sp>
      <p:pic>
        <p:nvPicPr>
          <p:cNvPr id="4" name="Image 0" descr="/sessions/ecstatic-gifted-franklin/mnt/Caregiver Project/Caregiver Outputs/figure_3_screening_outcome.png">    </p:cNvPr>
          <p:cNvPicPr>
            <a:picLocks noChangeAspect="1"/>
          </p:cNvPicPr>
          <p:nvPr/>
        </p:nvPicPr>
        <p:blipFill>
          <a:blip r:embed="rId1"/>
          <a:stretch>
            <a:fillRect/>
          </a:stretch>
        </p:blipFill>
        <p:spPr>
          <a:xfrm>
            <a:off x="457200" y="1517904"/>
            <a:ext cx="11274552" cy="4553712"/>
          </a:xfrm>
          <a:prstGeom prst="rect">
            <a:avLst/>
          </a:prstGeom>
        </p:spPr>
      </p:pic>
      <p:sp>
        <p:nvSpPr>
          <p:cNvPr id="5" name="Text 2"/>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Outputs/figure_3_screening_outcome.png · error bars are Wilson 95% intervals</a:t>
            </a:r>
            <a:endParaRPr lang="en-US" sz="850" dirty="0"/>
          </a:p>
        </p:txBody>
      </p:sp>
      <p:pic>
        <p:nvPicPr>
          <p:cNvPr id="6" name="Image 1" descr="/sessions/ecstatic-gifted-franklin/mnt/.claude/skills/esd-lab/assets/logos/wordmark-discovery-blue.png">    </p:cNvPr>
          <p:cNvPicPr>
            <a:picLocks noChangeAspect="1"/>
          </p:cNvPicPr>
          <p:nvPr/>
        </p:nvPicPr>
        <p:blipFill>
          <a:blip r:embed="rId2"/>
          <a:stretch>
            <a:fillRect/>
          </a:stretch>
        </p:blipFill>
        <p:spPr>
          <a:xfrm>
            <a:off x="11228832" y="6272784"/>
            <a:ext cx="420624" cy="393192"/>
          </a:xfrm>
          <a:prstGeom prst="rect">
            <a:avLst/>
          </a:prstGeom>
        </p:spPr>
      </p:pic>
      <p:sp>
        <p:nvSpPr>
          <p:cNvPr id="7" name="Text 3"/>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6</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Held-out autism knowledge: verified score and sensitivity scores</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3429000"/>
                <a:gridCol w="1170432"/>
                <a:gridCol w="566928"/>
                <a:gridCol w="777240"/>
                <a:gridCol w="713232"/>
                <a:gridCol w="822960"/>
                <a:gridCol w="658368"/>
                <a:gridCol w="658368"/>
                <a:gridCol w="1280160"/>
                <a:gridCol w="1106424"/>
              </a:tblGrid>
              <a:tr h="365760">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Measure</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Profile</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n</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Mean</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SD</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Median</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Q1</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Q3</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Mean % of range</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Mann–Whitney p</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365760">
                <a:tc>
                  <a:txBody>
                    <a:bodyPr/>
                    <a:lstStyle/>
                    <a:p>
                      <a:pPr algn="l"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Verified objective knowledge</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3366FF"/>
                          </a:solidFill>
                          <a:latin typeface="Libre Franklin Medium" pitchFamily="34" charset="0"/>
                          <a:ea typeface="Libre Franklin Medium" pitchFamily="34" charset="-122"/>
                          <a:cs typeface="Libre Franklin Medium" pitchFamily="34" charset="-120"/>
                        </a:rPr>
                        <a:t>Higher</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77</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3366FF"/>
                          </a:solidFill>
                          <a:latin typeface="Libre Franklin Medium" pitchFamily="34" charset="0"/>
                          <a:ea typeface="Libre Franklin Medium" pitchFamily="34" charset="-122"/>
                          <a:cs typeface="Libre Franklin Medium" pitchFamily="34" charset="-120"/>
                        </a:rPr>
                        <a:t>3.90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1.57</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5.0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55.7%</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0000"/>
                          </a:solidFill>
                          <a:latin typeface="Libre Franklin Medium" pitchFamily="34" charset="0"/>
                          <a:ea typeface="Libre Franklin Medium" pitchFamily="34" charset="-122"/>
                          <a:cs typeface="Libre Franklin Medium" pitchFamily="34" charset="-120"/>
                        </a:rPr>
                        <a:t>0.099</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(7 verified keys, range 0–7)</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000" b="1" dirty="0">
                          <a:solidFill>
                            <a:srgbClr val="F57F00"/>
                          </a:solidFill>
                          <a:latin typeface="Libre Franklin Medium" pitchFamily="34" charset="0"/>
                          <a:ea typeface="Libre Franklin Medium" pitchFamily="34" charset="-122"/>
                          <a:cs typeface="Libre Franklin Medium" pitchFamily="34" charset="-120"/>
                        </a:rPr>
                        <a:t>Conditional</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46</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b="1" dirty="0">
                          <a:solidFill>
                            <a:srgbClr val="F57F00"/>
                          </a:solidFill>
                          <a:latin typeface="Libre Franklin Medium" pitchFamily="34" charset="0"/>
                          <a:ea typeface="Libre Franklin Medium" pitchFamily="34" charset="-122"/>
                          <a:cs typeface="Libre Franklin Medium" pitchFamily="34" charset="-120"/>
                        </a:rPr>
                        <a:t>3.41</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1.72</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2.0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48.8%</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b="1" dirty="0">
                          <a:solidFill>
                            <a:srgbClr val="000000"/>
                          </a:solidFill>
                          <a:latin typeface="Libre Franklin Medium" pitchFamily="34" charset="0"/>
                          <a:ea typeface="Libre Franklin Medium" pitchFamily="34" charset="-122"/>
                          <a:cs typeface="Libre Franklin Medium" pitchFamily="34" charset="-120"/>
                        </a:rPr>
                        <a:t>0.099</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65760">
                <a:tc>
                  <a:txBody>
                    <a:bodyPr/>
                    <a:lstStyle/>
                    <a:p>
                      <a:pPr algn="l"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8-item sensitivity: Before 1 year correct</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3366FF"/>
                          </a:solidFill>
                          <a:latin typeface="Libre Franklin Medium" pitchFamily="34" charset="0"/>
                          <a:ea typeface="Libre Franklin Medium" pitchFamily="34" charset="-122"/>
                          <a:cs typeface="Libre Franklin Medium" pitchFamily="34" charset="-120"/>
                        </a:rPr>
                        <a:t>Higher</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77</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4.17</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1.63</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5.0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5.0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52.1%</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0.064</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65760">
                <a:tc>
                  <a:txBody>
                    <a:bodyPr/>
                    <a:lstStyle/>
                    <a:p>
                      <a:pPr algn="l" indent="0" marL="0">
                        <a:buNone/>
                      </a:pP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000" b="1" dirty="0">
                          <a:solidFill>
                            <a:srgbClr val="F57F00"/>
                          </a:solidFill>
                          <a:latin typeface="Libre Franklin Medium" pitchFamily="34" charset="0"/>
                          <a:ea typeface="Libre Franklin Medium" pitchFamily="34" charset="-122"/>
                          <a:cs typeface="Libre Franklin Medium" pitchFamily="34" charset="-120"/>
                        </a:rPr>
                        <a:t>Conditional</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46</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3.61</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1.73</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2.25</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5.0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45.1%</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0.064</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65760">
                <a:tc>
                  <a:txBody>
                    <a:bodyPr/>
                    <a:lstStyle/>
                    <a:p>
                      <a:pPr algn="l"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8-item sensitivity: 1–2 years correct</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3366FF"/>
                          </a:solidFill>
                          <a:latin typeface="Libre Franklin Medium" pitchFamily="34" charset="0"/>
                          <a:ea typeface="Libre Franklin Medium" pitchFamily="34" charset="-122"/>
                          <a:cs typeface="Libre Franklin Medium" pitchFamily="34" charset="-120"/>
                        </a:rPr>
                        <a:t>Higher</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77</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4.32</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1.64</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5.0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5.0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54.1%</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0.228</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65760">
                <a:tc>
                  <a:txBody>
                    <a:bodyPr/>
                    <a:lstStyle/>
                    <a:p>
                      <a:pPr algn="l" indent="0" marL="0">
                        <a:buNone/>
                      </a:pP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000" b="1" dirty="0">
                          <a:solidFill>
                            <a:srgbClr val="F57F00"/>
                          </a:solidFill>
                          <a:latin typeface="Libre Franklin Medium" pitchFamily="34" charset="0"/>
                          <a:ea typeface="Libre Franklin Medium" pitchFamily="34" charset="-122"/>
                          <a:cs typeface="Libre Franklin Medium" pitchFamily="34" charset="-120"/>
                        </a:rPr>
                        <a:t>Conditional</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46</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3.96</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1.80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5.0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49.5%</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0.228</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65760">
                <a:tc>
                  <a:txBody>
                    <a:bodyPr/>
                    <a:lstStyle/>
                    <a:p>
                      <a:pPr algn="l"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Self-rated knowledge</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3366FF"/>
                          </a:solidFill>
                          <a:latin typeface="Libre Franklin Medium" pitchFamily="34" charset="0"/>
                          <a:ea typeface="Libre Franklin Medium" pitchFamily="34" charset="-122"/>
                          <a:cs typeface="Libre Franklin Medium" pitchFamily="34" charset="-120"/>
                        </a:rPr>
                        <a:t>Higher</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84</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3.49</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0.88</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62.2%</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0.752</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65760">
                <a:tc>
                  <a:txBody>
                    <a:bodyPr/>
                    <a:lstStyle/>
                    <a:p>
                      <a:pPr algn="l"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(subjective, 1–5)</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000" b="1" dirty="0">
                          <a:solidFill>
                            <a:srgbClr val="F57F00"/>
                          </a:solidFill>
                          <a:latin typeface="Libre Franklin Medium" pitchFamily="34" charset="0"/>
                          <a:ea typeface="Libre Franklin Medium" pitchFamily="34" charset="-122"/>
                          <a:cs typeface="Libre Franklin Medium" pitchFamily="34" charset="-120"/>
                        </a:rPr>
                        <a:t>Conditional</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47</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3.51</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0.75</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3.0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4.0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62.8%</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0.752</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bl>
          </a:graphicData>
        </a:graphic>
      </p:graphicFrame>
      <p:sp>
        <p:nvSpPr>
          <p:cNvPr id="5" name="Shape 2"/>
          <p:cNvSpPr/>
          <p:nvPr/>
        </p:nvSpPr>
        <p:spPr>
          <a:xfrm>
            <a:off x="502920" y="5138928"/>
            <a:ext cx="11183112" cy="1042416"/>
          </a:xfrm>
          <a:prstGeom prst="roundRect">
            <a:avLst>
              <a:gd name="adj" fmla="val 10526"/>
            </a:avLst>
          </a:prstGeom>
          <a:solidFill>
            <a:srgbClr val="E6EEFC"/>
          </a:solidFill>
          <a:ln/>
        </p:spPr>
      </p:sp>
      <p:pic>
        <p:nvPicPr>
          <p:cNvPr id="6" name="Image 0" descr="/sessions/ecstatic-gifted-franklin/mnt/.claude/skills/esd-lab/assets/icons/star-confident-orange.png">    </p:cNvPr>
          <p:cNvPicPr>
            <a:picLocks noChangeAspect="1"/>
          </p:cNvPicPr>
          <p:nvPr/>
        </p:nvPicPr>
        <p:blipFill>
          <a:blip r:embed="rId1"/>
          <a:stretch>
            <a:fillRect/>
          </a:stretch>
        </p:blipFill>
        <p:spPr>
          <a:xfrm>
            <a:off x="740664" y="5394960"/>
            <a:ext cx="512064" cy="512064"/>
          </a:xfrm>
          <a:prstGeom prst="rect">
            <a:avLst/>
          </a:prstGeom>
        </p:spPr>
      </p:pic>
      <p:sp>
        <p:nvSpPr>
          <p:cNvPr id="7" name="Text 3"/>
          <p:cNvSpPr/>
          <p:nvPr/>
        </p:nvSpPr>
        <p:spPr>
          <a:xfrm>
            <a:off x="1435608" y="5138928"/>
            <a:ext cx="10058400" cy="1042416"/>
          </a:xfrm>
          <a:prstGeom prst="rect">
            <a:avLst/>
          </a:prstGeom>
          <a:noFill/>
          <a:ln/>
        </p:spPr>
        <p:txBody>
          <a:bodyPr wrap="square" lIns="0" tIns="0" rIns="0" bIns="0" rtlCol="0" anchor="ctr"/>
          <a:lstStyle/>
          <a:p>
            <a:pPr indent="0" marL="0">
              <a:lnSpc>
                <a:spcPts val="1600"/>
              </a:lnSpc>
              <a:buNone/>
            </a:pPr>
            <a:r>
              <a:rPr lang="en-US" sz="1150" b="1" dirty="0">
                <a:solidFill>
                  <a:srgbClr val="F57F00"/>
                </a:solidFill>
                <a:latin typeface="Libre Franklin Medium" pitchFamily="34" charset="0"/>
                <a:ea typeface="Libre Franklin Medium" pitchFamily="34" charset="-122"/>
                <a:cs typeface="Libre Franklin Medium" pitchFamily="34" charset="-120"/>
              </a:rPr>
              <a:t>The behavior-age item is unresolved.  </a:t>
            </a:r>
            <a:pPr indent="0" marL="0">
              <a:lnSpc>
                <a:spcPts val="16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Seven of the eight knowledge keys are verified and form the primary score. The correct answer for tfa_behavior_age is not documented locally, so it appears only in the two 8-item sensitivity rows, scored both ways. Neither version changes the conclusion.</a:t>
            </a:r>
            <a:endParaRPr lang="en-US" sz="1150" dirty="0"/>
          </a:p>
        </p:txBody>
      </p:sp>
      <p:sp>
        <p:nvSpPr>
          <p:cNvPr id="8" name="Text 4"/>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Outputs/table_6_knowledge_summary.csv</a:t>
            </a:r>
            <a:endParaRPr lang="en-US" sz="850" dirty="0"/>
          </a:p>
        </p:txBody>
      </p:sp>
      <p:pic>
        <p:nvPicPr>
          <p:cNvPr id="9" name="Image 1" descr="/sessions/ecstatic-gifted-franklin/mnt/.claude/skills/esd-lab/assets/logos/wordmark-discovery-blue.png">    </p:cNvPr>
          <p:cNvPicPr>
            <a:picLocks noChangeAspect="1"/>
          </p:cNvPicPr>
          <p:nvPr/>
        </p:nvPicPr>
        <p:blipFill>
          <a:blip r:embed="rId2"/>
          <a:stretch>
            <a:fillRect/>
          </a:stretch>
        </p:blipFill>
        <p:spPr>
          <a:xfrm>
            <a:off x="11228832" y="6272784"/>
            <a:ext cx="420624" cy="393192"/>
          </a:xfrm>
          <a:prstGeom prst="rect">
            <a:avLst/>
          </a:prstGeom>
        </p:spPr>
      </p:pic>
      <p:sp>
        <p:nvSpPr>
          <p:cNvPr id="10" name="Text 5"/>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6B</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Item-level correct-response rates on the seven verified keys</a:t>
            </a:r>
            <a:endParaRPr lang="en-US" sz="2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5855" cy="914400"/>
        </p:xfrm>
        <a:graphic>
          <a:graphicData uri="http://schemas.openxmlformats.org/drawingml/2006/table">
            <a:tbl>
              <a:tblPr/>
              <a:tblGrid>
                <a:gridCol w="2194560"/>
                <a:gridCol w="1783080"/>
                <a:gridCol w="2377440"/>
                <a:gridCol w="2377440"/>
                <a:gridCol w="1234440"/>
                <a:gridCol w="1216152"/>
              </a:tblGrid>
              <a:tr h="402336">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Item</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Variable</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Higher acceptability</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Conditional acceptability</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Higher: correct / valid</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Conditional: correct / valid</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402336">
                <a:tc>
                  <a:txBody>
                    <a:bodyPr/>
                    <a:lstStyle/>
                    <a:p>
                      <a:pPr algn="l"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Tylenol</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tfa_tylenol</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78.0%  [67.9, 85.6]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74.5%  [60.5, 84.7]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64 / 82</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35 / 47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402336">
                <a:tc>
                  <a:txBody>
                    <a:bodyPr/>
                    <a:lstStyle/>
                    <a:p>
                      <a:pPr algn="l"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Vaccines</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tfa_vaccines</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74.4%  [64.0, 82.6]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72.3%  [58.2, 83.1]</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61 / 82</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34 / 47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402336">
                <a:tc>
                  <a:txBody>
                    <a:bodyPr/>
                    <a:lstStyle/>
                    <a:p>
                      <a:pPr algn="l"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Why diagnoses increased</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tfa_rate</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67.9%  [57.1, 77.1]</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55.3%  [41.2, 68.6]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55 / 81</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26 / 47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402336">
                <a:tc>
                  <a:txBody>
                    <a:bodyPr/>
                    <a:lstStyle/>
                    <a:p>
                      <a:pPr algn="l"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Medication</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tfa_medications</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49.4%  [38.8, 60.0]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53.2%  [39.2, 66.7]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40 / 81</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25 / 47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402336">
                <a:tc>
                  <a:txBody>
                    <a:bodyPr/>
                    <a:lstStyle/>
                    <a:p>
                      <a:pPr algn="l"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US prevalence</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tfa_autistic_us</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50.0%  [39.3, 60.7]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30.4%  [19.1, 44.8]</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40 / 80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14 / 46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402336">
                <a:tc>
                  <a:txBody>
                    <a:bodyPr/>
                    <a:lstStyle/>
                    <a:p>
                      <a:pPr algn="l"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Sibling recurrence</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tfa_mult_kids_odds</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44.4%  [34.1, 55.3]</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38.3%  [25.8, 52.6]</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36 / 81</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18 / 47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402336">
                <a:tc>
                  <a:txBody>
                    <a:bodyPr/>
                    <a:lstStyle/>
                    <a:p>
                      <a:pPr algn="l"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Genetics</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tfa_genetics</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3366FF"/>
                          </a:solidFill>
                          <a:latin typeface="Libre Franklin Medium" pitchFamily="34" charset="0"/>
                          <a:ea typeface="Libre Franklin Medium" pitchFamily="34" charset="-122"/>
                          <a:cs typeface="Libre Franklin Medium" pitchFamily="34" charset="-120"/>
                        </a:rPr>
                        <a:t>30.0%  [21.1, 40.8]</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F57F00"/>
                          </a:solidFill>
                          <a:latin typeface="Libre Franklin Medium" pitchFamily="34" charset="0"/>
                          <a:ea typeface="Libre Franklin Medium" pitchFamily="34" charset="-122"/>
                          <a:cs typeface="Libre Franklin Medium" pitchFamily="34" charset="-120"/>
                        </a:rPr>
                        <a:t>21.3%  [12.0, 34.9]</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24 / 80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10 / 47</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4700016"/>
            <a:ext cx="11183112" cy="822960"/>
          </a:xfrm>
          <a:prstGeom prst="rect">
            <a:avLst/>
          </a:prstGeom>
          <a:noFill/>
          <a:ln/>
        </p:spPr>
        <p:txBody>
          <a:bodyPr wrap="square" lIns="0" tIns="0" rIns="0" bIns="0" rtlCol="0" anchor="ctr"/>
          <a:lstStyle/>
          <a:p>
            <a:pPr indent="0" marL="0">
              <a:lnSpc>
                <a:spcPts val="1700"/>
              </a:lnSpc>
              <a:buNone/>
            </a:pPr>
            <a:r>
              <a:rPr lang="en-US" sz="1200" b="1" dirty="0">
                <a:solidFill>
                  <a:srgbClr val="3366FF"/>
                </a:solidFill>
                <a:latin typeface="Libre Franklin Medium" pitchFamily="34" charset="0"/>
                <a:ea typeface="Libre Franklin Medium" pitchFamily="34" charset="-122"/>
                <a:cs typeface="Libre Franklin Medium" pitchFamily="34" charset="-120"/>
              </a:rPr>
              <a:t>Every confidence interval overlaps between profiles.  </a:t>
            </a:r>
            <a:pPr indent="0" marL="0">
              <a:lnSpc>
                <a:spcPts val="17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The item ordering is nearly identical in both groups: caregivers are well informed about the vaccine and Tylenol myths and poorly informed about genetics, sibling recurrence and prevalence. Only 30.0% and 21.3% answer the genetics item correctly.</a:t>
            </a:r>
            <a:endParaRPr lang="en-US" sz="1200" dirty="0"/>
          </a:p>
        </p:txBody>
      </p:sp>
      <p:sp>
        <p:nvSpPr>
          <p:cNvPr id="6" name="Shape 3"/>
          <p:cNvSpPr/>
          <p:nvPr/>
        </p:nvSpPr>
        <p:spPr>
          <a:xfrm>
            <a:off x="502920" y="5541264"/>
            <a:ext cx="11183112" cy="658368"/>
          </a:xfrm>
          <a:prstGeom prst="roundRect">
            <a:avLst>
              <a:gd name="adj" fmla="val 16667"/>
            </a:avLst>
          </a:prstGeom>
          <a:solidFill>
            <a:srgbClr val="E6EEFC"/>
          </a:solidFill>
          <a:ln/>
        </p:spPr>
      </p:sp>
      <p:sp>
        <p:nvSpPr>
          <p:cNvPr id="7" name="Text 4"/>
          <p:cNvSpPr/>
          <p:nvPr/>
        </p:nvSpPr>
        <p:spPr>
          <a:xfrm>
            <a:off x="777240" y="5541264"/>
            <a:ext cx="10607040" cy="658368"/>
          </a:xfrm>
          <a:prstGeom prst="rect">
            <a:avLst/>
          </a:prstGeom>
          <a:noFill/>
          <a:ln/>
        </p:spPr>
        <p:txBody>
          <a:bodyPr wrap="square" lIns="0" tIns="0" rIns="0" bIns="0" rtlCol="0" anchor="ctr"/>
          <a:lstStyle/>
          <a:p>
            <a:pP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Brackets are 95% confidence intervals on the correct-response percentage; denominators are item-specific available cases.</a:t>
            </a:r>
            <a:endParaRPr lang="en-US" sz="1100" dirty="0"/>
          </a:p>
        </p:txBody>
      </p:sp>
      <p:sp>
        <p:nvSpPr>
          <p:cNvPr id="8" name="Text 5"/>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Outputs/table_6b_knowledge_item_results.csv</a:t>
            </a:r>
            <a:endParaRPr lang="en-US" sz="850" dirty="0"/>
          </a:p>
        </p:txBody>
      </p:sp>
      <p:pic>
        <p:nvPicPr>
          <p:cNvPr id="9"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10" name="Text 6"/>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FIGURE 4</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Held-out autism knowledge by caregiver profile</a:t>
            </a:r>
            <a:endParaRPr lang="en-US" sz="2700" dirty="0"/>
          </a:p>
        </p:txBody>
      </p:sp>
      <p:pic>
        <p:nvPicPr>
          <p:cNvPr id="4" name="Image 0" descr="/sessions/ecstatic-gifted-franklin/mnt/Caregiver Project/Caregiver Outputs/figure_4_autism_knowledge.png">    </p:cNvPr>
          <p:cNvPicPr>
            <a:picLocks noChangeAspect="1"/>
          </p:cNvPicPr>
          <p:nvPr/>
        </p:nvPicPr>
        <p:blipFill>
          <a:blip r:embed="rId1"/>
          <a:stretch>
            <a:fillRect/>
          </a:stretch>
        </p:blipFill>
        <p:spPr>
          <a:xfrm>
            <a:off x="457200" y="1517904"/>
            <a:ext cx="11274552" cy="4535424"/>
          </a:xfrm>
          <a:prstGeom prst="rect">
            <a:avLst/>
          </a:prstGeom>
        </p:spPr>
      </p:pic>
      <p:sp>
        <p:nvSpPr>
          <p:cNvPr id="5" name="Text 2"/>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Outputs/figure_4_autism_knowledge.png · error bars are bootstrap 95% intervals; item rates use item-specific available cases</a:t>
            </a:r>
            <a:endParaRPr lang="en-US" sz="850" dirty="0"/>
          </a:p>
        </p:txBody>
      </p:sp>
      <p:pic>
        <p:nvPicPr>
          <p:cNvPr id="6" name="Image 1" descr="/sessions/ecstatic-gifted-franklin/mnt/.claude/skills/esd-lab/assets/logos/wordmark-discovery-blue.png">    </p:cNvPr>
          <p:cNvPicPr>
            <a:picLocks noChangeAspect="1"/>
          </p:cNvPicPr>
          <p:nvPr/>
        </p:nvPicPr>
        <p:blipFill>
          <a:blip r:embed="rId2"/>
          <a:stretch>
            <a:fillRect/>
          </a:stretch>
        </p:blipFill>
        <p:spPr>
          <a:xfrm>
            <a:off x="11228832" y="6272784"/>
            <a:ext cx="420624" cy="393192"/>
          </a:xfrm>
          <a:prstGeom prst="rect">
            <a:avLst/>
          </a:prstGeom>
        </p:spPr>
      </p:pic>
      <p:sp>
        <p:nvSpPr>
          <p:cNvPr id="7" name="Text 3"/>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7</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Held-out Schwartz values, all ten scores</a:t>
            </a:r>
            <a:endParaRPr lang="en-US" sz="2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499616"/>
          <a:ext cx="11185855" cy="914400"/>
        </p:xfrm>
        <a:graphic>
          <a:graphicData uri="http://schemas.openxmlformats.org/drawingml/2006/table">
            <a:tbl>
              <a:tblPr/>
              <a:tblGrid>
                <a:gridCol w="2057400"/>
                <a:gridCol w="960120"/>
                <a:gridCol w="1920240"/>
                <a:gridCol w="960120"/>
                <a:gridCol w="1920240"/>
                <a:gridCol w="1170432"/>
                <a:gridCol w="1005840"/>
                <a:gridCol w="1188720"/>
              </a:tblGrid>
              <a:tr h="329184">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Value</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Higher: n</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Higher: mean (SD)</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Cond.: n</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Cond.: mean (SD)</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Cohen's d</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Raw p</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00" b="1" dirty="0">
                          <a:solidFill>
                            <a:srgbClr val="F4F4F6"/>
                          </a:solidFill>
                          <a:latin typeface="Libre Franklin" pitchFamily="34" charset="0"/>
                          <a:ea typeface="Libre Franklin" pitchFamily="34" charset="-122"/>
                          <a:cs typeface="Libre Franklin" pitchFamily="34" charset="-120"/>
                        </a:rPr>
                        <a:t>BH-adjusted p</a:t>
                      </a:r>
                      <a:endParaRPr lang="en-US" sz="10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329184">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Self-direction</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5.32  (0.84)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4.87  (1.08)</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0.483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0.013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00"/>
                          </a:solidFill>
                          <a:latin typeface="Libre Franklin Medium" pitchFamily="34" charset="0"/>
                          <a:ea typeface="Libre Franklin Medium" pitchFamily="34" charset="-122"/>
                          <a:cs typeface="Libre Franklin Medium" pitchFamily="34" charset="-120"/>
                        </a:rPr>
                        <a:t>0.129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Stimulation</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3.61  (1.26)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3.17  (1.19)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0.354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0.059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0.293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29184">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Hedonism</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4.26  (1.17)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3.91  (1.33)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0.282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0.131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0.437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Universalism</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5.40  (0.78)</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5.15  (1.25)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0.263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0.625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0.932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29184">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Power</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3.31  (1.42)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3.04  (1.40)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0.189</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0.324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0.810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Benevolence</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5.54  (0.63)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5.40  (0.95)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0.173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0.925</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0.932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29184">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Security</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4.61  (1.13)</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4.47  (1.30)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0.117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0.697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0.932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Conformity</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4.80  (1.17)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4.85  (1.14)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-0.046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0.818</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0.932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29184">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Tradition</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3.64  (1.91)</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3.68  (1.77)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-0.020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0.930</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0.932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Achievement</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84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3366FF"/>
                          </a:solidFill>
                          <a:latin typeface="Libre Franklin Medium" pitchFamily="34" charset="0"/>
                          <a:ea typeface="Libre Franklin Medium" pitchFamily="34" charset="-122"/>
                          <a:cs typeface="Libre Franklin Medium" pitchFamily="34" charset="-120"/>
                        </a:rPr>
                        <a:t>3.87  (1.44)</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47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b="1" dirty="0">
                          <a:solidFill>
                            <a:srgbClr val="F57F00"/>
                          </a:solidFill>
                          <a:latin typeface="Libre Franklin Medium" pitchFamily="34" charset="0"/>
                          <a:ea typeface="Libre Franklin Medium" pitchFamily="34" charset="-122"/>
                          <a:cs typeface="Libre Franklin Medium" pitchFamily="34" charset="-120"/>
                        </a:rPr>
                        <a:t>3.89  (1.46)</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-0.017</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0.932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50" dirty="0">
                          <a:solidFill>
                            <a:srgbClr val="000000"/>
                          </a:solidFill>
                          <a:latin typeface="Libre Franklin Medium" pitchFamily="34" charset="0"/>
                          <a:ea typeface="Libre Franklin Medium" pitchFamily="34" charset="-122"/>
                          <a:cs typeface="Libre Franklin Medium" pitchFamily="34" charset="-120"/>
                        </a:rPr>
                        <a:t>0.932</a:t>
                      </a:r>
                      <a:endParaRPr lang="en-US" sz="10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bl>
          </a:graphicData>
        </a:graphic>
      </p:graphicFrame>
      <p:sp>
        <p:nvSpPr>
          <p:cNvPr id="5" name="Shape 2"/>
          <p:cNvSpPr/>
          <p:nvPr/>
        </p:nvSpPr>
        <p:spPr>
          <a:xfrm>
            <a:off x="502920" y="5486400"/>
            <a:ext cx="11183112" cy="731520"/>
          </a:xfrm>
          <a:prstGeom prst="roundRect">
            <a:avLst>
              <a:gd name="adj" fmla="val 15000"/>
            </a:avLst>
          </a:prstGeom>
          <a:solidFill>
            <a:srgbClr val="E6EEFC"/>
          </a:solidFill>
          <a:ln/>
        </p:spPr>
      </p:sp>
      <p:sp>
        <p:nvSpPr>
          <p:cNvPr id="6" name="Text 3"/>
          <p:cNvSpPr/>
          <p:nvPr/>
        </p:nvSpPr>
        <p:spPr>
          <a:xfrm>
            <a:off x="777240" y="5486400"/>
            <a:ext cx="10607040" cy="731520"/>
          </a:xfrm>
          <a:prstGeom prst="rect">
            <a:avLst/>
          </a:prstGeom>
          <a:noFill/>
          <a:ln/>
        </p:spPr>
        <p:txBody>
          <a:bodyPr wrap="square" lIns="0" tIns="0" rIns="0" bIns="0" rtlCol="0" anchor="ctr"/>
          <a:lstStyle/>
          <a:p>
            <a:pPr indent="0" marL="0">
              <a:lnSpc>
                <a:spcPts val="1600"/>
              </a:lnSpc>
              <a:buNone/>
            </a:pPr>
            <a:r>
              <a:rPr lang="en-US" sz="1150" b="1" dirty="0">
                <a:solidFill>
                  <a:srgbClr val="3366FF"/>
                </a:solidFill>
                <a:latin typeface="Libre Franklin Medium" pitchFamily="34" charset="0"/>
                <a:ea typeface="Libre Franklin Medium" pitchFamily="34" charset="-122"/>
                <a:cs typeface="Libre Franklin Medium" pitchFamily="34" charset="-120"/>
              </a:rPr>
              <a:t>No values comparison survives FDR correction.  </a:t>
            </a:r>
            <a:pPr indent="0" marL="0">
              <a:lnSpc>
                <a:spcPts val="16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Self-direction is nominally significant at p = 0.013 with d = 0.483, but the minimum Benjamini–Hochberg adjusted p across all ten tests is 0.129. Scoring and centering formulas are not documented in the local files.</a:t>
            </a:r>
            <a:endParaRPr lang="en-US" sz="1150" dirty="0"/>
          </a:p>
        </p:txBody>
      </p:sp>
      <p:sp>
        <p:nvSpPr>
          <p:cNvPr id="7" name="Text 4"/>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Outputs/table_7_values_summary.csv · observed scale 1–6, higher interpreted as stronger endorsement</a:t>
            </a:r>
            <a:endParaRPr lang="en-US" sz="850" dirty="0"/>
          </a:p>
        </p:txBody>
      </p:sp>
      <p:pic>
        <p:nvPicPr>
          <p:cNvPr id="8"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9" name="Text 5"/>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FIGURE 5</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Held-out Values scores by caregiver profile</a:t>
            </a:r>
            <a:endParaRPr lang="en-US" sz="2700" dirty="0"/>
          </a:p>
        </p:txBody>
      </p:sp>
      <p:pic>
        <p:nvPicPr>
          <p:cNvPr id="4" name="Image 0" descr="/sessions/ecstatic-gifted-franklin/mnt/Caregiver Project/Caregiver Outputs/figure_5_values_characterization.png">    </p:cNvPr>
          <p:cNvPicPr>
            <a:picLocks noChangeAspect="1"/>
          </p:cNvPicPr>
          <p:nvPr/>
        </p:nvPicPr>
        <p:blipFill>
          <a:blip r:embed="rId1"/>
          <a:stretch>
            <a:fillRect/>
          </a:stretch>
        </p:blipFill>
        <p:spPr>
          <a:xfrm>
            <a:off x="886968" y="1463040"/>
            <a:ext cx="10424160" cy="4642409"/>
          </a:xfrm>
          <a:prstGeom prst="rect">
            <a:avLst/>
          </a:prstGeom>
        </p:spPr>
      </p:pic>
      <p:sp>
        <p:nvSpPr>
          <p:cNvPr id="5" name="Text 2"/>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Outputs/figure_5_values_characterization.png · minimum BH-adjusted p across the family = 0.129</a:t>
            </a:r>
            <a:endParaRPr lang="en-US" sz="850" dirty="0"/>
          </a:p>
        </p:txBody>
      </p:sp>
      <p:pic>
        <p:nvPicPr>
          <p:cNvPr id="6" name="Image 1" descr="/sessions/ecstatic-gifted-franklin/mnt/.claude/skills/esd-lab/assets/logos/wordmark-discovery-blue.png">    </p:cNvPr>
          <p:cNvPicPr>
            <a:picLocks noChangeAspect="1"/>
          </p:cNvPicPr>
          <p:nvPr/>
        </p:nvPicPr>
        <p:blipFill>
          <a:blip r:embed="rId2"/>
          <a:stretch>
            <a:fillRect/>
          </a:stretch>
        </p:blipFill>
        <p:spPr>
          <a:xfrm>
            <a:off x="11228832" y="6272784"/>
            <a:ext cx="420624" cy="393192"/>
          </a:xfrm>
          <a:prstGeom prst="rect">
            <a:avLst/>
          </a:prstGeom>
        </p:spPr>
      </p:pic>
      <p:sp>
        <p:nvSpPr>
          <p:cNvPr id="7" name="Text 3"/>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8</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Held-out demographics and family context</a:t>
            </a:r>
            <a:endParaRPr lang="en-US" sz="27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5855" cy="914400"/>
        </p:xfrm>
        <a:graphic>
          <a:graphicData uri="http://schemas.openxmlformats.org/drawingml/2006/table">
            <a:tbl>
              <a:tblPr/>
              <a:tblGrid>
                <a:gridCol w="2743200"/>
                <a:gridCol w="777240"/>
                <a:gridCol w="822960"/>
                <a:gridCol w="2331720"/>
                <a:gridCol w="2240280"/>
                <a:gridCol w="850392"/>
                <a:gridCol w="640080"/>
                <a:gridCol w="777240"/>
              </a:tblGrid>
              <a:tr h="320040">
                <a:tc>
                  <a:txBody>
                    <a:bodyPr/>
                    <a:lstStyle/>
                    <a:p>
                      <a:pPr algn="ctr" indent="0" marL="0">
                        <a:buNone/>
                      </a:pPr>
                      <a:r>
                        <a:rPr lang="en-US" sz="900" b="1" dirty="0">
                          <a:solidFill>
                            <a:srgbClr val="F4F4F6"/>
                          </a:solidFill>
                          <a:latin typeface="Libre Franklin" pitchFamily="34" charset="0"/>
                          <a:ea typeface="Libre Franklin" pitchFamily="34" charset="-122"/>
                          <a:cs typeface="Libre Franklin" pitchFamily="34" charset="-120"/>
                        </a:rPr>
                        <a:t>Measure</a:t>
                      </a:r>
                      <a:endParaRPr lang="en-US" sz="9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00" b="1" dirty="0">
                          <a:solidFill>
                            <a:srgbClr val="F4F4F6"/>
                          </a:solidFill>
                          <a:latin typeface="Libre Franklin" pitchFamily="34" charset="0"/>
                          <a:ea typeface="Libre Franklin" pitchFamily="34" charset="-122"/>
                          <a:cs typeface="Libre Franklin" pitchFamily="34" charset="-120"/>
                        </a:rPr>
                        <a:t>Type</a:t>
                      </a:r>
                      <a:endParaRPr lang="en-US" sz="9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00" b="1" dirty="0">
                          <a:solidFill>
                            <a:srgbClr val="F4F4F6"/>
                          </a:solidFill>
                          <a:latin typeface="Libre Franklin" pitchFamily="34" charset="0"/>
                          <a:ea typeface="Libre Franklin" pitchFamily="34" charset="-122"/>
                          <a:cs typeface="Libre Franklin" pitchFamily="34" charset="-120"/>
                        </a:rPr>
                        <a:t>Effect</a:t>
                      </a:r>
                      <a:endParaRPr lang="en-US" sz="9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00" b="1" dirty="0">
                          <a:solidFill>
                            <a:srgbClr val="F4F4F6"/>
                          </a:solidFill>
                          <a:latin typeface="Libre Franklin" pitchFamily="34" charset="0"/>
                          <a:ea typeface="Libre Franklin" pitchFamily="34" charset="-122"/>
                          <a:cs typeface="Libre Franklin" pitchFamily="34" charset="-120"/>
                        </a:rPr>
                        <a:t>Higher acceptability</a:t>
                      </a:r>
                      <a:endParaRPr lang="en-US" sz="9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00" b="1" dirty="0">
                          <a:solidFill>
                            <a:srgbClr val="F4F4F6"/>
                          </a:solidFill>
                          <a:latin typeface="Libre Franklin" pitchFamily="34" charset="0"/>
                          <a:ea typeface="Libre Franklin" pitchFamily="34" charset="-122"/>
                          <a:cs typeface="Libre Franklin" pitchFamily="34" charset="-120"/>
                        </a:rPr>
                        <a:t>Conditional acceptability</a:t>
                      </a:r>
                      <a:endParaRPr lang="en-US" sz="9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00" b="1" dirty="0">
                          <a:solidFill>
                            <a:srgbClr val="F4F4F6"/>
                          </a:solidFill>
                          <a:latin typeface="Libre Franklin" pitchFamily="34" charset="0"/>
                          <a:ea typeface="Libre Franklin" pitchFamily="34" charset="-122"/>
                          <a:cs typeface="Libre Franklin" pitchFamily="34" charset="-120"/>
                        </a:rPr>
                        <a:t>Effect size</a:t>
                      </a:r>
                      <a:endParaRPr lang="en-US" sz="9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00" b="1" dirty="0">
                          <a:solidFill>
                            <a:srgbClr val="F4F4F6"/>
                          </a:solidFill>
                          <a:latin typeface="Libre Franklin" pitchFamily="34" charset="0"/>
                          <a:ea typeface="Libre Franklin" pitchFamily="34" charset="-122"/>
                          <a:cs typeface="Libre Franklin" pitchFamily="34" charset="-120"/>
                        </a:rPr>
                        <a:t>Raw p</a:t>
                      </a:r>
                      <a:endParaRPr lang="en-US" sz="9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00" b="1" dirty="0">
                          <a:solidFill>
                            <a:srgbClr val="F4F4F6"/>
                          </a:solidFill>
                          <a:latin typeface="Libre Franklin" pitchFamily="34" charset="0"/>
                          <a:ea typeface="Libre Franklin" pitchFamily="34" charset="-122"/>
                          <a:cs typeface="Libre Franklin" pitchFamily="34" charset="-120"/>
                        </a:rPr>
                        <a:t>BH-adj. p</a:t>
                      </a:r>
                      <a:endParaRPr lang="en-US" sz="9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Caregiver age at 2025-09-29</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continuous</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d</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38.0  [33.0, 42.0]  (n=79)</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36.0  [33.0, 40.0]  (n=43)</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0.190</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0.247</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0.781</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Household size</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continuous</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d</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4.0  [3.0, 5.0]  (n=79)</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4.0  [3.2, 4.8]  (n=46)</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0.086</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0.560</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0.781</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Number of children</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continuous</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d</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2.0  [2.0, 3.0]  (n=84)</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2.0  [2.0, 3.0]  (n=47)</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-0.025</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0.946</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0.946</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Bachelor's degree or higher</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binary</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h</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54/80  (68%)</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34/47  (72%)</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-0.106</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0.568</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0.781</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Currently employed</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binary</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h</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53/80  (66%)</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30/47  (64%)</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0.051</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0.782</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0.860</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Rural area</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binary</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h</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18/80  (22%)</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8/47  (17%)</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0.138</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0.504</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0.781</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Very easy healthcare access</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binary</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h</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60/80  (75%)</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32/46  (70%)</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0.122</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0.508</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0.781</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Household with ≥1 autistic child</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binary</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h</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35/84  (42%)</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24/47  (51%)</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-0.189</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0.300</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0.781</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Works with autistic people</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binary</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h</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28/84  (33%)</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17/47  (36%)</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-0.060</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0.743</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0.860</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Any child with special needs/disabilities</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binary</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h</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39/84  (46%)</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25/47  (53%)</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-0.135</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0.458</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0.781</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20040">
                <a:tc>
                  <a:txBody>
                    <a:bodyPr/>
                    <a:lstStyle/>
                    <a:p>
                      <a:pPr algn="l"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Any premature birth</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binary</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Cohen's h</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25/84  (30%)</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22/47  (47%)</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-0.353</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F57F00"/>
                          </a:solidFill>
                          <a:latin typeface="Libre Franklin Medium" pitchFamily="34" charset="0"/>
                          <a:ea typeface="Libre Franklin Medium" pitchFamily="34" charset="-122"/>
                          <a:cs typeface="Libre Franklin Medium" pitchFamily="34" charset="-120"/>
                        </a:rPr>
                        <a:t>0.051</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00000"/>
                          </a:solidFill>
                          <a:latin typeface="Libre Franklin Medium" pitchFamily="34" charset="0"/>
                          <a:ea typeface="Libre Franklin Medium" pitchFamily="34" charset="-122"/>
                          <a:cs typeface="Libre Franklin Medium" pitchFamily="34" charset="-120"/>
                        </a:rPr>
                        <a:t>0.562</a:t>
                      </a:r>
                      <a:endParaRPr lang="en-US" sz="9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5504688"/>
            <a:ext cx="11183112" cy="749808"/>
          </a:xfrm>
          <a:prstGeom prst="rect">
            <a:avLst/>
          </a:prstGeom>
          <a:noFill/>
          <a:ln/>
        </p:spPr>
        <p:txBody>
          <a:bodyPr wrap="square" lIns="0" tIns="0" rIns="0" bIns="0" rtlCol="0" anchor="ctr"/>
          <a:lstStyle/>
          <a:p>
            <a:pPr indent="0" marL="0">
              <a:lnSpc>
                <a:spcPts val="1500"/>
              </a:lnSpc>
              <a:buNone/>
            </a:pPr>
            <a:r>
              <a:rPr lang="en-US" sz="1050" b="1" dirty="0">
                <a:solidFill>
                  <a:srgbClr val="3366FF"/>
                </a:solidFill>
                <a:latin typeface="Libre Franklin Medium" pitchFamily="34" charset="0"/>
                <a:ea typeface="Libre Franklin Medium" pitchFamily="34" charset="-122"/>
                <a:cs typeface="Libre Franklin Medium" pitchFamily="34" charset="-120"/>
              </a:rPr>
              <a:t>Nothing survives correction.  </a:t>
            </a:r>
            <a:pPr indent="0" marL="0">
              <a:lnSpc>
                <a:spcPts val="1500"/>
              </a:lnSpc>
              <a:buNone/>
            </a:pPr>
            <a:r>
              <a:rPr lang="en-US" sz="1050" dirty="0">
                <a:solidFill>
                  <a:srgbClr val="000000"/>
                </a:solidFill>
                <a:latin typeface="Libre Franklin Medium" pitchFamily="34" charset="0"/>
                <a:ea typeface="Libre Franklin Medium" pitchFamily="34" charset="-122"/>
                <a:cs typeface="Libre Franklin Medium" pitchFamily="34" charset="-120"/>
              </a:rPr>
              <a:t>Premature birth history is the largest signal (47% vs 30%, raw p = 0.051) and still adjusts to 0.562. Continuous measures show median [Q1, Q3]. Binary measures with event or complement counts below 5 are suppressed for disclosure control.</a:t>
            </a:r>
            <a:endParaRPr lang="en-US" sz="1050" dirty="0"/>
          </a:p>
        </p:txBody>
      </p:sp>
      <p:sp>
        <p:nvSpPr>
          <p:cNvPr id="6" name="Text 3"/>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Outputs/table_8_demographics_summary.csv · detailed race, ethnicity, gender, income, DOB, ZIP, occupation and free text are omitted by design</a:t>
            </a:r>
            <a:endParaRPr lang="en-US" sz="850" dirty="0"/>
          </a:p>
        </p:txBody>
      </p:sp>
      <p:pic>
        <p:nvPicPr>
          <p:cNvPr id="7"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8" name="Text 4"/>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FIGURE 6</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Held-out demographic and family-context percentages</a:t>
            </a:r>
            <a:endParaRPr lang="en-US" sz="2700" dirty="0"/>
          </a:p>
        </p:txBody>
      </p:sp>
      <p:pic>
        <p:nvPicPr>
          <p:cNvPr id="4" name="Image 0" descr="/sessions/ecstatic-gifted-franklin/mnt/Caregiver Project/Caregiver Outputs/figure_6_demographic_characterization.png">    </p:cNvPr>
          <p:cNvPicPr>
            <a:picLocks noChangeAspect="1"/>
          </p:cNvPicPr>
          <p:nvPr/>
        </p:nvPicPr>
        <p:blipFill>
          <a:blip r:embed="rId1"/>
          <a:stretch>
            <a:fillRect/>
          </a:stretch>
        </p:blipFill>
        <p:spPr>
          <a:xfrm>
            <a:off x="1481328" y="1417320"/>
            <a:ext cx="9235440" cy="4659782"/>
          </a:xfrm>
          <a:prstGeom prst="rect">
            <a:avLst/>
          </a:prstGeom>
        </p:spPr>
      </p:pic>
      <p:sp>
        <p:nvSpPr>
          <p:cNvPr id="5" name="Text 2"/>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Outputs/figure_6_demographic_characterization.png · counts below 5 suppressed</a:t>
            </a:r>
            <a:endParaRPr lang="en-US" sz="850" dirty="0"/>
          </a:p>
        </p:txBody>
      </p:sp>
      <p:pic>
        <p:nvPicPr>
          <p:cNvPr id="6" name="Image 1" descr="/sessions/ecstatic-gifted-franklin/mnt/.claude/skills/esd-lab/assets/logos/wordmark-discovery-blue.png">    </p:cNvPr>
          <p:cNvPicPr>
            <a:picLocks noChangeAspect="1"/>
          </p:cNvPicPr>
          <p:nvPr/>
        </p:nvPicPr>
        <p:blipFill>
          <a:blip r:embed="rId2"/>
          <a:stretch>
            <a:fillRect/>
          </a:stretch>
        </p:blipFill>
        <p:spPr>
          <a:xfrm>
            <a:off x="11228832" y="6272784"/>
            <a:ext cx="420624" cy="393192"/>
          </a:xfrm>
          <a:prstGeom prst="rect">
            <a:avLst/>
          </a:prstGeom>
        </p:spPr>
      </p:pic>
      <p:sp>
        <p:nvSpPr>
          <p:cNvPr id="7" name="Text 3"/>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9</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Integrated decision summary</a:t>
            </a:r>
            <a:endParaRPr lang="en-US" sz="2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3429000"/>
                <a:gridCol w="3877056"/>
                <a:gridCol w="3877056"/>
              </a:tblGrid>
              <a:tr h="420624">
                <a:tc>
                  <a:txBody>
                    <a:bodyPr/>
                    <a:lstStyle/>
                    <a:p>
                      <a:pPr algn="ctr" indent="0" marL="0">
                        <a:buNone/>
                      </a:pPr>
                      <a:endParaRPr lang="en-US" sz="11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100" b="1" dirty="0">
                          <a:solidFill>
                            <a:srgbClr val="F4F4F6"/>
                          </a:solidFill>
                          <a:latin typeface="Libre Franklin" pitchFamily="34" charset="0"/>
                          <a:ea typeface="Libre Franklin" pitchFamily="34" charset="-122"/>
                          <a:cs typeface="Libre Franklin" pitchFamily="34" charset="-120"/>
                        </a:rPr>
                        <a:t>Higher acceptability</a:t>
                      </a:r>
                      <a:endParaRPr lang="en-US" sz="11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100" b="1" dirty="0">
                          <a:solidFill>
                            <a:srgbClr val="F4F4F6"/>
                          </a:solidFill>
                          <a:latin typeface="Libre Franklin" pitchFamily="34" charset="0"/>
                          <a:ea typeface="Libre Franklin" pitchFamily="34" charset="-122"/>
                          <a:cs typeface="Libre Franklin" pitchFamily="34" charset="-120"/>
                        </a:rPr>
                        <a:t>Conditional acceptability</a:t>
                      </a:r>
                      <a:endParaRPr lang="en-US" sz="110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420624">
                <a:tc>
                  <a:txBody>
                    <a:bodyPr/>
                    <a:lstStyle/>
                    <a:p>
                      <a:pPr algn="l"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n (% of clustered)</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84  (64.1%)</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7F00"/>
                          </a:solidFill>
                          <a:latin typeface="Libre Franklin Medium" pitchFamily="34" charset="0"/>
                          <a:ea typeface="Libre Franklin Medium" pitchFamily="34" charset="-122"/>
                          <a:cs typeface="Libre Franklin Medium" pitchFamily="34" charset="-120"/>
                        </a:rPr>
                        <a:t>47  (35.9%)</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420624">
                <a:tc>
                  <a:txBody>
                    <a:bodyPr/>
                    <a:lstStyle/>
                    <a:p>
                      <a:pPr algn="l"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Mean TFA acceptability (0–100)</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78.7</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50" b="1" dirty="0">
                          <a:solidFill>
                            <a:srgbClr val="F57F00"/>
                          </a:solidFill>
                          <a:latin typeface="Libre Franklin Medium" pitchFamily="34" charset="0"/>
                          <a:ea typeface="Libre Franklin Medium" pitchFamily="34" charset="-122"/>
                          <a:cs typeface="Libre Franklin Medium" pitchFamily="34" charset="-120"/>
                        </a:rPr>
                        <a:t>59.2</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420624">
                <a:tc>
                  <a:txBody>
                    <a:bodyPr/>
                    <a:lstStyle/>
                    <a:p>
                      <a:pPr algn="l"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Definitely-yes screening</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56/80  (70.0%)</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F57F00"/>
                          </a:solidFill>
                          <a:latin typeface="Libre Franklin Medium" pitchFamily="34" charset="0"/>
                          <a:ea typeface="Libre Franklin Medium" pitchFamily="34" charset="-122"/>
                          <a:cs typeface="Libre Franklin Medium" pitchFamily="34" charset="-120"/>
                        </a:rPr>
                        <a:t>13/47  (27.7%)</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420624">
                <a:tc>
                  <a:txBody>
                    <a:bodyPr/>
                    <a:lstStyle/>
                    <a:p>
                      <a:pPr algn="l"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Verified knowledge (0–7)</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3.90  (n=77)</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50" b="1" dirty="0">
                          <a:solidFill>
                            <a:srgbClr val="F57F00"/>
                          </a:solidFill>
                          <a:latin typeface="Libre Franklin Medium" pitchFamily="34" charset="0"/>
                          <a:ea typeface="Libre Franklin Medium" pitchFamily="34" charset="-122"/>
                          <a:cs typeface="Libre Franklin Medium" pitchFamily="34" charset="-120"/>
                        </a:rPr>
                        <a:t>3.41  (n=46)</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420624">
                <a:tc>
                  <a:txBody>
                    <a:bodyPr/>
                    <a:lstStyle/>
                    <a:p>
                      <a:pPr algn="l"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Defining TFA dimensions</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3366FF"/>
                          </a:solidFill>
                          <a:latin typeface="Libre Franklin Medium" pitchFamily="34" charset="0"/>
                          <a:ea typeface="Libre Franklin Medium" pitchFamily="34" charset="-122"/>
                          <a:cs typeface="Libre Franklin Medium" pitchFamily="34" charset="-120"/>
                        </a:rPr>
                        <a:t>Positive affect / clinical trust, Blood-test openness, Ethical / moral support</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F57F00"/>
                          </a:solidFill>
                          <a:latin typeface="Libre Franklin Medium" pitchFamily="34" charset="0"/>
                          <a:ea typeface="Libre Franklin Medium" pitchFamily="34" charset="-122"/>
                          <a:cs typeface="Libre Franklin Medium" pitchFamily="34" charset="-120"/>
                        </a:rPr>
                        <a:t>Positive affect / clinical trust, Blood-test openness, Ethical / moral support</a:t>
                      </a:r>
                      <a:endParaRPr lang="en-US" sz="115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bl>
          </a:graphicData>
        </a:graphic>
      </p:graphicFrame>
      <p:sp>
        <p:nvSpPr>
          <p:cNvPr id="5" name="Text 2"/>
          <p:cNvSpPr/>
          <p:nvPr/>
        </p:nvSpPr>
        <p:spPr>
          <a:xfrm>
            <a:off x="502920" y="4480560"/>
            <a:ext cx="5486400" cy="292608"/>
          </a:xfrm>
          <a:prstGeom prst="rect">
            <a:avLst/>
          </a:prstGeom>
          <a:noFill/>
          <a:ln/>
        </p:spPr>
        <p:txBody>
          <a:bodyPr wrap="square" lIns="0" tIns="0" rIns="0" bIns="0" rtlCol="0" anchor="ctr"/>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Decision use</a:t>
            </a:r>
            <a:endParaRPr lang="en-US" sz="1500" dirty="0"/>
          </a:p>
        </p:txBody>
      </p:sp>
      <p:sp>
        <p:nvSpPr>
          <p:cNvPr id="6" name="Shape 3"/>
          <p:cNvSpPr/>
          <p:nvPr/>
        </p:nvSpPr>
        <p:spPr>
          <a:xfrm>
            <a:off x="502920" y="4828032"/>
            <a:ext cx="5477256" cy="1298448"/>
          </a:xfrm>
          <a:prstGeom prst="roundRect">
            <a:avLst>
              <a:gd name="adj" fmla="val 9859"/>
            </a:avLst>
          </a:prstGeom>
          <a:solidFill>
            <a:srgbClr val="3366FF"/>
          </a:solidFill>
          <a:ln/>
        </p:spPr>
      </p:sp>
      <p:sp>
        <p:nvSpPr>
          <p:cNvPr id="7" name="Text 4"/>
          <p:cNvSpPr/>
          <p:nvPr/>
        </p:nvSpPr>
        <p:spPr>
          <a:xfrm>
            <a:off x="777240" y="4974336"/>
            <a:ext cx="4937760" cy="310896"/>
          </a:xfrm>
          <a:prstGeom prst="rect">
            <a:avLst/>
          </a:prstGeom>
          <a:noFill/>
          <a:ln/>
        </p:spPr>
        <p:txBody>
          <a:bodyPr wrap="square" lIns="0" tIns="0" rIns="0" bIns="0" rtlCol="0" anchor="ctr"/>
          <a:lstStyle/>
          <a:p>
            <a:pPr indent="0" marL="0">
              <a:buNone/>
            </a:pPr>
            <a:r>
              <a:rPr lang="en-US" sz="1450" b="1" dirty="0">
                <a:solidFill>
                  <a:srgbClr val="F4F4F6"/>
                </a:solidFill>
                <a:latin typeface="Libre Franklin" pitchFamily="34" charset="0"/>
                <a:ea typeface="Libre Franklin" pitchFamily="34" charset="-122"/>
                <a:cs typeface="Libre Franklin" pitchFamily="34" charset="-120"/>
              </a:rPr>
              <a:t>Higher acceptability</a:t>
            </a:r>
            <a:endParaRPr lang="en-US" sz="1450" dirty="0"/>
          </a:p>
        </p:txBody>
      </p:sp>
      <p:sp>
        <p:nvSpPr>
          <p:cNvPr id="8" name="Text 5"/>
          <p:cNvSpPr/>
          <p:nvPr/>
        </p:nvSpPr>
        <p:spPr>
          <a:xfrm>
            <a:off x="777240" y="5321808"/>
            <a:ext cx="4937760" cy="731520"/>
          </a:xfrm>
          <a:prstGeom prst="rect">
            <a:avLst/>
          </a:prstGeom>
          <a:noFill/>
          <a:ln/>
        </p:spPr>
        <p:txBody>
          <a:bodyPr wrap="square" lIns="0" tIns="0" rIns="0" bIns="0" rtlCol="0" anchor="ctr"/>
          <a:lstStyle/>
          <a:p>
            <a:pPr indent="0" marL="0">
              <a:lnSpc>
                <a:spcPts val="1700"/>
              </a:lnSpc>
              <a:buNone/>
            </a:pPr>
            <a:r>
              <a:rPr lang="en-US" sz="1250" dirty="0">
                <a:solidFill>
                  <a:srgbClr val="E6EEFC"/>
                </a:solidFill>
                <a:latin typeface="Libre Franklin Medium" pitchFamily="34" charset="0"/>
                <a:ea typeface="Libre Franklin Medium" pitchFamily="34" charset="-122"/>
                <a:cs typeface="Libre Franklin Medium" pitchFamily="34" charset="-120"/>
              </a:rPr>
              <a:t>Maintain a low-burden pathway and make enrollment/action steps immediate.</a:t>
            </a:r>
            <a:endParaRPr lang="en-US" sz="1250" dirty="0"/>
          </a:p>
        </p:txBody>
      </p:sp>
      <p:sp>
        <p:nvSpPr>
          <p:cNvPr id="9" name="Shape 6"/>
          <p:cNvSpPr/>
          <p:nvPr/>
        </p:nvSpPr>
        <p:spPr>
          <a:xfrm>
            <a:off x="6208776" y="4828032"/>
            <a:ext cx="5477256" cy="1298448"/>
          </a:xfrm>
          <a:prstGeom prst="roundRect">
            <a:avLst>
              <a:gd name="adj" fmla="val 9859"/>
            </a:avLst>
          </a:prstGeom>
          <a:solidFill>
            <a:srgbClr val="F57F00"/>
          </a:solidFill>
          <a:ln/>
        </p:spPr>
      </p:sp>
      <p:sp>
        <p:nvSpPr>
          <p:cNvPr id="10" name="Text 7"/>
          <p:cNvSpPr/>
          <p:nvPr/>
        </p:nvSpPr>
        <p:spPr>
          <a:xfrm>
            <a:off x="6483096" y="4974336"/>
            <a:ext cx="4937760" cy="310896"/>
          </a:xfrm>
          <a:prstGeom prst="rect">
            <a:avLst/>
          </a:prstGeom>
          <a:noFill/>
          <a:ln/>
        </p:spPr>
        <p:txBody>
          <a:bodyPr wrap="square" lIns="0" tIns="0" rIns="0" bIns="0" rtlCol="0" anchor="ctr"/>
          <a:lstStyle/>
          <a:p>
            <a:pPr indent="0" marL="0">
              <a:buNone/>
            </a:pPr>
            <a:r>
              <a:rPr lang="en-US" sz="1450" b="1" dirty="0">
                <a:solidFill>
                  <a:srgbClr val="FFFFFF"/>
                </a:solidFill>
                <a:latin typeface="Libre Franklin" pitchFamily="34" charset="0"/>
                <a:ea typeface="Libre Franklin" pitchFamily="34" charset="-122"/>
                <a:cs typeface="Libre Franklin" pitchFamily="34" charset="-120"/>
              </a:rPr>
              <a:t>Conditional acceptability</a:t>
            </a:r>
            <a:endParaRPr lang="en-US" sz="1450" dirty="0"/>
          </a:p>
        </p:txBody>
      </p:sp>
      <p:sp>
        <p:nvSpPr>
          <p:cNvPr id="11" name="Text 8"/>
          <p:cNvSpPr/>
          <p:nvPr/>
        </p:nvSpPr>
        <p:spPr>
          <a:xfrm>
            <a:off x="6483096" y="5321808"/>
            <a:ext cx="4937760" cy="73152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Libre Franklin Medium" pitchFamily="34" charset="0"/>
                <a:ea typeface="Libre Franklin Medium" pitchFamily="34" charset="-122"/>
                <a:cs typeface="Libre Franklin Medium" pitchFamily="34" charset="-120"/>
              </a:rPr>
              <a:t>Reduce visit burden; reinforce trust, choice, accuracy transparency, and ethical safeguards.</a:t>
            </a:r>
            <a:endParaRPr lang="en-US" sz="1250" dirty="0"/>
          </a:p>
        </p:txBody>
      </p:sp>
      <p:sp>
        <p:nvSpPr>
          <p:cNvPr id="12" name="Text 9"/>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Outputs/table_9_decision_summary.csv</a:t>
            </a:r>
            <a:endParaRPr lang="en-US" sz="850" dirty="0"/>
          </a:p>
        </p:txBody>
      </p:sp>
      <p:pic>
        <p:nvPicPr>
          <p:cNvPr id="13"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14" name="Text 10"/>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TABLE 10</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Robustness and sensitivity checks</a:t>
            </a:r>
            <a:endParaRPr lang="en-US" sz="27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11185855" cy="914400"/>
        </p:xfrm>
        <a:graphic>
          <a:graphicData uri="http://schemas.openxmlformats.org/drawingml/2006/table">
            <a:tbl>
              <a:tblPr/>
              <a:tblGrid>
                <a:gridCol w="2880360"/>
                <a:gridCol w="548640"/>
                <a:gridCol w="1188720"/>
                <a:gridCol w="1298448"/>
                <a:gridCol w="1060704"/>
                <a:gridCol w="4206240"/>
              </a:tblGrid>
              <a:tr h="384048">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Check</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n</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Cluster sizes</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ARI vs primary</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Silhouette</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950" b="1" dirty="0">
                          <a:solidFill>
                            <a:srgbClr val="F4F4F6"/>
                          </a:solidFill>
                          <a:latin typeface="Libre Franklin" pitchFamily="34" charset="0"/>
                          <a:ea typeface="Libre Franklin" pitchFamily="34" charset="-122"/>
                          <a:cs typeface="Libre Franklin" pitchFamily="34" charset="-120"/>
                        </a:rPr>
                        <a:t>What it tests</a:t>
                      </a:r>
                      <a:endParaRPr lang="en-US" sz="9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384048">
                <a:tc>
                  <a:txBody>
                    <a:bodyPr/>
                    <a:lstStyle/>
                    <a:p>
                      <a:pPr algn="l" indent="0" marL="0">
                        <a:buNone/>
                      </a:pPr>
                      <a:r>
                        <a:rPr lang="en-US" sz="1000" b="1" dirty="0">
                          <a:solidFill>
                            <a:srgbClr val="3366FF"/>
                          </a:solidFill>
                          <a:latin typeface="Libre Franklin Medium" pitchFamily="34" charset="0"/>
                          <a:ea typeface="Libre Franklin Medium" pitchFamily="34" charset="-122"/>
                          <a:cs typeface="Libre Franklin Medium" pitchFamily="34" charset="-120"/>
                        </a:rPr>
                        <a:t>Complete-domain cases only</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120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62 / 58</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57F00"/>
                          </a:solidFill>
                          <a:latin typeface="Libre Franklin Medium" pitchFamily="34" charset="0"/>
                          <a:ea typeface="Libre Franklin Medium" pitchFamily="34" charset="-122"/>
                          <a:cs typeface="Libre Franklin Medium" pitchFamily="34" charset="-120"/>
                        </a:rPr>
                        <a:t>0.585</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0.153</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Tests composite-level median imputation</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3366FF"/>
                          </a:solidFill>
                          <a:latin typeface="Libre Franklin Medium" pitchFamily="34" charset="0"/>
                          <a:ea typeface="Libre Franklin Medium" pitchFamily="34" charset="-122"/>
                          <a:cs typeface="Libre Franklin Medium" pitchFamily="34" charset="-120"/>
                        </a:rPr>
                        <a:t>Exclude ethical/moral support</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131</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80 / 51</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b="1" dirty="0">
                          <a:solidFill>
                            <a:srgbClr val="F57F00"/>
                          </a:solidFill>
                          <a:latin typeface="Libre Franklin Medium" pitchFamily="34" charset="0"/>
                          <a:ea typeface="Libre Franklin Medium" pitchFamily="34" charset="-122"/>
                          <a:cs typeface="Libre Franklin Medium" pitchFamily="34" charset="-120"/>
                        </a:rPr>
                        <a:t>0.614</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0.172</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Tests whether the screening association persists without the ethics domain</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84048">
                <a:tc>
                  <a:txBody>
                    <a:bodyPr/>
                    <a:lstStyle/>
                    <a:p>
                      <a:pPr algn="l" indent="0" marL="0">
                        <a:buNone/>
                      </a:pPr>
                      <a:r>
                        <a:rPr lang="en-US" sz="1000" b="1" dirty="0">
                          <a:solidFill>
                            <a:srgbClr val="3366FF"/>
                          </a:solidFill>
                          <a:latin typeface="Libre Franklin Medium" pitchFamily="34" charset="0"/>
                          <a:ea typeface="Libre Franklin Medium" pitchFamily="34" charset="-122"/>
                          <a:cs typeface="Libre Franklin Medium" pitchFamily="34" charset="-120"/>
                        </a:rPr>
                        <a:t>5th–95th percentile winsorization</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131</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75 / 56</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0000"/>
                          </a:solidFill>
                          <a:latin typeface="Libre Franklin Medium" pitchFamily="34" charset="0"/>
                          <a:ea typeface="Libre Franklin Medium" pitchFamily="34" charset="-122"/>
                          <a:cs typeface="Libre Franklin Medium" pitchFamily="34" charset="-120"/>
                        </a:rPr>
                        <a:t>0.690</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0.165</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Tests influence of marginal outliers before standard-deviation scaling</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3366FF"/>
                          </a:solidFill>
                          <a:latin typeface="Libre Franklin Medium" pitchFamily="34" charset="0"/>
                          <a:ea typeface="Libre Franklin Medium" pitchFamily="34" charset="-122"/>
                          <a:cs typeface="Libre Franklin Medium" pitchFamily="34" charset="-120"/>
                        </a:rPr>
                        <a:t>Ward hierarchical clustering</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131</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88 / 43</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b="1" dirty="0">
                          <a:solidFill>
                            <a:srgbClr val="3366FF"/>
                          </a:solidFill>
                          <a:latin typeface="Libre Franklin Medium" pitchFamily="34" charset="0"/>
                          <a:ea typeface="Libre Franklin Medium" pitchFamily="34" charset="-122"/>
                          <a:cs typeface="Libre Franklin Medium" pitchFamily="34" charset="-120"/>
                        </a:rPr>
                        <a:t>0.822</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0.182</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l" indent="0" marL="0">
                        <a:buNone/>
                      </a:pPr>
                      <a:r>
                        <a:rPr lang="en-US" sz="1000" dirty="0">
                          <a:solidFill>
                            <a:srgbClr val="000000"/>
                          </a:solidFill>
                          <a:latin typeface="Libre Franklin Medium" pitchFamily="34" charset="0"/>
                          <a:ea typeface="Libre Franklin Medium" pitchFamily="34" charset="-122"/>
                          <a:cs typeface="Libre Franklin Medium" pitchFamily="34" charset="-120"/>
                        </a:rPr>
                        <a:t>Tests method dependence</a:t>
                      </a:r>
                      <a:endParaRPr lang="en-US" sz="10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bl>
          </a:graphicData>
        </a:graphic>
      </p:graphicFrame>
      <p:sp>
        <p:nvSpPr>
          <p:cNvPr id="5" name="Shape 2"/>
          <p:cNvSpPr/>
          <p:nvPr/>
        </p:nvSpPr>
        <p:spPr>
          <a:xfrm>
            <a:off x="502920" y="3950208"/>
            <a:ext cx="5477256" cy="2121408"/>
          </a:xfrm>
          <a:prstGeom prst="roundRect">
            <a:avLst>
              <a:gd name="adj" fmla="val 6034"/>
            </a:avLst>
          </a:prstGeom>
          <a:solidFill>
            <a:srgbClr val="E6EEFC"/>
          </a:solidFill>
          <a:ln/>
        </p:spPr>
      </p:sp>
      <p:sp>
        <p:nvSpPr>
          <p:cNvPr id="6" name="Text 3"/>
          <p:cNvSpPr/>
          <p:nvPr/>
        </p:nvSpPr>
        <p:spPr>
          <a:xfrm>
            <a:off x="777240" y="4133088"/>
            <a:ext cx="4937760" cy="310896"/>
          </a:xfrm>
          <a:prstGeom prst="rect">
            <a:avLst/>
          </a:prstGeom>
          <a:noFill/>
          <a:ln/>
        </p:spPr>
        <p:txBody>
          <a:bodyPr wrap="square" lIns="0" tIns="0" rIns="0" bIns="0" rtlCol="0" anchor="ctr"/>
          <a:lstStyle/>
          <a:p>
            <a:pPr indent="0" marL="0">
              <a:buNone/>
            </a:pPr>
            <a:r>
              <a:rPr lang="en-US" sz="1500" b="1" dirty="0">
                <a:solidFill>
                  <a:srgbClr val="3366FF"/>
                </a:solidFill>
                <a:latin typeface="Libre Franklin" pitchFamily="34" charset="0"/>
                <a:ea typeface="Libre Franklin" pitchFamily="34" charset="-122"/>
                <a:cs typeface="Libre Franklin" pitchFamily="34" charset="-120"/>
              </a:rPr>
              <a:t>The screening gap survives</a:t>
            </a:r>
            <a:endParaRPr lang="en-US" sz="1500" dirty="0"/>
          </a:p>
        </p:txBody>
      </p:sp>
      <p:sp>
        <p:nvSpPr>
          <p:cNvPr id="7" name="Text 4"/>
          <p:cNvSpPr/>
          <p:nvPr/>
        </p:nvSpPr>
        <p:spPr>
          <a:xfrm>
            <a:off x="777240" y="4517136"/>
            <a:ext cx="4937760" cy="1426464"/>
          </a:xfrm>
          <a:prstGeom prst="rect">
            <a:avLst/>
          </a:prstGeom>
          <a:noFill/>
          <a:ln/>
        </p:spPr>
        <p:txBody>
          <a:bodyPr wrap="square" lIns="0" tIns="0" rIns="0" bIns="0" rtlCol="0" anchor="ctr"/>
          <a:lstStyle/>
          <a:p>
            <a:pPr indent="0" marL="0">
              <a:lnSpc>
                <a:spcPts val="16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With the ethical/moral support domain removed entirely, the strict definitely-yes rates are </a:t>
            </a:r>
            <a:pPr indent="0" marL="0">
              <a:lnSpc>
                <a:spcPts val="1600"/>
              </a:lnSpc>
              <a:buNone/>
            </a:pPr>
            <a:r>
              <a:rPr lang="en-US" sz="1150" b="1" dirty="0">
                <a:solidFill>
                  <a:srgbClr val="3366FF"/>
                </a:solidFill>
                <a:latin typeface="Libre Franklin Medium" pitchFamily="34" charset="0"/>
                <a:ea typeface="Libre Franklin Medium" pitchFamily="34" charset="-122"/>
                <a:cs typeface="Libre Franklin Medium" pitchFamily="34" charset="-120"/>
              </a:rPr>
              <a:t>49/78 (62.8%) vs 20/49 (40.8%)</a:t>
            </a:r>
            <a:pPr indent="0" marL="0">
              <a:lnSpc>
                <a:spcPts val="16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 a gap of </a:t>
            </a:r>
            <a:pPr indent="0" marL="0">
              <a:lnSpc>
                <a:spcPts val="1600"/>
              </a:lnSpc>
              <a:buNone/>
            </a:pPr>
            <a:r>
              <a:rPr lang="en-US" sz="1150" b="1" dirty="0">
                <a:solidFill>
                  <a:srgbClr val="000000"/>
                </a:solidFill>
                <a:latin typeface="Libre Franklin Medium" pitchFamily="34" charset="0"/>
                <a:ea typeface="Libre Franklin Medium" pitchFamily="34" charset="-122"/>
                <a:cs typeface="Libre Franklin Medium" pitchFamily="34" charset="-120"/>
              </a:rPr>
              <a:t>22.0 percentage points</a:t>
            </a:r>
            <a:pPr indent="0" marL="0">
              <a:lnSpc>
                <a:spcPts val="16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 with Fisher exact </a:t>
            </a:r>
            <a:pPr indent="0" marL="0">
              <a:lnSpc>
                <a:spcPts val="1600"/>
              </a:lnSpc>
              <a:buNone/>
            </a:pPr>
            <a:r>
              <a:rPr lang="en-US" sz="1150" b="1" dirty="0">
                <a:solidFill>
                  <a:srgbClr val="3366FF"/>
                </a:solidFill>
                <a:latin typeface="Libre Franklin Medium" pitchFamily="34" charset="0"/>
                <a:ea typeface="Libre Franklin Medium" pitchFamily="34" charset="-122"/>
                <a:cs typeface="Libre Franklin Medium" pitchFamily="34" charset="-120"/>
              </a:rPr>
              <a:t>p = 0.018</a:t>
            </a:r>
            <a:pPr indent="0" marL="0">
              <a:lnSpc>
                <a:spcPts val="16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 The association is not an artifact of the ethics items.</a:t>
            </a:r>
            <a:endParaRPr lang="en-US" sz="1150" dirty="0"/>
          </a:p>
        </p:txBody>
      </p:sp>
      <p:sp>
        <p:nvSpPr>
          <p:cNvPr id="8" name="Shape 5"/>
          <p:cNvSpPr/>
          <p:nvPr/>
        </p:nvSpPr>
        <p:spPr>
          <a:xfrm>
            <a:off x="6208776" y="3950208"/>
            <a:ext cx="5477256" cy="2121408"/>
          </a:xfrm>
          <a:prstGeom prst="roundRect">
            <a:avLst>
              <a:gd name="adj" fmla="val 6034"/>
            </a:avLst>
          </a:prstGeom>
          <a:solidFill>
            <a:srgbClr val="F4F4F6"/>
          </a:solidFill>
          <a:ln/>
        </p:spPr>
      </p:sp>
      <p:sp>
        <p:nvSpPr>
          <p:cNvPr id="9" name="Text 6"/>
          <p:cNvSpPr/>
          <p:nvPr/>
        </p:nvSpPr>
        <p:spPr>
          <a:xfrm>
            <a:off x="6483096" y="4133088"/>
            <a:ext cx="4937760" cy="310896"/>
          </a:xfrm>
          <a:prstGeom prst="rect">
            <a:avLst/>
          </a:prstGeom>
          <a:noFill/>
          <a:ln/>
        </p:spPr>
        <p:txBody>
          <a:bodyPr wrap="square" lIns="0" tIns="0" rIns="0" bIns="0" rtlCol="0" anchor="ctr"/>
          <a:lstStyle/>
          <a:p>
            <a:pPr indent="0" marL="0">
              <a:buNone/>
            </a:pPr>
            <a:r>
              <a:rPr lang="en-US" sz="1500" b="1" dirty="0">
                <a:solidFill>
                  <a:srgbClr val="F57F00"/>
                </a:solidFill>
                <a:latin typeface="Libre Franklin" pitchFamily="34" charset="0"/>
                <a:ea typeface="Libre Franklin" pitchFamily="34" charset="-122"/>
                <a:cs typeface="Libre Franklin" pitchFamily="34" charset="-120"/>
              </a:rPr>
              <a:t>Membership does not</a:t>
            </a:r>
            <a:endParaRPr lang="en-US" sz="1500" dirty="0"/>
          </a:p>
        </p:txBody>
      </p:sp>
      <p:sp>
        <p:nvSpPr>
          <p:cNvPr id="10" name="Text 7"/>
          <p:cNvSpPr/>
          <p:nvPr/>
        </p:nvSpPr>
        <p:spPr>
          <a:xfrm>
            <a:off x="6483096" y="4517136"/>
            <a:ext cx="4937760" cy="1426464"/>
          </a:xfrm>
          <a:prstGeom prst="rect">
            <a:avLst/>
          </a:prstGeom>
          <a:noFill/>
          <a:ln/>
        </p:spPr>
        <p:txBody>
          <a:bodyPr wrap="square" lIns="0" tIns="0" rIns="0" bIns="0" rtlCol="0" anchor="ctr"/>
          <a:lstStyle/>
          <a:p>
            <a:pPr indent="0" marL="0">
              <a:lnSpc>
                <a:spcPts val="16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Agreement with the primary solution ranges from </a:t>
            </a:r>
            <a:pPr indent="0" marL="0">
              <a:lnSpc>
                <a:spcPts val="1600"/>
              </a:lnSpc>
              <a:buNone/>
            </a:pPr>
            <a:r>
              <a:rPr lang="en-US" sz="1150" b="1" dirty="0">
                <a:solidFill>
                  <a:srgbClr val="F57F00"/>
                </a:solidFill>
                <a:latin typeface="Libre Franklin Medium" pitchFamily="34" charset="0"/>
                <a:ea typeface="Libre Franklin Medium" pitchFamily="34" charset="-122"/>
                <a:cs typeface="Libre Franklin Medium" pitchFamily="34" charset="-120"/>
              </a:rPr>
              <a:t>ARI 0.585 to 0.822</a:t>
            </a:r>
            <a:pPr indent="0" marL="0">
              <a:lnSpc>
                <a:spcPts val="1600"/>
              </a:lnSpc>
              <a:buNone/>
            </a:pPr>
            <a:r>
              <a:rPr lang="en-US" sz="1150" dirty="0">
                <a:solidFill>
                  <a:srgbClr val="000000"/>
                </a:solidFill>
                <a:latin typeface="Libre Franklin Medium" pitchFamily="34" charset="0"/>
                <a:ea typeface="Libre Franklin Medium" pitchFamily="34" charset="-122"/>
                <a:cs typeface="Libre Franklin Medium" pitchFamily="34" charset="-120"/>
              </a:rPr>
              <a:t>. Ward linkage splits the sample 88/43 instead of 84/47. Restricting to complete cases moves roughly a fifth of assignments. Individual membership is preprocessing-dependent and should not be treated as a stable caregiver attribute.</a:t>
            </a:r>
            <a:endParaRPr lang="en-US" sz="1150" dirty="0"/>
          </a:p>
        </p:txBody>
      </p:sp>
      <p:sp>
        <p:nvSpPr>
          <p:cNvPr id="11" name="Text 8"/>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Source: Caregiver Outputs/table_10_sensitivity_checks.csv</a:t>
            </a:r>
            <a:endParaRPr lang="en-US" sz="850" dirty="0"/>
          </a:p>
        </p:txBody>
      </p:sp>
      <p:pic>
        <p:nvPicPr>
          <p:cNvPr id="12"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13" name="Text 9"/>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LIMITATIONS</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What would change these conclusions</a:t>
            </a:r>
            <a:endParaRPr lang="en-US" sz="2700" dirty="0"/>
          </a:p>
        </p:txBody>
      </p:sp>
      <p:sp>
        <p:nvSpPr>
          <p:cNvPr id="4" name="Shape 2"/>
          <p:cNvSpPr/>
          <p:nvPr/>
        </p:nvSpPr>
        <p:spPr>
          <a:xfrm>
            <a:off x="502920" y="1371600"/>
            <a:ext cx="11183112" cy="841248"/>
          </a:xfrm>
          <a:prstGeom prst="roundRect">
            <a:avLst>
              <a:gd name="adj" fmla="val 10870"/>
            </a:avLst>
          </a:prstGeom>
          <a:solidFill>
            <a:srgbClr val="E6EEFC"/>
          </a:solidFill>
          <a:ln/>
        </p:spPr>
      </p:sp>
      <p:sp>
        <p:nvSpPr>
          <p:cNvPr id="5" name="Text 3"/>
          <p:cNvSpPr/>
          <p:nvPr/>
        </p:nvSpPr>
        <p:spPr>
          <a:xfrm>
            <a:off x="758952" y="1426464"/>
            <a:ext cx="2651760" cy="731520"/>
          </a:xfrm>
          <a:prstGeom prst="rect">
            <a:avLst/>
          </a:prstGeom>
          <a:noFill/>
          <a:ln/>
        </p:spPr>
        <p:txBody>
          <a:bodyPr wrap="square" lIns="0" tIns="0" rIns="0" bIns="0" rtlCol="0" anchor="ctr"/>
          <a:lstStyle/>
          <a:p>
            <a:pPr indent="0" marL="0">
              <a:buNone/>
            </a:pPr>
            <a:r>
              <a:rPr lang="en-US" sz="1250" b="1" dirty="0">
                <a:solidFill>
                  <a:srgbClr val="3366FF"/>
                </a:solidFill>
                <a:latin typeface="Libre Franklin" pitchFamily="34" charset="0"/>
                <a:ea typeface="Libre Franklin" pitchFamily="34" charset="-122"/>
                <a:cs typeface="Libre Franklin" pitchFamily="34" charset="-120"/>
              </a:rPr>
              <a:t>Undocumented cohort rule</a:t>
            </a:r>
            <a:endParaRPr lang="en-US" sz="1250" dirty="0"/>
          </a:p>
        </p:txBody>
      </p:sp>
      <p:sp>
        <p:nvSpPr>
          <p:cNvPr id="6" name="Text 4"/>
          <p:cNvSpPr/>
          <p:nvPr/>
        </p:nvSpPr>
        <p:spPr>
          <a:xfrm>
            <a:off x="3520440" y="1426464"/>
            <a:ext cx="5486400" cy="731520"/>
          </a:xfrm>
          <a:prstGeom prst="rect">
            <a:avLst/>
          </a:prstGeom>
          <a:noFill/>
          <a:ln/>
        </p:spPr>
        <p:txBody>
          <a:bodyPr wrap="square" lIns="0" tIns="0" rIns="0" bIns="0" rtlCol="0" anchor="ctr"/>
          <a:lstStyle/>
          <a:p>
            <a:pPr indent="0" marL="0">
              <a:lnSpc>
                <a:spcPts val="1400"/>
              </a:lnSpc>
              <a:buNone/>
            </a:pPr>
            <a:r>
              <a:rPr lang="en-US" sz="1050" dirty="0">
                <a:solidFill>
                  <a:srgbClr val="000000"/>
                </a:solidFill>
                <a:latin typeface="Libre Franklin Medium" pitchFamily="34" charset="0"/>
                <a:ea typeface="Libre Franklin Medium" pitchFamily="34" charset="-122"/>
                <a:cs typeface="Libre Franklin Medium" pitchFamily="34" charset="-120"/>
              </a:rPr>
              <a:t>The 135-ID selection from 177 raw records is not documented locally. If it is not random with respect to acceptability, the profile sizes and the screening gap are both biased by an unknown amount.</a:t>
            </a:r>
            <a:endParaRPr lang="en-US" sz="1050" dirty="0"/>
          </a:p>
        </p:txBody>
      </p:sp>
      <p:sp>
        <p:nvSpPr>
          <p:cNvPr id="7" name="Text 5"/>
          <p:cNvSpPr/>
          <p:nvPr/>
        </p:nvSpPr>
        <p:spPr>
          <a:xfrm>
            <a:off x="9134856" y="1426464"/>
            <a:ext cx="2286000" cy="731520"/>
          </a:xfrm>
          <a:prstGeom prst="rect">
            <a:avLst/>
          </a:prstGeom>
          <a:noFill/>
          <a:ln/>
        </p:spPr>
        <p:txBody>
          <a:bodyPr wrap="square" lIns="0" tIns="0" rIns="0" bIns="0" rtlCol="0" anchor="ctr"/>
          <a:lstStyle/>
          <a:p>
            <a:pPr indent="0" marL="0">
              <a:buNone/>
            </a:pPr>
            <a:r>
              <a:rPr lang="en-US" sz="1050" b="1" i="1" dirty="0">
                <a:solidFill>
                  <a:srgbClr val="F57F00"/>
                </a:solidFill>
                <a:latin typeface="Libre Franklin Medium" pitchFamily="34" charset="0"/>
                <a:ea typeface="Libre Franklin Medium" pitchFamily="34" charset="-122"/>
                <a:cs typeface="Libre Franklin Medium" pitchFamily="34" charset="-120"/>
              </a:rPr>
              <a:t>Locate or reconstruct the selection rule</a:t>
            </a:r>
            <a:endParaRPr lang="en-US" sz="1050" dirty="0"/>
          </a:p>
        </p:txBody>
      </p:sp>
      <p:sp>
        <p:nvSpPr>
          <p:cNvPr id="8" name="Shape 6"/>
          <p:cNvSpPr/>
          <p:nvPr/>
        </p:nvSpPr>
        <p:spPr>
          <a:xfrm>
            <a:off x="502920" y="2340864"/>
            <a:ext cx="11183112" cy="841248"/>
          </a:xfrm>
          <a:prstGeom prst="roundRect">
            <a:avLst>
              <a:gd name="adj" fmla="val 10870"/>
            </a:avLst>
          </a:prstGeom>
          <a:solidFill>
            <a:srgbClr val="F4F4F6"/>
          </a:solidFill>
          <a:ln/>
        </p:spPr>
      </p:sp>
      <p:sp>
        <p:nvSpPr>
          <p:cNvPr id="9" name="Text 7"/>
          <p:cNvSpPr/>
          <p:nvPr/>
        </p:nvSpPr>
        <p:spPr>
          <a:xfrm>
            <a:off x="758952" y="2395728"/>
            <a:ext cx="2651760" cy="731520"/>
          </a:xfrm>
          <a:prstGeom prst="rect">
            <a:avLst/>
          </a:prstGeom>
          <a:noFill/>
          <a:ln/>
        </p:spPr>
        <p:txBody>
          <a:bodyPr wrap="square" lIns="0" tIns="0" rIns="0" bIns="0" rtlCol="0" anchor="ctr"/>
          <a:lstStyle/>
          <a:p>
            <a:pPr indent="0" marL="0">
              <a:buNone/>
            </a:pPr>
            <a:r>
              <a:rPr lang="en-US" sz="1250" b="1" dirty="0">
                <a:solidFill>
                  <a:srgbClr val="3366FF"/>
                </a:solidFill>
                <a:latin typeface="Libre Franklin" pitchFamily="34" charset="0"/>
                <a:ea typeface="Libre Franklin" pitchFamily="34" charset="-122"/>
                <a:cs typeface="Libre Franklin" pitchFamily="34" charset="-120"/>
              </a:rPr>
              <a:t>Weak, unstable separation</a:t>
            </a:r>
            <a:endParaRPr lang="en-US" sz="1250" dirty="0"/>
          </a:p>
        </p:txBody>
      </p:sp>
      <p:sp>
        <p:nvSpPr>
          <p:cNvPr id="10" name="Text 8"/>
          <p:cNvSpPr/>
          <p:nvPr/>
        </p:nvSpPr>
        <p:spPr>
          <a:xfrm>
            <a:off x="3520440" y="2395728"/>
            <a:ext cx="5486400" cy="731520"/>
          </a:xfrm>
          <a:prstGeom prst="rect">
            <a:avLst/>
          </a:prstGeom>
          <a:noFill/>
          <a:ln/>
        </p:spPr>
        <p:txBody>
          <a:bodyPr wrap="square" lIns="0" tIns="0" rIns="0" bIns="0" rtlCol="0" anchor="ctr"/>
          <a:lstStyle/>
          <a:p>
            <a:pPr indent="0" marL="0">
              <a:lnSpc>
                <a:spcPts val="1400"/>
              </a:lnSpc>
              <a:buNone/>
            </a:pPr>
            <a:r>
              <a:rPr lang="en-US" sz="1050" dirty="0">
                <a:solidFill>
                  <a:srgbClr val="000000"/>
                </a:solidFill>
                <a:latin typeface="Libre Franklin Medium" pitchFamily="34" charset="0"/>
                <a:ea typeface="Libre Franklin Medium" pitchFamily="34" charset="-122"/>
                <a:cs typeface="Libre Franklin Medium" pitchFamily="34" charset="-120"/>
              </a:rPr>
              <a:t>Silhouette 0.180, no elbow in inertia, ARI 0.585–0.822 across preprocessing, and 12 of 47 Conditional cases carry negative silhouettes.</a:t>
            </a:r>
            <a:endParaRPr lang="en-US" sz="1050" dirty="0"/>
          </a:p>
        </p:txBody>
      </p:sp>
      <p:sp>
        <p:nvSpPr>
          <p:cNvPr id="11" name="Text 9"/>
          <p:cNvSpPr/>
          <p:nvPr/>
        </p:nvSpPr>
        <p:spPr>
          <a:xfrm>
            <a:off x="9134856" y="2395728"/>
            <a:ext cx="2286000" cy="731520"/>
          </a:xfrm>
          <a:prstGeom prst="rect">
            <a:avLst/>
          </a:prstGeom>
          <a:noFill/>
          <a:ln/>
        </p:spPr>
        <p:txBody>
          <a:bodyPr wrap="square" lIns="0" tIns="0" rIns="0" bIns="0" rtlCol="0" anchor="ctr"/>
          <a:lstStyle/>
          <a:p>
            <a:pPr indent="0" marL="0">
              <a:buNone/>
            </a:pPr>
            <a:r>
              <a:rPr lang="en-US" sz="1050" b="1" i="1" dirty="0">
                <a:solidFill>
                  <a:srgbClr val="F57F00"/>
                </a:solidFill>
                <a:latin typeface="Libre Franklin Medium" pitchFamily="34" charset="0"/>
                <a:ea typeface="Libre Franklin Medium" pitchFamily="34" charset="-122"/>
                <a:cs typeface="Libre Franklin Medium" pitchFamily="34" charset="-120"/>
              </a:rPr>
              <a:t>Treat as a gradient; never assign an individual</a:t>
            </a:r>
            <a:endParaRPr lang="en-US" sz="1050" dirty="0"/>
          </a:p>
        </p:txBody>
      </p:sp>
      <p:sp>
        <p:nvSpPr>
          <p:cNvPr id="12" name="Shape 10"/>
          <p:cNvSpPr/>
          <p:nvPr/>
        </p:nvSpPr>
        <p:spPr>
          <a:xfrm>
            <a:off x="502920" y="3310128"/>
            <a:ext cx="11183112" cy="841248"/>
          </a:xfrm>
          <a:prstGeom prst="roundRect">
            <a:avLst>
              <a:gd name="adj" fmla="val 10870"/>
            </a:avLst>
          </a:prstGeom>
          <a:solidFill>
            <a:srgbClr val="E6EEFC"/>
          </a:solidFill>
          <a:ln/>
        </p:spPr>
      </p:sp>
      <p:sp>
        <p:nvSpPr>
          <p:cNvPr id="13" name="Text 11"/>
          <p:cNvSpPr/>
          <p:nvPr/>
        </p:nvSpPr>
        <p:spPr>
          <a:xfrm>
            <a:off x="758952" y="3364992"/>
            <a:ext cx="2651760" cy="731520"/>
          </a:xfrm>
          <a:prstGeom prst="rect">
            <a:avLst/>
          </a:prstGeom>
          <a:noFill/>
          <a:ln/>
        </p:spPr>
        <p:txBody>
          <a:bodyPr wrap="square" lIns="0" tIns="0" rIns="0" bIns="0" rtlCol="0" anchor="ctr"/>
          <a:lstStyle/>
          <a:p>
            <a:pPr indent="0" marL="0">
              <a:buNone/>
            </a:pPr>
            <a:r>
              <a:rPr lang="en-US" sz="1250" b="1" dirty="0">
                <a:solidFill>
                  <a:srgbClr val="3366FF"/>
                </a:solidFill>
                <a:latin typeface="Libre Franklin" pitchFamily="34" charset="0"/>
                <a:ea typeface="Libre Franklin" pitchFamily="34" charset="-122"/>
                <a:cs typeface="Libre Franklin" pitchFamily="34" charset="-120"/>
              </a:rPr>
              <a:t>Stated intent, not behavior</a:t>
            </a:r>
            <a:endParaRPr lang="en-US" sz="1250" dirty="0"/>
          </a:p>
        </p:txBody>
      </p:sp>
      <p:sp>
        <p:nvSpPr>
          <p:cNvPr id="14" name="Text 12"/>
          <p:cNvSpPr/>
          <p:nvPr/>
        </p:nvSpPr>
        <p:spPr>
          <a:xfrm>
            <a:off x="3520440" y="3364992"/>
            <a:ext cx="5486400" cy="731520"/>
          </a:xfrm>
          <a:prstGeom prst="rect">
            <a:avLst/>
          </a:prstGeom>
          <a:noFill/>
          <a:ln/>
        </p:spPr>
        <p:txBody>
          <a:bodyPr wrap="square" lIns="0" tIns="0" rIns="0" bIns="0" rtlCol="0" anchor="ctr"/>
          <a:lstStyle/>
          <a:p>
            <a:pPr indent="0" marL="0">
              <a:lnSpc>
                <a:spcPts val="1400"/>
              </a:lnSpc>
              <a:buNone/>
            </a:pPr>
            <a:r>
              <a:rPr lang="en-US" sz="1050" dirty="0">
                <a:solidFill>
                  <a:srgbClr val="000000"/>
                </a:solidFill>
                <a:latin typeface="Libre Franklin Medium" pitchFamily="34" charset="0"/>
                <a:ea typeface="Libre Franklin Medium" pitchFamily="34" charset="-122"/>
                <a:cs typeface="Libre Franklin Medium" pitchFamily="34" charset="-120"/>
              </a:rPr>
              <a:t>The endpoint is a survey response about whether a caregiver would screen, not an observed screening decision in a clinic.</a:t>
            </a:r>
            <a:endParaRPr lang="en-US" sz="1050" dirty="0"/>
          </a:p>
        </p:txBody>
      </p:sp>
      <p:sp>
        <p:nvSpPr>
          <p:cNvPr id="15" name="Text 13"/>
          <p:cNvSpPr/>
          <p:nvPr/>
        </p:nvSpPr>
        <p:spPr>
          <a:xfrm>
            <a:off x="9134856" y="3364992"/>
            <a:ext cx="2286000" cy="731520"/>
          </a:xfrm>
          <a:prstGeom prst="rect">
            <a:avLst/>
          </a:prstGeom>
          <a:noFill/>
          <a:ln/>
        </p:spPr>
        <p:txBody>
          <a:bodyPr wrap="square" lIns="0" tIns="0" rIns="0" bIns="0" rtlCol="0" anchor="ctr"/>
          <a:lstStyle/>
          <a:p>
            <a:pPr indent="0" marL="0">
              <a:buNone/>
            </a:pPr>
            <a:r>
              <a:rPr lang="en-US" sz="1050" b="1" i="1" dirty="0">
                <a:solidFill>
                  <a:srgbClr val="F57F00"/>
                </a:solidFill>
                <a:latin typeface="Libre Franklin Medium" pitchFamily="34" charset="0"/>
                <a:ea typeface="Libre Franklin Medium" pitchFamily="34" charset="-122"/>
                <a:cs typeface="Libre Franklin Medium" pitchFamily="34" charset="-120"/>
              </a:rPr>
              <a:t>Validate against actual uptake prospectively</a:t>
            </a:r>
            <a:endParaRPr lang="en-US" sz="1050" dirty="0"/>
          </a:p>
        </p:txBody>
      </p:sp>
      <p:sp>
        <p:nvSpPr>
          <p:cNvPr id="16" name="Shape 14"/>
          <p:cNvSpPr/>
          <p:nvPr/>
        </p:nvSpPr>
        <p:spPr>
          <a:xfrm>
            <a:off x="502920" y="4279392"/>
            <a:ext cx="11183112" cy="841248"/>
          </a:xfrm>
          <a:prstGeom prst="roundRect">
            <a:avLst>
              <a:gd name="adj" fmla="val 10870"/>
            </a:avLst>
          </a:prstGeom>
          <a:solidFill>
            <a:srgbClr val="F4F4F6"/>
          </a:solidFill>
          <a:ln/>
        </p:spPr>
      </p:sp>
      <p:sp>
        <p:nvSpPr>
          <p:cNvPr id="17" name="Text 15"/>
          <p:cNvSpPr/>
          <p:nvPr/>
        </p:nvSpPr>
        <p:spPr>
          <a:xfrm>
            <a:off x="758952" y="4334256"/>
            <a:ext cx="2651760" cy="731520"/>
          </a:xfrm>
          <a:prstGeom prst="rect">
            <a:avLst/>
          </a:prstGeom>
          <a:noFill/>
          <a:ln/>
        </p:spPr>
        <p:txBody>
          <a:bodyPr wrap="square" lIns="0" tIns="0" rIns="0" bIns="0" rtlCol="0" anchor="ctr"/>
          <a:lstStyle/>
          <a:p>
            <a:pPr indent="0" marL="0">
              <a:buNone/>
            </a:pPr>
            <a:r>
              <a:rPr lang="en-US" sz="1250" b="1" dirty="0">
                <a:solidFill>
                  <a:srgbClr val="3366FF"/>
                </a:solidFill>
                <a:latin typeface="Libre Franklin" pitchFamily="34" charset="0"/>
                <a:ea typeface="Libre Franklin" pitchFamily="34" charset="-122"/>
                <a:cs typeface="Libre Franklin" pitchFamily="34" charset="-120"/>
              </a:rPr>
              <a:t>Undocumented scoring</a:t>
            </a:r>
            <a:endParaRPr lang="en-US" sz="1250" dirty="0"/>
          </a:p>
        </p:txBody>
      </p:sp>
      <p:sp>
        <p:nvSpPr>
          <p:cNvPr id="18" name="Text 16"/>
          <p:cNvSpPr/>
          <p:nvPr/>
        </p:nvSpPr>
        <p:spPr>
          <a:xfrm>
            <a:off x="3520440" y="4334256"/>
            <a:ext cx="5486400" cy="731520"/>
          </a:xfrm>
          <a:prstGeom prst="rect">
            <a:avLst/>
          </a:prstGeom>
          <a:noFill/>
          <a:ln/>
        </p:spPr>
        <p:txBody>
          <a:bodyPr wrap="square" lIns="0" tIns="0" rIns="0" bIns="0" rtlCol="0" anchor="ctr"/>
          <a:lstStyle/>
          <a:p>
            <a:pPr indent="0" marL="0">
              <a:lnSpc>
                <a:spcPts val="1400"/>
              </a:lnSpc>
              <a:buNone/>
            </a:pPr>
            <a:r>
              <a:rPr lang="en-US" sz="1050" dirty="0">
                <a:solidFill>
                  <a:srgbClr val="000000"/>
                </a:solidFill>
                <a:latin typeface="Libre Franklin Medium" pitchFamily="34" charset="0"/>
                <a:ea typeface="Libre Franklin Medium" pitchFamily="34" charset="-122"/>
                <a:cs typeface="Libre Franklin Medium" pitchFamily="34" charset="-120"/>
              </a:rPr>
              <a:t>Values scoring and centering formulas, slider anchors, and the tfa_behavior_age key are all missing from the local files.</a:t>
            </a:r>
            <a:endParaRPr lang="en-US" sz="1050" dirty="0"/>
          </a:p>
        </p:txBody>
      </p:sp>
      <p:sp>
        <p:nvSpPr>
          <p:cNvPr id="19" name="Text 17"/>
          <p:cNvSpPr/>
          <p:nvPr/>
        </p:nvSpPr>
        <p:spPr>
          <a:xfrm>
            <a:off x="9134856" y="4334256"/>
            <a:ext cx="2286000" cy="731520"/>
          </a:xfrm>
          <a:prstGeom prst="rect">
            <a:avLst/>
          </a:prstGeom>
          <a:noFill/>
          <a:ln/>
        </p:spPr>
        <p:txBody>
          <a:bodyPr wrap="square" lIns="0" tIns="0" rIns="0" bIns="0" rtlCol="0" anchor="ctr"/>
          <a:lstStyle/>
          <a:p>
            <a:pPr indent="0" marL="0">
              <a:buNone/>
            </a:pPr>
            <a:r>
              <a:rPr lang="en-US" sz="1050" b="1" i="1" dirty="0">
                <a:solidFill>
                  <a:srgbClr val="F57F00"/>
                </a:solidFill>
                <a:latin typeface="Libre Franklin Medium" pitchFamily="34" charset="0"/>
                <a:ea typeface="Libre Franklin Medium" pitchFamily="34" charset="-122"/>
                <a:cs typeface="Libre Franklin Medium" pitchFamily="34" charset="-120"/>
              </a:rPr>
              <a:t>Obtain the REDCap data dictionary</a:t>
            </a:r>
            <a:endParaRPr lang="en-US" sz="1050" dirty="0"/>
          </a:p>
        </p:txBody>
      </p:sp>
      <p:sp>
        <p:nvSpPr>
          <p:cNvPr id="20" name="Shape 18"/>
          <p:cNvSpPr/>
          <p:nvPr/>
        </p:nvSpPr>
        <p:spPr>
          <a:xfrm>
            <a:off x="502920" y="5248656"/>
            <a:ext cx="11183112" cy="841248"/>
          </a:xfrm>
          <a:prstGeom prst="roundRect">
            <a:avLst>
              <a:gd name="adj" fmla="val 10870"/>
            </a:avLst>
          </a:prstGeom>
          <a:solidFill>
            <a:srgbClr val="E6EEFC"/>
          </a:solidFill>
          <a:ln/>
        </p:spPr>
      </p:sp>
      <p:sp>
        <p:nvSpPr>
          <p:cNvPr id="21" name="Text 19"/>
          <p:cNvSpPr/>
          <p:nvPr/>
        </p:nvSpPr>
        <p:spPr>
          <a:xfrm>
            <a:off x="758952" y="5303520"/>
            <a:ext cx="2651760" cy="731520"/>
          </a:xfrm>
          <a:prstGeom prst="rect">
            <a:avLst/>
          </a:prstGeom>
          <a:noFill/>
          <a:ln/>
        </p:spPr>
        <p:txBody>
          <a:bodyPr wrap="square" lIns="0" tIns="0" rIns="0" bIns="0" rtlCol="0" anchor="ctr"/>
          <a:lstStyle/>
          <a:p>
            <a:pPr indent="0" marL="0">
              <a:buNone/>
            </a:pPr>
            <a:r>
              <a:rPr lang="en-US" sz="1250" b="1" dirty="0">
                <a:solidFill>
                  <a:srgbClr val="3366FF"/>
                </a:solidFill>
                <a:latin typeface="Libre Franklin" pitchFamily="34" charset="0"/>
                <a:ea typeface="Libre Franklin" pitchFamily="34" charset="-122"/>
                <a:cs typeface="Libre Franklin" pitchFamily="34" charset="-120"/>
              </a:rPr>
              <a:t>Exploratory and non-causal</a:t>
            </a:r>
            <a:endParaRPr lang="en-US" sz="1250" dirty="0"/>
          </a:p>
        </p:txBody>
      </p:sp>
      <p:sp>
        <p:nvSpPr>
          <p:cNvPr id="22" name="Text 20"/>
          <p:cNvSpPr/>
          <p:nvPr/>
        </p:nvSpPr>
        <p:spPr>
          <a:xfrm>
            <a:off x="3520440" y="5303520"/>
            <a:ext cx="5486400" cy="731520"/>
          </a:xfrm>
          <a:prstGeom prst="rect">
            <a:avLst/>
          </a:prstGeom>
          <a:noFill/>
          <a:ln/>
        </p:spPr>
        <p:txBody>
          <a:bodyPr wrap="square" lIns="0" tIns="0" rIns="0" bIns="0" rtlCol="0" anchor="ctr"/>
          <a:lstStyle/>
          <a:p>
            <a:pPr indent="0" marL="0">
              <a:lnSpc>
                <a:spcPts val="1400"/>
              </a:lnSpc>
              <a:buNone/>
            </a:pPr>
            <a:r>
              <a:rPr lang="en-US" sz="1050" dirty="0">
                <a:solidFill>
                  <a:srgbClr val="000000"/>
                </a:solidFill>
                <a:latin typeface="Libre Franklin Medium" pitchFamily="34" charset="0"/>
                <a:ea typeface="Libre Franklin Medium" pitchFamily="34" charset="-122"/>
                <a:cs typeface="Libre Franklin Medium" pitchFamily="34" charset="-120"/>
              </a:rPr>
              <a:t>No comparison is confirmatory. Within-family FDR was applied, but the analysis was not preregistered and profiles were derived from the same sample they characterize.</a:t>
            </a:r>
            <a:endParaRPr lang="en-US" sz="1050" dirty="0"/>
          </a:p>
        </p:txBody>
      </p:sp>
      <p:sp>
        <p:nvSpPr>
          <p:cNvPr id="23" name="Text 21"/>
          <p:cNvSpPr/>
          <p:nvPr/>
        </p:nvSpPr>
        <p:spPr>
          <a:xfrm>
            <a:off x="9134856" y="5303520"/>
            <a:ext cx="2286000" cy="731520"/>
          </a:xfrm>
          <a:prstGeom prst="rect">
            <a:avLst/>
          </a:prstGeom>
          <a:noFill/>
          <a:ln/>
        </p:spPr>
        <p:txBody>
          <a:bodyPr wrap="square" lIns="0" tIns="0" rIns="0" bIns="0" rtlCol="0" anchor="ctr"/>
          <a:lstStyle/>
          <a:p>
            <a:pPr indent="0" marL="0">
              <a:buNone/>
            </a:pPr>
            <a:r>
              <a:rPr lang="en-US" sz="1050" b="1" i="1" dirty="0">
                <a:solidFill>
                  <a:srgbClr val="F57F00"/>
                </a:solidFill>
                <a:latin typeface="Libre Franklin Medium" pitchFamily="34" charset="0"/>
                <a:ea typeface="Libre Franklin Medium" pitchFamily="34" charset="-122"/>
                <a:cs typeface="Libre Franklin Medium" pitchFamily="34" charset="-120"/>
              </a:rPr>
              <a:t>No causal or targeting claims</a:t>
            </a:r>
            <a:endParaRPr lang="en-US" sz="1050" dirty="0"/>
          </a:p>
        </p:txBody>
      </p:sp>
      <p:sp>
        <p:nvSpPr>
          <p:cNvPr id="24" name="Text 22"/>
          <p:cNvSpPr/>
          <p:nvPr/>
        </p:nvSpPr>
        <p:spPr>
          <a:xfrm>
            <a:off x="502920" y="6309360"/>
            <a:ext cx="10424160" cy="365760"/>
          </a:xfrm>
          <a:prstGeom prst="rect">
            <a:avLst/>
          </a:prstGeom>
          <a:noFill/>
          <a:ln/>
        </p:spPr>
        <p:txBody>
          <a:bodyPr wrap="square" lIns="0" tIns="0" rIns="0" bIns="0" rtlCol="0" anchor="ctr"/>
          <a:lstStyle/>
          <a:p>
            <a:pPr indent="0" marL="0">
              <a:buNone/>
            </a:pPr>
            <a:r>
              <a:rPr lang="en-US" sz="1200" b="1" dirty="0">
                <a:solidFill>
                  <a:srgbClr val="3366FF"/>
                </a:solidFill>
                <a:latin typeface="Libre Franklin" pitchFamily="34" charset="0"/>
                <a:ea typeface="Libre Franklin" pitchFamily="34" charset="-122"/>
                <a:cs typeface="Libre Franklin" pitchFamily="34" charset="-120"/>
              </a:rPr>
              <a:t>Overall assessment: share with caveats. The notebook is reproducible and decision-oriented; the evidence remains exploratory and non-causal.</a:t>
            </a:r>
            <a:endParaRPr lang="en-US" sz="1200" dirty="0"/>
          </a:p>
        </p:txBody>
      </p:sp>
      <p:pic>
        <p:nvPicPr>
          <p:cNvPr id="25" name="Image 0" descr="/sessions/ecstatic-gifted-franklin/mnt/.claude/skills/esd-lab/assets/logos/wordmark-discovery-blue.png">    </p:cNvPr>
          <p:cNvPicPr>
            <a:picLocks noChangeAspect="1"/>
          </p:cNvPicPr>
          <p:nvPr/>
        </p:nvPicPr>
        <p:blipFill>
          <a:blip r:embed="rId1"/>
          <a:stretch>
            <a:fillRect/>
          </a:stretch>
        </p:blipFill>
        <p:spPr>
          <a:xfrm>
            <a:off x="11228832" y="6272784"/>
            <a:ext cx="420624" cy="393192"/>
          </a:xfrm>
          <a:prstGeom prst="rect">
            <a:avLst/>
          </a:prstGeom>
        </p:spPr>
      </p:pic>
      <p:sp>
        <p:nvSpPr>
          <p:cNvPr id="26" name="Text 23"/>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TAKEAWAYS</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Four conclusions and what happens next</a:t>
            </a:r>
            <a:endParaRPr lang="en-US" sz="2700" dirty="0"/>
          </a:p>
        </p:txBody>
      </p:sp>
      <p:sp>
        <p:nvSpPr>
          <p:cNvPr id="4" name="Shape 2"/>
          <p:cNvSpPr/>
          <p:nvPr/>
        </p:nvSpPr>
        <p:spPr>
          <a:xfrm>
            <a:off x="521208" y="1572768"/>
            <a:ext cx="786384" cy="786384"/>
          </a:xfrm>
          <a:prstGeom prst="ellipse">
            <a:avLst/>
          </a:prstGeom>
          <a:solidFill>
            <a:srgbClr val="E6EEFC"/>
          </a:solidFill>
          <a:ln/>
        </p:spPr>
      </p:sp>
      <p:pic>
        <p:nvPicPr>
          <p:cNvPr id="5" name="Image 0" descr="/sessions/ecstatic-gifted-franklin/mnt/.claude/skills/esd-lab/assets/icons/suite/icon-glasses-science-blue.png">    </p:cNvPr>
          <p:cNvPicPr>
            <a:picLocks noChangeAspect="1"/>
          </p:cNvPicPr>
          <p:nvPr/>
        </p:nvPicPr>
        <p:blipFill>
          <a:blip r:embed="rId1"/>
          <a:stretch>
            <a:fillRect/>
          </a:stretch>
        </p:blipFill>
        <p:spPr>
          <a:xfrm>
            <a:off x="676656" y="1728216"/>
            <a:ext cx="475488" cy="475488"/>
          </a:xfrm>
          <a:prstGeom prst="rect">
            <a:avLst/>
          </a:prstGeom>
        </p:spPr>
      </p:pic>
      <p:sp>
        <p:nvSpPr>
          <p:cNvPr id="6" name="Text 3"/>
          <p:cNvSpPr/>
          <p:nvPr/>
        </p:nvSpPr>
        <p:spPr>
          <a:xfrm>
            <a:off x="1545336" y="1517904"/>
            <a:ext cx="10058400" cy="402336"/>
          </a:xfrm>
          <a:prstGeom prst="rect">
            <a:avLst/>
          </a:prstGeom>
          <a:noFill/>
          <a:ln/>
        </p:spPr>
        <p:txBody>
          <a:bodyPr wrap="square" lIns="0" tIns="0" rIns="0" bIns="0" rtlCol="0" anchor="ctr"/>
          <a:lstStyle/>
          <a:p>
            <a:pPr indent="0" marL="0">
              <a:buNone/>
            </a:pPr>
            <a:r>
              <a:rPr lang="en-US" sz="1550" b="1" dirty="0">
                <a:solidFill>
                  <a:srgbClr val="3366FF"/>
                </a:solidFill>
                <a:latin typeface="Libre Franklin" pitchFamily="34" charset="0"/>
                <a:ea typeface="Libre Franklin" pitchFamily="34" charset="-122"/>
                <a:cs typeface="Libre Franklin" pitchFamily="34" charset="-120"/>
              </a:rPr>
              <a:t>1.  Use the segmentation as an exploratory acceptability lens</a:t>
            </a:r>
            <a:endParaRPr lang="en-US" sz="1550" dirty="0"/>
          </a:p>
        </p:txBody>
      </p:sp>
      <p:sp>
        <p:nvSpPr>
          <p:cNvPr id="7" name="Text 4"/>
          <p:cNvSpPr/>
          <p:nvPr/>
        </p:nvSpPr>
        <p:spPr>
          <a:xfrm>
            <a:off x="1545336" y="1920240"/>
            <a:ext cx="9966960" cy="566928"/>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The two-profile solution is clearer than the previous high-dimensional analysis, but modest separation and method sensitivity argue against fixed caregiver types.</a:t>
            </a:r>
            <a:endParaRPr lang="en-US" sz="1200" dirty="0"/>
          </a:p>
        </p:txBody>
      </p:sp>
      <p:sp>
        <p:nvSpPr>
          <p:cNvPr id="8" name="Shape 5"/>
          <p:cNvSpPr/>
          <p:nvPr/>
        </p:nvSpPr>
        <p:spPr>
          <a:xfrm>
            <a:off x="521208" y="2779776"/>
            <a:ext cx="786384" cy="786384"/>
          </a:xfrm>
          <a:prstGeom prst="ellipse">
            <a:avLst/>
          </a:prstGeom>
          <a:solidFill>
            <a:srgbClr val="E6EEFC"/>
          </a:solidFill>
          <a:ln/>
        </p:spPr>
      </p:sp>
      <p:pic>
        <p:nvPicPr>
          <p:cNvPr id="9" name="Image 1" descr="/sessions/ecstatic-gifted-franklin/mnt/.claude/skills/esd-lab/assets/icons/suite/icon-hands-pair-science-blue.png">    </p:cNvPr>
          <p:cNvPicPr>
            <a:picLocks noChangeAspect="1"/>
          </p:cNvPicPr>
          <p:nvPr/>
        </p:nvPicPr>
        <p:blipFill>
          <a:blip r:embed="rId2"/>
          <a:stretch>
            <a:fillRect/>
          </a:stretch>
        </p:blipFill>
        <p:spPr>
          <a:xfrm>
            <a:off x="676656" y="2935224"/>
            <a:ext cx="475488" cy="475488"/>
          </a:xfrm>
          <a:prstGeom prst="rect">
            <a:avLst/>
          </a:prstGeom>
        </p:spPr>
      </p:pic>
      <p:sp>
        <p:nvSpPr>
          <p:cNvPr id="10" name="Text 6"/>
          <p:cNvSpPr/>
          <p:nvPr/>
        </p:nvSpPr>
        <p:spPr>
          <a:xfrm>
            <a:off x="1545336" y="2724912"/>
            <a:ext cx="10058400" cy="402336"/>
          </a:xfrm>
          <a:prstGeom prst="rect">
            <a:avLst/>
          </a:prstGeom>
          <a:noFill/>
          <a:ln/>
        </p:spPr>
        <p:txBody>
          <a:bodyPr wrap="square" lIns="0" tIns="0" rIns="0" bIns="0" rtlCol="0" anchor="ctr"/>
          <a:lstStyle/>
          <a:p>
            <a:pPr indent="0" marL="0">
              <a:buNone/>
            </a:pPr>
            <a:r>
              <a:rPr lang="en-US" sz="1550" b="1" dirty="0">
                <a:solidFill>
                  <a:srgbClr val="3366FF"/>
                </a:solidFill>
                <a:latin typeface="Libre Franklin" pitchFamily="34" charset="0"/>
                <a:ea typeface="Libre Franklin" pitchFamily="34" charset="-122"/>
                <a:cs typeface="Libre Franklin" pitchFamily="34" charset="-120"/>
              </a:rPr>
              <a:t>2.  Design for the Conditional profile without excluding anyone</a:t>
            </a:r>
            <a:endParaRPr lang="en-US" sz="1550" dirty="0"/>
          </a:p>
        </p:txBody>
      </p:sp>
      <p:sp>
        <p:nvSpPr>
          <p:cNvPr id="11" name="Text 7"/>
          <p:cNvSpPr/>
          <p:nvPr/>
        </p:nvSpPr>
        <p:spPr>
          <a:xfrm>
            <a:off x="1545336" y="3127248"/>
            <a:ext cx="9966960" cy="566928"/>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Reduce appointment burden, start with low-burden modalities, and communicate accuracy, choice, clinician trust and ethical safeguards plainly.</a:t>
            </a:r>
            <a:endParaRPr lang="en-US" sz="1200" dirty="0"/>
          </a:p>
        </p:txBody>
      </p:sp>
      <p:sp>
        <p:nvSpPr>
          <p:cNvPr id="12" name="Shape 8"/>
          <p:cNvSpPr/>
          <p:nvPr/>
        </p:nvSpPr>
        <p:spPr>
          <a:xfrm>
            <a:off x="521208" y="3986784"/>
            <a:ext cx="786384" cy="786384"/>
          </a:xfrm>
          <a:prstGeom prst="ellipse">
            <a:avLst/>
          </a:prstGeom>
          <a:solidFill>
            <a:srgbClr val="E6EEFC"/>
          </a:solidFill>
          <a:ln/>
        </p:spPr>
      </p:sp>
      <p:pic>
        <p:nvPicPr>
          <p:cNvPr id="13" name="Image 2" descr="/sessions/ecstatic-gifted-franklin/mnt/.claude/skills/esd-lab/assets/icons/suite/icon-checklist-science-blue.png">    </p:cNvPr>
          <p:cNvPicPr>
            <a:picLocks noChangeAspect="1"/>
          </p:cNvPicPr>
          <p:nvPr/>
        </p:nvPicPr>
        <p:blipFill>
          <a:blip r:embed="rId3"/>
          <a:stretch>
            <a:fillRect/>
          </a:stretch>
        </p:blipFill>
        <p:spPr>
          <a:xfrm>
            <a:off x="676656" y="4142232"/>
            <a:ext cx="475488" cy="475488"/>
          </a:xfrm>
          <a:prstGeom prst="rect">
            <a:avLst/>
          </a:prstGeom>
        </p:spPr>
      </p:pic>
      <p:sp>
        <p:nvSpPr>
          <p:cNvPr id="14" name="Text 9"/>
          <p:cNvSpPr/>
          <p:nvPr/>
        </p:nvSpPr>
        <p:spPr>
          <a:xfrm>
            <a:off x="1545336" y="3931920"/>
            <a:ext cx="10058400" cy="402336"/>
          </a:xfrm>
          <a:prstGeom prst="rect">
            <a:avLst/>
          </a:prstGeom>
          <a:noFill/>
          <a:ln/>
        </p:spPr>
        <p:txBody>
          <a:bodyPr wrap="square" lIns="0" tIns="0" rIns="0" bIns="0" rtlCol="0" anchor="ctr"/>
          <a:lstStyle/>
          <a:p>
            <a:pPr indent="0" marL="0">
              <a:buNone/>
            </a:pPr>
            <a:r>
              <a:rPr lang="en-US" sz="1550" b="1" dirty="0">
                <a:solidFill>
                  <a:srgbClr val="3366FF"/>
                </a:solidFill>
                <a:latin typeface="Libre Franklin" pitchFamily="34" charset="0"/>
                <a:ea typeface="Libre Franklin" pitchFamily="34" charset="-122"/>
                <a:cs typeface="Libre Franklin" pitchFamily="34" charset="-120"/>
              </a:rPr>
              <a:t>3.  Do not default to demographic or knowledge targeting</a:t>
            </a:r>
            <a:endParaRPr lang="en-US" sz="1550" dirty="0"/>
          </a:p>
        </p:txBody>
      </p:sp>
      <p:sp>
        <p:nvSpPr>
          <p:cNvPr id="15" name="Text 10"/>
          <p:cNvSpPr/>
          <p:nvPr/>
        </p:nvSpPr>
        <p:spPr>
          <a:xfrm>
            <a:off x="1545336" y="4334256"/>
            <a:ext cx="9966960" cy="566928"/>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The profiles are not meaningfully separated by verified knowledge or by any displayed demographic, and no Values difference survives within-family FDR review.</a:t>
            </a:r>
            <a:endParaRPr lang="en-US" sz="1200" dirty="0"/>
          </a:p>
        </p:txBody>
      </p:sp>
      <p:sp>
        <p:nvSpPr>
          <p:cNvPr id="16" name="Shape 11"/>
          <p:cNvSpPr/>
          <p:nvPr/>
        </p:nvSpPr>
        <p:spPr>
          <a:xfrm>
            <a:off x="521208" y="5193792"/>
            <a:ext cx="786384" cy="786384"/>
          </a:xfrm>
          <a:prstGeom prst="ellipse">
            <a:avLst/>
          </a:prstGeom>
          <a:solidFill>
            <a:srgbClr val="E6EEFC"/>
          </a:solidFill>
          <a:ln/>
        </p:spPr>
      </p:sp>
      <p:pic>
        <p:nvPicPr>
          <p:cNvPr id="17" name="Image 3" descr="/sessions/ecstatic-gifted-franklin/mnt/.claude/skills/esd-lab/assets/icons/suite/icon-growth-chart-science-blue.png">    </p:cNvPr>
          <p:cNvPicPr>
            <a:picLocks noChangeAspect="1"/>
          </p:cNvPicPr>
          <p:nvPr/>
        </p:nvPicPr>
        <p:blipFill>
          <a:blip r:embed="rId4"/>
          <a:stretch>
            <a:fillRect/>
          </a:stretch>
        </p:blipFill>
        <p:spPr>
          <a:xfrm>
            <a:off x="676656" y="5349240"/>
            <a:ext cx="475488" cy="475488"/>
          </a:xfrm>
          <a:prstGeom prst="rect">
            <a:avLst/>
          </a:prstGeom>
        </p:spPr>
      </p:pic>
      <p:sp>
        <p:nvSpPr>
          <p:cNvPr id="18" name="Text 12"/>
          <p:cNvSpPr/>
          <p:nvPr/>
        </p:nvSpPr>
        <p:spPr>
          <a:xfrm>
            <a:off x="1545336" y="5138928"/>
            <a:ext cx="10058400" cy="402336"/>
          </a:xfrm>
          <a:prstGeom prst="rect">
            <a:avLst/>
          </a:prstGeom>
          <a:noFill/>
          <a:ln/>
        </p:spPr>
        <p:txBody>
          <a:bodyPr wrap="square" lIns="0" tIns="0" rIns="0" bIns="0" rtlCol="0" anchor="ctr"/>
          <a:lstStyle/>
          <a:p>
            <a:pPr indent="0" marL="0">
              <a:buNone/>
            </a:pPr>
            <a:r>
              <a:rPr lang="en-US" sz="1550" b="1" dirty="0">
                <a:solidFill>
                  <a:srgbClr val="3366FF"/>
                </a:solidFill>
                <a:latin typeface="Libre Franklin" pitchFamily="34" charset="0"/>
                <a:ea typeface="Libre Franklin" pitchFamily="34" charset="-122"/>
                <a:cs typeface="Libre Franklin" pitchFamily="34" charset="-120"/>
              </a:rPr>
              <a:t>4.  Validate before operational use</a:t>
            </a:r>
            <a:endParaRPr lang="en-US" sz="1550" dirty="0"/>
          </a:p>
        </p:txBody>
      </p:sp>
      <p:sp>
        <p:nvSpPr>
          <p:cNvPr id="19" name="Text 13"/>
          <p:cNvSpPr/>
          <p:nvPr/>
        </p:nvSpPr>
        <p:spPr>
          <a:xfrm>
            <a:off x="1545336" y="5541264"/>
            <a:ext cx="9966960" cy="566928"/>
          </a:xfrm>
          <a:prstGeom prst="rect">
            <a:avLst/>
          </a:prstGeom>
          <a:noFill/>
          <a:ln/>
        </p:spPr>
        <p:txBody>
          <a:bodyPr wrap="square" lIns="0" tIns="0" rIns="0" bIns="0" rtlCol="0" anchor="t"/>
          <a:lstStyle/>
          <a:p>
            <a:pPr indent="0" marL="0">
              <a:lnSpc>
                <a:spcPts val="1600"/>
              </a:lnSpc>
              <a:buNone/>
            </a:pPr>
            <a:r>
              <a:rPr lang="en-US" sz="1200" dirty="0">
                <a:solidFill>
                  <a:srgbClr val="000000"/>
                </a:solidFill>
                <a:latin typeface="Libre Franklin Medium" pitchFamily="34" charset="0"/>
                <a:ea typeface="Libre Franklin Medium" pitchFamily="34" charset="-122"/>
                <a:cs typeface="Libre Franklin Medium" pitchFamily="34" charset="-120"/>
              </a:rPr>
              <a:t>Confirm the behavior-age key, obtain the REDCap data dictionary and Values scoring, document the 135-ID cohort rule, and test tailored messaging prospectively.</a:t>
            </a:r>
            <a:endParaRPr lang="en-US" sz="1200" dirty="0"/>
          </a:p>
        </p:txBody>
      </p:sp>
      <p:sp>
        <p:nvSpPr>
          <p:cNvPr id="20" name="Text 14"/>
          <p:cNvSpPr/>
          <p:nvPr/>
        </p:nvSpPr>
        <p:spPr>
          <a:xfrm>
            <a:off x="502920" y="6327648"/>
            <a:ext cx="9692640" cy="329184"/>
          </a:xfrm>
          <a:prstGeom prst="rect">
            <a:avLst/>
          </a:prstGeom>
          <a:noFill/>
          <a:ln/>
        </p:spPr>
        <p:txBody>
          <a:bodyPr wrap="square" lIns="0" tIns="0" rIns="0" bIns="0" rtlCol="0" anchor="ctr"/>
          <a:lstStyle/>
          <a:p>
            <a:pPr indent="0" marL="0">
              <a:buNone/>
            </a:pPr>
            <a:r>
              <a:rPr lang="en-US" sz="850" dirty="0">
                <a:solidFill>
                  <a:srgbClr val="000000"/>
                </a:solidFill>
                <a:latin typeface="Libre Franklin Medium" pitchFamily="34" charset="0"/>
                <a:ea typeface="Libre Franklin Medium" pitchFamily="34" charset="-122"/>
                <a:cs typeface="Libre Franklin Medium" pitchFamily="34" charset="-120"/>
              </a:rPr>
              <a:t>Notebook takeaways section, reproduced in full</a:t>
            </a:r>
            <a:endParaRPr lang="en-US" sz="850" dirty="0"/>
          </a:p>
        </p:txBody>
      </p:sp>
      <p:pic>
        <p:nvPicPr>
          <p:cNvPr id="21" name="Image 4" descr="/sessions/ecstatic-gifted-franklin/mnt/.claude/skills/esd-lab/assets/logos/wordmark-discovery-blue.png">    </p:cNvPr>
          <p:cNvPicPr>
            <a:picLocks noChangeAspect="1"/>
          </p:cNvPicPr>
          <p:nvPr/>
        </p:nvPicPr>
        <p:blipFill>
          <a:blip r:embed="rId5"/>
          <a:stretch>
            <a:fillRect/>
          </a:stretch>
        </p:blipFill>
        <p:spPr>
          <a:xfrm>
            <a:off x="11228832" y="6272784"/>
            <a:ext cx="420624" cy="393192"/>
          </a:xfrm>
          <a:prstGeom prst="rect">
            <a:avLst/>
          </a:prstGeom>
        </p:spPr>
      </p:pic>
      <p:sp>
        <p:nvSpPr>
          <p:cNvPr id="22" name="Text 15"/>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8778240" cy="237744"/>
          </a:xfrm>
          <a:prstGeom prst="rect">
            <a:avLst/>
          </a:prstGeom>
          <a:noFill/>
          <a:ln/>
        </p:spPr>
        <p:txBody>
          <a:bodyPr wrap="square" lIns="0" tIns="0" rIns="0" bIns="0" rtlCol="0" anchor="ctr"/>
          <a:lstStyle/>
          <a:p>
            <a:pPr indent="0" marL="0">
              <a:buNone/>
            </a:pPr>
            <a:r>
              <a:rPr lang="en-US" sz="1100" b="1" spc="110" kern="0" dirty="0">
                <a:solidFill>
                  <a:srgbClr val="F57F00"/>
                </a:solidFill>
                <a:latin typeface="Libre Franklin" pitchFamily="34" charset="0"/>
                <a:ea typeface="Libre Franklin" pitchFamily="34" charset="-122"/>
                <a:cs typeface="Libre Franklin" pitchFamily="34" charset="-120"/>
              </a:rPr>
              <a:t>REPRODUCIBILITY</a:t>
            </a:r>
            <a:endParaRPr lang="en-US" sz="1100" dirty="0"/>
          </a:p>
        </p:txBody>
      </p:sp>
      <p:sp>
        <p:nvSpPr>
          <p:cNvPr id="3" name="Text 1"/>
          <p:cNvSpPr/>
          <p:nvPr/>
        </p:nvSpPr>
        <p:spPr>
          <a:xfrm>
            <a:off x="502920" y="585216"/>
            <a:ext cx="11155680" cy="566928"/>
          </a:xfrm>
          <a:prstGeom prst="rect">
            <a:avLst/>
          </a:prstGeom>
          <a:noFill/>
          <a:ln/>
        </p:spPr>
        <p:txBody>
          <a:bodyPr wrap="square" lIns="0" tIns="0" rIns="0" bIns="0" rtlCol="0" anchor="t"/>
          <a:lstStyle/>
          <a:p>
            <a:pPr indent="0" marL="0">
              <a:buNone/>
            </a:pPr>
            <a:r>
              <a:rPr lang="en-US" sz="2700" b="1" spc="-20" kern="0" dirty="0">
                <a:solidFill>
                  <a:srgbClr val="3366FF"/>
                </a:solidFill>
                <a:latin typeface="Libre Franklin" pitchFamily="34" charset="0"/>
                <a:ea typeface="Libre Franklin" pitchFamily="34" charset="-122"/>
                <a:cs typeface="Libre Franklin" pitchFamily="34" charset="-120"/>
              </a:rPr>
              <a:t>Environment, parameters and exported artifacts</a:t>
            </a:r>
            <a:endParaRPr lang="en-US" sz="2700" dirty="0"/>
          </a:p>
        </p:txBody>
      </p:sp>
      <p:sp>
        <p:nvSpPr>
          <p:cNvPr id="4" name="Text 2"/>
          <p:cNvSpPr/>
          <p:nvPr/>
        </p:nvSpPr>
        <p:spPr>
          <a:xfrm>
            <a:off x="502920" y="1371600"/>
            <a:ext cx="5120640" cy="292608"/>
          </a:xfrm>
          <a:prstGeom prst="rect">
            <a:avLst/>
          </a:prstGeom>
          <a:noFill/>
          <a:ln/>
        </p:spPr>
        <p:txBody>
          <a:bodyPr wrap="square" lIns="0" tIns="0" rIns="0" bIns="0" rtlCol="0" anchor="ctr"/>
          <a:lstStyle/>
          <a:p>
            <a:pPr indent="0" marL="0">
              <a:buNone/>
            </a:pPr>
            <a:r>
              <a:rPr lang="en-US" sz="1450" b="1" dirty="0">
                <a:solidFill>
                  <a:srgbClr val="3366FF"/>
                </a:solidFill>
                <a:latin typeface="Libre Franklin" pitchFamily="34" charset="0"/>
                <a:ea typeface="Libre Franklin" pitchFamily="34" charset="-122"/>
                <a:cs typeface="Libre Franklin" pitchFamily="34" charset="-120"/>
              </a:rPr>
              <a:t>Computational environment</a:t>
            </a:r>
            <a:endParaRPr lang="en-US" sz="14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719072"/>
          <a:ext cx="5120640" cy="914400"/>
        </p:xfrm>
        <a:graphic>
          <a:graphicData uri="http://schemas.openxmlformats.org/drawingml/2006/table">
            <a:tbl>
              <a:tblPr/>
              <a:tblGrid>
                <a:gridCol w="3200400"/>
                <a:gridCol w="1920240"/>
              </a:tblGrid>
              <a:tr h="310896">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Component</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Version</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Python</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3.12.13</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pandas</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3.0.3</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NumPy</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2.5.1</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SciPy</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1.18.0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scikit-learn</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1.9.0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Matplotlib</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3.11.1</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bl>
          </a:graphicData>
        </a:graphic>
      </p:graphicFrame>
      <p:sp>
        <p:nvSpPr>
          <p:cNvPr id="6" name="Text 3"/>
          <p:cNvSpPr/>
          <p:nvPr/>
        </p:nvSpPr>
        <p:spPr>
          <a:xfrm>
            <a:off x="502920" y="4114800"/>
            <a:ext cx="5120640" cy="292608"/>
          </a:xfrm>
          <a:prstGeom prst="rect">
            <a:avLst/>
          </a:prstGeom>
          <a:noFill/>
          <a:ln/>
        </p:spPr>
        <p:txBody>
          <a:bodyPr wrap="square" lIns="0" tIns="0" rIns="0" bIns="0" rtlCol="0" anchor="ctr"/>
          <a:lstStyle/>
          <a:p>
            <a:pPr indent="0" marL="0">
              <a:buNone/>
            </a:pPr>
            <a:r>
              <a:rPr lang="en-US" sz="1450" b="1" dirty="0">
                <a:solidFill>
                  <a:srgbClr val="3366FF"/>
                </a:solidFill>
                <a:latin typeface="Libre Franklin" pitchFamily="34" charset="0"/>
                <a:ea typeface="Libre Franklin" pitchFamily="34" charset="-122"/>
                <a:cs typeface="Libre Franklin" pitchFamily="34" charset="-120"/>
              </a:rPr>
              <a:t>Analysis parameters</a:t>
            </a:r>
            <a:endParaRPr lang="en-US" sz="145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502920" y="4462272"/>
          <a:ext cx="5120640" cy="914400"/>
        </p:xfrm>
        <a:graphic>
          <a:graphicData uri="http://schemas.openxmlformats.org/drawingml/2006/table">
            <a:tbl>
              <a:tblPr/>
              <a:tblGrid>
                <a:gridCol w="3200400"/>
                <a:gridCol w="1920240"/>
              </a:tblGrid>
              <a:tr h="310896">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Parameter</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c>
                  <a:txBody>
                    <a:bodyPr/>
                    <a:lstStyle/>
                    <a:p>
                      <a:pPr algn="ctr" indent="0" marL="0">
                        <a:buNone/>
                      </a:pPr>
                      <a:r>
                        <a:rPr lang="en-US" sz="1050" b="1" dirty="0">
                          <a:solidFill>
                            <a:srgbClr val="F4F4F6"/>
                          </a:solidFill>
                          <a:latin typeface="Libre Franklin" pitchFamily="34" charset="0"/>
                          <a:ea typeface="Libre Franklin" pitchFamily="34" charset="-122"/>
                          <a:cs typeface="Libre Franklin" pitchFamily="34" charset="-120"/>
                        </a:rPr>
                        <a:t>Value</a:t>
                      </a:r>
                      <a:endParaRPr lang="en-US" sz="1050" dirty="0">
                        <a:latin typeface="Libre Franklin" charset="0"/>
                        <a:ea typeface="Libre Franklin" charset="0"/>
                        <a:cs typeface="Libre Franklin"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3366FF"/>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SEED</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20260725</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K-means n_init</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100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Stability repeats (80% subsample)</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100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Gap-statistic references</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100</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E6EEFC"/>
                    </a:solidFill>
                  </a:tcPr>
                </a:tc>
              </a:tr>
              <a:tr h="310896">
                <a:tc>
                  <a:txBody>
                    <a:bodyPr/>
                    <a:lstStyle/>
                    <a:p>
                      <a:pPr algn="l"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Multiplicity control</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00000"/>
                          </a:solidFill>
                          <a:latin typeface="Libre Franklin Medium" pitchFamily="34" charset="0"/>
                          <a:ea typeface="Libre Franklin Medium" pitchFamily="34" charset="-122"/>
                          <a:cs typeface="Libre Franklin Medium" pitchFamily="34" charset="-120"/>
                        </a:rPr>
                        <a:t>Benjamini–Hochberg, within family</a:t>
                      </a:r>
                      <a:endParaRPr lang="en-US" sz="1100" dirty="0">
                        <a:latin typeface="Libre Franklin Medium" charset="0"/>
                        <a:ea typeface="Libre Franklin Medium" charset="0"/>
                        <a:cs typeface="Libre Franklin Medium" charset="0"/>
                      </a:endParaRPr>
                    </a:p>
                  </a:txBody>
                  <a:tcPr marL="38100" marR="38100" marT="38100" marB="38100" anchor="ctr">
                    <a:lnL w="6350" cap="flat" cmpd="sng" algn="ctr">
                      <a:solidFill>
                        <a:srgbClr val="91BAF4"/>
                      </a:solidFill>
                      <a:prstDash val="solid"/>
                      <a:round/>
                      <a:headEnd type="none" w="med" len="med"/>
                      <a:tailEnd type="none" w="med" len="med"/>
                    </a:lnL>
                    <a:lnR w="6350" cap="flat" cmpd="sng" algn="ctr">
                      <a:solidFill>
                        <a:srgbClr val="91BAF4"/>
                      </a:solidFill>
                      <a:prstDash val="solid"/>
                      <a:round/>
                      <a:headEnd type="none" w="med" len="med"/>
                      <a:tailEnd type="none" w="med" len="med"/>
                    </a:lnR>
                    <a:lnT w="6350" cap="flat" cmpd="sng" algn="ctr">
                      <a:solidFill>
                        <a:srgbClr val="91BAF4"/>
                      </a:solidFill>
                      <a:prstDash val="solid"/>
                      <a:round/>
                      <a:headEnd type="none" w="med" len="med"/>
                      <a:tailEnd type="none" w="med" len="med"/>
                    </a:lnT>
                    <a:lnB w="6350" cap="flat" cmpd="sng" algn="ctr">
                      <a:solidFill>
                        <a:srgbClr val="91BAF4"/>
                      </a:solidFill>
                      <a:prstDash val="solid"/>
                      <a:round/>
                      <a:headEnd type="none" w="med" len="med"/>
                      <a:tailEnd type="none" w="med" len="med"/>
                    </a:lnB>
                    <a:solidFill>
                      <a:srgbClr val="FFFFFF"/>
                    </a:solidFill>
                  </a:tcPr>
                </a:tc>
              </a:tr>
            </a:tbl>
          </a:graphicData>
        </a:graphic>
      </p:graphicFrame>
      <p:sp>
        <p:nvSpPr>
          <p:cNvPr id="8" name="Shape 4"/>
          <p:cNvSpPr/>
          <p:nvPr/>
        </p:nvSpPr>
        <p:spPr>
          <a:xfrm>
            <a:off x="6208776" y="1371600"/>
            <a:ext cx="5477256" cy="4700016"/>
          </a:xfrm>
          <a:prstGeom prst="roundRect">
            <a:avLst>
              <a:gd name="adj" fmla="val 2724"/>
            </a:avLst>
          </a:prstGeom>
          <a:solidFill>
            <a:srgbClr val="E6EEFC"/>
          </a:solidFill>
          <a:ln/>
        </p:spPr>
      </p:sp>
      <p:sp>
        <p:nvSpPr>
          <p:cNvPr id="9" name="Text 5"/>
          <p:cNvSpPr/>
          <p:nvPr/>
        </p:nvSpPr>
        <p:spPr>
          <a:xfrm>
            <a:off x="6483096" y="1572768"/>
            <a:ext cx="4937760" cy="310896"/>
          </a:xfrm>
          <a:prstGeom prst="rect">
            <a:avLst/>
          </a:prstGeom>
          <a:noFill/>
          <a:ln/>
        </p:spPr>
        <p:txBody>
          <a:bodyPr wrap="square" lIns="0" tIns="0" rIns="0" bIns="0" rtlCol="0" anchor="ctr"/>
          <a:lstStyle/>
          <a:p>
            <a:pPr indent="0" marL="0">
              <a:buNone/>
            </a:pPr>
            <a:r>
              <a:rPr lang="en-US" sz="1450" b="1" dirty="0">
                <a:solidFill>
                  <a:srgbClr val="3366FF"/>
                </a:solidFill>
                <a:latin typeface="Libre Franklin" pitchFamily="34" charset="0"/>
                <a:ea typeface="Libre Franklin" pitchFamily="34" charset="-122"/>
                <a:cs typeface="Libre Franklin" pitchFamily="34" charset="-120"/>
              </a:rPr>
              <a:t>Exported artifacts (output_manifest.csv)</a:t>
            </a:r>
            <a:endParaRPr lang="en-US" sz="1450" dirty="0"/>
          </a:p>
        </p:txBody>
      </p:sp>
      <p:sp>
        <p:nvSpPr>
          <p:cNvPr id="10" name="Text 6"/>
          <p:cNvSpPr/>
          <p:nvPr/>
        </p:nvSpPr>
        <p:spPr>
          <a:xfrm>
            <a:off x="6483096" y="1993392"/>
            <a:ext cx="4937760" cy="23774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000000"/>
                </a:solidFill>
                <a:latin typeface="Libre Franklin Medium" pitchFamily="34" charset="0"/>
                <a:ea typeface="Libre Franklin Medium" pitchFamily="34" charset="-122"/>
                <a:cs typeface="Libre Franklin Medium" pitchFamily="34" charset="-120"/>
              </a:rPr>
              <a:t>12 aggregate CSV tables, each row- and column-counted with a SHA-256 prefix</a:t>
            </a:r>
            <a:endParaRPr lang="en-US" sz="1200" dirty="0"/>
          </a:p>
          <a:p>
            <a:pPr marL="342900" indent="-342900">
              <a:spcAft>
                <a:spcPts val="800"/>
              </a:spcAft>
              <a:buSzPct val="100000"/>
              <a:buChar char="•"/>
            </a:pPr>
            <a:r>
              <a:rPr lang="en-US" sz="1200" dirty="0">
                <a:solidFill>
                  <a:srgbClr val="000000"/>
                </a:solidFill>
                <a:latin typeface="Libre Franklin Medium" pitchFamily="34" charset="0"/>
                <a:ea typeface="Libre Franklin Medium" pitchFamily="34" charset="-122"/>
                <a:cs typeface="Libre Franklin Medium" pitchFamily="34" charset="-120"/>
              </a:rPr>
              <a:t>6 figures exported as both PNG (240 dpi) and vector PDF</a:t>
            </a:r>
            <a:endParaRPr lang="en-US" sz="1200" dirty="0"/>
          </a:p>
          <a:p>
            <a:pPr marL="342900" indent="-342900">
              <a:spcAft>
                <a:spcPts val="800"/>
              </a:spcAft>
              <a:buSzPct val="100000"/>
              <a:buChar char="•"/>
            </a:pPr>
            <a:r>
              <a:rPr lang="en-US" sz="1200" dirty="0">
                <a:solidFill>
                  <a:srgbClr val="000000"/>
                </a:solidFill>
                <a:latin typeface="Libre Franklin Medium" pitchFamily="34" charset="0"/>
                <a:ea typeface="Libre Franklin Medium" pitchFamily="34" charset="-122"/>
                <a:cs typeface="Libre Franklin Medium" pitchFamily="34" charset="-120"/>
              </a:rPr>
              <a:t>Every table in this deck maps 1:1 to a file in Caregiver Outputs</a:t>
            </a:r>
            <a:endParaRPr lang="en-US" sz="1200" dirty="0"/>
          </a:p>
          <a:p>
            <a:pPr marL="342900" indent="-342900">
              <a:spcAft>
                <a:spcPts val="800"/>
              </a:spcAft>
              <a:buSzPct val="100000"/>
              <a:buChar char="•"/>
            </a:pPr>
            <a:r>
              <a:rPr lang="en-US" sz="1200" dirty="0">
                <a:solidFill>
                  <a:srgbClr val="000000"/>
                </a:solidFill>
                <a:latin typeface="Libre Franklin Medium" pitchFamily="34" charset="0"/>
                <a:ea typeface="Libre Franklin Medium" pitchFamily="34" charset="-122"/>
                <a:cs typeface="Libre Franklin Medium" pitchFamily="34" charset="-120"/>
              </a:rPr>
              <a:t>No row-level or identifiable data is exported anywhere</a:t>
            </a:r>
            <a:endParaRPr lang="en-US" sz="1200" dirty="0"/>
          </a:p>
          <a:p>
            <a:pPr marL="342900" indent="-342900">
              <a:spcAft>
                <a:spcPts val="800"/>
              </a:spcAft>
              <a:buSzPct val="100000"/>
              <a:buChar char="•"/>
            </a:pPr>
            <a:r>
              <a:rPr lang="en-US" sz="1200" dirty="0">
                <a:solidFill>
                  <a:srgbClr val="000000"/>
                </a:solidFill>
                <a:latin typeface="Libre Franklin Medium" pitchFamily="34" charset="0"/>
                <a:ea typeface="Libre Franklin Medium" pitchFamily="34" charset="-122"/>
                <a:cs typeface="Libre Franklin Medium" pitchFamily="34" charset="-120"/>
              </a:rPr>
              <a:t>Binary demographic cells with event or complement counts below 5 are suppressed</a:t>
            </a:r>
            <a:endParaRPr lang="en-US" sz="1200" dirty="0"/>
          </a:p>
          <a:p>
            <a:pPr marL="342900" indent="-342900">
              <a:spcAft>
                <a:spcPts val="800"/>
              </a:spcAft>
              <a:buSzPct val="100000"/>
              <a:buChar char="•"/>
            </a:pPr>
            <a:r>
              <a:rPr lang="en-US" sz="1200" dirty="0">
                <a:solidFill>
                  <a:srgbClr val="000000"/>
                </a:solidFill>
                <a:latin typeface="Libre Franklin Medium" pitchFamily="34" charset="0"/>
                <a:ea typeface="Libre Franklin Medium" pitchFamily="34" charset="-122"/>
                <a:cs typeface="Libre Franklin Medium" pitchFamily="34" charset="-120"/>
              </a:rPr>
              <a:t>Notebook: caregiver_cluster_analysis.ipynb (33 cells, runs top to bottom)</a:t>
            </a:r>
            <a:endParaRPr lang="en-US" sz="1200" dirty="0"/>
          </a:p>
        </p:txBody>
      </p:sp>
      <p:sp>
        <p:nvSpPr>
          <p:cNvPr id="11" name="Shape 7"/>
          <p:cNvSpPr/>
          <p:nvPr/>
        </p:nvSpPr>
        <p:spPr>
          <a:xfrm>
            <a:off x="6483096" y="4517136"/>
            <a:ext cx="4928616" cy="1316736"/>
          </a:xfrm>
          <a:prstGeom prst="roundRect">
            <a:avLst>
              <a:gd name="adj" fmla="val 8333"/>
            </a:avLst>
          </a:prstGeom>
          <a:solidFill>
            <a:srgbClr val="3366FF"/>
          </a:solidFill>
          <a:ln/>
        </p:spPr>
      </p:sp>
      <p:pic>
        <p:nvPicPr>
          <p:cNvPr id="12" name="Image 0" descr="/sessions/ecstatic-gifted-franklin/mnt/outputs/gen/icon-checklist-cw.png">    </p:cNvPr>
          <p:cNvPicPr>
            <a:picLocks noChangeAspect="1"/>
          </p:cNvPicPr>
          <p:nvPr/>
        </p:nvPicPr>
        <p:blipFill>
          <a:blip r:embed="rId1">
            <a:alphaModFix amt="75000"/>
          </a:blip>
          <a:stretch>
            <a:fillRect/>
          </a:stretch>
        </p:blipFill>
        <p:spPr>
          <a:xfrm>
            <a:off x="10607040" y="4974336"/>
            <a:ext cx="548640" cy="548640"/>
          </a:xfrm>
          <a:prstGeom prst="rect">
            <a:avLst/>
          </a:prstGeom>
        </p:spPr>
      </p:pic>
      <p:sp>
        <p:nvSpPr>
          <p:cNvPr id="13" name="Text 8"/>
          <p:cNvSpPr/>
          <p:nvPr/>
        </p:nvSpPr>
        <p:spPr>
          <a:xfrm>
            <a:off x="6739128" y="4626864"/>
            <a:ext cx="3749040" cy="1097280"/>
          </a:xfrm>
          <a:prstGeom prst="rect">
            <a:avLst/>
          </a:prstGeom>
          <a:noFill/>
          <a:ln/>
        </p:spPr>
        <p:txBody>
          <a:bodyPr wrap="square" lIns="0" tIns="0" rIns="0" bIns="0" rtlCol="0" anchor="ctr"/>
          <a:lstStyle/>
          <a:p>
            <a:pPr indent="0" marL="0">
              <a:lnSpc>
                <a:spcPts val="1600"/>
              </a:lnSpc>
              <a:buNone/>
            </a:pPr>
            <a:r>
              <a:rPr lang="en-US" sz="1150" dirty="0">
                <a:solidFill>
                  <a:srgbClr val="E6EEFC"/>
                </a:solidFill>
                <a:latin typeface="Libre Franklin Medium" pitchFamily="34" charset="0"/>
                <a:ea typeface="Libre Franklin Medium" pitchFamily="34" charset="-122"/>
                <a:cs typeface="Libre Franklin Medium" pitchFamily="34" charset="-120"/>
              </a:rPr>
              <a:t>Fixed seed, 100 initializations, and hashed inputs mean this deck can be regenerated from the notebook and audited against the same files.</a:t>
            </a:r>
            <a:endParaRPr lang="en-US" sz="1150" dirty="0"/>
          </a:p>
        </p:txBody>
      </p:sp>
      <p:pic>
        <p:nvPicPr>
          <p:cNvPr id="14" name="Image 1" descr="/sessions/ecstatic-gifted-franklin/mnt/.claude/skills/esd-lab/assets/logos/wordmark-discovery-blue.png">    </p:cNvPr>
          <p:cNvPicPr>
            <a:picLocks noChangeAspect="1"/>
          </p:cNvPicPr>
          <p:nvPr/>
        </p:nvPicPr>
        <p:blipFill>
          <a:blip r:embed="rId2"/>
          <a:stretch>
            <a:fillRect/>
          </a:stretch>
        </p:blipFill>
        <p:spPr>
          <a:xfrm>
            <a:off x="11228832" y="6272784"/>
            <a:ext cx="420624" cy="393192"/>
          </a:xfrm>
          <a:prstGeom prst="rect">
            <a:avLst/>
          </a:prstGeom>
        </p:spPr>
      </p:pic>
      <p:sp>
        <p:nvSpPr>
          <p:cNvPr id="15" name="Text 9"/>
          <p:cNvSpPr/>
          <p:nvPr/>
        </p:nvSpPr>
        <p:spPr>
          <a:xfrm>
            <a:off x="11649456" y="6272784"/>
            <a:ext cx="310896" cy="393192"/>
          </a:xfrm>
          <a:prstGeom prst="rect">
            <a:avLst/>
          </a:prstGeom>
          <a:noFill/>
          <a:ln/>
        </p:spPr>
        <p:txBody>
          <a:bodyPr wrap="square" lIns="0" tIns="0" rIns="0" bIns="0" rtlCol="0" anchor="ctr"/>
          <a:lstStyle/>
          <a:p>
            <a:pPr algn="r" indent="0" marL="0">
              <a:buNone/>
            </a:pPr>
            <a:r>
              <a:rPr lang="en-US" sz="950" b="1" dirty="0">
                <a:solidFill>
                  <a:srgbClr val="3366FF"/>
                </a:solidFill>
                <a:latin typeface="Libre Franklin Medium" pitchFamily="34" charset="0"/>
                <a:ea typeface="Libre Franklin Medium" pitchFamily="34" charset="-122"/>
                <a:cs typeface="Libre Franklin Medium"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6EEFC"/>
        </a:solidFill>
      </p:bgPr>
    </p:bg>
    <p:spTree>
      <p:nvGrpSpPr>
        <p:cNvPr id="1" name=""/>
        <p:cNvGrpSpPr/>
        <p:nvPr/>
      </p:nvGrpSpPr>
      <p:grpSpPr>
        <a:xfrm>
          <a:off x="0" y="0"/>
          <a:ext cx="0" cy="0"/>
          <a:chOff x="0" y="0"/>
          <a:chExt cx="0" cy="0"/>
        </a:xfrm>
      </p:grpSpPr>
      <p:pic>
        <p:nvPicPr>
          <p:cNvPr id="2" name="Image 0" descr="/sessions/ecstatic-gifted-franklin/mnt/.claude/skills/esd-lab/assets/patterns/pattern-brain-duck-discovery-blue.png">    </p:cNvPr>
          <p:cNvPicPr>
            <a:picLocks noChangeAspect="1"/>
          </p:cNvPicPr>
          <p:nvPr/>
        </p:nvPicPr>
        <p:blipFill>
          <a:blip r:embed="rId1">
            <a:alphaModFix amt="12000"/>
          </a:blip>
          <a:stretch>
            <a:fillRect/>
          </a:stretch>
        </p:blipFill>
        <p:spPr>
          <a:xfrm>
            <a:off x="-548640" y="4160520"/>
            <a:ext cx="13350240" cy="3108960"/>
          </a:xfrm>
          <a:prstGeom prst="rect">
            <a:avLst/>
          </a:prstGeom>
        </p:spPr>
      </p:pic>
      <p:pic>
        <p:nvPicPr>
          <p:cNvPr id="3" name="Image 1" descr="/sessions/ecstatic-gifted-franklin/mnt/.claude/skills/esd-lab/assets/logos/logo-horizontal-discovery-blue.png">    </p:cNvPr>
          <p:cNvPicPr>
            <a:picLocks noChangeAspect="1"/>
          </p:cNvPicPr>
          <p:nvPr/>
        </p:nvPicPr>
        <p:blipFill>
          <a:blip r:embed="rId2"/>
          <a:stretch>
            <a:fillRect/>
          </a:stretch>
        </p:blipFill>
        <p:spPr>
          <a:xfrm>
            <a:off x="502920" y="566928"/>
            <a:ext cx="2286000" cy="1072591"/>
          </a:xfrm>
          <a:prstGeom prst="rect">
            <a:avLst/>
          </a:prstGeom>
        </p:spPr>
      </p:pic>
      <p:pic>
        <p:nvPicPr>
          <p:cNvPr id="4" name="Image 2" descr="/sessions/ecstatic-gifted-franklin/mnt/.claude/skills/esd-lab/assets/logos/uofsc-horizontal-garnet.png">    </p:cNvPr>
          <p:cNvPicPr>
            <a:picLocks noChangeAspect="1"/>
          </p:cNvPicPr>
          <p:nvPr/>
        </p:nvPicPr>
        <p:blipFill>
          <a:blip r:embed="rId3"/>
          <a:stretch>
            <a:fillRect/>
          </a:stretch>
        </p:blipFill>
        <p:spPr>
          <a:xfrm>
            <a:off x="3090672" y="873252"/>
            <a:ext cx="3108960" cy="459943"/>
          </a:xfrm>
          <a:prstGeom prst="rect">
            <a:avLst/>
          </a:prstGeom>
        </p:spPr>
      </p:pic>
      <p:sp>
        <p:nvSpPr>
          <p:cNvPr id="5" name="Text 0"/>
          <p:cNvSpPr/>
          <p:nvPr/>
        </p:nvSpPr>
        <p:spPr>
          <a:xfrm>
            <a:off x="502920" y="2212848"/>
            <a:ext cx="8229600" cy="786384"/>
          </a:xfrm>
          <a:prstGeom prst="rect">
            <a:avLst/>
          </a:prstGeom>
          <a:noFill/>
          <a:ln/>
        </p:spPr>
        <p:txBody>
          <a:bodyPr wrap="square" lIns="0" tIns="0" rIns="0" bIns="0" rtlCol="0" anchor="ctr"/>
          <a:lstStyle/>
          <a:p>
            <a:pPr indent="0" marL="0">
              <a:buNone/>
            </a:pPr>
            <a:r>
              <a:rPr lang="en-US" sz="4000" b="1" spc="-40" kern="0" dirty="0">
                <a:solidFill>
                  <a:srgbClr val="3366FF"/>
                </a:solidFill>
                <a:latin typeface="Libre Franklin" pitchFamily="34" charset="0"/>
                <a:ea typeface="Libre Franklin" pitchFamily="34" charset="-122"/>
                <a:cs typeface="Libre Franklin" pitchFamily="34" charset="-120"/>
              </a:rPr>
              <a:t>Discussion</a:t>
            </a:r>
            <a:endParaRPr lang="en-US" sz="4000" dirty="0"/>
          </a:p>
        </p:txBody>
      </p:sp>
      <p:sp>
        <p:nvSpPr>
          <p:cNvPr id="6" name="Text 1"/>
          <p:cNvSpPr/>
          <p:nvPr/>
        </p:nvSpPr>
        <p:spPr>
          <a:xfrm>
            <a:off x="502920" y="3127248"/>
            <a:ext cx="6766560" cy="1828800"/>
          </a:xfrm>
          <a:prstGeom prst="rect">
            <a:avLst/>
          </a:prstGeom>
          <a:noFill/>
          <a:ln/>
        </p:spPr>
        <p:txBody>
          <a:bodyPr wrap="square" lIns="0" tIns="0" rIns="0" bIns="0" rtlCol="0" anchor="ctr"/>
          <a:lstStyle/>
          <a:p>
            <a:pPr indent="0" marL="0">
              <a:spcAft>
                <a:spcPts val="700"/>
              </a:spcAft>
              <a:buNone/>
            </a:pPr>
            <a:r>
              <a:rPr lang="en-US" sz="1400" b="1" dirty="0">
                <a:solidFill>
                  <a:srgbClr val="3366FF"/>
                </a:solidFill>
                <a:latin typeface="Libre Franklin Medium" pitchFamily="34" charset="0"/>
                <a:ea typeface="Libre Franklin Medium" pitchFamily="34" charset="-122"/>
                <a:cs typeface="Libre Franklin Medium" pitchFamily="34" charset="-120"/>
              </a:rPr>
              <a:t>Four things I need before this goes further:</a:t>
            </a:r>
            <a:endParaRPr lang="en-US" sz="1400" dirty="0"/>
          </a:p>
          <a:p>
            <a:pPr marL="342900" indent="-342900">
              <a:spcAft>
                <a:spcPts val="700"/>
              </a:spcAft>
              <a:buSzPct val="100000"/>
              <a:buChar char="•"/>
            </a:pPr>
            <a:r>
              <a:rPr lang="en-US" sz="1400" dirty="0">
                <a:solidFill>
                  <a:srgbClr val="000000"/>
                </a:solidFill>
                <a:latin typeface="Libre Franklin Medium" pitchFamily="34" charset="0"/>
                <a:ea typeface="Libre Franklin Medium" pitchFamily="34" charset="-122"/>
                <a:cs typeface="Libre Franklin Medium" pitchFamily="34" charset="-120"/>
              </a:rPr>
              <a:t>The REDCap data dictionary and slider anchors</a:t>
            </a:r>
            <a:endParaRPr lang="en-US" sz="1400" dirty="0"/>
          </a:p>
          <a:p>
            <a:pPr marL="342900" indent="-342900">
              <a:spcAft>
                <a:spcPts val="700"/>
              </a:spcAft>
              <a:buSzPct val="100000"/>
              <a:buChar char="•"/>
            </a:pPr>
            <a:r>
              <a:rPr lang="en-US" sz="1400" dirty="0">
                <a:solidFill>
                  <a:srgbClr val="000000"/>
                </a:solidFill>
                <a:latin typeface="Libre Franklin Medium" pitchFamily="34" charset="0"/>
                <a:ea typeface="Libre Franklin Medium" pitchFamily="34" charset="-122"/>
                <a:cs typeface="Libre Franklin Medium" pitchFamily="34" charset="-120"/>
              </a:rPr>
              <a:t>The Values scoring and centering formula</a:t>
            </a:r>
            <a:endParaRPr lang="en-US" sz="1400" dirty="0"/>
          </a:p>
          <a:p>
            <a:pPr marL="342900" indent="-342900">
              <a:spcAft>
                <a:spcPts val="700"/>
              </a:spcAft>
              <a:buSzPct val="100000"/>
              <a:buChar char="•"/>
            </a:pPr>
            <a:r>
              <a:rPr lang="en-US" sz="1400" dirty="0">
                <a:solidFill>
                  <a:srgbClr val="000000"/>
                </a:solidFill>
                <a:latin typeface="Libre Franklin Medium" pitchFamily="34" charset="0"/>
                <a:ea typeface="Libre Franklin Medium" pitchFamily="34" charset="-122"/>
                <a:cs typeface="Libre Franklin Medium" pitchFamily="34" charset="-120"/>
              </a:rPr>
              <a:t>The verified key for tfa_behavior_age</a:t>
            </a:r>
            <a:endParaRPr lang="en-US" sz="1400" dirty="0"/>
          </a:p>
          <a:p>
            <a:pPr marL="342900" indent="-342900">
              <a:spcAft>
                <a:spcPts val="700"/>
              </a:spcAft>
              <a:buSzPct val="100000"/>
              <a:buChar char="•"/>
            </a:pPr>
            <a:r>
              <a:rPr lang="en-US" sz="1400" dirty="0">
                <a:solidFill>
                  <a:srgbClr val="000000"/>
                </a:solidFill>
                <a:latin typeface="Libre Franklin Medium" pitchFamily="34" charset="0"/>
                <a:ea typeface="Libre Franklin Medium" pitchFamily="34" charset="-122"/>
                <a:cs typeface="Libre Franklin Medium" pitchFamily="34" charset="-120"/>
              </a:rPr>
              <a:t>A written rule for how the 135-ID cohort was selected</a:t>
            </a:r>
            <a:endParaRPr lang="en-US" sz="1400" dirty="0"/>
          </a:p>
        </p:txBody>
      </p:sp>
      <p:sp>
        <p:nvSpPr>
          <p:cNvPr id="7" name="Shape 2"/>
          <p:cNvSpPr/>
          <p:nvPr/>
        </p:nvSpPr>
        <p:spPr>
          <a:xfrm>
            <a:off x="7571232" y="2286000"/>
            <a:ext cx="4114800" cy="2560320"/>
          </a:xfrm>
          <a:prstGeom prst="roundRect">
            <a:avLst>
              <a:gd name="adj" fmla="val 5714"/>
            </a:avLst>
          </a:prstGeom>
          <a:solidFill>
            <a:srgbClr val="3366FF"/>
          </a:solidFill>
          <a:ln/>
        </p:spPr>
      </p:sp>
      <p:pic>
        <p:nvPicPr>
          <p:cNvPr id="8" name="Image 3" descr="/sessions/ecstatic-gifted-franklin/mnt/outputs/gen/sunburst-cw.png">    </p:cNvPr>
          <p:cNvPicPr>
            <a:picLocks noChangeAspect="1"/>
          </p:cNvPicPr>
          <p:nvPr/>
        </p:nvPicPr>
        <p:blipFill>
          <a:blip r:embed="rId4">
            <a:alphaModFix amt="42000"/>
          </a:blip>
          <a:stretch>
            <a:fillRect/>
          </a:stretch>
        </p:blipFill>
        <p:spPr>
          <a:xfrm>
            <a:off x="10561320" y="2487168"/>
            <a:ext cx="786384" cy="954634"/>
          </a:xfrm>
          <a:prstGeom prst="rect">
            <a:avLst/>
          </a:prstGeom>
        </p:spPr>
      </p:pic>
      <p:sp>
        <p:nvSpPr>
          <p:cNvPr id="9" name="Text 3"/>
          <p:cNvSpPr/>
          <p:nvPr/>
        </p:nvSpPr>
        <p:spPr>
          <a:xfrm>
            <a:off x="7845552" y="2505456"/>
            <a:ext cx="3566160" cy="292608"/>
          </a:xfrm>
          <a:prstGeom prst="rect">
            <a:avLst/>
          </a:prstGeom>
          <a:noFill/>
          <a:ln/>
        </p:spPr>
        <p:txBody>
          <a:bodyPr wrap="square" lIns="0" tIns="0" rIns="0" bIns="0" rtlCol="0" anchor="ctr"/>
          <a:lstStyle/>
          <a:p>
            <a:pPr indent="0" marL="0">
              <a:buNone/>
            </a:pPr>
            <a:r>
              <a:rPr lang="en-US" sz="1500" b="1" dirty="0">
                <a:solidFill>
                  <a:srgbClr val="F4F4F6"/>
                </a:solidFill>
                <a:latin typeface="Libre Franklin" pitchFamily="34" charset="0"/>
                <a:ea typeface="Libre Franklin" pitchFamily="34" charset="-122"/>
                <a:cs typeface="Libre Franklin" pitchFamily="34" charset="-120"/>
              </a:rPr>
              <a:t>Files</a:t>
            </a:r>
            <a:endParaRPr lang="en-US" sz="1500" dirty="0"/>
          </a:p>
        </p:txBody>
      </p:sp>
      <p:sp>
        <p:nvSpPr>
          <p:cNvPr id="10" name="Text 4"/>
          <p:cNvSpPr/>
          <p:nvPr/>
        </p:nvSpPr>
        <p:spPr>
          <a:xfrm>
            <a:off x="7845552" y="2889504"/>
            <a:ext cx="3566160" cy="1828800"/>
          </a:xfrm>
          <a:prstGeom prst="rect">
            <a:avLst/>
          </a:prstGeom>
          <a:noFill/>
          <a:ln/>
        </p:spPr>
        <p:txBody>
          <a:bodyPr wrap="square" lIns="0" tIns="0" rIns="0" bIns="0" rtlCol="0" anchor="ctr"/>
          <a:lstStyle/>
          <a:p>
            <a:pPr indent="0" marL="0">
              <a:lnSpc>
                <a:spcPts val="1800"/>
              </a:lnSpc>
              <a:buNone/>
            </a:pPr>
            <a:r>
              <a:rPr lang="en-US" sz="1200" b="1" dirty="0">
                <a:solidFill>
                  <a:srgbClr val="E6EEFC"/>
                </a:solidFill>
                <a:latin typeface="Libre Franklin Medium" pitchFamily="34" charset="0"/>
                <a:ea typeface="Libre Franklin Medium" pitchFamily="34" charset="-122"/>
                <a:cs typeface="Libre Franklin Medium" pitchFamily="34" charset="-120"/>
              </a:rPr>
              <a:t>caregiver_cluster_analysis.ipynb</a:t>
            </a:r>
            <a:endParaRPr lang="en-US" sz="1200" dirty="0"/>
          </a:p>
          <a:p>
            <a:pPr indent="0" marL="0">
              <a:lnSpc>
                <a:spcPts val="1800"/>
              </a:lnSpc>
              <a:buNone/>
            </a:pPr>
            <a:r>
              <a:rPr lang="en-US" sz="1200" dirty="0">
                <a:solidFill>
                  <a:srgbClr val="E6EEFC"/>
                </a:solidFill>
                <a:latin typeface="Libre Franklin Medium" pitchFamily="34" charset="0"/>
                <a:ea typeface="Libre Franklin Medium" pitchFamily="34" charset="-122"/>
                <a:cs typeface="Libre Franklin Medium" pitchFamily="34" charset="-120"/>
              </a:rPr>
              <a:t>Caregiver Outputs: 12 tables, 6 figures, output_manifest.csv</a:t>
            </a:r>
            <a:endParaRPr lang="en-US" sz="1200" dirty="0"/>
          </a:p>
          <a:p>
            <a:pPr indent="0" marL="0">
              <a:lnSpc>
                <a:spcPts val="1800"/>
              </a:lnSpc>
              <a:buNone/>
            </a:pPr>
            <a:r>
              <a:rPr lang="en-US" sz="1200" b="1" dirty="0">
                <a:solidFill>
                  <a:srgbClr val="E6EEFC"/>
                </a:solidFill>
                <a:latin typeface="Libre Franklin Medium" pitchFamily="34" charset="0"/>
                <a:ea typeface="Libre Franklin Medium" pitchFamily="34" charset="-122"/>
                <a:cs typeface="Libre Franklin Medium" pitchFamily="34" charset="-120"/>
              </a:rPr>
              <a:t>Early Social Development Lab</a:t>
            </a:r>
            <a:endParaRPr lang="en-US" sz="1200" dirty="0"/>
          </a:p>
          <a:p>
            <a:pPr indent="0" marL="0">
              <a:lnSpc>
                <a:spcPts val="1800"/>
              </a:lnSpc>
              <a:buNone/>
            </a:pPr>
            <a:r>
              <a:rPr lang="en-US" sz="1200" dirty="0">
                <a:solidFill>
                  <a:srgbClr val="E6EEFC"/>
                </a:solidFill>
                <a:latin typeface="Libre Franklin Medium" pitchFamily="34" charset="0"/>
                <a:ea typeface="Libre Franklin Medium" pitchFamily="34" charset="-122"/>
                <a:cs typeface="Libre Franklin Medium" pitchFamily="34" charset="-120"/>
              </a:rPr>
              <a:t>University of South Carolina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University of South Carolina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Caregiver acceptability clusters and held-out outcomes</dc:title>
  <dc:subject>PptxGenJS Presentation</dc:subject>
  <dc:creator>Early Social Development Lab</dc:creator>
  <cp:lastModifiedBy>Early Social Development Lab</cp:lastModifiedBy>
  <cp:revision>1</cp:revision>
  <dcterms:created xsi:type="dcterms:W3CDTF">2026-07-27T14:02:14Z</dcterms:created>
  <dcterms:modified xsi:type="dcterms:W3CDTF">2026-07-27T14:02:14Z</dcterms:modified>
</cp:coreProperties>
</file>