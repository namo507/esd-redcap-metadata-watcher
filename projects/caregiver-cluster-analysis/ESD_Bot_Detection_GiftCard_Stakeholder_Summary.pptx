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meeting: this deck covers only the final conclusions of the bot screen and what they mean for gift-card payments. The full method and diagnostics live in the bot detection review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verified database is the yardstick. Because we know those people are real, their timing and answering behaviour defines what normal looks like. Everything else is measured against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worth stressing. First, no check uses demographic information as evidence of a bot. Second, R5 never fired anywhere, so we found no exact duplicate answer patterns in either database.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tier system replaced a simple bot-or-not label. That was a deliberate decision: a binary label forces a wrong answer on the borderline cases, which is exactly where the money is at stake.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shaded area is below the human floor. The verified line simply does not enter it, while the legacy line does. This is the single clearest picture of why the screen works.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matters for tone. Speed alone is suspicious but not proof; a contradiction plus speed is much harder to explain away. That distinction drives the payment policy.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two ends first. Only six responses are confirmed automated, so this is not a story about mass fraud. The real workload is the middle: 1,048 responses that a person has to clear before payment.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policy is deliberately generous at the top and strict only at the bottom. Withholding a gift card from a real caregiver is a worse outcome for the study than paying a small number of bad responses, so the borderline cases go to a person rather than being refused.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for a bot prevalence, the honest answer is that these data cannot identify one. The two projects differ in recruitment period and survey version as well as authenticity, so any separation estimate mixes those causes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band_strip.png"/>
          <p:cNvPicPr>
            <a:picLocks noChangeAspect="1"/>
          </p:cNvPicPr>
          <p:nvPr/>
        </p:nvPicPr>
        <p:blipFill>
          <a:blip r:embed="rId2"/>
          <a:stretch>
            <a:fillRect/>
          </a:stretch>
        </p:blipFill>
        <p:spPr>
          <a:xfrm>
            <a:off x="0" y="0"/>
            <a:ext cx="12191695" cy="998977"/>
          </a:xfrm>
          <a:prstGeom prst="rect">
            <a:avLst/>
          </a:prstGeom>
        </p:spPr>
      </p:pic>
      <p:pic>
        <p:nvPicPr>
          <p:cNvPr id="4" name="Picture 3" descr="_band_strip.png"/>
          <p:cNvPicPr>
            <a:picLocks noChangeAspect="1"/>
          </p:cNvPicPr>
          <p:nvPr/>
        </p:nvPicPr>
        <p:blipFill>
          <a:blip r:embed="rId2"/>
          <a:stretch>
            <a:fillRect/>
          </a:stretch>
        </p:blipFill>
        <p:spPr>
          <a:xfrm>
            <a:off x="0" y="5859022"/>
            <a:ext cx="12191695" cy="998977"/>
          </a:xfrm>
          <a:prstGeom prst="rect">
            <a:avLst/>
          </a:prstGeom>
        </p:spPr>
      </p:pic>
      <p:pic>
        <p:nvPicPr>
          <p:cNvPr id="5" name="Picture 4" descr="logo-horizontal-cool-white.png"/>
          <p:cNvPicPr>
            <a:picLocks noChangeAspect="1"/>
          </p:cNvPicPr>
          <p:nvPr/>
        </p:nvPicPr>
        <p:blipFill>
          <a:blip r:embed="rId3"/>
          <a:stretch>
            <a:fillRect/>
          </a:stretch>
        </p:blipFill>
        <p:spPr>
          <a:xfrm>
            <a:off x="548640" y="1481328"/>
            <a:ext cx="783388" cy="365760"/>
          </a:xfrm>
          <a:prstGeom prst="rect">
            <a:avLst/>
          </a:prstGeom>
        </p:spPr>
      </p:pic>
      <p:pic>
        <p:nvPicPr>
          <p:cNvPr id="6" name="Picture 5" descr="uofsc-horizontal-garnet.png"/>
          <p:cNvPicPr>
            <a:picLocks noChangeAspect="1"/>
          </p:cNvPicPr>
          <p:nvPr/>
        </p:nvPicPr>
        <p:blipFill>
          <a:blip r:embed="rId4"/>
          <a:stretch>
            <a:fillRect/>
          </a:stretch>
        </p:blipFill>
        <p:spPr>
          <a:xfrm>
            <a:off x="1533196" y="1481328"/>
            <a:ext cx="2472998" cy="365760"/>
          </a:xfrm>
          <a:prstGeom prst="rect">
            <a:avLst/>
          </a:prstGeom>
        </p:spPr>
      </p:pic>
      <p:sp>
        <p:nvSpPr>
          <p:cNvPr id="7" name="TextBox 6"/>
          <p:cNvSpPr txBox="1"/>
          <p:nvPr/>
        </p:nvSpPr>
        <p:spPr>
          <a:xfrm>
            <a:off x="548640" y="2395728"/>
            <a:ext cx="10607040" cy="256032"/>
          </a:xfrm>
          <a:prstGeom prst="rect">
            <a:avLst/>
          </a:prstGeom>
          <a:noFill/>
        </p:spPr>
        <p:txBody>
          <a:bodyPr wrap="square" lIns="0" rIns="0" tIns="0" bIns="0" anchor="t">
            <a:spAutoFit/>
          </a:bodyPr>
          <a:lstStyle/>
          <a:p>
            <a:pPr algn="l">
              <a:spcAft>
                <a:spcPts val="0"/>
              </a:spcAft>
            </a:pPr>
            <a:r>
              <a:rPr sz="1150" b="1" spc="80">
                <a:solidFill>
                  <a:srgbClr val="F4F4F6"/>
                </a:solidFill>
                <a:latin typeface="Libre Franklin"/>
              </a:rPr>
              <a:t>STAKEHOLDER SUMMARY</a:t>
            </a:r>
          </a:p>
        </p:txBody>
      </p:sp>
      <p:sp>
        <p:nvSpPr>
          <p:cNvPr id="8" name="TextBox 7"/>
          <p:cNvSpPr txBox="1"/>
          <p:nvPr/>
        </p:nvSpPr>
        <p:spPr>
          <a:xfrm>
            <a:off x="548640" y="2743200"/>
            <a:ext cx="10881360" cy="1188720"/>
          </a:xfrm>
          <a:prstGeom prst="rect">
            <a:avLst/>
          </a:prstGeom>
          <a:noFill/>
        </p:spPr>
        <p:txBody>
          <a:bodyPr wrap="square" lIns="0" rIns="0" tIns="0" bIns="0" anchor="t">
            <a:spAutoFit/>
          </a:bodyPr>
          <a:lstStyle/>
          <a:p>
            <a:pPr algn="l">
              <a:lnSpc>
                <a:spcPct val="94000"/>
              </a:lnSpc>
              <a:spcAft>
                <a:spcPts val="0"/>
              </a:spcAft>
            </a:pPr>
            <a:r>
              <a:rPr sz="4000" b="1" spc="-30">
                <a:solidFill>
                  <a:srgbClr val="F4F4F6"/>
                </a:solidFill>
                <a:latin typeface="Libre Franklin"/>
              </a:rPr>
              <a:t>Bot detection and gift-card decisions</a:t>
            </a:r>
          </a:p>
        </p:txBody>
      </p:sp>
      <p:sp>
        <p:nvSpPr>
          <p:cNvPr id="9" name="TextBox 8"/>
          <p:cNvSpPr txBox="1"/>
          <p:nvPr/>
        </p:nvSpPr>
        <p:spPr>
          <a:xfrm>
            <a:off x="548640" y="3986784"/>
            <a:ext cx="9052560" cy="566928"/>
          </a:xfrm>
          <a:prstGeom prst="rect">
            <a:avLst/>
          </a:prstGeom>
          <a:noFill/>
        </p:spPr>
        <p:txBody>
          <a:bodyPr wrap="square" lIns="0" rIns="0" tIns="0" bIns="0" anchor="t">
            <a:spAutoFit/>
          </a:bodyPr>
          <a:lstStyle/>
          <a:p>
            <a:pPr algn="l">
              <a:lnSpc>
                <a:spcPct val="110000"/>
              </a:lnSpc>
              <a:spcAft>
                <a:spcPts val="0"/>
              </a:spcAft>
            </a:pPr>
            <a:r>
              <a:rPr sz="1400" b="0">
                <a:solidFill>
                  <a:srgbClr val="F4F4F6"/>
                </a:solidFill>
                <a:latin typeface="Libre Franklin Medium"/>
              </a:rPr>
              <a:t>Which caregiver responses are real, which need a second look, and who should be paid.</a:t>
            </a:r>
          </a:p>
        </p:txBody>
      </p:sp>
      <p:sp>
        <p:nvSpPr>
          <p:cNvPr id="10" name="Rounded Rectangle 9"/>
          <p:cNvSpPr/>
          <p:nvPr/>
        </p:nvSpPr>
        <p:spPr>
          <a:xfrm>
            <a:off x="548640" y="4718304"/>
            <a:ext cx="3611880" cy="457200"/>
          </a:xfrm>
          <a:prstGeom prst="roundRect">
            <a:avLst>
              <a:gd name="adj" fmla="val 30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4832604"/>
            <a:ext cx="3200400" cy="237744"/>
          </a:xfrm>
          <a:prstGeom prst="rect">
            <a:avLst/>
          </a:prstGeom>
          <a:noFill/>
        </p:spPr>
        <p:txBody>
          <a:bodyPr wrap="square" lIns="0" rIns="0" tIns="0" bIns="0" anchor="t">
            <a:spAutoFit/>
          </a:bodyPr>
          <a:lstStyle/>
          <a:p>
            <a:pPr algn="l">
              <a:spcAft>
                <a:spcPts val="0"/>
              </a:spcAft>
            </a:pPr>
            <a:r>
              <a:rPr sz="1200" b="1">
                <a:solidFill>
                  <a:srgbClr val="3366FF"/>
                </a:solidFill>
                <a:latin typeface="Libre Franklin"/>
              </a:rPr>
              <a:t>1,956 responses reviewed</a:t>
            </a:r>
          </a:p>
        </p:txBody>
      </p:sp>
      <p:sp>
        <p:nvSpPr>
          <p:cNvPr id="12" name="TextBox 11"/>
          <p:cNvSpPr txBox="1"/>
          <p:nvPr/>
        </p:nvSpPr>
        <p:spPr>
          <a:xfrm>
            <a:off x="548640" y="5413248"/>
            <a:ext cx="8229600" cy="237744"/>
          </a:xfrm>
          <a:prstGeom prst="rect">
            <a:avLst/>
          </a:prstGeom>
          <a:noFill/>
        </p:spPr>
        <p:txBody>
          <a:bodyPr wrap="square" lIns="0" rIns="0" tIns="0" bIns="0" anchor="t">
            <a:spAutoFit/>
          </a:bodyPr>
          <a:lstStyle/>
          <a:p>
            <a:pPr algn="l">
              <a:spcAft>
                <a:spcPts val="0"/>
              </a:spcAft>
            </a:pPr>
            <a:r>
              <a:rPr sz="1050" b="0">
                <a:solidFill>
                  <a:srgbClr val="F4F4F6"/>
                </a:solidFill>
                <a:latin typeface="Libre Franklin Medium"/>
              </a:rPr>
              <a:t>Caregiver Acceptability Study  ·  Infant Autism Screening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WHERE THE DATA CAME FROM</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Two study databases, one shared check</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Every response in both databases went through the same screen, so the two are directly comparable.</a:t>
            </a:r>
          </a:p>
        </p:txBody>
      </p:sp>
      <p:sp>
        <p:nvSpPr>
          <p:cNvPr id="8" name="Rounded Rectangle 7"/>
          <p:cNvSpPr/>
          <p:nvPr/>
        </p:nvSpPr>
        <p:spPr>
          <a:xfrm>
            <a:off x="548640" y="2231136"/>
            <a:ext cx="5486400" cy="1389888"/>
          </a:xfrm>
          <a:prstGeom prst="roundRect">
            <a:avLst>
              <a:gd name="adj" fmla="val 85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414016"/>
            <a:ext cx="3108960" cy="237744"/>
          </a:xfrm>
          <a:prstGeom prst="rect">
            <a:avLst/>
          </a:prstGeom>
          <a:noFill/>
        </p:spPr>
        <p:txBody>
          <a:bodyPr wrap="square" lIns="0" rIns="0" tIns="0" bIns="0" anchor="t">
            <a:spAutoFit/>
          </a:bodyPr>
          <a:lstStyle/>
          <a:p>
            <a:pPr algn="l">
              <a:spcAft>
                <a:spcPts val="0"/>
              </a:spcAft>
            </a:pPr>
            <a:r>
              <a:rPr sz="1050" b="1" spc="60">
                <a:solidFill>
                  <a:srgbClr val="F4F4F6"/>
                </a:solidFill>
                <a:latin typeface="Libre Franklin"/>
              </a:rPr>
              <a:t>VERIFIED DATABASE</a:t>
            </a:r>
          </a:p>
        </p:txBody>
      </p:sp>
      <p:sp>
        <p:nvSpPr>
          <p:cNvPr id="10" name="TextBox 9"/>
          <p:cNvSpPr txBox="1"/>
          <p:nvPr/>
        </p:nvSpPr>
        <p:spPr>
          <a:xfrm>
            <a:off x="859536" y="2688336"/>
            <a:ext cx="3657600" cy="566928"/>
          </a:xfrm>
          <a:prstGeom prst="rect">
            <a:avLst/>
          </a:prstGeom>
          <a:noFill/>
        </p:spPr>
        <p:txBody>
          <a:bodyPr wrap="square" lIns="0" rIns="0" tIns="0" bIns="0" anchor="t">
            <a:spAutoFit/>
          </a:bodyPr>
          <a:lstStyle/>
          <a:p>
            <a:pPr algn="l">
              <a:spcAft>
                <a:spcPts val="0"/>
              </a:spcAft>
            </a:pPr>
            <a:r>
              <a:rPr sz="3400" b="1" spc="-40">
                <a:solidFill>
                  <a:srgbClr val="F4F4F6"/>
                </a:solidFill>
                <a:latin typeface="Libre Franklin"/>
              </a:rPr>
              <a:t>177</a:t>
            </a:r>
          </a:p>
        </p:txBody>
      </p:sp>
      <p:sp>
        <p:nvSpPr>
          <p:cNvPr id="11" name="TextBox 10"/>
          <p:cNvSpPr txBox="1"/>
          <p:nvPr/>
        </p:nvSpPr>
        <p:spPr>
          <a:xfrm>
            <a:off x="859536" y="3255264"/>
            <a:ext cx="3657600" cy="237744"/>
          </a:xfrm>
          <a:prstGeom prst="rect">
            <a:avLst/>
          </a:prstGeom>
          <a:noFill/>
        </p:spPr>
        <p:txBody>
          <a:bodyPr wrap="square" lIns="0" rIns="0" tIns="0" bIns="0" anchor="t">
            <a:spAutoFit/>
          </a:bodyPr>
          <a:lstStyle/>
          <a:p>
            <a:pPr algn="l">
              <a:spcAft>
                <a:spcPts val="0"/>
              </a:spcAft>
            </a:pPr>
            <a:r>
              <a:rPr sz="1100" b="0">
                <a:solidFill>
                  <a:srgbClr val="F4F4F6"/>
                </a:solidFill>
                <a:latin typeface="Libre Franklin Medium"/>
              </a:rPr>
              <a:t>responses</a:t>
            </a:r>
          </a:p>
        </p:txBody>
      </p:sp>
      <p:sp>
        <p:nvSpPr>
          <p:cNvPr id="12" name="TextBox 11"/>
          <p:cNvSpPr txBox="1"/>
          <p:nvPr/>
        </p:nvSpPr>
        <p:spPr>
          <a:xfrm>
            <a:off x="603503" y="3858768"/>
            <a:ext cx="5394960" cy="1417320"/>
          </a:xfrm>
          <a:prstGeom prst="rect">
            <a:avLst/>
          </a:prstGeom>
          <a:noFill/>
        </p:spPr>
        <p:txBody>
          <a:bodyPr wrap="square" lIns="0" rIns="0" tIns="0" bIns="0">
            <a:spAutoFit/>
          </a:bodyPr>
          <a:lstStyle/>
          <a:p>
            <a:pPr marL="192785" indent="-192785">
              <a:lnSpc>
                <a:spcPct val="98000"/>
              </a:lnSpc>
              <a:spcAft>
                <a:spcPts val="800"/>
              </a:spcAft>
            </a:pPr>
            <a:r>
              <a:rPr sz="1150" b="1">
                <a:solidFill>
                  <a:srgbClr val="3366FF"/>
                </a:solidFill>
                <a:latin typeface="Libre Franklin Medium"/>
              </a:rPr>
              <a:t>–	</a:t>
            </a:r>
            <a:r>
              <a:rPr sz="1150">
                <a:solidFill>
                  <a:srgbClr val="000000"/>
                </a:solidFill>
                <a:latin typeface="Libre Franklin Medium"/>
              </a:rPr>
              <a:t>Recruitment was confirmed by the study team</a:t>
            </a:r>
          </a:p>
          <a:p>
            <a:pPr marL="192785" indent="-192785">
              <a:lnSpc>
                <a:spcPct val="98000"/>
              </a:lnSpc>
              <a:spcAft>
                <a:spcPts val="800"/>
              </a:spcAft>
            </a:pPr>
            <a:r>
              <a:rPr sz="1150" b="1">
                <a:solidFill>
                  <a:srgbClr val="3366FF"/>
                </a:solidFill>
                <a:latin typeface="Libre Franklin Medium"/>
              </a:rPr>
              <a:t>–	</a:t>
            </a:r>
            <a:r>
              <a:rPr sz="1150">
                <a:solidFill>
                  <a:srgbClr val="000000"/>
                </a:solidFill>
                <a:latin typeface="Libre Franklin Medium"/>
              </a:rPr>
              <a:t>131 fully completed responses became the human reference point</a:t>
            </a:r>
          </a:p>
          <a:p>
            <a:pPr marL="192785" indent="-192785">
              <a:lnSpc>
                <a:spcPct val="98000"/>
              </a:lnSpc>
              <a:spcAft>
                <a:spcPts val="800"/>
              </a:spcAft>
            </a:pPr>
            <a:r>
              <a:rPr sz="1150" b="1">
                <a:solidFill>
                  <a:srgbClr val="3366FF"/>
                </a:solidFill>
                <a:latin typeface="Libre Franklin Medium"/>
              </a:rPr>
              <a:t>–	</a:t>
            </a:r>
            <a:r>
              <a:rPr sz="1150">
                <a:solidFill>
                  <a:srgbClr val="000000"/>
                </a:solidFill>
                <a:latin typeface="Libre Franklin Medium"/>
              </a:rPr>
              <a:t>Used as the trusted benchmark for normal behaviour</a:t>
            </a:r>
          </a:p>
        </p:txBody>
      </p:sp>
      <p:sp>
        <p:nvSpPr>
          <p:cNvPr id="13" name="Rounded Rectangle 12"/>
          <p:cNvSpPr/>
          <p:nvPr/>
        </p:nvSpPr>
        <p:spPr>
          <a:xfrm>
            <a:off x="6153912" y="2231136"/>
            <a:ext cx="5486400" cy="1389888"/>
          </a:xfrm>
          <a:prstGeom prst="roundRect">
            <a:avLst>
              <a:gd name="adj" fmla="val 85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414016"/>
            <a:ext cx="3108960" cy="237744"/>
          </a:xfrm>
          <a:prstGeom prst="rect">
            <a:avLst/>
          </a:prstGeom>
          <a:noFill/>
        </p:spPr>
        <p:txBody>
          <a:bodyPr wrap="square" lIns="0" rIns="0" tIns="0" bIns="0" anchor="t">
            <a:spAutoFit/>
          </a:bodyPr>
          <a:lstStyle/>
          <a:p>
            <a:pPr algn="l">
              <a:spcAft>
                <a:spcPts val="0"/>
              </a:spcAft>
            </a:pPr>
            <a:r>
              <a:rPr sz="1050" b="1" spc="60">
                <a:solidFill>
                  <a:srgbClr val="000000"/>
                </a:solidFill>
                <a:latin typeface="Libre Franklin"/>
              </a:rPr>
              <a:t>LEGACY DATABASE</a:t>
            </a:r>
          </a:p>
        </p:txBody>
      </p:sp>
      <p:sp>
        <p:nvSpPr>
          <p:cNvPr id="15" name="TextBox 14"/>
          <p:cNvSpPr txBox="1"/>
          <p:nvPr/>
        </p:nvSpPr>
        <p:spPr>
          <a:xfrm>
            <a:off x="6464807" y="2688336"/>
            <a:ext cx="3657600" cy="566928"/>
          </a:xfrm>
          <a:prstGeom prst="rect">
            <a:avLst/>
          </a:prstGeom>
          <a:noFill/>
        </p:spPr>
        <p:txBody>
          <a:bodyPr wrap="square" lIns="0" rIns="0" tIns="0" bIns="0" anchor="t">
            <a:spAutoFit/>
          </a:bodyPr>
          <a:lstStyle/>
          <a:p>
            <a:pPr algn="l">
              <a:spcAft>
                <a:spcPts val="0"/>
              </a:spcAft>
            </a:pPr>
            <a:r>
              <a:rPr sz="3400" b="1" spc="-40">
                <a:solidFill>
                  <a:srgbClr val="000000"/>
                </a:solidFill>
                <a:latin typeface="Libre Franklin"/>
              </a:rPr>
              <a:t>1,779</a:t>
            </a:r>
          </a:p>
        </p:txBody>
      </p:sp>
      <p:sp>
        <p:nvSpPr>
          <p:cNvPr id="16" name="TextBox 15"/>
          <p:cNvSpPr txBox="1"/>
          <p:nvPr/>
        </p:nvSpPr>
        <p:spPr>
          <a:xfrm>
            <a:off x="6464807" y="3255264"/>
            <a:ext cx="3657600" cy="237744"/>
          </a:xfrm>
          <a:prstGeom prst="rect">
            <a:avLst/>
          </a:prstGeom>
          <a:noFill/>
        </p:spPr>
        <p:txBody>
          <a:bodyPr wrap="square" lIns="0" rIns="0" tIns="0" bIns="0" anchor="t">
            <a:spAutoFit/>
          </a:bodyPr>
          <a:lstStyle/>
          <a:p>
            <a:pPr algn="l">
              <a:spcAft>
                <a:spcPts val="0"/>
              </a:spcAft>
            </a:pPr>
            <a:r>
              <a:rPr sz="1100" b="0">
                <a:solidFill>
                  <a:srgbClr val="000000"/>
                </a:solidFill>
                <a:latin typeface="Libre Franklin Medium"/>
              </a:rPr>
              <a:t>responses</a:t>
            </a:r>
          </a:p>
        </p:txBody>
      </p:sp>
      <p:sp>
        <p:nvSpPr>
          <p:cNvPr id="17" name="TextBox 16"/>
          <p:cNvSpPr txBox="1"/>
          <p:nvPr/>
        </p:nvSpPr>
        <p:spPr>
          <a:xfrm>
            <a:off x="6208775" y="3858768"/>
            <a:ext cx="5394960" cy="1417320"/>
          </a:xfrm>
          <a:prstGeom prst="rect">
            <a:avLst/>
          </a:prstGeom>
          <a:noFill/>
        </p:spPr>
        <p:txBody>
          <a:bodyPr wrap="square" lIns="0" rIns="0" tIns="0" bIns="0">
            <a:spAutoFit/>
          </a:bodyPr>
          <a:lstStyle/>
          <a:p>
            <a:pPr marL="192785" indent="-192785">
              <a:lnSpc>
                <a:spcPct val="98000"/>
              </a:lnSpc>
              <a:spcAft>
                <a:spcPts val="800"/>
              </a:spcAft>
            </a:pPr>
            <a:r>
              <a:rPr sz="1150" b="1">
                <a:solidFill>
                  <a:srgbClr val="3366FF"/>
                </a:solidFill>
                <a:latin typeface="Libre Franklin Medium"/>
              </a:rPr>
              <a:t>–	</a:t>
            </a:r>
            <a:r>
              <a:rPr sz="1150">
                <a:solidFill>
                  <a:srgbClr val="000000"/>
                </a:solidFill>
                <a:latin typeface="Libre Franklin Medium"/>
              </a:rPr>
              <a:t>Older, open recruitment with no identity confirmation</a:t>
            </a:r>
          </a:p>
          <a:p>
            <a:pPr marL="192785" indent="-192785">
              <a:lnSpc>
                <a:spcPct val="98000"/>
              </a:lnSpc>
              <a:spcAft>
                <a:spcPts val="800"/>
              </a:spcAft>
            </a:pPr>
            <a:r>
              <a:rPr sz="1150" b="1">
                <a:solidFill>
                  <a:srgbClr val="3366FF"/>
                </a:solidFill>
                <a:latin typeface="Libre Franklin Medium"/>
              </a:rPr>
              <a:t>–	</a:t>
            </a:r>
            <a:r>
              <a:rPr sz="1150">
                <a:solidFill>
                  <a:srgbClr val="000000"/>
                </a:solidFill>
                <a:latin typeface="Libre Franklin Medium"/>
              </a:rPr>
              <a:t>This is where nearly all the suspicious activity sits</a:t>
            </a:r>
          </a:p>
          <a:p>
            <a:pPr marL="192785" indent="-192785">
              <a:lnSpc>
                <a:spcPct val="98000"/>
              </a:lnSpc>
              <a:spcAft>
                <a:spcPts val="800"/>
              </a:spcAft>
            </a:pPr>
            <a:r>
              <a:rPr sz="1150" b="1">
                <a:solidFill>
                  <a:srgbClr val="3366FF"/>
                </a:solidFill>
                <a:latin typeface="Libre Franklin Medium"/>
              </a:rPr>
              <a:t>–	</a:t>
            </a:r>
            <a:r>
              <a:rPr sz="1150">
                <a:solidFill>
                  <a:srgbClr val="000000"/>
                </a:solidFill>
                <a:latin typeface="Libre Franklin Medium"/>
              </a:rPr>
              <a:t>Screened with the same rules, not assumed bad</a:t>
            </a:r>
          </a:p>
        </p:txBody>
      </p:sp>
      <p:sp>
        <p:nvSpPr>
          <p:cNvPr id="18" name="Rounded Rectangle 17"/>
          <p:cNvSpPr/>
          <p:nvPr/>
        </p:nvSpPr>
        <p:spPr>
          <a:xfrm>
            <a:off x="548640" y="5047488"/>
            <a:ext cx="11094415" cy="859536"/>
          </a:xfrm>
          <a:prstGeom prst="roundRect">
            <a:avLst>
              <a:gd name="adj" fmla="val 9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202936"/>
            <a:ext cx="2743200" cy="219456"/>
          </a:xfrm>
          <a:prstGeom prst="rect">
            <a:avLst/>
          </a:prstGeom>
          <a:noFill/>
        </p:spPr>
        <p:txBody>
          <a:bodyPr wrap="square" lIns="0" rIns="0" tIns="0" bIns="0" anchor="t">
            <a:spAutoFit/>
          </a:bodyPr>
          <a:lstStyle/>
          <a:p>
            <a:pPr algn="l">
              <a:spcAft>
                <a:spcPts val="0"/>
              </a:spcAft>
            </a:pPr>
            <a:r>
              <a:rPr sz="950" b="1" spc="60">
                <a:solidFill>
                  <a:srgbClr val="3366FF"/>
                </a:solidFill>
                <a:latin typeface="Libre Franklin"/>
              </a:rPr>
              <a:t>WHAT WE CONFIRMED FIRST</a:t>
            </a:r>
          </a:p>
        </p:txBody>
      </p:sp>
      <p:sp>
        <p:nvSpPr>
          <p:cNvPr id="20" name="TextBox 19"/>
          <p:cNvSpPr txBox="1"/>
          <p:nvPr/>
        </p:nvSpPr>
        <p:spPr>
          <a:xfrm>
            <a:off x="859536" y="5449824"/>
            <a:ext cx="10472623" cy="365760"/>
          </a:xfrm>
          <a:prstGeom prst="rect">
            <a:avLst/>
          </a:prstGeom>
          <a:noFill/>
        </p:spPr>
        <p:txBody>
          <a:bodyPr wrap="square" lIns="0" rIns="0" tIns="0" bIns="0" anchor="t">
            <a:spAutoFit/>
          </a:bodyPr>
          <a:lstStyle/>
          <a:p>
            <a:pPr algn="l">
              <a:lnSpc>
                <a:spcPct val="106000"/>
              </a:lnSpc>
              <a:spcAft>
                <a:spcPts val="0"/>
              </a:spcAft>
            </a:pPr>
            <a:r>
              <a:rPr sz="1100" b="0">
                <a:solidFill>
                  <a:srgbClr val="000000"/>
                </a:solidFill>
                <a:latin typeface="Libre Franklin Medium"/>
              </a:rPr>
              <a:t>Response counts matched the expected totals, the same survey questions line up across both databases, and every extract was saved with a checksum so the review can be repeated and audited.</a:t>
            </a:r>
          </a:p>
        </p:txBody>
      </p:sp>
      <p:sp>
        <p:nvSpPr>
          <p:cNvPr id="21" name="TextBox 2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table_12_api_cache_inventory.csv, table_13_field_intersection.csv, table_16_trust_tier_counts.csv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HOW RESPONSES ARE SCREENED</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Ten automatic checks on every response</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checks are fixed and rule-based. The same response always gets the same result, with no human judgement in the scoring.</a:t>
            </a:r>
          </a:p>
        </p:txBody>
      </p:sp>
      <p:sp>
        <p:nvSpPr>
          <p:cNvPr id="8" name="TextBox 7"/>
          <p:cNvSpPr txBox="1"/>
          <p:nvPr/>
        </p:nvSpPr>
        <p:spPr>
          <a:xfrm>
            <a:off x="548640" y="2231136"/>
            <a:ext cx="5394960" cy="237744"/>
          </a:xfrm>
          <a:prstGeom prst="rect">
            <a:avLst/>
          </a:prstGeom>
          <a:noFill/>
        </p:spPr>
        <p:txBody>
          <a:bodyPr wrap="square" lIns="0" rIns="0" tIns="0" bIns="0" anchor="t">
            <a:spAutoFit/>
          </a:bodyPr>
          <a:lstStyle/>
          <a:p>
            <a:pPr algn="l">
              <a:spcAft>
                <a:spcPts val="0"/>
              </a:spcAft>
            </a:pPr>
            <a:r>
              <a:rPr sz="1050" b="1" spc="60">
                <a:solidFill>
                  <a:srgbClr val="3366FF"/>
                </a:solidFill>
                <a:latin typeface="Libre Franklin"/>
              </a:rPr>
              <a:t>HARD CHECKS  ·  SERIOUS PROBLEMS</a:t>
            </a:r>
          </a:p>
        </p:txBody>
      </p:sp>
      <p:sp>
        <p:nvSpPr>
          <p:cNvPr id="9" name="Rounded Rectangle 8"/>
          <p:cNvSpPr/>
          <p:nvPr/>
        </p:nvSpPr>
        <p:spPr>
          <a:xfrm>
            <a:off x="548640" y="2578608"/>
            <a:ext cx="402336" cy="214884"/>
          </a:xfrm>
          <a:prstGeom prst="roundRect">
            <a:avLst>
              <a:gd name="adj" fmla="val 4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89580"/>
            <a:ext cx="402336" cy="201168"/>
          </a:xfrm>
          <a:prstGeom prst="rect">
            <a:avLst/>
          </a:prstGeom>
          <a:noFill/>
        </p:spPr>
        <p:txBody>
          <a:bodyPr wrap="square" lIns="0" rIns="0" tIns="0" bIns="0" anchor="t">
            <a:spAutoFit/>
          </a:bodyPr>
          <a:lstStyle/>
          <a:p>
            <a:pPr algn="ctr">
              <a:spcAft>
                <a:spcPts val="0"/>
              </a:spcAft>
            </a:pPr>
            <a:r>
              <a:rPr sz="850" b="1">
                <a:solidFill>
                  <a:srgbClr val="F4F4F6"/>
                </a:solidFill>
                <a:latin typeface="Libre Franklin"/>
              </a:rPr>
              <a:t>R1</a:t>
            </a:r>
          </a:p>
        </p:txBody>
      </p:sp>
      <p:sp>
        <p:nvSpPr>
          <p:cNvPr id="11" name="TextBox 10"/>
          <p:cNvSpPr txBox="1"/>
          <p:nvPr/>
        </p:nvSpPr>
        <p:spPr>
          <a:xfrm>
            <a:off x="1069848" y="2583179"/>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Finished the whole survey faster than any real caregiver</a:t>
            </a:r>
          </a:p>
        </p:txBody>
      </p:sp>
      <p:sp>
        <p:nvSpPr>
          <p:cNvPr id="12" name="Rounded Rectangle 11"/>
          <p:cNvSpPr/>
          <p:nvPr/>
        </p:nvSpPr>
        <p:spPr>
          <a:xfrm>
            <a:off x="548640" y="2958084"/>
            <a:ext cx="402336" cy="214884"/>
          </a:xfrm>
          <a:prstGeom prst="roundRect">
            <a:avLst>
              <a:gd name="adj" fmla="val 4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69056"/>
            <a:ext cx="402336" cy="201168"/>
          </a:xfrm>
          <a:prstGeom prst="rect">
            <a:avLst/>
          </a:prstGeom>
          <a:noFill/>
        </p:spPr>
        <p:txBody>
          <a:bodyPr wrap="square" lIns="0" rIns="0" tIns="0" bIns="0" anchor="t">
            <a:spAutoFit/>
          </a:bodyPr>
          <a:lstStyle/>
          <a:p>
            <a:pPr algn="ctr">
              <a:spcAft>
                <a:spcPts val="0"/>
              </a:spcAft>
            </a:pPr>
            <a:r>
              <a:rPr sz="850" b="1">
                <a:solidFill>
                  <a:srgbClr val="F4F4F6"/>
                </a:solidFill>
                <a:latin typeface="Libre Franklin"/>
              </a:rPr>
              <a:t>R2</a:t>
            </a:r>
          </a:p>
        </p:txBody>
      </p:sp>
      <p:sp>
        <p:nvSpPr>
          <p:cNvPr id="14" name="TextBox 13"/>
          <p:cNvSpPr txBox="1"/>
          <p:nvPr/>
        </p:nvSpPr>
        <p:spPr>
          <a:xfrm>
            <a:off x="1069848" y="2962656"/>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Raced through the main attitudes section</a:t>
            </a:r>
          </a:p>
        </p:txBody>
      </p:sp>
      <p:sp>
        <p:nvSpPr>
          <p:cNvPr id="15" name="Rounded Rectangle 14"/>
          <p:cNvSpPr/>
          <p:nvPr/>
        </p:nvSpPr>
        <p:spPr>
          <a:xfrm>
            <a:off x="548640" y="3337560"/>
            <a:ext cx="402336" cy="214884"/>
          </a:xfrm>
          <a:prstGeom prst="roundRect">
            <a:avLst>
              <a:gd name="adj" fmla="val 4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348532"/>
            <a:ext cx="402336" cy="201168"/>
          </a:xfrm>
          <a:prstGeom prst="rect">
            <a:avLst/>
          </a:prstGeom>
          <a:noFill/>
        </p:spPr>
        <p:txBody>
          <a:bodyPr wrap="square" lIns="0" rIns="0" tIns="0" bIns="0" anchor="t">
            <a:spAutoFit/>
          </a:bodyPr>
          <a:lstStyle/>
          <a:p>
            <a:pPr algn="ctr">
              <a:spcAft>
                <a:spcPts val="0"/>
              </a:spcAft>
            </a:pPr>
            <a:r>
              <a:rPr sz="850" b="1">
                <a:solidFill>
                  <a:srgbClr val="F4F4F6"/>
                </a:solidFill>
                <a:latin typeface="Libre Franklin"/>
              </a:rPr>
              <a:t>R5</a:t>
            </a:r>
          </a:p>
        </p:txBody>
      </p:sp>
      <p:sp>
        <p:nvSpPr>
          <p:cNvPr id="17" name="TextBox 16"/>
          <p:cNvSpPr txBox="1"/>
          <p:nvPr/>
        </p:nvSpPr>
        <p:spPr>
          <a:xfrm>
            <a:off x="1069848" y="3342132"/>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Answer pattern is an exact copy of another response</a:t>
            </a:r>
          </a:p>
        </p:txBody>
      </p:sp>
      <p:sp>
        <p:nvSpPr>
          <p:cNvPr id="18" name="Rounded Rectangle 17"/>
          <p:cNvSpPr/>
          <p:nvPr/>
        </p:nvSpPr>
        <p:spPr>
          <a:xfrm>
            <a:off x="548640" y="3717035"/>
            <a:ext cx="402336" cy="214884"/>
          </a:xfrm>
          <a:prstGeom prst="roundRect">
            <a:avLst>
              <a:gd name="adj" fmla="val 4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28008"/>
            <a:ext cx="402336" cy="201168"/>
          </a:xfrm>
          <a:prstGeom prst="rect">
            <a:avLst/>
          </a:prstGeom>
          <a:noFill/>
        </p:spPr>
        <p:txBody>
          <a:bodyPr wrap="square" lIns="0" rIns="0" tIns="0" bIns="0" anchor="t">
            <a:spAutoFit/>
          </a:bodyPr>
          <a:lstStyle/>
          <a:p>
            <a:pPr algn="ctr">
              <a:spcAft>
                <a:spcPts val="0"/>
              </a:spcAft>
            </a:pPr>
            <a:r>
              <a:rPr sz="850" b="1">
                <a:solidFill>
                  <a:srgbClr val="F4F4F6"/>
                </a:solidFill>
                <a:latin typeface="Libre Franklin"/>
              </a:rPr>
              <a:t>R8</a:t>
            </a:r>
          </a:p>
        </p:txBody>
      </p:sp>
      <p:sp>
        <p:nvSpPr>
          <p:cNvPr id="20" name="TextBox 19"/>
          <p:cNvSpPr txBox="1"/>
          <p:nvPr/>
        </p:nvSpPr>
        <p:spPr>
          <a:xfrm>
            <a:off x="1069848" y="3721607"/>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Family answers contradict each other</a:t>
            </a:r>
          </a:p>
        </p:txBody>
      </p:sp>
      <p:sp>
        <p:nvSpPr>
          <p:cNvPr id="21" name="Rounded Rectangle 20"/>
          <p:cNvSpPr/>
          <p:nvPr/>
        </p:nvSpPr>
        <p:spPr>
          <a:xfrm>
            <a:off x="548640" y="4096511"/>
            <a:ext cx="402336" cy="214884"/>
          </a:xfrm>
          <a:prstGeom prst="roundRect">
            <a:avLst>
              <a:gd name="adj" fmla="val 42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107484"/>
            <a:ext cx="402336" cy="201168"/>
          </a:xfrm>
          <a:prstGeom prst="rect">
            <a:avLst/>
          </a:prstGeom>
          <a:noFill/>
        </p:spPr>
        <p:txBody>
          <a:bodyPr wrap="square" lIns="0" rIns="0" tIns="0" bIns="0" anchor="t">
            <a:spAutoFit/>
          </a:bodyPr>
          <a:lstStyle/>
          <a:p>
            <a:pPr algn="ctr">
              <a:spcAft>
                <a:spcPts val="0"/>
              </a:spcAft>
            </a:pPr>
            <a:r>
              <a:rPr sz="850" b="1">
                <a:solidFill>
                  <a:srgbClr val="F4F4F6"/>
                </a:solidFill>
                <a:latin typeface="Libre Franklin"/>
              </a:rPr>
              <a:t>R9</a:t>
            </a:r>
          </a:p>
        </p:txBody>
      </p:sp>
      <p:sp>
        <p:nvSpPr>
          <p:cNvPr id="23" name="TextBox 22"/>
          <p:cNvSpPr txBox="1"/>
          <p:nvPr/>
        </p:nvSpPr>
        <p:spPr>
          <a:xfrm>
            <a:off x="1069848" y="4101083"/>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Background details are not possible as given</a:t>
            </a:r>
          </a:p>
        </p:txBody>
      </p:sp>
      <p:sp>
        <p:nvSpPr>
          <p:cNvPr id="24" name="TextBox 23"/>
          <p:cNvSpPr txBox="1"/>
          <p:nvPr/>
        </p:nvSpPr>
        <p:spPr>
          <a:xfrm>
            <a:off x="6355079" y="2231136"/>
            <a:ext cx="5394960" cy="237744"/>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SOFT CHECKS  ·  WORTH A LOOK</a:t>
            </a:r>
          </a:p>
        </p:txBody>
      </p:sp>
      <p:sp>
        <p:nvSpPr>
          <p:cNvPr id="25" name="Rounded Rectangle 24"/>
          <p:cNvSpPr/>
          <p:nvPr/>
        </p:nvSpPr>
        <p:spPr>
          <a:xfrm>
            <a:off x="6355079" y="2578608"/>
            <a:ext cx="402336" cy="214884"/>
          </a:xfrm>
          <a:prstGeom prst="roundRect">
            <a:avLst>
              <a:gd name="adj" fmla="val 42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79" y="2589580"/>
            <a:ext cx="402336" cy="201168"/>
          </a:xfrm>
          <a:prstGeom prst="rect">
            <a:avLst/>
          </a:prstGeom>
          <a:noFill/>
        </p:spPr>
        <p:txBody>
          <a:bodyPr wrap="square" lIns="0" rIns="0" tIns="0" bIns="0" anchor="t">
            <a:spAutoFit/>
          </a:bodyPr>
          <a:lstStyle/>
          <a:p>
            <a:pPr algn="ctr">
              <a:spcAft>
                <a:spcPts val="0"/>
              </a:spcAft>
            </a:pPr>
            <a:r>
              <a:rPr sz="850" b="1">
                <a:solidFill>
                  <a:srgbClr val="000000"/>
                </a:solidFill>
                <a:latin typeface="Libre Franklin"/>
              </a:rPr>
              <a:t>R3</a:t>
            </a:r>
          </a:p>
        </p:txBody>
      </p:sp>
      <p:sp>
        <p:nvSpPr>
          <p:cNvPr id="27" name="TextBox 26"/>
          <p:cNvSpPr txBox="1"/>
          <p:nvPr/>
        </p:nvSpPr>
        <p:spPr>
          <a:xfrm>
            <a:off x="6876288" y="2583179"/>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One section finished unusually fast</a:t>
            </a:r>
          </a:p>
        </p:txBody>
      </p:sp>
      <p:sp>
        <p:nvSpPr>
          <p:cNvPr id="28" name="Rounded Rectangle 27"/>
          <p:cNvSpPr/>
          <p:nvPr/>
        </p:nvSpPr>
        <p:spPr>
          <a:xfrm>
            <a:off x="6355079" y="2958084"/>
            <a:ext cx="402336" cy="214884"/>
          </a:xfrm>
          <a:prstGeom prst="roundRect">
            <a:avLst>
              <a:gd name="adj" fmla="val 42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79" y="2969056"/>
            <a:ext cx="402336" cy="201168"/>
          </a:xfrm>
          <a:prstGeom prst="rect">
            <a:avLst/>
          </a:prstGeom>
          <a:noFill/>
        </p:spPr>
        <p:txBody>
          <a:bodyPr wrap="square" lIns="0" rIns="0" tIns="0" bIns="0" anchor="t">
            <a:spAutoFit/>
          </a:bodyPr>
          <a:lstStyle/>
          <a:p>
            <a:pPr algn="ctr">
              <a:spcAft>
                <a:spcPts val="0"/>
              </a:spcAft>
            </a:pPr>
            <a:r>
              <a:rPr sz="850" b="1">
                <a:solidFill>
                  <a:srgbClr val="000000"/>
                </a:solidFill>
                <a:latin typeface="Libre Franklin"/>
              </a:rPr>
              <a:t>R4</a:t>
            </a:r>
          </a:p>
        </p:txBody>
      </p:sp>
      <p:sp>
        <p:nvSpPr>
          <p:cNvPr id="30" name="TextBox 29"/>
          <p:cNvSpPr txBox="1"/>
          <p:nvPr/>
        </p:nvSpPr>
        <p:spPr>
          <a:xfrm>
            <a:off x="6876288" y="2962656"/>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Same answer repeated down a whole block</a:t>
            </a:r>
          </a:p>
        </p:txBody>
      </p:sp>
      <p:sp>
        <p:nvSpPr>
          <p:cNvPr id="31" name="Rounded Rectangle 30"/>
          <p:cNvSpPr/>
          <p:nvPr/>
        </p:nvSpPr>
        <p:spPr>
          <a:xfrm>
            <a:off x="6355079" y="3337560"/>
            <a:ext cx="402336" cy="214884"/>
          </a:xfrm>
          <a:prstGeom prst="roundRect">
            <a:avLst>
              <a:gd name="adj" fmla="val 42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3348532"/>
            <a:ext cx="402336" cy="201168"/>
          </a:xfrm>
          <a:prstGeom prst="rect">
            <a:avLst/>
          </a:prstGeom>
          <a:noFill/>
        </p:spPr>
        <p:txBody>
          <a:bodyPr wrap="square" lIns="0" rIns="0" tIns="0" bIns="0" anchor="t">
            <a:spAutoFit/>
          </a:bodyPr>
          <a:lstStyle/>
          <a:p>
            <a:pPr algn="ctr">
              <a:spcAft>
                <a:spcPts val="0"/>
              </a:spcAft>
            </a:pPr>
            <a:r>
              <a:rPr sz="850" b="1">
                <a:solidFill>
                  <a:srgbClr val="000000"/>
                </a:solidFill>
                <a:latin typeface="Libre Franklin"/>
              </a:rPr>
              <a:t>R6</a:t>
            </a:r>
          </a:p>
        </p:txBody>
      </p:sp>
      <p:sp>
        <p:nvSpPr>
          <p:cNvPr id="33" name="TextBox 32"/>
          <p:cNvSpPr txBox="1"/>
          <p:nvPr/>
        </p:nvSpPr>
        <p:spPr>
          <a:xfrm>
            <a:off x="6876288" y="3342132"/>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Several responses arrived in one rapid burst</a:t>
            </a:r>
          </a:p>
        </p:txBody>
      </p:sp>
      <p:sp>
        <p:nvSpPr>
          <p:cNvPr id="34" name="Rounded Rectangle 33"/>
          <p:cNvSpPr/>
          <p:nvPr/>
        </p:nvSpPr>
        <p:spPr>
          <a:xfrm>
            <a:off x="6355079" y="3717035"/>
            <a:ext cx="402336" cy="214884"/>
          </a:xfrm>
          <a:prstGeom prst="roundRect">
            <a:avLst>
              <a:gd name="adj" fmla="val 42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79" y="3728008"/>
            <a:ext cx="402336" cy="201168"/>
          </a:xfrm>
          <a:prstGeom prst="rect">
            <a:avLst/>
          </a:prstGeom>
          <a:noFill/>
        </p:spPr>
        <p:txBody>
          <a:bodyPr wrap="square" lIns="0" rIns="0" tIns="0" bIns="0" anchor="t">
            <a:spAutoFit/>
          </a:bodyPr>
          <a:lstStyle/>
          <a:p>
            <a:pPr algn="ctr">
              <a:spcAft>
                <a:spcPts val="0"/>
              </a:spcAft>
            </a:pPr>
            <a:r>
              <a:rPr sz="850" b="1">
                <a:solidFill>
                  <a:srgbClr val="000000"/>
                </a:solidFill>
                <a:latin typeface="Libre Franklin"/>
              </a:rPr>
              <a:t>R7</a:t>
            </a:r>
          </a:p>
        </p:txBody>
      </p:sp>
      <p:sp>
        <p:nvSpPr>
          <p:cNvPr id="36" name="TextBox 35"/>
          <p:cNvSpPr txBox="1"/>
          <p:nvPr/>
        </p:nvSpPr>
        <p:spPr>
          <a:xfrm>
            <a:off x="6876288" y="3721607"/>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Written comments are near-copies of another response</a:t>
            </a:r>
          </a:p>
        </p:txBody>
      </p:sp>
      <p:sp>
        <p:nvSpPr>
          <p:cNvPr id="37" name="Rounded Rectangle 36"/>
          <p:cNvSpPr/>
          <p:nvPr/>
        </p:nvSpPr>
        <p:spPr>
          <a:xfrm>
            <a:off x="6355079" y="4096511"/>
            <a:ext cx="402336" cy="214884"/>
          </a:xfrm>
          <a:prstGeom prst="roundRect">
            <a:avLst>
              <a:gd name="adj" fmla="val 42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79" y="4107484"/>
            <a:ext cx="402336" cy="201168"/>
          </a:xfrm>
          <a:prstGeom prst="rect">
            <a:avLst/>
          </a:prstGeom>
          <a:noFill/>
        </p:spPr>
        <p:txBody>
          <a:bodyPr wrap="square" lIns="0" rIns="0" tIns="0" bIns="0" anchor="t">
            <a:spAutoFit/>
          </a:bodyPr>
          <a:lstStyle/>
          <a:p>
            <a:pPr algn="ctr">
              <a:spcAft>
                <a:spcPts val="0"/>
              </a:spcAft>
            </a:pPr>
            <a:r>
              <a:rPr sz="850" b="1">
                <a:solidFill>
                  <a:srgbClr val="000000"/>
                </a:solidFill>
                <a:latin typeface="Libre Franklin"/>
              </a:rPr>
              <a:t>R10</a:t>
            </a:r>
          </a:p>
        </p:txBody>
      </p:sp>
      <p:sp>
        <p:nvSpPr>
          <p:cNvPr id="39" name="TextBox 38"/>
          <p:cNvSpPr txBox="1"/>
          <p:nvPr/>
        </p:nvSpPr>
        <p:spPr>
          <a:xfrm>
            <a:off x="6876288" y="4101083"/>
            <a:ext cx="4736592" cy="256032"/>
          </a:xfrm>
          <a:prstGeom prst="rect">
            <a:avLst/>
          </a:prstGeom>
          <a:noFill/>
        </p:spPr>
        <p:txBody>
          <a:bodyPr wrap="square" lIns="0" rIns="0" tIns="0" bIns="0" anchor="t">
            <a:spAutoFit/>
          </a:bodyPr>
          <a:lstStyle/>
          <a:p>
            <a:pPr algn="l">
              <a:lnSpc>
                <a:spcPct val="95000"/>
              </a:lnSpc>
              <a:spcAft>
                <a:spcPts val="0"/>
              </a:spcAft>
            </a:pPr>
            <a:r>
              <a:rPr sz="1050" b="0">
                <a:solidFill>
                  <a:srgbClr val="000000"/>
                </a:solidFill>
                <a:latin typeface="Libre Franklin Medium"/>
              </a:rPr>
              <a:t>Failed the built-in survey fraud question (verified database only)</a:t>
            </a:r>
          </a:p>
        </p:txBody>
      </p:sp>
      <p:sp>
        <p:nvSpPr>
          <p:cNvPr id="40" name="Rounded Rectangle 39"/>
          <p:cNvSpPr/>
          <p:nvPr/>
        </p:nvSpPr>
        <p:spPr>
          <a:xfrm>
            <a:off x="548640" y="4663440"/>
            <a:ext cx="11094415" cy="786384"/>
          </a:xfrm>
          <a:prstGeom prst="roundRect">
            <a:avLst>
              <a:gd name="adj" fmla="val 9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 y="4809744"/>
            <a:ext cx="10472623" cy="512064"/>
          </a:xfrm>
          <a:prstGeom prst="rect">
            <a:avLst/>
          </a:prstGeom>
          <a:noFill/>
        </p:spPr>
        <p:txBody>
          <a:bodyPr wrap="square" lIns="0" rIns="0" tIns="0" bIns="0" anchor="t">
            <a:spAutoFit/>
          </a:bodyPr>
          <a:lstStyle/>
          <a:p>
            <a:pPr algn="l">
              <a:lnSpc>
                <a:spcPct val="106000"/>
              </a:lnSpc>
              <a:spcAft>
                <a:spcPts val="0"/>
              </a:spcAft>
            </a:pPr>
            <a:r>
              <a:rPr sz="1150" b="0">
                <a:solidFill>
                  <a:srgbClr val="000000"/>
                </a:solidFill>
                <a:latin typeface="Libre Franklin Medium"/>
              </a:rPr>
              <a:t>Each threshold comes from the 131 confirmed-real caregivers, not from a guess. The speed limits are 11.57 minutes for the full survey and 7.85 minutes for the attitudes section.</a:t>
            </a:r>
          </a:p>
        </p:txBody>
      </p:sp>
      <p:sp>
        <p:nvSpPr>
          <p:cNvPr id="42" name="TextBox 41"/>
          <p:cNvSpPr txBox="1"/>
          <p:nvPr/>
        </p:nvSpPr>
        <p:spPr>
          <a:xfrm>
            <a:off x="548640" y="5614416"/>
            <a:ext cx="11094415" cy="457200"/>
          </a:xfrm>
          <a:prstGeom prst="rect">
            <a:avLst/>
          </a:prstGeom>
          <a:noFill/>
        </p:spPr>
        <p:txBody>
          <a:bodyPr wrap="square" lIns="0" rIns="0" tIns="0" bIns="0" anchor="t">
            <a:spAutoFit/>
          </a:bodyPr>
          <a:lstStyle/>
          <a:p>
            <a:pPr algn="l">
              <a:spcAft>
                <a:spcPts val="0"/>
              </a:spcAft>
            </a:pPr>
            <a:r>
              <a:rPr sz="1050" b="0">
                <a:solidFill>
                  <a:srgbClr val="5A5A64"/>
                </a:solidFill>
                <a:latin typeface="Libre Franklin Medium"/>
              </a:rPr>
              <a:t>R10 is a validation signal only. It never decides a response's tier or a payment on its own.</a:t>
            </a:r>
          </a:p>
        </p:txBody>
      </p:sp>
      <p:sp>
        <p:nvSpPr>
          <p:cNvPr id="43" name="TextBox 42"/>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table_14_fraud_rule_definitions.csv, table_15b_rule_counts_by_project.csv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HOW THE CHECKS ADD UP</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One hard problem, or two soft ones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A single check never condemns a response. Tier 1 needs a hard problem; everything below is graded by how many soft signals stack up.</a:t>
            </a:r>
          </a:p>
        </p:txBody>
      </p:sp>
      <p:sp>
        <p:nvSpPr>
          <p:cNvPr id="8" name="Rounded Rectangle 7"/>
          <p:cNvSpPr/>
          <p:nvPr/>
        </p:nvSpPr>
        <p:spPr>
          <a:xfrm>
            <a:off x="548640" y="2267712"/>
            <a:ext cx="2609011" cy="2048256"/>
          </a:xfrm>
          <a:prstGeom prst="roundRect">
            <a:avLst>
              <a:gd name="adj" fmla="val 75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487168"/>
            <a:ext cx="2133523" cy="310896"/>
          </a:xfrm>
          <a:prstGeom prst="rect">
            <a:avLst/>
          </a:prstGeom>
          <a:noFill/>
        </p:spPr>
        <p:txBody>
          <a:bodyPr wrap="square" lIns="0" rIns="0" tIns="0" bIns="0" anchor="t">
            <a:spAutoFit/>
          </a:bodyPr>
          <a:lstStyle/>
          <a:p>
            <a:pPr algn="l">
              <a:spcAft>
                <a:spcPts val="0"/>
              </a:spcAft>
            </a:pPr>
            <a:r>
              <a:rPr sz="1700" b="1">
                <a:solidFill>
                  <a:srgbClr val="F4F4F6"/>
                </a:solidFill>
                <a:latin typeface="Libre Franklin"/>
              </a:rPr>
              <a:t>Tier 1</a:t>
            </a:r>
          </a:p>
        </p:txBody>
      </p:sp>
      <p:sp>
        <p:nvSpPr>
          <p:cNvPr id="10" name="TextBox 9"/>
          <p:cNvSpPr txBox="1"/>
          <p:nvPr/>
        </p:nvSpPr>
        <p:spPr>
          <a:xfrm>
            <a:off x="786384" y="2834640"/>
            <a:ext cx="2133523" cy="274320"/>
          </a:xfrm>
          <a:prstGeom prst="rect">
            <a:avLst/>
          </a:prstGeom>
          <a:noFill/>
        </p:spPr>
        <p:txBody>
          <a:bodyPr wrap="square" lIns="0" rIns="0" tIns="0" bIns="0" anchor="t">
            <a:spAutoFit/>
          </a:bodyPr>
          <a:lstStyle/>
          <a:p>
            <a:pPr algn="l">
              <a:lnSpc>
                <a:spcPct val="98000"/>
              </a:lnSpc>
              <a:spcAft>
                <a:spcPts val="0"/>
              </a:spcAft>
            </a:pPr>
            <a:r>
              <a:rPr sz="1150" b="1">
                <a:solidFill>
                  <a:srgbClr val="F4F4F6"/>
                </a:solidFill>
                <a:latin typeface="Libre Franklin"/>
              </a:rPr>
              <a:t>Confirmed invalid</a:t>
            </a:r>
          </a:p>
        </p:txBody>
      </p:sp>
      <p:sp>
        <p:nvSpPr>
          <p:cNvPr id="11" name="TextBox 10"/>
          <p:cNvSpPr txBox="1"/>
          <p:nvPr/>
        </p:nvSpPr>
        <p:spPr>
          <a:xfrm>
            <a:off x="786384" y="3200400"/>
            <a:ext cx="2133523" cy="603504"/>
          </a:xfrm>
          <a:prstGeom prst="rect">
            <a:avLst/>
          </a:prstGeom>
          <a:noFill/>
        </p:spPr>
        <p:txBody>
          <a:bodyPr wrap="square" lIns="0" rIns="0" tIns="0" bIns="0" anchor="t">
            <a:spAutoFit/>
          </a:bodyPr>
          <a:lstStyle/>
          <a:p>
            <a:pPr algn="l">
              <a:lnSpc>
                <a:spcPct val="105000"/>
              </a:lnSpc>
              <a:spcAft>
                <a:spcPts val="0"/>
              </a:spcAft>
            </a:pPr>
            <a:r>
              <a:rPr sz="1100" b="0">
                <a:solidFill>
                  <a:srgbClr val="F4F4F6"/>
                </a:solidFill>
                <a:latin typeface="Libre Franklin Medium"/>
              </a:rPr>
              <a:t>Any one hard check fired</a:t>
            </a:r>
          </a:p>
        </p:txBody>
      </p:sp>
      <p:sp>
        <p:nvSpPr>
          <p:cNvPr id="12" name="TextBox 11"/>
          <p:cNvSpPr txBox="1"/>
          <p:nvPr/>
        </p:nvSpPr>
        <p:spPr>
          <a:xfrm>
            <a:off x="786384" y="3931920"/>
            <a:ext cx="2133523" cy="256032"/>
          </a:xfrm>
          <a:prstGeom prst="rect">
            <a:avLst/>
          </a:prstGeom>
          <a:noFill/>
        </p:spPr>
        <p:txBody>
          <a:bodyPr wrap="square" lIns="0" rIns="0" tIns="0" bIns="0" anchor="t">
            <a:spAutoFit/>
          </a:bodyPr>
          <a:lstStyle/>
          <a:p>
            <a:pPr algn="l">
              <a:spcAft>
                <a:spcPts val="0"/>
              </a:spcAft>
            </a:pPr>
            <a:r>
              <a:rPr sz="900" b="0">
                <a:solidFill>
                  <a:srgbClr val="F4F4F6"/>
                </a:solidFill>
                <a:latin typeface="Libre Franklin Medium"/>
              </a:rPr>
              <a:t>R1, R2, R5, R8 or R9</a:t>
            </a:r>
          </a:p>
        </p:txBody>
      </p:sp>
      <p:sp>
        <p:nvSpPr>
          <p:cNvPr id="13" name="Rounded Rectangle 12"/>
          <p:cNvSpPr/>
          <p:nvPr/>
        </p:nvSpPr>
        <p:spPr>
          <a:xfrm>
            <a:off x="3377107" y="2267712"/>
            <a:ext cx="2609011" cy="2048256"/>
          </a:xfrm>
          <a:prstGeom prst="roundRect">
            <a:avLst>
              <a:gd name="adj" fmla="val 7500"/>
            </a:avLst>
          </a:prstGeom>
          <a:solidFill>
            <a:srgbClr val="91B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4851" y="2487168"/>
            <a:ext cx="2133523" cy="310896"/>
          </a:xfrm>
          <a:prstGeom prst="rect">
            <a:avLst/>
          </a:prstGeom>
          <a:noFill/>
        </p:spPr>
        <p:txBody>
          <a:bodyPr wrap="square" lIns="0" rIns="0" tIns="0" bIns="0" anchor="t">
            <a:spAutoFit/>
          </a:bodyPr>
          <a:lstStyle/>
          <a:p>
            <a:pPr algn="l">
              <a:spcAft>
                <a:spcPts val="0"/>
              </a:spcAft>
            </a:pPr>
            <a:r>
              <a:rPr sz="1700" b="1">
                <a:solidFill>
                  <a:srgbClr val="000000"/>
                </a:solidFill>
                <a:latin typeface="Libre Franklin"/>
              </a:rPr>
              <a:t>Tier 2</a:t>
            </a:r>
          </a:p>
        </p:txBody>
      </p:sp>
      <p:sp>
        <p:nvSpPr>
          <p:cNvPr id="15" name="TextBox 14"/>
          <p:cNvSpPr txBox="1"/>
          <p:nvPr/>
        </p:nvSpPr>
        <p:spPr>
          <a:xfrm>
            <a:off x="3614851" y="2834640"/>
            <a:ext cx="2133523" cy="274320"/>
          </a:xfrm>
          <a:prstGeom prst="rect">
            <a:avLst/>
          </a:prstGeom>
          <a:noFill/>
        </p:spPr>
        <p:txBody>
          <a:bodyPr wrap="square" lIns="0" rIns="0" tIns="0" bIns="0" anchor="t">
            <a:spAutoFit/>
          </a:bodyPr>
          <a:lstStyle/>
          <a:p>
            <a:pPr algn="l">
              <a:lnSpc>
                <a:spcPct val="98000"/>
              </a:lnSpc>
              <a:spcAft>
                <a:spcPts val="0"/>
              </a:spcAft>
            </a:pPr>
            <a:r>
              <a:rPr sz="1150" b="1">
                <a:solidFill>
                  <a:srgbClr val="000000"/>
                </a:solidFill>
                <a:latin typeface="Libre Franklin"/>
              </a:rPr>
              <a:t>High suspicion</a:t>
            </a:r>
          </a:p>
        </p:txBody>
      </p:sp>
      <p:sp>
        <p:nvSpPr>
          <p:cNvPr id="16" name="TextBox 15"/>
          <p:cNvSpPr txBox="1"/>
          <p:nvPr/>
        </p:nvSpPr>
        <p:spPr>
          <a:xfrm>
            <a:off x="3614851" y="3200400"/>
            <a:ext cx="2133523" cy="603504"/>
          </a:xfrm>
          <a:prstGeom prst="rect">
            <a:avLst/>
          </a:prstGeom>
          <a:noFill/>
        </p:spPr>
        <p:txBody>
          <a:bodyPr wrap="square" lIns="0" rIns="0" tIns="0" bIns="0" anchor="t">
            <a:spAutoFit/>
          </a:bodyPr>
          <a:lstStyle/>
          <a:p>
            <a:pPr algn="l">
              <a:lnSpc>
                <a:spcPct val="105000"/>
              </a:lnSpc>
              <a:spcAft>
                <a:spcPts val="0"/>
              </a:spcAft>
            </a:pPr>
            <a:r>
              <a:rPr sz="1100" b="0">
                <a:solidFill>
                  <a:srgbClr val="000000"/>
                </a:solidFill>
                <a:latin typeface="Libre Franklin Medium"/>
              </a:rPr>
              <a:t>Two or more soft checks fired</a:t>
            </a:r>
          </a:p>
        </p:txBody>
      </p:sp>
      <p:sp>
        <p:nvSpPr>
          <p:cNvPr id="17" name="TextBox 16"/>
          <p:cNvSpPr txBox="1"/>
          <p:nvPr/>
        </p:nvSpPr>
        <p:spPr>
          <a:xfrm>
            <a:off x="3614851" y="3931920"/>
            <a:ext cx="2133523" cy="256032"/>
          </a:xfrm>
          <a:prstGeom prst="rect">
            <a:avLst/>
          </a:prstGeom>
          <a:noFill/>
        </p:spPr>
        <p:txBody>
          <a:bodyPr wrap="square" lIns="0" rIns="0" tIns="0" bIns="0" anchor="t">
            <a:spAutoFit/>
          </a:bodyPr>
          <a:lstStyle/>
          <a:p>
            <a:pPr algn="l">
              <a:spcAft>
                <a:spcPts val="0"/>
              </a:spcAft>
            </a:pPr>
            <a:r>
              <a:rPr sz="900" b="0">
                <a:solidFill>
                  <a:srgbClr val="000000"/>
                </a:solidFill>
                <a:latin typeface="Libre Franklin Medium"/>
              </a:rPr>
              <a:t>2+ of R3, R4, R6, R7</a:t>
            </a:r>
          </a:p>
        </p:txBody>
      </p:sp>
      <p:sp>
        <p:nvSpPr>
          <p:cNvPr id="18" name="Rounded Rectangle 17"/>
          <p:cNvSpPr/>
          <p:nvPr/>
        </p:nvSpPr>
        <p:spPr>
          <a:xfrm>
            <a:off x="6205575" y="2267712"/>
            <a:ext cx="2609011" cy="2048256"/>
          </a:xfrm>
          <a:prstGeom prst="roundRect">
            <a:avLst>
              <a:gd name="adj" fmla="val 75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487168"/>
            <a:ext cx="2133523" cy="310896"/>
          </a:xfrm>
          <a:prstGeom prst="rect">
            <a:avLst/>
          </a:prstGeom>
          <a:noFill/>
        </p:spPr>
        <p:txBody>
          <a:bodyPr wrap="square" lIns="0" rIns="0" tIns="0" bIns="0" anchor="t">
            <a:spAutoFit/>
          </a:bodyPr>
          <a:lstStyle/>
          <a:p>
            <a:pPr algn="l">
              <a:spcAft>
                <a:spcPts val="0"/>
              </a:spcAft>
            </a:pPr>
            <a:r>
              <a:rPr sz="1700" b="1">
                <a:solidFill>
                  <a:srgbClr val="000000"/>
                </a:solidFill>
                <a:latin typeface="Libre Franklin"/>
              </a:rPr>
              <a:t>Tier 3</a:t>
            </a:r>
          </a:p>
        </p:txBody>
      </p:sp>
      <p:sp>
        <p:nvSpPr>
          <p:cNvPr id="20" name="TextBox 19"/>
          <p:cNvSpPr txBox="1"/>
          <p:nvPr/>
        </p:nvSpPr>
        <p:spPr>
          <a:xfrm>
            <a:off x="6443319" y="2834640"/>
            <a:ext cx="2133523" cy="274320"/>
          </a:xfrm>
          <a:prstGeom prst="rect">
            <a:avLst/>
          </a:prstGeom>
          <a:noFill/>
        </p:spPr>
        <p:txBody>
          <a:bodyPr wrap="square" lIns="0" rIns="0" tIns="0" bIns="0" anchor="t">
            <a:spAutoFit/>
          </a:bodyPr>
          <a:lstStyle/>
          <a:p>
            <a:pPr algn="l">
              <a:lnSpc>
                <a:spcPct val="98000"/>
              </a:lnSpc>
              <a:spcAft>
                <a:spcPts val="0"/>
              </a:spcAft>
            </a:pPr>
            <a:r>
              <a:rPr sz="1150" b="1">
                <a:solidFill>
                  <a:srgbClr val="000000"/>
                </a:solidFill>
                <a:latin typeface="Libre Franklin"/>
              </a:rPr>
              <a:t>Uncertain</a:t>
            </a:r>
          </a:p>
        </p:txBody>
      </p:sp>
      <p:sp>
        <p:nvSpPr>
          <p:cNvPr id="21" name="TextBox 20"/>
          <p:cNvSpPr txBox="1"/>
          <p:nvPr/>
        </p:nvSpPr>
        <p:spPr>
          <a:xfrm>
            <a:off x="6443319" y="3200400"/>
            <a:ext cx="2133523" cy="603504"/>
          </a:xfrm>
          <a:prstGeom prst="rect">
            <a:avLst/>
          </a:prstGeom>
          <a:noFill/>
        </p:spPr>
        <p:txBody>
          <a:bodyPr wrap="square" lIns="0" rIns="0" tIns="0" bIns="0" anchor="t">
            <a:spAutoFit/>
          </a:bodyPr>
          <a:lstStyle/>
          <a:p>
            <a:pPr algn="l">
              <a:lnSpc>
                <a:spcPct val="105000"/>
              </a:lnSpc>
              <a:spcAft>
                <a:spcPts val="0"/>
              </a:spcAft>
            </a:pPr>
            <a:r>
              <a:rPr sz="1100" b="0">
                <a:solidFill>
                  <a:srgbClr val="000000"/>
                </a:solidFill>
                <a:latin typeface="Libre Franklin Medium"/>
              </a:rPr>
              <a:t>Exactly one soft check fired</a:t>
            </a:r>
          </a:p>
        </p:txBody>
      </p:sp>
      <p:sp>
        <p:nvSpPr>
          <p:cNvPr id="22" name="TextBox 21"/>
          <p:cNvSpPr txBox="1"/>
          <p:nvPr/>
        </p:nvSpPr>
        <p:spPr>
          <a:xfrm>
            <a:off x="6443319" y="3931920"/>
            <a:ext cx="2133523" cy="256032"/>
          </a:xfrm>
          <a:prstGeom prst="rect">
            <a:avLst/>
          </a:prstGeom>
          <a:noFill/>
        </p:spPr>
        <p:txBody>
          <a:bodyPr wrap="square" lIns="0" rIns="0" tIns="0" bIns="0" anchor="t">
            <a:spAutoFit/>
          </a:bodyPr>
          <a:lstStyle/>
          <a:p>
            <a:pPr algn="l">
              <a:spcAft>
                <a:spcPts val="0"/>
              </a:spcAft>
            </a:pPr>
            <a:r>
              <a:rPr sz="900" b="0">
                <a:solidFill>
                  <a:srgbClr val="000000"/>
                </a:solidFill>
                <a:latin typeface="Libre Franklin Medium"/>
              </a:rPr>
              <a:t>1 of R3, R4, R6, R7</a:t>
            </a:r>
          </a:p>
        </p:txBody>
      </p:sp>
      <p:sp>
        <p:nvSpPr>
          <p:cNvPr id="23" name="Rounded Rectangle 22"/>
          <p:cNvSpPr/>
          <p:nvPr/>
        </p:nvSpPr>
        <p:spPr>
          <a:xfrm>
            <a:off x="9034043" y="2267712"/>
            <a:ext cx="2609011" cy="2048256"/>
          </a:xfrm>
          <a:prstGeom prst="roundRect">
            <a:avLst>
              <a:gd name="adj" fmla="val 7500"/>
            </a:avLst>
          </a:prstGeom>
          <a:solidFill>
            <a:srgbClr val="F4F4F6"/>
          </a:solidFill>
          <a:ln w="9525">
            <a:solidFill>
              <a:srgbClr val="91B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71787" y="2487168"/>
            <a:ext cx="2133523" cy="310896"/>
          </a:xfrm>
          <a:prstGeom prst="rect">
            <a:avLst/>
          </a:prstGeom>
          <a:noFill/>
        </p:spPr>
        <p:txBody>
          <a:bodyPr wrap="square" lIns="0" rIns="0" tIns="0" bIns="0" anchor="t">
            <a:spAutoFit/>
          </a:bodyPr>
          <a:lstStyle/>
          <a:p>
            <a:pPr algn="l">
              <a:spcAft>
                <a:spcPts val="0"/>
              </a:spcAft>
            </a:pPr>
            <a:r>
              <a:rPr sz="1700" b="1">
                <a:solidFill>
                  <a:srgbClr val="000000"/>
                </a:solidFill>
                <a:latin typeface="Libre Franklin"/>
              </a:rPr>
              <a:t>Tier 4</a:t>
            </a:r>
          </a:p>
        </p:txBody>
      </p:sp>
      <p:sp>
        <p:nvSpPr>
          <p:cNvPr id="25" name="TextBox 24"/>
          <p:cNvSpPr txBox="1"/>
          <p:nvPr/>
        </p:nvSpPr>
        <p:spPr>
          <a:xfrm>
            <a:off x="9271787" y="2834640"/>
            <a:ext cx="2133523" cy="274320"/>
          </a:xfrm>
          <a:prstGeom prst="rect">
            <a:avLst/>
          </a:prstGeom>
          <a:noFill/>
        </p:spPr>
        <p:txBody>
          <a:bodyPr wrap="square" lIns="0" rIns="0" tIns="0" bIns="0" anchor="t">
            <a:spAutoFit/>
          </a:bodyPr>
          <a:lstStyle/>
          <a:p>
            <a:pPr algn="l">
              <a:lnSpc>
                <a:spcPct val="98000"/>
              </a:lnSpc>
              <a:spcAft>
                <a:spcPts val="0"/>
              </a:spcAft>
            </a:pPr>
            <a:r>
              <a:rPr sz="1150" b="1">
                <a:solidFill>
                  <a:srgbClr val="000000"/>
                </a:solidFill>
                <a:latin typeface="Libre Franklin"/>
              </a:rPr>
              <a:t>Pass</a:t>
            </a:r>
          </a:p>
        </p:txBody>
      </p:sp>
      <p:sp>
        <p:nvSpPr>
          <p:cNvPr id="26" name="TextBox 25"/>
          <p:cNvSpPr txBox="1"/>
          <p:nvPr/>
        </p:nvSpPr>
        <p:spPr>
          <a:xfrm>
            <a:off x="9271787" y="3200400"/>
            <a:ext cx="2133523" cy="603504"/>
          </a:xfrm>
          <a:prstGeom prst="rect">
            <a:avLst/>
          </a:prstGeom>
          <a:noFill/>
        </p:spPr>
        <p:txBody>
          <a:bodyPr wrap="square" lIns="0" rIns="0" tIns="0" bIns="0" anchor="t">
            <a:spAutoFit/>
          </a:bodyPr>
          <a:lstStyle/>
          <a:p>
            <a:pPr algn="l">
              <a:lnSpc>
                <a:spcPct val="105000"/>
              </a:lnSpc>
              <a:spcAft>
                <a:spcPts val="0"/>
              </a:spcAft>
            </a:pPr>
            <a:r>
              <a:rPr sz="1100" b="0">
                <a:solidFill>
                  <a:srgbClr val="000000"/>
                </a:solidFill>
                <a:latin typeface="Libre Franklin Medium"/>
              </a:rPr>
              <a:t>Nothing fired at all</a:t>
            </a:r>
          </a:p>
        </p:txBody>
      </p:sp>
      <p:sp>
        <p:nvSpPr>
          <p:cNvPr id="27" name="TextBox 26"/>
          <p:cNvSpPr txBox="1"/>
          <p:nvPr/>
        </p:nvSpPr>
        <p:spPr>
          <a:xfrm>
            <a:off x="9271787" y="3931920"/>
            <a:ext cx="2133523" cy="256032"/>
          </a:xfrm>
          <a:prstGeom prst="rect">
            <a:avLst/>
          </a:prstGeom>
          <a:noFill/>
        </p:spPr>
        <p:txBody>
          <a:bodyPr wrap="square" lIns="0" rIns="0" tIns="0" bIns="0" anchor="t">
            <a:spAutoFit/>
          </a:bodyPr>
          <a:lstStyle/>
          <a:p>
            <a:pPr algn="l">
              <a:spcAft>
                <a:spcPts val="0"/>
              </a:spcAft>
            </a:pPr>
            <a:r>
              <a:rPr sz="900" b="0">
                <a:solidFill>
                  <a:srgbClr val="000000"/>
                </a:solidFill>
                <a:latin typeface="Libre Franklin Medium"/>
              </a:rPr>
              <a:t>No rules triggered</a:t>
            </a:r>
          </a:p>
        </p:txBody>
      </p:sp>
      <p:sp>
        <p:nvSpPr>
          <p:cNvPr id="28" name="Rounded Rectangle 27"/>
          <p:cNvSpPr/>
          <p:nvPr/>
        </p:nvSpPr>
        <p:spPr>
          <a:xfrm>
            <a:off x="548640" y="4572000"/>
            <a:ext cx="11094415" cy="1207008"/>
          </a:xfrm>
          <a:prstGeom prst="roundRect">
            <a:avLst>
              <a:gd name="adj" fmla="val 9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 y="4736592"/>
            <a:ext cx="4572000" cy="219456"/>
          </a:xfrm>
          <a:prstGeom prst="rect">
            <a:avLst/>
          </a:prstGeom>
          <a:noFill/>
        </p:spPr>
        <p:txBody>
          <a:bodyPr wrap="square" lIns="0" rIns="0" tIns="0" bIns="0" anchor="t">
            <a:spAutoFit/>
          </a:bodyPr>
          <a:lstStyle/>
          <a:p>
            <a:pPr algn="l">
              <a:spcAft>
                <a:spcPts val="0"/>
              </a:spcAft>
            </a:pPr>
            <a:r>
              <a:rPr sz="950" b="1" spc="60">
                <a:solidFill>
                  <a:srgbClr val="3366FF"/>
                </a:solidFill>
                <a:latin typeface="Libre Franklin"/>
              </a:rPr>
              <a:t>WHY IT IS BUILT THIS WAY</a:t>
            </a:r>
          </a:p>
        </p:txBody>
      </p:sp>
      <p:sp>
        <p:nvSpPr>
          <p:cNvPr id="30" name="TextBox 29"/>
          <p:cNvSpPr txBox="1"/>
          <p:nvPr/>
        </p:nvSpPr>
        <p:spPr>
          <a:xfrm>
            <a:off x="822959" y="5010912"/>
            <a:ext cx="10509199" cy="731520"/>
          </a:xfrm>
          <a:prstGeom prst="rect">
            <a:avLst/>
          </a:prstGeom>
          <a:noFill/>
        </p:spPr>
        <p:txBody>
          <a:bodyPr wrap="square" lIns="0" rIns="0" tIns="0" bIns="0">
            <a:spAutoFit/>
          </a:bodyPr>
          <a:lstStyle/>
          <a:p>
            <a:pPr marL="184404" indent="-184404">
              <a:lnSpc>
                <a:spcPct val="98000"/>
              </a:lnSpc>
              <a:spcAft>
                <a:spcPts val="500"/>
              </a:spcAft>
            </a:pPr>
            <a:r>
              <a:rPr sz="1100" b="1">
                <a:solidFill>
                  <a:srgbClr val="3366FF"/>
                </a:solidFill>
                <a:latin typeface="Libre Franklin Medium"/>
              </a:rPr>
              <a:t>–	</a:t>
            </a:r>
            <a:r>
              <a:rPr sz="1100">
                <a:solidFill>
                  <a:srgbClr val="000000"/>
                </a:solidFill>
                <a:latin typeface="Libre Franklin Medium"/>
              </a:rPr>
              <a:t>Tier 1 is the only group that can lose a payment, and even then not automatically.</a:t>
            </a:r>
          </a:p>
          <a:p>
            <a:pPr marL="184404" indent="-184404">
              <a:lnSpc>
                <a:spcPct val="98000"/>
              </a:lnSpc>
              <a:spcAft>
                <a:spcPts val="500"/>
              </a:spcAft>
            </a:pPr>
            <a:r>
              <a:rPr sz="1100" b="1">
                <a:solidFill>
                  <a:srgbClr val="3366FF"/>
                </a:solidFill>
                <a:latin typeface="Libre Franklin Medium"/>
              </a:rPr>
              <a:t>–	</a:t>
            </a:r>
            <a:r>
              <a:rPr sz="1100">
                <a:solidFill>
                  <a:srgbClr val="000000"/>
                </a:solidFill>
                <a:latin typeface="Libre Franklin Medium"/>
              </a:rPr>
              <a:t>Tiers 2, 3 and 4 stay eligible; they differ only in how much checking happens first.</a:t>
            </a:r>
          </a:p>
        </p:txBody>
      </p:sp>
      <p:sp>
        <p:nvSpPr>
          <p:cNvPr id="31" name="TextBox 3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table_16_trust_tier_counts.csv, table_36b_tier1_rule_combo_summary.csv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EVIDENCE BEHIND THE SPEED LIMIT</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Real caregivers never finish this fast</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speed limit was set by real caregivers, not chosen by us. Not one confirmed-real response fell below it.</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192785" indent="-192785">
              <a:lnSpc>
                <a:spcPct val="98000"/>
              </a:lnSpc>
              <a:spcAft>
                <a:spcPts val="900"/>
              </a:spcAft>
            </a:pPr>
            <a:r>
              <a:rPr sz="1150" b="1">
                <a:solidFill>
                  <a:srgbClr val="3366FF"/>
                </a:solidFill>
                <a:latin typeface="Libre Franklin Medium"/>
              </a:rPr>
              <a:t>–	</a:t>
            </a:r>
            <a:r>
              <a:rPr sz="1150">
                <a:solidFill>
                  <a:srgbClr val="000000"/>
                </a:solidFill>
                <a:latin typeface="Libre Franklin Medium"/>
              </a:rPr>
              <a:t>Every confirmed-real caregiver took at least 11.57 minutes.</a:t>
            </a:r>
          </a:p>
          <a:p>
            <a:pPr marL="192785" indent="-192785">
              <a:lnSpc>
                <a:spcPct val="98000"/>
              </a:lnSpc>
              <a:spcAft>
                <a:spcPts val="900"/>
              </a:spcAft>
            </a:pPr>
            <a:r>
              <a:rPr sz="1150" b="1">
                <a:solidFill>
                  <a:srgbClr val="3366FF"/>
                </a:solidFill>
                <a:latin typeface="Libre Franklin Medium"/>
              </a:rPr>
              <a:t>–	</a:t>
            </a:r>
            <a:r>
              <a:rPr sz="1150">
                <a:solidFill>
                  <a:srgbClr val="000000"/>
                </a:solidFill>
                <a:latin typeface="Libre Franklin Medium"/>
              </a:rPr>
              <a:t>In the legacy database, a visible group finishes well under that floor.</a:t>
            </a:r>
          </a:p>
          <a:p>
            <a:pPr marL="192785" indent="-192785">
              <a:lnSpc>
                <a:spcPct val="98000"/>
              </a:lnSpc>
              <a:spcAft>
                <a:spcPts val="900"/>
              </a:spcAft>
            </a:pPr>
            <a:r>
              <a:rPr sz="1150" b="1">
                <a:solidFill>
                  <a:srgbClr val="3366FF"/>
                </a:solidFill>
                <a:latin typeface="Libre Franklin Medium"/>
              </a:rPr>
              <a:t>–	</a:t>
            </a:r>
            <a:r>
              <a:rPr sz="1150">
                <a:solidFill>
                  <a:srgbClr val="000000"/>
                </a:solidFill>
                <a:latin typeface="Libre Franklin Medium"/>
              </a:rPr>
              <a:t>That gap is what the two hard timing checks, R1 and R2, are measuring.</a:t>
            </a:r>
          </a:p>
          <a:p>
            <a:pPr marL="192785" indent="-192785">
              <a:lnSpc>
                <a:spcPct val="98000"/>
              </a:lnSpc>
              <a:spcAft>
                <a:spcPts val="900"/>
              </a:spcAft>
            </a:pPr>
            <a:r>
              <a:rPr sz="1150" b="1">
                <a:solidFill>
                  <a:srgbClr val="3366FF"/>
                </a:solidFill>
                <a:latin typeface="Libre Franklin Medium"/>
              </a:rPr>
              <a:t>–	</a:t>
            </a:r>
            <a:r>
              <a:rPr sz="1150">
                <a:solidFill>
                  <a:srgbClr val="000000"/>
                </a:solidFill>
                <a:latin typeface="Libre Franklin Medium"/>
              </a:rPr>
              <a:t>Because no real caregiver was below the line, these two checks flagged no confirmed-real person at all.</a:t>
            </a:r>
          </a:p>
        </p:txBody>
      </p:sp>
      <p:sp>
        <p:nvSpPr>
          <p:cNvPr id="9" name="Rounded Rectangle 8"/>
          <p:cNvSpPr/>
          <p:nvPr/>
        </p:nvSpPr>
        <p:spPr>
          <a:xfrm>
            <a:off x="5149925" y="2212848"/>
            <a:ext cx="6287364" cy="406908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7_timing_ecdf.png"/>
          <p:cNvPicPr>
            <a:picLocks noChangeAspect="1"/>
          </p:cNvPicPr>
          <p:nvPr/>
        </p:nvPicPr>
        <p:blipFill>
          <a:blip r:embed="rId3"/>
          <a:stretch>
            <a:fillRect/>
          </a:stretch>
        </p:blipFill>
        <p:spPr>
          <a:xfrm>
            <a:off x="5241365" y="2304288"/>
            <a:ext cx="6104484" cy="3886200"/>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figure_7_timing_ecdf.png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WHAT THE SERIOUS FLAGS LOOK LIKE</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Most hard flags are about speed, not deception</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great majority of serious flags are two timing checks firing together. Contradictory answers are rare, and copied responses never appeared at all.</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192785" indent="-192785">
              <a:lnSpc>
                <a:spcPct val="98000"/>
              </a:lnSpc>
              <a:spcAft>
                <a:spcPts val="900"/>
              </a:spcAft>
            </a:pPr>
            <a:r>
              <a:rPr sz="1150" b="1">
                <a:solidFill>
                  <a:srgbClr val="3366FF"/>
                </a:solidFill>
                <a:latin typeface="Libre Franklin Medium"/>
              </a:rPr>
              <a:t>–	</a:t>
            </a:r>
            <a:r>
              <a:rPr sz="1150">
                <a:solidFill>
                  <a:srgbClr val="000000"/>
                </a:solidFill>
                <a:latin typeface="Libre Franklin Medium"/>
              </a:rPr>
              <a:t>279 responses tripped both timing checks, and for 276 of them that was the only serious problem.</a:t>
            </a:r>
          </a:p>
          <a:p>
            <a:pPr marL="192785" indent="-192785">
              <a:lnSpc>
                <a:spcPct val="98000"/>
              </a:lnSpc>
              <a:spcAft>
                <a:spcPts val="900"/>
              </a:spcAft>
            </a:pPr>
            <a:r>
              <a:rPr sz="1150" b="1">
                <a:solidFill>
                  <a:srgbClr val="3366FF"/>
                </a:solidFill>
                <a:latin typeface="Libre Franklin Medium"/>
              </a:rPr>
              <a:t>–	</a:t>
            </a:r>
            <a:r>
              <a:rPr sz="1150">
                <a:solidFill>
                  <a:srgbClr val="000000"/>
                </a:solidFill>
                <a:latin typeface="Libre Franklin Medium"/>
              </a:rPr>
              <a:t>Only 44 showed contradictory family answers.</a:t>
            </a:r>
          </a:p>
          <a:p>
            <a:pPr marL="192785" indent="-192785">
              <a:lnSpc>
                <a:spcPct val="98000"/>
              </a:lnSpc>
              <a:spcAft>
                <a:spcPts val="900"/>
              </a:spcAft>
            </a:pPr>
            <a:r>
              <a:rPr sz="1150" b="1">
                <a:solidFill>
                  <a:srgbClr val="3366FF"/>
                </a:solidFill>
                <a:latin typeface="Libre Franklin Medium"/>
              </a:rPr>
              <a:t>–	</a:t>
            </a:r>
            <a:r>
              <a:rPr sz="1150">
                <a:solidFill>
                  <a:srgbClr val="000000"/>
                </a:solidFill>
                <a:latin typeface="Libre Franklin Medium"/>
              </a:rPr>
              <a:t>Not one response in either database was an exact copy of another.</a:t>
            </a:r>
          </a:p>
          <a:p>
            <a:pPr marL="192785" indent="-192785">
              <a:lnSpc>
                <a:spcPct val="98000"/>
              </a:lnSpc>
              <a:spcAft>
                <a:spcPts val="900"/>
              </a:spcAft>
            </a:pPr>
            <a:r>
              <a:rPr sz="1150" b="1">
                <a:solidFill>
                  <a:srgbClr val="3366FF"/>
                </a:solidFill>
                <a:latin typeface="Libre Franklin Medium"/>
              </a:rPr>
              <a:t>–	</a:t>
            </a:r>
            <a:r>
              <a:rPr sz="1150">
                <a:solidFill>
                  <a:srgbClr val="000000"/>
                </a:solidFill>
                <a:latin typeface="Libre Franklin Medium"/>
              </a:rPr>
              <a:t>Only 6 combined a contradiction with a speed problem, and those are the strongest cases.</a:t>
            </a:r>
          </a:p>
        </p:txBody>
      </p:sp>
      <p:sp>
        <p:nvSpPr>
          <p:cNvPr id="9" name="Rounded Rectangle 8"/>
          <p:cNvSpPr/>
          <p:nvPr/>
        </p:nvSpPr>
        <p:spPr>
          <a:xfrm>
            <a:off x="5912876" y="2212848"/>
            <a:ext cx="4761463" cy="406908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22_tier1_overlap_heatmap.png"/>
          <p:cNvPicPr>
            <a:picLocks noChangeAspect="1"/>
          </p:cNvPicPr>
          <p:nvPr/>
        </p:nvPicPr>
        <p:blipFill>
          <a:blip r:embed="rId3"/>
          <a:stretch>
            <a:fillRect/>
          </a:stretch>
        </p:blipFill>
        <p:spPr>
          <a:xfrm>
            <a:off x="6004316" y="2304288"/>
            <a:ext cx="4578583" cy="3886200"/>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figure_22_tier1_overlap_heatmap.png</a:t>
            </a:r>
          </a:p>
        </p:txBody>
      </p:sp>
      <p:sp>
        <p:nvSpPr>
          <p:cNvPr id="12" name="TextBox 11"/>
          <p:cNvSpPr txBox="1"/>
          <p:nvPr/>
        </p:nvSpPr>
        <p:spPr>
          <a:xfrm>
            <a:off x="548640" y="4315968"/>
            <a:ext cx="4160520" cy="548640"/>
          </a:xfrm>
          <a:prstGeom prst="rect">
            <a:avLst/>
          </a:prstGeom>
          <a:noFill/>
        </p:spPr>
        <p:txBody>
          <a:bodyPr wrap="square" lIns="0" rIns="0" tIns="0" bIns="0" anchor="t">
            <a:spAutoFit/>
          </a:bodyPr>
          <a:lstStyle/>
          <a:p>
            <a:pPr algn="l">
              <a:lnSpc>
                <a:spcPct val="108000"/>
              </a:lnSpc>
              <a:spcAft>
                <a:spcPts val="0"/>
              </a:spcAft>
            </a:pPr>
            <a:r>
              <a:rPr sz="950" b="0">
                <a:solidFill>
                  <a:srgbClr val="5A5A64"/>
                </a:solidFill>
                <a:latin typeface="Libre Franklin Medium"/>
              </a:rPr>
              <a:t>Reading the chart: "dirty_4581" is the legacy database. The diagonal is how often each check fired; off-diagonal cells are two checks firing on the same response.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RESULT</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Where all 1,956 responses landed</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Six responses are confirmed automated. Just over half need a human to look before any money moves.</a:t>
            </a:r>
          </a:p>
        </p:txBody>
      </p:sp>
      <p:sp>
        <p:nvSpPr>
          <p:cNvPr id="8" name="Rounded Rectangle 7"/>
          <p:cNvSpPr/>
          <p:nvPr/>
        </p:nvSpPr>
        <p:spPr>
          <a:xfrm>
            <a:off x="548640" y="2231136"/>
            <a:ext cx="2609011" cy="2249424"/>
          </a:xfrm>
          <a:prstGeom prst="roundRect">
            <a:avLst>
              <a:gd name="adj" fmla="val 75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487168"/>
            <a:ext cx="2243251" cy="731520"/>
          </a:xfrm>
          <a:prstGeom prst="rect">
            <a:avLst/>
          </a:prstGeom>
          <a:noFill/>
        </p:spPr>
        <p:txBody>
          <a:bodyPr wrap="square" lIns="0" rIns="0" tIns="0" bIns="0" anchor="t">
            <a:spAutoFit/>
          </a:bodyPr>
          <a:lstStyle/>
          <a:p>
            <a:pPr algn="ctr">
              <a:spcAft>
                <a:spcPts val="0"/>
              </a:spcAft>
            </a:pPr>
            <a:r>
              <a:rPr sz="4000" b="1" spc="-40">
                <a:solidFill>
                  <a:srgbClr val="F4F4F6"/>
                </a:solidFill>
                <a:latin typeface="Libre Franklin"/>
              </a:rPr>
              <a:t>223</a:t>
            </a:r>
          </a:p>
        </p:txBody>
      </p:sp>
      <p:sp>
        <p:nvSpPr>
          <p:cNvPr id="10" name="TextBox 9"/>
          <p:cNvSpPr txBox="1"/>
          <p:nvPr/>
        </p:nvSpPr>
        <p:spPr>
          <a:xfrm>
            <a:off x="694944" y="3200400"/>
            <a:ext cx="2316403" cy="237744"/>
          </a:xfrm>
          <a:prstGeom prst="rect">
            <a:avLst/>
          </a:prstGeom>
          <a:noFill/>
        </p:spPr>
        <p:txBody>
          <a:bodyPr wrap="square" lIns="0" rIns="0" tIns="0" bIns="0" anchor="t">
            <a:spAutoFit/>
          </a:bodyPr>
          <a:lstStyle/>
          <a:p>
            <a:pPr algn="ctr">
              <a:spcAft>
                <a:spcPts val="0"/>
              </a:spcAft>
            </a:pPr>
            <a:r>
              <a:rPr sz="1250" b="1">
                <a:solidFill>
                  <a:srgbClr val="E6EEFC"/>
                </a:solidFill>
                <a:latin typeface="Libre Franklin"/>
              </a:rPr>
              <a:t>11.4%</a:t>
            </a:r>
          </a:p>
        </p:txBody>
      </p:sp>
      <p:sp>
        <p:nvSpPr>
          <p:cNvPr id="11" name="TextBox 10"/>
          <p:cNvSpPr txBox="1"/>
          <p:nvPr/>
        </p:nvSpPr>
        <p:spPr>
          <a:xfrm>
            <a:off x="694944" y="3511296"/>
            <a:ext cx="2316403" cy="310896"/>
          </a:xfrm>
          <a:prstGeom prst="rect">
            <a:avLst/>
          </a:prstGeom>
          <a:noFill/>
        </p:spPr>
        <p:txBody>
          <a:bodyPr wrap="square" lIns="0" rIns="0" tIns="0" bIns="0" anchor="t">
            <a:spAutoFit/>
          </a:bodyPr>
          <a:lstStyle/>
          <a:p>
            <a:pPr algn="ctr">
              <a:lnSpc>
                <a:spcPct val="94000"/>
              </a:lnSpc>
              <a:spcAft>
                <a:spcPts val="0"/>
              </a:spcAft>
            </a:pPr>
            <a:r>
              <a:rPr sz="1200" b="1">
                <a:solidFill>
                  <a:srgbClr val="F4F4F6"/>
                </a:solidFill>
                <a:latin typeface="Libre Franklin"/>
              </a:rPr>
              <a:t>Clean pass</a:t>
            </a:r>
          </a:p>
        </p:txBody>
      </p:sp>
      <p:sp>
        <p:nvSpPr>
          <p:cNvPr id="12" name="TextBox 11"/>
          <p:cNvSpPr txBox="1"/>
          <p:nvPr/>
        </p:nvSpPr>
        <p:spPr>
          <a:xfrm>
            <a:off x="694944" y="3877056"/>
            <a:ext cx="2316403" cy="475488"/>
          </a:xfrm>
          <a:prstGeom prst="rect">
            <a:avLst/>
          </a:prstGeom>
          <a:noFill/>
        </p:spPr>
        <p:txBody>
          <a:bodyPr wrap="square" lIns="0" rIns="0" tIns="0" bIns="0" anchor="t">
            <a:spAutoFit/>
          </a:bodyPr>
          <a:lstStyle/>
          <a:p>
            <a:pPr algn="ctr">
              <a:lnSpc>
                <a:spcPct val="100000"/>
              </a:lnSpc>
              <a:spcAft>
                <a:spcPts val="0"/>
              </a:spcAft>
            </a:pPr>
            <a:r>
              <a:rPr sz="950" b="0">
                <a:solidFill>
                  <a:srgbClr val="E6EEFC"/>
                </a:solidFill>
                <a:latin typeface="Libre Franklin Medium"/>
              </a:rPr>
              <a:t>No check fired at all.</a:t>
            </a:r>
          </a:p>
          <a:p>
            <a:pPr algn="ctr">
              <a:lnSpc>
                <a:spcPct val="100000"/>
              </a:lnSpc>
              <a:spcAft>
                <a:spcPts val="0"/>
              </a:spcAft>
            </a:pPr>
            <a:r>
              <a:rPr sz="950" b="0">
                <a:solidFill>
                  <a:srgbClr val="E6EEFC"/>
                </a:solidFill>
                <a:latin typeface="Libre Franklin Medium"/>
              </a:rPr>
              <a:t>Pay now.</a:t>
            </a:r>
          </a:p>
        </p:txBody>
      </p:sp>
      <p:sp>
        <p:nvSpPr>
          <p:cNvPr id="13" name="Rounded Rectangle 12"/>
          <p:cNvSpPr/>
          <p:nvPr/>
        </p:nvSpPr>
        <p:spPr>
          <a:xfrm>
            <a:off x="3377107" y="2231136"/>
            <a:ext cx="2609011" cy="2249424"/>
          </a:xfrm>
          <a:prstGeom prst="roundRect">
            <a:avLst>
              <a:gd name="adj" fmla="val 7500"/>
            </a:avLst>
          </a:prstGeom>
          <a:solidFill>
            <a:srgbClr val="91B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9987" y="2487168"/>
            <a:ext cx="2243251" cy="731520"/>
          </a:xfrm>
          <a:prstGeom prst="rect">
            <a:avLst/>
          </a:prstGeom>
          <a:noFill/>
        </p:spPr>
        <p:txBody>
          <a:bodyPr wrap="square" lIns="0" rIns="0" tIns="0" bIns="0" anchor="t">
            <a:spAutoFit/>
          </a:bodyPr>
          <a:lstStyle/>
          <a:p>
            <a:pPr algn="ctr">
              <a:spcAft>
                <a:spcPts val="0"/>
              </a:spcAft>
            </a:pPr>
            <a:r>
              <a:rPr sz="4000" b="1" spc="-40">
                <a:solidFill>
                  <a:srgbClr val="000000"/>
                </a:solidFill>
                <a:latin typeface="Libre Franklin"/>
              </a:rPr>
              <a:t>679</a:t>
            </a:r>
          </a:p>
        </p:txBody>
      </p:sp>
      <p:sp>
        <p:nvSpPr>
          <p:cNvPr id="15" name="TextBox 14"/>
          <p:cNvSpPr txBox="1"/>
          <p:nvPr/>
        </p:nvSpPr>
        <p:spPr>
          <a:xfrm>
            <a:off x="3523411" y="3200400"/>
            <a:ext cx="2316403" cy="237744"/>
          </a:xfrm>
          <a:prstGeom prst="rect">
            <a:avLst/>
          </a:prstGeom>
          <a:noFill/>
        </p:spPr>
        <p:txBody>
          <a:bodyPr wrap="square" lIns="0" rIns="0" tIns="0" bIns="0" anchor="t">
            <a:spAutoFit/>
          </a:bodyPr>
          <a:lstStyle/>
          <a:p>
            <a:pPr algn="ctr">
              <a:spcAft>
                <a:spcPts val="0"/>
              </a:spcAft>
            </a:pPr>
            <a:r>
              <a:rPr sz="1250" b="1">
                <a:solidFill>
                  <a:srgbClr val="000000"/>
                </a:solidFill>
                <a:latin typeface="Libre Franklin"/>
              </a:rPr>
              <a:t>34.7%</a:t>
            </a:r>
          </a:p>
        </p:txBody>
      </p:sp>
      <p:sp>
        <p:nvSpPr>
          <p:cNvPr id="16" name="TextBox 15"/>
          <p:cNvSpPr txBox="1"/>
          <p:nvPr/>
        </p:nvSpPr>
        <p:spPr>
          <a:xfrm>
            <a:off x="3523411" y="3511296"/>
            <a:ext cx="2316403" cy="310896"/>
          </a:xfrm>
          <a:prstGeom prst="rect">
            <a:avLst/>
          </a:prstGeom>
          <a:noFill/>
        </p:spPr>
        <p:txBody>
          <a:bodyPr wrap="square" lIns="0" rIns="0" tIns="0" bIns="0" anchor="t">
            <a:spAutoFit/>
          </a:bodyPr>
          <a:lstStyle/>
          <a:p>
            <a:pPr algn="ctr">
              <a:lnSpc>
                <a:spcPct val="94000"/>
              </a:lnSpc>
              <a:spcAft>
                <a:spcPts val="0"/>
              </a:spcAft>
            </a:pPr>
            <a:r>
              <a:rPr sz="1200" b="1">
                <a:solidFill>
                  <a:srgbClr val="000000"/>
                </a:solidFill>
                <a:latin typeface="Libre Franklin"/>
              </a:rPr>
              <a:t>Likely real</a:t>
            </a:r>
          </a:p>
        </p:txBody>
      </p:sp>
      <p:sp>
        <p:nvSpPr>
          <p:cNvPr id="17" name="TextBox 16"/>
          <p:cNvSpPr txBox="1"/>
          <p:nvPr/>
        </p:nvSpPr>
        <p:spPr>
          <a:xfrm>
            <a:off x="3523411" y="3877056"/>
            <a:ext cx="2316403" cy="475488"/>
          </a:xfrm>
          <a:prstGeom prst="rect">
            <a:avLst/>
          </a:prstGeom>
          <a:noFill/>
        </p:spPr>
        <p:txBody>
          <a:bodyPr wrap="square" lIns="0" rIns="0" tIns="0" bIns="0" anchor="t">
            <a:spAutoFit/>
          </a:bodyPr>
          <a:lstStyle/>
          <a:p>
            <a:pPr algn="ctr">
              <a:lnSpc>
                <a:spcPct val="100000"/>
              </a:lnSpc>
              <a:spcAft>
                <a:spcPts val="0"/>
              </a:spcAft>
            </a:pPr>
            <a:r>
              <a:rPr sz="950" b="0">
                <a:solidFill>
                  <a:srgbClr val="000000"/>
                </a:solidFill>
                <a:latin typeface="Libre Franklin Medium"/>
              </a:rPr>
              <a:t>One soft signal only.</a:t>
            </a:r>
          </a:p>
          <a:p>
            <a:pPr algn="ctr">
              <a:lnSpc>
                <a:spcPct val="100000"/>
              </a:lnSpc>
              <a:spcAft>
                <a:spcPts val="0"/>
              </a:spcAft>
            </a:pPr>
            <a:r>
              <a:rPr sz="950" b="0">
                <a:solidFill>
                  <a:srgbClr val="000000"/>
                </a:solidFill>
                <a:latin typeface="Libre Franklin Medium"/>
              </a:rPr>
              <a:t>Approve for payment.</a:t>
            </a:r>
          </a:p>
        </p:txBody>
      </p:sp>
      <p:sp>
        <p:nvSpPr>
          <p:cNvPr id="18" name="Rounded Rectangle 17"/>
          <p:cNvSpPr/>
          <p:nvPr/>
        </p:nvSpPr>
        <p:spPr>
          <a:xfrm>
            <a:off x="6205575" y="2231136"/>
            <a:ext cx="2609011" cy="2249424"/>
          </a:xfrm>
          <a:prstGeom prst="roundRect">
            <a:avLst>
              <a:gd name="adj" fmla="val 75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455" y="2487168"/>
            <a:ext cx="2243251" cy="731520"/>
          </a:xfrm>
          <a:prstGeom prst="rect">
            <a:avLst/>
          </a:prstGeom>
          <a:noFill/>
        </p:spPr>
        <p:txBody>
          <a:bodyPr wrap="square" lIns="0" rIns="0" tIns="0" bIns="0" anchor="t">
            <a:spAutoFit/>
          </a:bodyPr>
          <a:lstStyle/>
          <a:p>
            <a:pPr algn="ctr">
              <a:spcAft>
                <a:spcPts val="0"/>
              </a:spcAft>
            </a:pPr>
            <a:r>
              <a:rPr sz="4000" b="1" spc="-40">
                <a:solidFill>
                  <a:srgbClr val="000000"/>
                </a:solidFill>
                <a:latin typeface="Libre Franklin"/>
              </a:rPr>
              <a:t>1,048</a:t>
            </a:r>
          </a:p>
        </p:txBody>
      </p:sp>
      <p:sp>
        <p:nvSpPr>
          <p:cNvPr id="20" name="TextBox 19"/>
          <p:cNvSpPr txBox="1"/>
          <p:nvPr/>
        </p:nvSpPr>
        <p:spPr>
          <a:xfrm>
            <a:off x="6351879" y="3200400"/>
            <a:ext cx="2316403" cy="237744"/>
          </a:xfrm>
          <a:prstGeom prst="rect">
            <a:avLst/>
          </a:prstGeom>
          <a:noFill/>
        </p:spPr>
        <p:txBody>
          <a:bodyPr wrap="square" lIns="0" rIns="0" tIns="0" bIns="0" anchor="t">
            <a:spAutoFit/>
          </a:bodyPr>
          <a:lstStyle/>
          <a:p>
            <a:pPr algn="ctr">
              <a:spcAft>
                <a:spcPts val="0"/>
              </a:spcAft>
            </a:pPr>
            <a:r>
              <a:rPr sz="1250" b="1">
                <a:solidFill>
                  <a:srgbClr val="000000"/>
                </a:solidFill>
                <a:latin typeface="Libre Franklin"/>
              </a:rPr>
              <a:t>53.6%</a:t>
            </a:r>
          </a:p>
        </p:txBody>
      </p:sp>
      <p:sp>
        <p:nvSpPr>
          <p:cNvPr id="21" name="TextBox 20"/>
          <p:cNvSpPr txBox="1"/>
          <p:nvPr/>
        </p:nvSpPr>
        <p:spPr>
          <a:xfrm>
            <a:off x="6351879" y="3511296"/>
            <a:ext cx="2316403" cy="310896"/>
          </a:xfrm>
          <a:prstGeom prst="rect">
            <a:avLst/>
          </a:prstGeom>
          <a:noFill/>
        </p:spPr>
        <p:txBody>
          <a:bodyPr wrap="square" lIns="0" rIns="0" tIns="0" bIns="0" anchor="t">
            <a:spAutoFit/>
          </a:bodyPr>
          <a:lstStyle/>
          <a:p>
            <a:pPr algn="ctr">
              <a:lnSpc>
                <a:spcPct val="94000"/>
              </a:lnSpc>
              <a:spcAft>
                <a:spcPts val="0"/>
              </a:spcAft>
            </a:pPr>
            <a:r>
              <a:rPr sz="1200" b="1">
                <a:solidFill>
                  <a:srgbClr val="000000"/>
                </a:solidFill>
                <a:latin typeface="Libre Franklin"/>
              </a:rPr>
              <a:t>Needs review</a:t>
            </a:r>
          </a:p>
        </p:txBody>
      </p:sp>
      <p:sp>
        <p:nvSpPr>
          <p:cNvPr id="22" name="TextBox 21"/>
          <p:cNvSpPr txBox="1"/>
          <p:nvPr/>
        </p:nvSpPr>
        <p:spPr>
          <a:xfrm>
            <a:off x="6351879" y="3877056"/>
            <a:ext cx="2316403" cy="475488"/>
          </a:xfrm>
          <a:prstGeom prst="rect">
            <a:avLst/>
          </a:prstGeom>
          <a:noFill/>
        </p:spPr>
        <p:txBody>
          <a:bodyPr wrap="square" lIns="0" rIns="0" tIns="0" bIns="0" anchor="t">
            <a:spAutoFit/>
          </a:bodyPr>
          <a:lstStyle/>
          <a:p>
            <a:pPr algn="ctr">
              <a:lnSpc>
                <a:spcPct val="100000"/>
              </a:lnSpc>
              <a:spcAft>
                <a:spcPts val="0"/>
              </a:spcAft>
            </a:pPr>
            <a:r>
              <a:rPr sz="950" b="0">
                <a:solidFill>
                  <a:srgbClr val="000000"/>
                </a:solidFill>
                <a:latin typeface="Libre Franklin Medium"/>
              </a:rPr>
              <a:t>Hold until a person</a:t>
            </a:r>
          </a:p>
          <a:p>
            <a:pPr algn="ctr">
              <a:lnSpc>
                <a:spcPct val="100000"/>
              </a:lnSpc>
              <a:spcAft>
                <a:spcPts val="0"/>
              </a:spcAft>
            </a:pPr>
            <a:r>
              <a:rPr sz="950" b="0">
                <a:solidFill>
                  <a:srgbClr val="000000"/>
                </a:solidFill>
                <a:latin typeface="Libre Franklin Medium"/>
              </a:rPr>
              <a:t>adjudicates.</a:t>
            </a:r>
          </a:p>
        </p:txBody>
      </p:sp>
      <p:sp>
        <p:nvSpPr>
          <p:cNvPr id="23" name="Rounded Rectangle 22"/>
          <p:cNvSpPr/>
          <p:nvPr/>
        </p:nvSpPr>
        <p:spPr>
          <a:xfrm>
            <a:off x="9034043" y="2231136"/>
            <a:ext cx="2609011" cy="2249424"/>
          </a:xfrm>
          <a:prstGeom prst="roundRect">
            <a:avLst>
              <a:gd name="adj" fmla="val 75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16923" y="2487168"/>
            <a:ext cx="2243251" cy="731520"/>
          </a:xfrm>
          <a:prstGeom prst="rect">
            <a:avLst/>
          </a:prstGeom>
          <a:noFill/>
        </p:spPr>
        <p:txBody>
          <a:bodyPr wrap="square" lIns="0" rIns="0" tIns="0" bIns="0" anchor="t">
            <a:spAutoFit/>
          </a:bodyPr>
          <a:lstStyle/>
          <a:p>
            <a:pPr algn="ctr">
              <a:spcAft>
                <a:spcPts val="0"/>
              </a:spcAft>
            </a:pPr>
            <a:r>
              <a:rPr sz="4000" b="1" spc="-40">
                <a:solidFill>
                  <a:srgbClr val="F4F4F6"/>
                </a:solidFill>
                <a:latin typeface="Libre Franklin"/>
              </a:rPr>
              <a:t>6</a:t>
            </a:r>
          </a:p>
        </p:txBody>
      </p:sp>
      <p:sp>
        <p:nvSpPr>
          <p:cNvPr id="25" name="TextBox 24"/>
          <p:cNvSpPr txBox="1"/>
          <p:nvPr/>
        </p:nvSpPr>
        <p:spPr>
          <a:xfrm>
            <a:off x="9180347" y="3200400"/>
            <a:ext cx="2316403" cy="237744"/>
          </a:xfrm>
          <a:prstGeom prst="rect">
            <a:avLst/>
          </a:prstGeom>
          <a:noFill/>
        </p:spPr>
        <p:txBody>
          <a:bodyPr wrap="square" lIns="0" rIns="0" tIns="0" bIns="0" anchor="t">
            <a:spAutoFit/>
          </a:bodyPr>
          <a:lstStyle/>
          <a:p>
            <a:pPr algn="ctr">
              <a:spcAft>
                <a:spcPts val="0"/>
              </a:spcAft>
            </a:pPr>
            <a:r>
              <a:rPr sz="1250" b="1">
                <a:solidFill>
                  <a:srgbClr val="F4F4F6"/>
                </a:solidFill>
                <a:latin typeface="Libre Franklin"/>
              </a:rPr>
              <a:t>0.3%</a:t>
            </a:r>
          </a:p>
        </p:txBody>
      </p:sp>
      <p:sp>
        <p:nvSpPr>
          <p:cNvPr id="26" name="TextBox 25"/>
          <p:cNvSpPr txBox="1"/>
          <p:nvPr/>
        </p:nvSpPr>
        <p:spPr>
          <a:xfrm>
            <a:off x="9180347" y="3511296"/>
            <a:ext cx="2316403" cy="310896"/>
          </a:xfrm>
          <a:prstGeom prst="rect">
            <a:avLst/>
          </a:prstGeom>
          <a:noFill/>
        </p:spPr>
        <p:txBody>
          <a:bodyPr wrap="square" lIns="0" rIns="0" tIns="0" bIns="0" anchor="t">
            <a:spAutoFit/>
          </a:bodyPr>
          <a:lstStyle/>
          <a:p>
            <a:pPr algn="ctr">
              <a:lnSpc>
                <a:spcPct val="94000"/>
              </a:lnSpc>
              <a:spcAft>
                <a:spcPts val="0"/>
              </a:spcAft>
            </a:pPr>
            <a:r>
              <a:rPr sz="1200" b="1">
                <a:solidFill>
                  <a:srgbClr val="F4F4F6"/>
                </a:solidFill>
                <a:latin typeface="Libre Franklin"/>
              </a:rPr>
              <a:t>Confirmed bots</a:t>
            </a:r>
          </a:p>
        </p:txBody>
      </p:sp>
      <p:sp>
        <p:nvSpPr>
          <p:cNvPr id="27" name="TextBox 26"/>
          <p:cNvSpPr txBox="1"/>
          <p:nvPr/>
        </p:nvSpPr>
        <p:spPr>
          <a:xfrm>
            <a:off x="9180347" y="3877056"/>
            <a:ext cx="2316403" cy="475488"/>
          </a:xfrm>
          <a:prstGeom prst="rect">
            <a:avLst/>
          </a:prstGeom>
          <a:noFill/>
        </p:spPr>
        <p:txBody>
          <a:bodyPr wrap="square" lIns="0" rIns="0" tIns="0" bIns="0" anchor="t">
            <a:spAutoFit/>
          </a:bodyPr>
          <a:lstStyle/>
          <a:p>
            <a:pPr algn="ctr">
              <a:lnSpc>
                <a:spcPct val="100000"/>
              </a:lnSpc>
              <a:spcAft>
                <a:spcPts val="0"/>
              </a:spcAft>
            </a:pPr>
            <a:r>
              <a:rPr sz="950" b="0">
                <a:solidFill>
                  <a:srgbClr val="F4F4F6"/>
                </a:solidFill>
                <a:latin typeface="Libre Franklin Medium"/>
              </a:rPr>
              <a:t>Withhold payment</a:t>
            </a:r>
          </a:p>
          <a:p>
            <a:pPr algn="ctr">
              <a:lnSpc>
                <a:spcPct val="100000"/>
              </a:lnSpc>
              <a:spcAft>
                <a:spcPts val="0"/>
              </a:spcAft>
            </a:pPr>
            <a:r>
              <a:rPr sz="950" b="0">
                <a:solidFill>
                  <a:srgbClr val="F4F4F6"/>
                </a:solidFill>
                <a:latin typeface="Libre Franklin Medium"/>
              </a:rPr>
              <a:t>and block.</a:t>
            </a:r>
          </a:p>
        </p:txBody>
      </p:sp>
      <p:sp>
        <p:nvSpPr>
          <p:cNvPr id="28" name="Rounded Rectangle 27"/>
          <p:cNvSpPr/>
          <p:nvPr/>
        </p:nvSpPr>
        <p:spPr>
          <a:xfrm>
            <a:off x="9927069" y="4261104"/>
            <a:ext cx="822960" cy="77724"/>
          </a:xfrm>
          <a:prstGeom prst="roundRect">
            <a:avLst>
              <a:gd name="adj" fmla="val 50000"/>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4718304"/>
            <a:ext cx="11094415" cy="1060704"/>
          </a:xfrm>
          <a:prstGeom prst="roundRect">
            <a:avLst>
              <a:gd name="adj" fmla="val 9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4882896"/>
            <a:ext cx="5486400" cy="219456"/>
          </a:xfrm>
          <a:prstGeom prst="rect">
            <a:avLst/>
          </a:prstGeom>
          <a:noFill/>
        </p:spPr>
        <p:txBody>
          <a:bodyPr wrap="square" lIns="0" rIns="0" tIns="0" bIns="0" anchor="t">
            <a:spAutoFit/>
          </a:bodyPr>
          <a:lstStyle/>
          <a:p>
            <a:pPr algn="l">
              <a:spcAft>
                <a:spcPts val="0"/>
              </a:spcAft>
            </a:pPr>
            <a:r>
              <a:rPr sz="950" b="1" spc="60">
                <a:solidFill>
                  <a:srgbClr val="3366FF"/>
                </a:solidFill>
                <a:latin typeface="Libre Franklin"/>
              </a:rPr>
              <a:t>THE HEADLINE NUMBER</a:t>
            </a:r>
          </a:p>
        </p:txBody>
      </p:sp>
      <p:sp>
        <p:nvSpPr>
          <p:cNvPr id="31" name="TextBox 30"/>
          <p:cNvSpPr txBox="1"/>
          <p:nvPr/>
        </p:nvSpPr>
        <p:spPr>
          <a:xfrm>
            <a:off x="859536" y="5138928"/>
            <a:ext cx="10472623" cy="512064"/>
          </a:xfrm>
          <a:prstGeom prst="rect">
            <a:avLst/>
          </a:prstGeom>
          <a:noFill/>
        </p:spPr>
        <p:txBody>
          <a:bodyPr wrap="square" lIns="0" rIns="0" tIns="0" bIns="0" anchor="t">
            <a:spAutoFit/>
          </a:bodyPr>
          <a:lstStyle/>
          <a:p>
            <a:pPr algn="l">
              <a:lnSpc>
                <a:spcPct val="106000"/>
              </a:lnSpc>
              <a:spcAft>
                <a:spcPts val="0"/>
              </a:spcAft>
            </a:pPr>
            <a:r>
              <a:rPr sz="1200" b="0">
                <a:solidFill>
                  <a:srgbClr val="000000"/>
                </a:solidFill>
                <a:latin typeface="Libre Franklin Medium"/>
              </a:rPr>
              <a:t>902 responses are provisionally eligible for a gift card, which is 46% of everything collected. That splits sharply by database: 97% of the verified project clears, against 41% of the legacy project.</a:t>
            </a:r>
          </a:p>
        </p:txBody>
      </p:sp>
      <p:sp>
        <p:nvSpPr>
          <p:cNvPr id="32" name="TextBox 3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table_43_master_summary.csv, table_40_final_showcase_summary.csv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THE DECISION</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Who gets paid, and who does not</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Pay everyone the screen cannot fault. Hold, do not refuse, anything uncertain. Refuse only on combined evidence.</a:t>
            </a:r>
          </a:p>
        </p:txBody>
      </p:sp>
      <p:sp>
        <p:nvSpPr>
          <p:cNvPr id="8" name="TextBox 7"/>
          <p:cNvSpPr txBox="1"/>
          <p:nvPr/>
        </p:nvSpPr>
        <p:spPr>
          <a:xfrm>
            <a:off x="822959" y="2121408"/>
            <a:ext cx="4846320" cy="219456"/>
          </a:xfrm>
          <a:prstGeom prst="rect">
            <a:avLst/>
          </a:prstGeom>
          <a:noFill/>
        </p:spPr>
        <p:txBody>
          <a:bodyPr wrap="square" lIns="0" rIns="0" tIns="0" bIns="0" anchor="t">
            <a:spAutoFit/>
          </a:bodyPr>
          <a:lstStyle/>
          <a:p>
            <a:pPr algn="l">
              <a:spcAft>
                <a:spcPts val="0"/>
              </a:spcAft>
            </a:pPr>
            <a:r>
              <a:rPr sz="900" b="1" spc="60">
                <a:solidFill>
                  <a:srgbClr val="5A5A64"/>
                </a:solidFill>
                <a:latin typeface="Libre Franklin"/>
              </a:rPr>
              <a:t>SITUATION</a:t>
            </a:r>
          </a:p>
        </p:txBody>
      </p:sp>
      <p:sp>
        <p:nvSpPr>
          <p:cNvPr id="9" name="TextBox 8"/>
          <p:cNvSpPr txBox="1"/>
          <p:nvPr/>
        </p:nvSpPr>
        <p:spPr>
          <a:xfrm>
            <a:off x="6080759" y="2121408"/>
            <a:ext cx="2743200" cy="219456"/>
          </a:xfrm>
          <a:prstGeom prst="rect">
            <a:avLst/>
          </a:prstGeom>
          <a:noFill/>
        </p:spPr>
        <p:txBody>
          <a:bodyPr wrap="square" lIns="0" rIns="0" tIns="0" bIns="0" anchor="t">
            <a:spAutoFit/>
          </a:bodyPr>
          <a:lstStyle/>
          <a:p>
            <a:pPr algn="l">
              <a:spcAft>
                <a:spcPts val="0"/>
              </a:spcAft>
            </a:pPr>
            <a:r>
              <a:rPr sz="900" b="1" spc="60">
                <a:solidFill>
                  <a:srgbClr val="5A5A64"/>
                </a:solidFill>
                <a:latin typeface="Libre Franklin"/>
              </a:rPr>
              <a:t>ACTION</a:t>
            </a:r>
          </a:p>
        </p:txBody>
      </p:sp>
      <p:sp>
        <p:nvSpPr>
          <p:cNvPr id="10" name="TextBox 9"/>
          <p:cNvSpPr txBox="1"/>
          <p:nvPr/>
        </p:nvSpPr>
        <p:spPr>
          <a:xfrm>
            <a:off x="9006840" y="2121408"/>
            <a:ext cx="2453335" cy="219456"/>
          </a:xfrm>
          <a:prstGeom prst="rect">
            <a:avLst/>
          </a:prstGeom>
          <a:noFill/>
        </p:spPr>
        <p:txBody>
          <a:bodyPr wrap="square" lIns="0" rIns="0" tIns="0" bIns="0" anchor="t">
            <a:spAutoFit/>
          </a:bodyPr>
          <a:lstStyle/>
          <a:p>
            <a:pPr algn="r">
              <a:spcAft>
                <a:spcPts val="0"/>
              </a:spcAft>
            </a:pPr>
            <a:r>
              <a:rPr sz="900" b="1" spc="60">
                <a:solidFill>
                  <a:srgbClr val="5A5A64"/>
                </a:solidFill>
                <a:latin typeface="Libre Franklin"/>
              </a:rPr>
              <a:t>GIFT CARD</a:t>
            </a:r>
          </a:p>
        </p:txBody>
      </p:sp>
      <p:sp>
        <p:nvSpPr>
          <p:cNvPr id="11" name="Rounded Rectangle 10"/>
          <p:cNvSpPr/>
          <p:nvPr/>
        </p:nvSpPr>
        <p:spPr>
          <a:xfrm>
            <a:off x="548640" y="2377440"/>
            <a:ext cx="11094415" cy="475488"/>
          </a:xfrm>
          <a:prstGeom prst="roundRect">
            <a:avLst>
              <a:gd name="adj" fmla="val 11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377440"/>
            <a:ext cx="105156" cy="475488"/>
          </a:xfrm>
          <a:prstGeom prst="roundRect">
            <a:avLst>
              <a:gd name="adj" fmla="val 45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432304"/>
            <a:ext cx="2057400" cy="201168"/>
          </a:xfrm>
          <a:prstGeom prst="rect">
            <a:avLst/>
          </a:prstGeom>
          <a:noFill/>
        </p:spPr>
        <p:txBody>
          <a:bodyPr wrap="square" lIns="0" rIns="0" tIns="0" bIns="0" anchor="t">
            <a:spAutoFit/>
          </a:bodyPr>
          <a:lstStyle/>
          <a:p>
            <a:pPr algn="l">
              <a:spcAft>
                <a:spcPts val="0"/>
              </a:spcAft>
            </a:pPr>
            <a:r>
              <a:rPr sz="800" b="1" spc="50">
                <a:solidFill>
                  <a:srgbClr val="000000"/>
                </a:solidFill>
                <a:latin typeface="Libre Franklin"/>
              </a:rPr>
              <a:t>TIER 4</a:t>
            </a:r>
          </a:p>
        </p:txBody>
      </p:sp>
      <p:sp>
        <p:nvSpPr>
          <p:cNvPr id="14" name="TextBox 13"/>
          <p:cNvSpPr txBox="1"/>
          <p:nvPr/>
        </p:nvSpPr>
        <p:spPr>
          <a:xfrm>
            <a:off x="822959" y="2610612"/>
            <a:ext cx="4846320" cy="219456"/>
          </a:xfrm>
          <a:prstGeom prst="rect">
            <a:avLst/>
          </a:prstGeom>
          <a:noFill/>
        </p:spPr>
        <p:txBody>
          <a:bodyPr wrap="square" lIns="0" rIns="0" tIns="0" bIns="0" anchor="t">
            <a:spAutoFit/>
          </a:bodyPr>
          <a:lstStyle/>
          <a:p>
            <a:pPr algn="l">
              <a:spcAft>
                <a:spcPts val="0"/>
              </a:spcAft>
            </a:pPr>
            <a:r>
              <a:rPr sz="1050" b="0">
                <a:solidFill>
                  <a:srgbClr val="000000"/>
                </a:solidFill>
                <a:latin typeface="Libre Franklin Medium"/>
              </a:rPr>
              <a:t>Nothing flagged at all</a:t>
            </a:r>
          </a:p>
        </p:txBody>
      </p:sp>
      <p:sp>
        <p:nvSpPr>
          <p:cNvPr id="15" name="TextBox 14"/>
          <p:cNvSpPr txBox="1"/>
          <p:nvPr/>
        </p:nvSpPr>
        <p:spPr>
          <a:xfrm>
            <a:off x="6080759" y="2496312"/>
            <a:ext cx="2743200" cy="237744"/>
          </a:xfrm>
          <a:prstGeom prst="rect">
            <a:avLst/>
          </a:prstGeom>
          <a:noFill/>
        </p:spPr>
        <p:txBody>
          <a:bodyPr wrap="square" lIns="0" rIns="0" tIns="0" bIns="0" anchor="ctr">
            <a:spAutoFit/>
          </a:bodyPr>
          <a:lstStyle/>
          <a:p>
            <a:pPr algn="l">
              <a:spcAft>
                <a:spcPts val="0"/>
              </a:spcAft>
            </a:pPr>
            <a:r>
              <a:rPr sz="1050" b="1">
                <a:solidFill>
                  <a:srgbClr val="000000"/>
                </a:solidFill>
                <a:latin typeface="Libre Franklin"/>
              </a:rPr>
              <a:t>Pass</a:t>
            </a:r>
          </a:p>
        </p:txBody>
      </p:sp>
      <p:sp>
        <p:nvSpPr>
          <p:cNvPr id="16" name="TextBox 15"/>
          <p:cNvSpPr txBox="1"/>
          <p:nvPr/>
        </p:nvSpPr>
        <p:spPr>
          <a:xfrm>
            <a:off x="9006840" y="2496312"/>
            <a:ext cx="2453335" cy="237744"/>
          </a:xfrm>
          <a:prstGeom prst="rect">
            <a:avLst/>
          </a:prstGeom>
          <a:noFill/>
        </p:spPr>
        <p:txBody>
          <a:bodyPr wrap="square" lIns="0" rIns="0" tIns="0" bIns="0" anchor="ctr">
            <a:spAutoFit/>
          </a:bodyPr>
          <a:lstStyle/>
          <a:p>
            <a:pPr algn="r">
              <a:spcAft>
                <a:spcPts val="0"/>
              </a:spcAft>
            </a:pPr>
            <a:r>
              <a:rPr sz="1200" b="1">
                <a:solidFill>
                  <a:srgbClr val="3366FF"/>
                </a:solidFill>
                <a:latin typeface="Libre Franklin"/>
              </a:rPr>
              <a:t>Pay</a:t>
            </a:r>
          </a:p>
        </p:txBody>
      </p:sp>
      <p:sp>
        <p:nvSpPr>
          <p:cNvPr id="17" name="Rounded Rectangle 16"/>
          <p:cNvSpPr/>
          <p:nvPr/>
        </p:nvSpPr>
        <p:spPr>
          <a:xfrm>
            <a:off x="548640" y="2903220"/>
            <a:ext cx="11094415" cy="475488"/>
          </a:xfrm>
          <a:prstGeom prst="roundRect">
            <a:avLst>
              <a:gd name="adj" fmla="val 11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2903220"/>
            <a:ext cx="105156" cy="475488"/>
          </a:xfrm>
          <a:prstGeom prst="roundRect">
            <a:avLst>
              <a:gd name="adj" fmla="val 45000"/>
            </a:avLst>
          </a:prstGeom>
          <a:solidFill>
            <a:srgbClr val="91B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2958084"/>
            <a:ext cx="2057400" cy="201168"/>
          </a:xfrm>
          <a:prstGeom prst="rect">
            <a:avLst/>
          </a:prstGeom>
          <a:noFill/>
        </p:spPr>
        <p:txBody>
          <a:bodyPr wrap="square" lIns="0" rIns="0" tIns="0" bIns="0" anchor="t">
            <a:spAutoFit/>
          </a:bodyPr>
          <a:lstStyle/>
          <a:p>
            <a:pPr algn="l">
              <a:spcAft>
                <a:spcPts val="0"/>
              </a:spcAft>
            </a:pPr>
            <a:r>
              <a:rPr sz="800" b="1" spc="50">
                <a:solidFill>
                  <a:srgbClr val="000000"/>
                </a:solidFill>
                <a:latin typeface="Libre Franklin"/>
              </a:rPr>
              <a:t>TIER 3</a:t>
            </a:r>
          </a:p>
        </p:txBody>
      </p:sp>
      <p:sp>
        <p:nvSpPr>
          <p:cNvPr id="20" name="TextBox 19"/>
          <p:cNvSpPr txBox="1"/>
          <p:nvPr/>
        </p:nvSpPr>
        <p:spPr>
          <a:xfrm>
            <a:off x="822959" y="3136391"/>
            <a:ext cx="4846320" cy="219456"/>
          </a:xfrm>
          <a:prstGeom prst="rect">
            <a:avLst/>
          </a:prstGeom>
          <a:noFill/>
        </p:spPr>
        <p:txBody>
          <a:bodyPr wrap="square" lIns="0" rIns="0" tIns="0" bIns="0" anchor="t">
            <a:spAutoFit/>
          </a:bodyPr>
          <a:lstStyle/>
          <a:p>
            <a:pPr algn="l">
              <a:spcAft>
                <a:spcPts val="0"/>
              </a:spcAft>
            </a:pPr>
            <a:r>
              <a:rPr sz="1050" b="0">
                <a:solidFill>
                  <a:srgbClr val="000000"/>
                </a:solidFill>
                <a:latin typeface="Libre Franklin Medium"/>
              </a:rPr>
              <a:t>One soft signal only</a:t>
            </a:r>
          </a:p>
        </p:txBody>
      </p:sp>
      <p:sp>
        <p:nvSpPr>
          <p:cNvPr id="21" name="TextBox 20"/>
          <p:cNvSpPr txBox="1"/>
          <p:nvPr/>
        </p:nvSpPr>
        <p:spPr>
          <a:xfrm>
            <a:off x="6080759" y="3022091"/>
            <a:ext cx="2743200" cy="237744"/>
          </a:xfrm>
          <a:prstGeom prst="rect">
            <a:avLst/>
          </a:prstGeom>
          <a:noFill/>
        </p:spPr>
        <p:txBody>
          <a:bodyPr wrap="square" lIns="0" rIns="0" tIns="0" bIns="0" anchor="ctr">
            <a:spAutoFit/>
          </a:bodyPr>
          <a:lstStyle/>
          <a:p>
            <a:pPr algn="l">
              <a:spcAft>
                <a:spcPts val="0"/>
              </a:spcAft>
            </a:pPr>
            <a:r>
              <a:rPr sz="1050" b="1">
                <a:solidFill>
                  <a:srgbClr val="000000"/>
                </a:solidFill>
                <a:latin typeface="Libre Franklin"/>
              </a:rPr>
              <a:t>Conditional pass</a:t>
            </a:r>
          </a:p>
        </p:txBody>
      </p:sp>
      <p:sp>
        <p:nvSpPr>
          <p:cNvPr id="22" name="TextBox 21"/>
          <p:cNvSpPr txBox="1"/>
          <p:nvPr/>
        </p:nvSpPr>
        <p:spPr>
          <a:xfrm>
            <a:off x="9006840" y="3022091"/>
            <a:ext cx="2453335" cy="237744"/>
          </a:xfrm>
          <a:prstGeom prst="rect">
            <a:avLst/>
          </a:prstGeom>
          <a:noFill/>
        </p:spPr>
        <p:txBody>
          <a:bodyPr wrap="square" lIns="0" rIns="0" tIns="0" bIns="0" anchor="ctr">
            <a:spAutoFit/>
          </a:bodyPr>
          <a:lstStyle/>
          <a:p>
            <a:pPr algn="r">
              <a:spcAft>
                <a:spcPts val="0"/>
              </a:spcAft>
            </a:pPr>
            <a:r>
              <a:rPr sz="1200" b="1">
                <a:solidFill>
                  <a:srgbClr val="3366FF"/>
                </a:solidFill>
                <a:latin typeface="Libre Franklin"/>
              </a:rPr>
              <a:t>Pay</a:t>
            </a:r>
          </a:p>
        </p:txBody>
      </p:sp>
      <p:sp>
        <p:nvSpPr>
          <p:cNvPr id="23" name="Rounded Rectangle 22"/>
          <p:cNvSpPr/>
          <p:nvPr/>
        </p:nvSpPr>
        <p:spPr>
          <a:xfrm>
            <a:off x="548640" y="3429000"/>
            <a:ext cx="11094415" cy="475488"/>
          </a:xfrm>
          <a:prstGeom prst="roundRect">
            <a:avLst>
              <a:gd name="adj" fmla="val 11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3429000"/>
            <a:ext cx="105156" cy="475488"/>
          </a:xfrm>
          <a:prstGeom prst="roundRect">
            <a:avLst>
              <a:gd name="adj" fmla="val 45000"/>
            </a:avLst>
          </a:prstGeom>
          <a:solidFill>
            <a:srgbClr val="91B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3483864"/>
            <a:ext cx="2057400" cy="201168"/>
          </a:xfrm>
          <a:prstGeom prst="rect">
            <a:avLst/>
          </a:prstGeom>
          <a:noFill/>
        </p:spPr>
        <p:txBody>
          <a:bodyPr wrap="square" lIns="0" rIns="0" tIns="0" bIns="0" anchor="t">
            <a:spAutoFit/>
          </a:bodyPr>
          <a:lstStyle/>
          <a:p>
            <a:pPr algn="l">
              <a:spcAft>
                <a:spcPts val="0"/>
              </a:spcAft>
            </a:pPr>
            <a:r>
              <a:rPr sz="800" b="1" spc="50">
                <a:solidFill>
                  <a:srgbClr val="000000"/>
                </a:solidFill>
                <a:latin typeface="Libre Franklin"/>
              </a:rPr>
              <a:t>TIER 1</a:t>
            </a:r>
          </a:p>
        </p:txBody>
      </p:sp>
      <p:sp>
        <p:nvSpPr>
          <p:cNvPr id="26" name="TextBox 25"/>
          <p:cNvSpPr txBox="1"/>
          <p:nvPr/>
        </p:nvSpPr>
        <p:spPr>
          <a:xfrm>
            <a:off x="822959" y="3662172"/>
            <a:ext cx="4846320" cy="219456"/>
          </a:xfrm>
          <a:prstGeom prst="rect">
            <a:avLst/>
          </a:prstGeom>
          <a:noFill/>
        </p:spPr>
        <p:txBody>
          <a:bodyPr wrap="square" lIns="0" rIns="0" tIns="0" bIns="0" anchor="t">
            <a:spAutoFit/>
          </a:bodyPr>
          <a:lstStyle/>
          <a:p>
            <a:pPr algn="l">
              <a:spcAft>
                <a:spcPts val="0"/>
              </a:spcAft>
            </a:pPr>
            <a:r>
              <a:rPr sz="1050" b="0">
                <a:solidFill>
                  <a:srgbClr val="000000"/>
                </a:solidFill>
                <a:latin typeface="Libre Franklin Medium"/>
              </a:rPr>
              <a:t>One hard flag on its own</a:t>
            </a:r>
          </a:p>
        </p:txBody>
      </p:sp>
      <p:sp>
        <p:nvSpPr>
          <p:cNvPr id="27" name="TextBox 26"/>
          <p:cNvSpPr txBox="1"/>
          <p:nvPr/>
        </p:nvSpPr>
        <p:spPr>
          <a:xfrm>
            <a:off x="6080759" y="3547872"/>
            <a:ext cx="2743200" cy="237744"/>
          </a:xfrm>
          <a:prstGeom prst="rect">
            <a:avLst/>
          </a:prstGeom>
          <a:noFill/>
        </p:spPr>
        <p:txBody>
          <a:bodyPr wrap="square" lIns="0" rIns="0" tIns="0" bIns="0" anchor="ctr">
            <a:spAutoFit/>
          </a:bodyPr>
          <a:lstStyle/>
          <a:p>
            <a:pPr algn="l">
              <a:spcAft>
                <a:spcPts val="0"/>
              </a:spcAft>
            </a:pPr>
            <a:r>
              <a:rPr sz="1050" b="1">
                <a:solidFill>
                  <a:srgbClr val="000000"/>
                </a:solidFill>
                <a:latin typeface="Libre Franklin"/>
              </a:rPr>
              <a:t>Conditional pass</a:t>
            </a:r>
          </a:p>
        </p:txBody>
      </p:sp>
      <p:sp>
        <p:nvSpPr>
          <p:cNvPr id="28" name="TextBox 27"/>
          <p:cNvSpPr txBox="1"/>
          <p:nvPr/>
        </p:nvSpPr>
        <p:spPr>
          <a:xfrm>
            <a:off x="9006840" y="3547872"/>
            <a:ext cx="2453335" cy="237744"/>
          </a:xfrm>
          <a:prstGeom prst="rect">
            <a:avLst/>
          </a:prstGeom>
          <a:noFill/>
        </p:spPr>
        <p:txBody>
          <a:bodyPr wrap="square" lIns="0" rIns="0" tIns="0" bIns="0" anchor="ctr">
            <a:spAutoFit/>
          </a:bodyPr>
          <a:lstStyle/>
          <a:p>
            <a:pPr algn="r">
              <a:spcAft>
                <a:spcPts val="0"/>
              </a:spcAft>
            </a:pPr>
            <a:r>
              <a:rPr sz="1200" b="1">
                <a:solidFill>
                  <a:srgbClr val="3366FF"/>
                </a:solidFill>
                <a:latin typeface="Libre Franklin"/>
              </a:rPr>
              <a:t>Pay unless overridden</a:t>
            </a:r>
          </a:p>
        </p:txBody>
      </p:sp>
      <p:sp>
        <p:nvSpPr>
          <p:cNvPr id="29" name="Rounded Rectangle 28"/>
          <p:cNvSpPr/>
          <p:nvPr/>
        </p:nvSpPr>
        <p:spPr>
          <a:xfrm>
            <a:off x="548640" y="3954780"/>
            <a:ext cx="11094415" cy="475488"/>
          </a:xfrm>
          <a:prstGeom prst="roundRect">
            <a:avLst>
              <a:gd name="adj" fmla="val 11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3954780"/>
            <a:ext cx="105156" cy="475488"/>
          </a:xfrm>
          <a:prstGeom prst="roundRect">
            <a:avLst>
              <a:gd name="adj" fmla="val 45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59" y="4009644"/>
            <a:ext cx="2057400" cy="201168"/>
          </a:xfrm>
          <a:prstGeom prst="rect">
            <a:avLst/>
          </a:prstGeom>
          <a:noFill/>
        </p:spPr>
        <p:txBody>
          <a:bodyPr wrap="square" lIns="0" rIns="0" tIns="0" bIns="0" anchor="t">
            <a:spAutoFit/>
          </a:bodyPr>
          <a:lstStyle/>
          <a:p>
            <a:pPr algn="l">
              <a:spcAft>
                <a:spcPts val="0"/>
              </a:spcAft>
            </a:pPr>
            <a:r>
              <a:rPr sz="800" b="1" spc="50">
                <a:solidFill>
                  <a:srgbClr val="000000"/>
                </a:solidFill>
                <a:latin typeface="Libre Franklin"/>
              </a:rPr>
              <a:t>TIER 2</a:t>
            </a:r>
          </a:p>
        </p:txBody>
      </p:sp>
      <p:sp>
        <p:nvSpPr>
          <p:cNvPr id="32" name="TextBox 31"/>
          <p:cNvSpPr txBox="1"/>
          <p:nvPr/>
        </p:nvSpPr>
        <p:spPr>
          <a:xfrm>
            <a:off x="822959" y="4187952"/>
            <a:ext cx="4846320" cy="219456"/>
          </a:xfrm>
          <a:prstGeom prst="rect">
            <a:avLst/>
          </a:prstGeom>
          <a:noFill/>
        </p:spPr>
        <p:txBody>
          <a:bodyPr wrap="square" lIns="0" rIns="0" tIns="0" bIns="0" anchor="t">
            <a:spAutoFit/>
          </a:bodyPr>
          <a:lstStyle/>
          <a:p>
            <a:pPr algn="l">
              <a:spcAft>
                <a:spcPts val="0"/>
              </a:spcAft>
            </a:pPr>
            <a:r>
              <a:rPr sz="1050" b="0">
                <a:solidFill>
                  <a:srgbClr val="000000"/>
                </a:solidFill>
                <a:latin typeface="Libre Franklin Medium"/>
              </a:rPr>
              <a:t>Two or more soft signals</a:t>
            </a:r>
          </a:p>
        </p:txBody>
      </p:sp>
      <p:sp>
        <p:nvSpPr>
          <p:cNvPr id="33" name="TextBox 32"/>
          <p:cNvSpPr txBox="1"/>
          <p:nvPr/>
        </p:nvSpPr>
        <p:spPr>
          <a:xfrm>
            <a:off x="6080759" y="4073652"/>
            <a:ext cx="2743200" cy="237744"/>
          </a:xfrm>
          <a:prstGeom prst="rect">
            <a:avLst/>
          </a:prstGeom>
          <a:noFill/>
        </p:spPr>
        <p:txBody>
          <a:bodyPr wrap="square" lIns="0" rIns="0" tIns="0" bIns="0" anchor="ctr">
            <a:spAutoFit/>
          </a:bodyPr>
          <a:lstStyle/>
          <a:p>
            <a:pPr algn="l">
              <a:spcAft>
                <a:spcPts val="0"/>
              </a:spcAft>
            </a:pPr>
            <a:r>
              <a:rPr sz="1050" b="1">
                <a:solidFill>
                  <a:srgbClr val="000000"/>
                </a:solidFill>
                <a:latin typeface="Libre Franklin"/>
              </a:rPr>
              <a:t>Review queue</a:t>
            </a:r>
          </a:p>
        </p:txBody>
      </p:sp>
      <p:sp>
        <p:nvSpPr>
          <p:cNvPr id="34" name="TextBox 33"/>
          <p:cNvSpPr txBox="1"/>
          <p:nvPr/>
        </p:nvSpPr>
        <p:spPr>
          <a:xfrm>
            <a:off x="9006840" y="4073652"/>
            <a:ext cx="2453335" cy="237744"/>
          </a:xfrm>
          <a:prstGeom prst="rect">
            <a:avLst/>
          </a:prstGeom>
          <a:noFill/>
        </p:spPr>
        <p:txBody>
          <a:bodyPr wrap="square" lIns="0" rIns="0" tIns="0" bIns="0" anchor="ctr">
            <a:spAutoFit/>
          </a:bodyPr>
          <a:lstStyle/>
          <a:p>
            <a:pPr algn="r">
              <a:spcAft>
                <a:spcPts val="0"/>
              </a:spcAft>
            </a:pPr>
            <a:r>
              <a:rPr sz="1200" b="1">
                <a:solidFill>
                  <a:srgbClr val="F57F00"/>
                </a:solidFill>
                <a:latin typeface="Libre Franklin"/>
              </a:rPr>
              <a:t>Hold</a:t>
            </a:r>
          </a:p>
        </p:txBody>
      </p:sp>
      <p:sp>
        <p:nvSpPr>
          <p:cNvPr id="35" name="Rounded Rectangle 34"/>
          <p:cNvSpPr/>
          <p:nvPr/>
        </p:nvSpPr>
        <p:spPr>
          <a:xfrm>
            <a:off x="548640" y="4480560"/>
            <a:ext cx="11094415" cy="475488"/>
          </a:xfrm>
          <a:prstGeom prst="roundRect">
            <a:avLst>
              <a:gd name="adj" fmla="val 11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48640" y="4480560"/>
            <a:ext cx="105156" cy="475488"/>
          </a:xfrm>
          <a:prstGeom prst="roundRect">
            <a:avLst>
              <a:gd name="adj" fmla="val 45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 y="4535424"/>
            <a:ext cx="2057400" cy="201168"/>
          </a:xfrm>
          <a:prstGeom prst="rect">
            <a:avLst/>
          </a:prstGeom>
          <a:noFill/>
        </p:spPr>
        <p:txBody>
          <a:bodyPr wrap="square" lIns="0" rIns="0" tIns="0" bIns="0" anchor="t">
            <a:spAutoFit/>
          </a:bodyPr>
          <a:lstStyle/>
          <a:p>
            <a:pPr algn="l">
              <a:spcAft>
                <a:spcPts val="0"/>
              </a:spcAft>
            </a:pPr>
            <a:r>
              <a:rPr sz="800" b="1" spc="50">
                <a:solidFill>
                  <a:srgbClr val="000000"/>
                </a:solidFill>
                <a:latin typeface="Libre Franklin"/>
              </a:rPr>
              <a:t>TIER 1</a:t>
            </a:r>
          </a:p>
        </p:txBody>
      </p:sp>
      <p:sp>
        <p:nvSpPr>
          <p:cNvPr id="38" name="TextBox 37"/>
          <p:cNvSpPr txBox="1"/>
          <p:nvPr/>
        </p:nvSpPr>
        <p:spPr>
          <a:xfrm>
            <a:off x="822959" y="4713732"/>
            <a:ext cx="4846320" cy="219456"/>
          </a:xfrm>
          <a:prstGeom prst="rect">
            <a:avLst/>
          </a:prstGeom>
          <a:noFill/>
        </p:spPr>
        <p:txBody>
          <a:bodyPr wrap="square" lIns="0" rIns="0" tIns="0" bIns="0" anchor="t">
            <a:spAutoFit/>
          </a:bodyPr>
          <a:lstStyle/>
          <a:p>
            <a:pPr algn="l">
              <a:spcAft>
                <a:spcPts val="0"/>
              </a:spcAft>
            </a:pPr>
            <a:r>
              <a:rPr sz="1050" b="0">
                <a:solidFill>
                  <a:srgbClr val="000000"/>
                </a:solidFill>
                <a:latin typeface="Libre Franklin Medium"/>
              </a:rPr>
              <a:t>Two hard flags, speed only</a:t>
            </a:r>
          </a:p>
        </p:txBody>
      </p:sp>
      <p:sp>
        <p:nvSpPr>
          <p:cNvPr id="39" name="TextBox 38"/>
          <p:cNvSpPr txBox="1"/>
          <p:nvPr/>
        </p:nvSpPr>
        <p:spPr>
          <a:xfrm>
            <a:off x="6080759" y="4599432"/>
            <a:ext cx="2743200" cy="237744"/>
          </a:xfrm>
          <a:prstGeom prst="rect">
            <a:avLst/>
          </a:prstGeom>
          <a:noFill/>
        </p:spPr>
        <p:txBody>
          <a:bodyPr wrap="square" lIns="0" rIns="0" tIns="0" bIns="0" anchor="ctr">
            <a:spAutoFit/>
          </a:bodyPr>
          <a:lstStyle/>
          <a:p>
            <a:pPr algn="l">
              <a:spcAft>
                <a:spcPts val="0"/>
              </a:spcAft>
            </a:pPr>
            <a:r>
              <a:rPr sz="1050" b="1">
                <a:solidFill>
                  <a:srgbClr val="000000"/>
                </a:solidFill>
                <a:latin typeface="Libre Franklin"/>
              </a:rPr>
              <a:t>Review queue</a:t>
            </a:r>
          </a:p>
        </p:txBody>
      </p:sp>
      <p:sp>
        <p:nvSpPr>
          <p:cNvPr id="40" name="TextBox 39"/>
          <p:cNvSpPr txBox="1"/>
          <p:nvPr/>
        </p:nvSpPr>
        <p:spPr>
          <a:xfrm>
            <a:off x="9006840" y="4599432"/>
            <a:ext cx="2453335" cy="237744"/>
          </a:xfrm>
          <a:prstGeom prst="rect">
            <a:avLst/>
          </a:prstGeom>
          <a:noFill/>
        </p:spPr>
        <p:txBody>
          <a:bodyPr wrap="square" lIns="0" rIns="0" tIns="0" bIns="0" anchor="ctr">
            <a:spAutoFit/>
          </a:bodyPr>
          <a:lstStyle/>
          <a:p>
            <a:pPr algn="r">
              <a:spcAft>
                <a:spcPts val="0"/>
              </a:spcAft>
            </a:pPr>
            <a:r>
              <a:rPr sz="1200" b="1">
                <a:solidFill>
                  <a:srgbClr val="F57F00"/>
                </a:solidFill>
                <a:latin typeface="Libre Franklin"/>
              </a:rPr>
              <a:t>Hold</a:t>
            </a:r>
          </a:p>
        </p:txBody>
      </p:sp>
      <p:sp>
        <p:nvSpPr>
          <p:cNvPr id="41" name="Rounded Rectangle 40"/>
          <p:cNvSpPr/>
          <p:nvPr/>
        </p:nvSpPr>
        <p:spPr>
          <a:xfrm>
            <a:off x="548640" y="5006340"/>
            <a:ext cx="11094415" cy="475488"/>
          </a:xfrm>
          <a:prstGeom prst="roundRect">
            <a:avLst>
              <a:gd name="adj" fmla="val 11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5006340"/>
            <a:ext cx="105156" cy="475488"/>
          </a:xfrm>
          <a:prstGeom prst="roundRect">
            <a:avLst>
              <a:gd name="adj" fmla="val 45000"/>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59" y="5061203"/>
            <a:ext cx="2057400" cy="201168"/>
          </a:xfrm>
          <a:prstGeom prst="rect">
            <a:avLst/>
          </a:prstGeom>
          <a:noFill/>
        </p:spPr>
        <p:txBody>
          <a:bodyPr wrap="square" lIns="0" rIns="0" tIns="0" bIns="0" anchor="t">
            <a:spAutoFit/>
          </a:bodyPr>
          <a:lstStyle/>
          <a:p>
            <a:pPr algn="l">
              <a:spcAft>
                <a:spcPts val="0"/>
              </a:spcAft>
            </a:pPr>
            <a:r>
              <a:rPr sz="800" b="1" spc="50">
                <a:solidFill>
                  <a:srgbClr val="000000"/>
                </a:solidFill>
                <a:latin typeface="Libre Franklin"/>
              </a:rPr>
              <a:t>TIER 1</a:t>
            </a:r>
          </a:p>
        </p:txBody>
      </p:sp>
      <p:sp>
        <p:nvSpPr>
          <p:cNvPr id="44" name="TextBox 43"/>
          <p:cNvSpPr txBox="1"/>
          <p:nvPr/>
        </p:nvSpPr>
        <p:spPr>
          <a:xfrm>
            <a:off x="822959" y="5239512"/>
            <a:ext cx="4846320" cy="219456"/>
          </a:xfrm>
          <a:prstGeom prst="rect">
            <a:avLst/>
          </a:prstGeom>
          <a:noFill/>
        </p:spPr>
        <p:txBody>
          <a:bodyPr wrap="square" lIns="0" rIns="0" tIns="0" bIns="0" anchor="t">
            <a:spAutoFit/>
          </a:bodyPr>
          <a:lstStyle/>
          <a:p>
            <a:pPr algn="l">
              <a:spcAft>
                <a:spcPts val="0"/>
              </a:spcAft>
            </a:pPr>
            <a:r>
              <a:rPr sz="1050" b="0">
                <a:solidFill>
                  <a:srgbClr val="000000"/>
                </a:solidFill>
                <a:latin typeface="Libre Franklin Medium"/>
              </a:rPr>
              <a:t>Three or more hard flags</a:t>
            </a:r>
          </a:p>
        </p:txBody>
      </p:sp>
      <p:sp>
        <p:nvSpPr>
          <p:cNvPr id="45" name="TextBox 44"/>
          <p:cNvSpPr txBox="1"/>
          <p:nvPr/>
        </p:nvSpPr>
        <p:spPr>
          <a:xfrm>
            <a:off x="6080759" y="5125212"/>
            <a:ext cx="2743200" cy="237744"/>
          </a:xfrm>
          <a:prstGeom prst="rect">
            <a:avLst/>
          </a:prstGeom>
          <a:noFill/>
        </p:spPr>
        <p:txBody>
          <a:bodyPr wrap="square" lIns="0" rIns="0" tIns="0" bIns="0" anchor="ctr">
            <a:spAutoFit/>
          </a:bodyPr>
          <a:lstStyle/>
          <a:p>
            <a:pPr algn="l">
              <a:spcAft>
                <a:spcPts val="0"/>
              </a:spcAft>
            </a:pPr>
            <a:r>
              <a:rPr sz="1050" b="1">
                <a:solidFill>
                  <a:srgbClr val="000000"/>
                </a:solidFill>
                <a:latin typeface="Libre Franklin"/>
              </a:rPr>
              <a:t>Auto-exclude</a:t>
            </a:r>
          </a:p>
        </p:txBody>
      </p:sp>
      <p:sp>
        <p:nvSpPr>
          <p:cNvPr id="46" name="TextBox 45"/>
          <p:cNvSpPr txBox="1"/>
          <p:nvPr/>
        </p:nvSpPr>
        <p:spPr>
          <a:xfrm>
            <a:off x="9006840" y="5125212"/>
            <a:ext cx="2453335" cy="237744"/>
          </a:xfrm>
          <a:prstGeom prst="rect">
            <a:avLst/>
          </a:prstGeom>
          <a:noFill/>
        </p:spPr>
        <p:txBody>
          <a:bodyPr wrap="square" lIns="0" rIns="0" tIns="0" bIns="0" anchor="ctr">
            <a:spAutoFit/>
          </a:bodyPr>
          <a:lstStyle/>
          <a:p>
            <a:pPr algn="r">
              <a:spcAft>
                <a:spcPts val="0"/>
              </a:spcAft>
            </a:pPr>
            <a:r>
              <a:rPr sz="1200" b="1">
                <a:solidFill>
                  <a:srgbClr val="D74E2D"/>
                </a:solidFill>
                <a:latin typeface="Libre Franklin"/>
              </a:rPr>
              <a:t>Do not pay</a:t>
            </a:r>
          </a:p>
        </p:txBody>
      </p:sp>
      <p:sp>
        <p:nvSpPr>
          <p:cNvPr id="47" name="Rounded Rectangle 46"/>
          <p:cNvSpPr/>
          <p:nvPr/>
        </p:nvSpPr>
        <p:spPr>
          <a:xfrm>
            <a:off x="548640" y="5532120"/>
            <a:ext cx="11094415" cy="475488"/>
          </a:xfrm>
          <a:prstGeom prst="roundRect">
            <a:avLst>
              <a:gd name="adj" fmla="val 11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48640" y="5532120"/>
            <a:ext cx="105156" cy="475488"/>
          </a:xfrm>
          <a:prstGeom prst="roundRect">
            <a:avLst>
              <a:gd name="adj" fmla="val 45000"/>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59" y="5586983"/>
            <a:ext cx="2057400" cy="201168"/>
          </a:xfrm>
          <a:prstGeom prst="rect">
            <a:avLst/>
          </a:prstGeom>
          <a:noFill/>
        </p:spPr>
        <p:txBody>
          <a:bodyPr wrap="square" lIns="0" rIns="0" tIns="0" bIns="0" anchor="t">
            <a:spAutoFit/>
          </a:bodyPr>
          <a:lstStyle/>
          <a:p>
            <a:pPr algn="l">
              <a:spcAft>
                <a:spcPts val="0"/>
              </a:spcAft>
            </a:pPr>
            <a:r>
              <a:rPr sz="800" b="1" spc="50">
                <a:solidFill>
                  <a:srgbClr val="000000"/>
                </a:solidFill>
                <a:latin typeface="Libre Franklin"/>
              </a:rPr>
              <a:t>TIER 1</a:t>
            </a:r>
          </a:p>
        </p:txBody>
      </p:sp>
      <p:sp>
        <p:nvSpPr>
          <p:cNvPr id="50" name="TextBox 49"/>
          <p:cNvSpPr txBox="1"/>
          <p:nvPr/>
        </p:nvSpPr>
        <p:spPr>
          <a:xfrm>
            <a:off x="822959" y="5765292"/>
            <a:ext cx="4846320" cy="219456"/>
          </a:xfrm>
          <a:prstGeom prst="rect">
            <a:avLst/>
          </a:prstGeom>
          <a:noFill/>
        </p:spPr>
        <p:txBody>
          <a:bodyPr wrap="square" lIns="0" rIns="0" tIns="0" bIns="0" anchor="t">
            <a:spAutoFit/>
          </a:bodyPr>
          <a:lstStyle/>
          <a:p>
            <a:pPr algn="l">
              <a:spcAft>
                <a:spcPts val="0"/>
              </a:spcAft>
            </a:pPr>
            <a:r>
              <a:rPr sz="1050" b="0">
                <a:solidFill>
                  <a:srgbClr val="000000"/>
                </a:solidFill>
                <a:latin typeface="Libre Franklin Medium"/>
              </a:rPr>
              <a:t>Contradiction plus a speed flag</a:t>
            </a:r>
          </a:p>
        </p:txBody>
      </p:sp>
      <p:sp>
        <p:nvSpPr>
          <p:cNvPr id="51" name="TextBox 50"/>
          <p:cNvSpPr txBox="1"/>
          <p:nvPr/>
        </p:nvSpPr>
        <p:spPr>
          <a:xfrm>
            <a:off x="6080759" y="5650992"/>
            <a:ext cx="2743200" cy="237744"/>
          </a:xfrm>
          <a:prstGeom prst="rect">
            <a:avLst/>
          </a:prstGeom>
          <a:noFill/>
        </p:spPr>
        <p:txBody>
          <a:bodyPr wrap="square" lIns="0" rIns="0" tIns="0" bIns="0" anchor="ctr">
            <a:spAutoFit/>
          </a:bodyPr>
          <a:lstStyle/>
          <a:p>
            <a:pPr algn="l">
              <a:spcAft>
                <a:spcPts val="0"/>
              </a:spcAft>
            </a:pPr>
            <a:r>
              <a:rPr sz="1050" b="1">
                <a:solidFill>
                  <a:srgbClr val="000000"/>
                </a:solidFill>
                <a:latin typeface="Libre Franklin"/>
              </a:rPr>
              <a:t>Auto-exclude</a:t>
            </a:r>
          </a:p>
        </p:txBody>
      </p:sp>
      <p:sp>
        <p:nvSpPr>
          <p:cNvPr id="52" name="TextBox 51"/>
          <p:cNvSpPr txBox="1"/>
          <p:nvPr/>
        </p:nvSpPr>
        <p:spPr>
          <a:xfrm>
            <a:off x="9006840" y="5650992"/>
            <a:ext cx="2453335" cy="237744"/>
          </a:xfrm>
          <a:prstGeom prst="rect">
            <a:avLst/>
          </a:prstGeom>
          <a:noFill/>
        </p:spPr>
        <p:txBody>
          <a:bodyPr wrap="square" lIns="0" rIns="0" tIns="0" bIns="0" anchor="ctr">
            <a:spAutoFit/>
          </a:bodyPr>
          <a:lstStyle/>
          <a:p>
            <a:pPr algn="r">
              <a:spcAft>
                <a:spcPts val="0"/>
              </a:spcAft>
            </a:pPr>
            <a:r>
              <a:rPr sz="1200" b="1">
                <a:solidFill>
                  <a:srgbClr val="D74E2D"/>
                </a:solidFill>
                <a:latin typeface="Libre Franklin"/>
              </a:rPr>
              <a:t>Do not pay</a:t>
            </a:r>
          </a:p>
        </p:txBody>
      </p:sp>
      <p:sp>
        <p:nvSpPr>
          <p:cNvPr id="53" name="TextBox 52"/>
          <p:cNvSpPr txBox="1"/>
          <p:nvPr/>
        </p:nvSpPr>
        <p:spPr>
          <a:xfrm>
            <a:off x="548640" y="6108192"/>
            <a:ext cx="11094415" cy="256032"/>
          </a:xfrm>
          <a:prstGeom prst="rect">
            <a:avLst/>
          </a:prstGeom>
          <a:noFill/>
        </p:spPr>
        <p:txBody>
          <a:bodyPr wrap="square" lIns="0" rIns="0" tIns="0" bIns="0" anchor="t">
            <a:spAutoFit/>
          </a:bodyPr>
          <a:lstStyle/>
          <a:p>
            <a:pPr algn="l">
              <a:spcAft>
                <a:spcPts val="0"/>
              </a:spcAft>
            </a:pPr>
            <a:r>
              <a:rPr sz="1100" b="1">
                <a:solidFill>
                  <a:srgbClr val="3366FF"/>
                </a:solidFill>
                <a:latin typeface="Libre Franklin"/>
              </a:rPr>
              <a:t>Guiding principle: a single rule hit never declares a bot on its own.</a:t>
            </a:r>
          </a:p>
        </p:txBody>
      </p:sp>
      <p:sp>
        <p:nvSpPr>
          <p:cNvPr id="54" name="TextBox 53"/>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table_37_bot_declaration_policy.csv, table_38_dirty4581_review_queue.csv, table_39_dirty4581_giftcard_eligible_provisional.csv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WHAT TO KEEP IN MIND</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Three honest limits on these numbers</a:t>
            </a:r>
          </a:p>
        </p:txBody>
      </p:sp>
      <p:pic>
        <p:nvPicPr>
          <p:cNvPr id="5" name="Picture 4" descr="logo-horizontal-discovery-blue.png"/>
          <p:cNvPicPr>
            <a:picLocks noChangeAspect="1"/>
          </p:cNvPicPr>
          <p:nvPr/>
        </p:nvPicPr>
        <p:blipFill>
          <a:blip r:embed="rId2"/>
          <a:stretch>
            <a:fillRect/>
          </a:stretch>
        </p:blipFill>
        <p:spPr>
          <a:xfrm>
            <a:off x="11076127" y="365760"/>
            <a:ext cx="565073" cy="265176"/>
          </a:xfrm>
          <a:prstGeom prst="rect">
            <a:avLst/>
          </a:prstGeom>
        </p:spPr>
      </p:pic>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screen is deliberately cautious. It is good at clearing real people and does not claim to catch every bot.</a:t>
            </a:r>
          </a:p>
        </p:txBody>
      </p:sp>
      <p:sp>
        <p:nvSpPr>
          <p:cNvPr id="8" name="Rounded Rectangle 7"/>
          <p:cNvSpPr/>
          <p:nvPr/>
        </p:nvSpPr>
        <p:spPr>
          <a:xfrm>
            <a:off x="548640" y="2231136"/>
            <a:ext cx="6446520" cy="1170432"/>
          </a:xfrm>
          <a:prstGeom prst="roundRect">
            <a:avLst>
              <a:gd name="adj" fmla="val 7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59" y="2450591"/>
            <a:ext cx="502920" cy="68580"/>
          </a:xfrm>
          <a:prstGeom prst="roundRect">
            <a:avLst>
              <a:gd name="adj" fmla="val 50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615184"/>
            <a:ext cx="5897880" cy="256032"/>
          </a:xfrm>
          <a:prstGeom prst="rect">
            <a:avLst/>
          </a:prstGeom>
          <a:noFill/>
        </p:spPr>
        <p:txBody>
          <a:bodyPr wrap="square" lIns="0" rIns="0" tIns="0" bIns="0" anchor="t">
            <a:spAutoFit/>
          </a:bodyPr>
          <a:lstStyle/>
          <a:p>
            <a:pPr algn="l">
              <a:lnSpc>
                <a:spcPct val="96000"/>
              </a:lnSpc>
              <a:spcAft>
                <a:spcPts val="0"/>
              </a:spcAft>
            </a:pPr>
            <a:r>
              <a:rPr sz="1250" b="1">
                <a:solidFill>
                  <a:srgbClr val="3366FF"/>
                </a:solidFill>
                <a:latin typeface="Libre Franklin"/>
              </a:rPr>
              <a:t>Real people are rarely flagged</a:t>
            </a:r>
          </a:p>
        </p:txBody>
      </p:sp>
      <p:sp>
        <p:nvSpPr>
          <p:cNvPr id="11" name="TextBox 10"/>
          <p:cNvSpPr txBox="1"/>
          <p:nvPr/>
        </p:nvSpPr>
        <p:spPr>
          <a:xfrm>
            <a:off x="822959" y="2907791"/>
            <a:ext cx="5897880" cy="438912"/>
          </a:xfrm>
          <a:prstGeom prst="rect">
            <a:avLst/>
          </a:prstGeom>
          <a:noFill/>
        </p:spPr>
        <p:txBody>
          <a:bodyPr wrap="square" lIns="0" rIns="0" tIns="0" bIns="0" anchor="t">
            <a:spAutoFit/>
          </a:bodyPr>
          <a:lstStyle/>
          <a:p>
            <a:pPr algn="l">
              <a:lnSpc>
                <a:spcPct val="106000"/>
              </a:lnSpc>
              <a:spcAft>
                <a:spcPts val="0"/>
              </a:spcAft>
            </a:pPr>
            <a:r>
              <a:rPr sz="1000" b="0">
                <a:solidFill>
                  <a:srgbClr val="000000"/>
                </a:solidFill>
                <a:latin typeface="Libre Franklin Medium"/>
              </a:rPr>
              <a:t>No confirmed-real caregiver was flagged by the speed, duplicate or contradiction checks. The soft checks touched at most 4.6% of them, so a small number of genuine caregivers do land in the review queue.</a:t>
            </a:r>
          </a:p>
        </p:txBody>
      </p:sp>
      <p:sp>
        <p:nvSpPr>
          <p:cNvPr id="12" name="Rounded Rectangle 11"/>
          <p:cNvSpPr/>
          <p:nvPr/>
        </p:nvSpPr>
        <p:spPr>
          <a:xfrm>
            <a:off x="548640" y="3566160"/>
            <a:ext cx="6446520" cy="1170432"/>
          </a:xfrm>
          <a:prstGeom prst="roundRect">
            <a:avLst>
              <a:gd name="adj" fmla="val 7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 y="3785615"/>
            <a:ext cx="502920" cy="68580"/>
          </a:xfrm>
          <a:prstGeom prst="roundRect">
            <a:avLst>
              <a:gd name="adj" fmla="val 50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950208"/>
            <a:ext cx="5897880" cy="256032"/>
          </a:xfrm>
          <a:prstGeom prst="rect">
            <a:avLst/>
          </a:prstGeom>
          <a:noFill/>
        </p:spPr>
        <p:txBody>
          <a:bodyPr wrap="square" lIns="0" rIns="0" tIns="0" bIns="0" anchor="t">
            <a:spAutoFit/>
          </a:bodyPr>
          <a:lstStyle/>
          <a:p>
            <a:pPr algn="l">
              <a:lnSpc>
                <a:spcPct val="96000"/>
              </a:lnSpc>
              <a:spcAft>
                <a:spcPts val="0"/>
              </a:spcAft>
            </a:pPr>
            <a:r>
              <a:rPr sz="1250" b="1">
                <a:solidFill>
                  <a:srgbClr val="3366FF"/>
                </a:solidFill>
                <a:latin typeface="Libre Franklin"/>
              </a:rPr>
              <a:t>We cannot state a true bot rate</a:t>
            </a:r>
          </a:p>
        </p:txBody>
      </p:sp>
      <p:sp>
        <p:nvSpPr>
          <p:cNvPr id="15" name="TextBox 14"/>
          <p:cNvSpPr txBox="1"/>
          <p:nvPr/>
        </p:nvSpPr>
        <p:spPr>
          <a:xfrm>
            <a:off x="822959" y="4242816"/>
            <a:ext cx="5897880" cy="438912"/>
          </a:xfrm>
          <a:prstGeom prst="rect">
            <a:avLst/>
          </a:prstGeom>
          <a:noFill/>
        </p:spPr>
        <p:txBody>
          <a:bodyPr wrap="square" lIns="0" rIns="0" tIns="0" bIns="0" anchor="t">
            <a:spAutoFit/>
          </a:bodyPr>
          <a:lstStyle/>
          <a:p>
            <a:pPr algn="l">
              <a:lnSpc>
                <a:spcPct val="106000"/>
              </a:lnSpc>
              <a:spcAft>
                <a:spcPts val="0"/>
              </a:spcAft>
            </a:pPr>
            <a:r>
              <a:rPr sz="1000" b="0">
                <a:solidFill>
                  <a:srgbClr val="000000"/>
                </a:solidFill>
                <a:latin typeface="Libre Franklin Medium"/>
              </a:rPr>
              <a:t>A model suggested most of the legacy database separates from the verified one, but recruitment and survey changes explain part of that. We are not reporting a bot percentage, and some bots almost certainly passed.</a:t>
            </a:r>
          </a:p>
        </p:txBody>
      </p:sp>
      <p:sp>
        <p:nvSpPr>
          <p:cNvPr id="16" name="Rounded Rectangle 15"/>
          <p:cNvSpPr/>
          <p:nvPr/>
        </p:nvSpPr>
        <p:spPr>
          <a:xfrm>
            <a:off x="548640" y="4901183"/>
            <a:ext cx="6446520" cy="1170432"/>
          </a:xfrm>
          <a:prstGeom prst="roundRect">
            <a:avLst>
              <a:gd name="adj" fmla="val 75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59" y="5120640"/>
            <a:ext cx="502920" cy="68580"/>
          </a:xfrm>
          <a:prstGeom prst="roundRect">
            <a:avLst>
              <a:gd name="adj" fmla="val 50000"/>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5285231"/>
            <a:ext cx="5897880" cy="256032"/>
          </a:xfrm>
          <a:prstGeom prst="rect">
            <a:avLst/>
          </a:prstGeom>
          <a:noFill/>
        </p:spPr>
        <p:txBody>
          <a:bodyPr wrap="square" lIns="0" rIns="0" tIns="0" bIns="0" anchor="t">
            <a:spAutoFit/>
          </a:bodyPr>
          <a:lstStyle/>
          <a:p>
            <a:pPr algn="l">
              <a:lnSpc>
                <a:spcPct val="96000"/>
              </a:lnSpc>
              <a:spcAft>
                <a:spcPts val="0"/>
              </a:spcAft>
            </a:pPr>
            <a:r>
              <a:rPr sz="1250" b="1">
                <a:solidFill>
                  <a:srgbClr val="3366FF"/>
                </a:solidFill>
                <a:latin typeface="Libre Franklin"/>
              </a:rPr>
              <a:t>The review queue is real work</a:t>
            </a:r>
          </a:p>
        </p:txBody>
      </p:sp>
      <p:sp>
        <p:nvSpPr>
          <p:cNvPr id="19" name="TextBox 18"/>
          <p:cNvSpPr txBox="1"/>
          <p:nvPr/>
        </p:nvSpPr>
        <p:spPr>
          <a:xfrm>
            <a:off x="822959" y="5577840"/>
            <a:ext cx="5897880" cy="438912"/>
          </a:xfrm>
          <a:prstGeom prst="rect">
            <a:avLst/>
          </a:prstGeom>
          <a:noFill/>
        </p:spPr>
        <p:txBody>
          <a:bodyPr wrap="square" lIns="0" rIns="0" tIns="0" bIns="0" anchor="t">
            <a:spAutoFit/>
          </a:bodyPr>
          <a:lstStyle/>
          <a:p>
            <a:pPr algn="l">
              <a:lnSpc>
                <a:spcPct val="106000"/>
              </a:lnSpc>
              <a:spcAft>
                <a:spcPts val="0"/>
              </a:spcAft>
            </a:pPr>
            <a:r>
              <a:rPr sz="1000" b="0">
                <a:solidFill>
                  <a:srgbClr val="000000"/>
                </a:solidFill>
                <a:latin typeface="Libre Franklin Medium"/>
              </a:rPr>
              <a:t>1,048 responses wait on human adjudication, and 1,043 of them are in the legacy database. Until a person works that list, most payment decisions are provisional rather than final.</a:t>
            </a:r>
          </a:p>
        </p:txBody>
      </p:sp>
      <p:sp>
        <p:nvSpPr>
          <p:cNvPr id="20" name="Rounded Rectangle 19"/>
          <p:cNvSpPr/>
          <p:nvPr/>
        </p:nvSpPr>
        <p:spPr>
          <a:xfrm>
            <a:off x="7756295" y="2194560"/>
            <a:ext cx="3424632" cy="356616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igure_9b_false_positive_panel.png"/>
          <p:cNvPicPr>
            <a:picLocks noChangeAspect="1"/>
          </p:cNvPicPr>
          <p:nvPr/>
        </p:nvPicPr>
        <p:blipFill>
          <a:blip r:embed="rId3"/>
          <a:stretch>
            <a:fillRect/>
          </a:stretch>
        </p:blipFill>
        <p:spPr>
          <a:xfrm>
            <a:off x="7847735" y="2286000"/>
            <a:ext cx="3241752" cy="3383279"/>
          </a:xfrm>
          <a:prstGeom prst="rect">
            <a:avLst/>
          </a:prstGeom>
        </p:spPr>
      </p:pic>
      <p:sp>
        <p:nvSpPr>
          <p:cNvPr id="22" name="TextBox 21"/>
          <p:cNvSpPr txBox="1"/>
          <p:nvPr/>
        </p:nvSpPr>
        <p:spPr>
          <a:xfrm>
            <a:off x="7296912" y="5815584"/>
            <a:ext cx="4343400" cy="475488"/>
          </a:xfrm>
          <a:prstGeom prst="rect">
            <a:avLst/>
          </a:prstGeom>
          <a:noFill/>
        </p:spPr>
        <p:txBody>
          <a:bodyPr wrap="square" lIns="0" rIns="0" tIns="0" bIns="0" anchor="t">
            <a:spAutoFit/>
          </a:bodyPr>
          <a:lstStyle/>
          <a:p>
            <a:pPr algn="ctr">
              <a:lnSpc>
                <a:spcPct val="108000"/>
              </a:lnSpc>
              <a:spcAft>
                <a:spcPts val="0"/>
              </a:spcAft>
            </a:pPr>
            <a:r>
              <a:rPr sz="950" b="0">
                <a:solidFill>
                  <a:srgbClr val="5A5A64"/>
                </a:solidFill>
                <a:latin typeface="Libre Franklin Medium"/>
              </a:rPr>
              <a:t>Not one confirmed-real caregiver was flagged by the speed, duplicate or contradiction checks. No check uses demographic information as evidence of a bot.</a:t>
            </a:r>
          </a:p>
        </p:txBody>
      </p:sp>
      <p:sp>
        <p:nvSpPr>
          <p:cNvPr id="23" name="TextBox 22"/>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table_15_rule_false_positive_rates.csv, table_17_contamination_identifiability.csv, table_30_decision_summary.csv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