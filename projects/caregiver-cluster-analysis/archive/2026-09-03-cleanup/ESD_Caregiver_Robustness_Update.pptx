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robustness update, not a new finding.
One line to hold onto: the screening difference survived every check we ran, the profile count did not settle.
4797 is the clean project. 4581 is older, has no eligibility checks, and stays as replication only.
Roughly a minute a slide, twelve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nothing else.
The grouping runs on acceptability alone.
Screening, knowledge, values, and demographics are set aside until the groups are frozen. Otherwise any difference we find is just something we built in.
Cluster naming also excludes accuracy tolerance so the labels cannot be circular.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each drop with a stated reason.
177 is what the API returns for 4797. The code asserts that and stops if it changes.
The 8-of-10 rule was set before we looked at results.
The last four matter: none of them answered Definitely yes, so removing them is not neutral. Slide 8 quantifies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actually did since last time.
The pipeline now pulls from the API, hashes what it caches, and refuses to run if the counts drift.
The response screen is a set of fixed rules, written down before use, so they can be argued with.
Each rule's error rate was measured against caregivers we know are real. That is what makes the thresholds defensible.
All seventeen old numbers reproduce exactly, so nothing in this deck moved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domains built from theory, not from a data search, so they stay interpretable.
Read the two numbers together. Stability 0.704 means we recover the same split when we resample. Silhouette 0.180 means the two groups sit close together.
Both can be true. We can find the same split repeatedly and still be describing a gradient rather than a gap.
BIC and the gap statistic disagree with two groups. I come back to that on slide eleven.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Sizes first: 84 and 47 of the 131 grouped records.
Labels come from average acceptability across the aligned inputs, with accuracy tolerance left out so the naming cannot be circular.
What separates them is feelings and logistics, not information. Trust, comfort with specific procedures, and whether offering it to everyone feels right.
I say group and gradient, not type. That follows from the silhouette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the lab cares about, and it is large.
Seventy percent against twenty-eight, a forty-two point difference, with intervals nowhere near overlapping.
The endpoint follows the written analysis plan: Definitely yes against every other valid answer, missing left missing.
The two bottom numbers differ, 80 and 47, because four Higher records had no answer. That is why I show counts.
Say the caveat out loud: stated intention is not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obvious challenge: did the response screening change the answer?
Across the three clean-project definitions the difference moves between forty-two and forty-nine points, odds ratio between seven and eleven. Stable.
Every interval excludes one.
The third number handles the four dropped records. Even if we assign all four the way that hurts most, the difference is still thirty-nine points.
Order matters: thresholds set first, applied second. We did not tune them while watching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headline: the signal is about attitude and logistics, not knowledge or demographics.
Knowledge does not separate the groups on the seven-item score. The eight-item versions stay as backup because one answer key is still unresolved.
Self-direction looks interesting before correcting for ten comparisons and not after. I am not presenting it as a finding.
Premature birth is the one to caveat hardest. Thirty against forty-seven percent looks real but is borderline before correction and nowhere near after. The medical-fatigue story is a hypothesis.
The one solid covariate is an autistic child at home, about fourfold, and it works alongside group rather than through it.
Last point: with forty-seven in the smaller group, no difference found is not the same as no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fraud problem lives. Seventy-one of one thousand seven hundred seventy-nine clear the strict rules.
Those seventy-one point the same way, odds ratio around ten, but look at the interval. Two to ninety-seven. Reassuring in direction, almost useless in size.
Be careful quoting the ninety-four percent. It is separation between two projects that differ in questionnaire and recruitment window, not just in authenticity.
A control check helps here: split 4797 in half at random and the same model gets 0.525, basically chance. So the separation is not something our pipeline invented.
The reason 4797 is clean is the picture check, the age cross-check, and the email field. Keep all three on every future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argue against our own structure before a reviewer does.
Three things point away from a clean two-group story: BIC prefers three, a mixture model splits 110 to 21 instead of 84 to 47, and separation stays weak with people visibly on the wrong side.
What does hold is that a single group is rejected outright. There is structure. We just cannot claim we found its true form.
So keep two groups because they are interpretable and useful, and drop the wording that treats them as real kinds of people.
For the manuscript: group, gradient, associated with. Not type, class, or leads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because the split between solid and open is the message.
Solid: the difference itself, and the fact that the analysis now reruns cleanly.
Open: how many groups there are, and how to read the 4581 separation.
Item two is what I need from this room. The knowledge answer key and the selection rule are documentation gaps.
Item four is a writing task, cheap now and expensive in review.
Practical read: prioritise a low-burden pathway, lead with trust and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walk this slide. It exists so questions have somewhere to land.
Everything listed is already exported, so I can open any of it live.
Most likely to come up: A2 on rule error rates, A3 on detector agreement, A6 on group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leave the room with, two clauses.
Solid: the screening difference survived every check.
Not settled: how many groups there are. Better we say that now than a reviewer later.
Recommendation is unchanged: low-burden pathway, lead with trust and ethics.
Open for questions, backup slides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66FF"/>
        </a:solidFill>
      </p:bgPr>
    </p:bg>
    <p:spTree>
      <p:nvGrpSpPr>
        <p:cNvPr id="1" name=""/>
        <p:cNvGrpSpPr/>
        <p:nvPr/>
      </p:nvGrpSpPr>
      <p:grpSpPr>
        <a:xfrm>
          <a:off x="0" y="0"/>
          <a:ext cx="0" cy="0"/>
          <a:chOff x="0" y="0"/>
          <a:chExt cx="0" cy="0"/>
        </a:xfrm>
      </p:grpSpPr>
      <p:pic>
        <p:nvPicPr>
          <p:cNvPr id="2" name="Image 0" descr="/sessions/happy-eloquent-pascal/mnt/.claude/skills/esd-lab/assets/patterns/pattern-icon-band-white.png">    </p:cNvPr>
          <p:cNvPicPr>
            <a:picLocks noChangeAspect="1"/>
          </p:cNvPicPr>
          <p:nvPr/>
        </p:nvPicPr>
        <p:blipFill>
          <a:blip r:embed="rId1">
            <a:alphaModFix amt="38000"/>
          </a:blip>
          <a:stretch>
            <a:fillRect/>
          </a:stretch>
        </p:blipFill>
        <p:spPr>
          <a:xfrm>
            <a:off x="0" y="0"/>
            <a:ext cx="12191695" cy="548640"/>
          </a:xfrm>
          <a:prstGeom prst="rect">
            <a:avLst/>
          </a:prstGeom>
        </p:spPr>
      </p:pic>
      <p:pic>
        <p:nvPicPr>
          <p:cNvPr id="3" name="Image 1" descr="/sessions/happy-eloquent-pascal/mnt/.claude/skills/esd-lab/assets/patterns/pattern-icon-band-white.png">    </p:cNvPr>
          <p:cNvPicPr>
            <a:picLocks noChangeAspect="1"/>
          </p:cNvPicPr>
          <p:nvPr/>
        </p:nvPicPr>
        <p:blipFill>
          <a:blip r:embed="rId2">
            <a:alphaModFix amt="38000"/>
          </a:blip>
          <a:stretch>
            <a:fillRect/>
          </a:stretch>
        </p:blipFill>
        <p:spPr>
          <a:xfrm>
            <a:off x="0" y="6309360"/>
            <a:ext cx="12191695" cy="548640"/>
          </a:xfrm>
          <a:prstGeom prst="rect">
            <a:avLst/>
          </a:prstGeom>
        </p:spPr>
      </p:pic>
      <p:pic>
        <p:nvPicPr>
          <p:cNvPr id="4" name="Image 2" descr="/sessions/happy-eloquent-pascal/mnt/.claude/skills/esd-lab/assets/logos/logo-horizontal-cool-white.png">    </p:cNvPr>
          <p:cNvPicPr>
            <a:picLocks noChangeAspect="1"/>
          </p:cNvPicPr>
          <p:nvPr/>
        </p:nvPicPr>
        <p:blipFill>
          <a:blip r:embed="rId3"/>
          <a:stretch>
            <a:fillRect/>
          </a:stretch>
        </p:blipFill>
        <p:spPr>
          <a:xfrm>
            <a:off x="640080" y="1188720"/>
            <a:ext cx="1700784" cy="384048"/>
          </a:xfrm>
          <a:prstGeom prst="rect">
            <a:avLst/>
          </a:prstGeom>
        </p:spPr>
      </p:pic>
      <p:sp>
        <p:nvSpPr>
          <p:cNvPr id="5" name="Text 0"/>
          <p:cNvSpPr/>
          <p:nvPr/>
        </p:nvSpPr>
        <p:spPr>
          <a:xfrm>
            <a:off x="640080" y="1965960"/>
            <a:ext cx="10607040" cy="1417320"/>
          </a:xfrm>
          <a:prstGeom prst="rect">
            <a:avLst/>
          </a:prstGeom>
          <a:noFill/>
          <a:ln/>
        </p:spPr>
        <p:txBody>
          <a:bodyPr wrap="square" lIns="0" tIns="0" rIns="0" bIns="0" rtlCol="0" anchor="ctr"/>
          <a:lstStyle/>
          <a:p>
            <a:pPr indent="0" marL="0">
              <a:lnSpc>
                <a:spcPts val="4600"/>
              </a:lnSpc>
              <a:buNone/>
            </a:pPr>
            <a:r>
              <a:rPr lang="en-US" sz="4200" b="1" spc="-40" kern="0" dirty="0">
                <a:solidFill>
                  <a:srgbClr val="F4F4F6"/>
                </a:solidFill>
                <a:latin typeface="Libre Franklin" pitchFamily="34" charset="0"/>
                <a:ea typeface="Libre Franklin" pitchFamily="34" charset="-122"/>
                <a:cs typeface="Libre Franklin" pitchFamily="34" charset="-120"/>
              </a:rPr>
              <a:t>Caregiver Acceptability Profiles for</a:t>
            </a:r>
            <a:endParaRPr lang="en-US" sz="4200" dirty="0"/>
          </a:p>
          <a:p>
            <a:pPr indent="0" marL="0">
              <a:lnSpc>
                <a:spcPts val="4600"/>
              </a:lnSpc>
              <a:buNone/>
            </a:pPr>
            <a:r>
              <a:rPr lang="en-US" sz="4200" b="1" spc="-40" kern="0" dirty="0">
                <a:solidFill>
                  <a:srgbClr val="F4F4F6"/>
                </a:solidFill>
                <a:latin typeface="Libre Franklin" pitchFamily="34" charset="0"/>
                <a:ea typeface="Libre Franklin" pitchFamily="34" charset="-122"/>
                <a:cs typeface="Libre Franklin" pitchFamily="34" charset="-120"/>
              </a:rPr>
              <a:t>4-Month Autism Screening</a:t>
            </a:r>
            <a:endParaRPr lang="en-US" sz="4200" dirty="0"/>
          </a:p>
        </p:txBody>
      </p:sp>
      <p:sp>
        <p:nvSpPr>
          <p:cNvPr id="6" name="Text 1"/>
          <p:cNvSpPr/>
          <p:nvPr/>
        </p:nvSpPr>
        <p:spPr>
          <a:xfrm>
            <a:off x="640080" y="3438144"/>
            <a:ext cx="10607040" cy="365760"/>
          </a:xfrm>
          <a:prstGeom prst="rect">
            <a:avLst/>
          </a:prstGeom>
          <a:noFill/>
          <a:ln/>
        </p:spPr>
        <p:txBody>
          <a:bodyPr wrap="square" lIns="0" tIns="0" rIns="0" bIns="0" rtlCol="0" anchor="ctr"/>
          <a:lstStyle/>
          <a:p>
            <a:pPr indent="0" marL="0">
              <a:buNone/>
            </a:pPr>
            <a:r>
              <a:rPr lang="en-US" sz="1900" dirty="0">
                <a:solidFill>
                  <a:srgbClr val="91BAF4"/>
                </a:solidFill>
                <a:latin typeface="Libre Franklin Medium" pitchFamily="34" charset="0"/>
                <a:ea typeface="Libre Franklin Medium" pitchFamily="34" charset="-122"/>
                <a:cs typeface="Libre Franklin Medium" pitchFamily="34" charset="-120"/>
              </a:rPr>
              <a:t>Reproducible Upgrade and Robustness Results</a:t>
            </a:r>
            <a:endParaRPr lang="en-US" sz="1900" dirty="0"/>
          </a:p>
        </p:txBody>
      </p:sp>
      <p:sp>
        <p:nvSpPr>
          <p:cNvPr id="7" name="Shape 2"/>
          <p:cNvSpPr/>
          <p:nvPr/>
        </p:nvSpPr>
        <p:spPr>
          <a:xfrm>
            <a:off x="640080" y="4078224"/>
            <a:ext cx="1463040" cy="27432"/>
          </a:xfrm>
          <a:prstGeom prst="rect">
            <a:avLst/>
          </a:prstGeom>
          <a:solidFill>
            <a:srgbClr val="91BAF4"/>
          </a:solidFill>
          <a:ln w="12700">
            <a:solidFill>
              <a:srgbClr val="91BAF4"/>
            </a:solidFill>
            <a:prstDash val="solid"/>
          </a:ln>
        </p:spPr>
      </p:sp>
      <p:sp>
        <p:nvSpPr>
          <p:cNvPr id="8" name="Text 3"/>
          <p:cNvSpPr/>
          <p:nvPr/>
        </p:nvSpPr>
        <p:spPr>
          <a:xfrm>
            <a:off x="640080" y="4315968"/>
            <a:ext cx="10424160" cy="292608"/>
          </a:xfrm>
          <a:prstGeom prst="rect">
            <a:avLst/>
          </a:prstGeom>
          <a:noFill/>
          <a:ln/>
        </p:spPr>
        <p:txBody>
          <a:bodyPr wrap="square" lIns="0" tIns="0" rIns="0" bIns="0" rtlCol="0" anchor="ctr"/>
          <a:lstStyle/>
          <a:p>
            <a:pPr indent="0" marL="0">
              <a:buNone/>
            </a:pPr>
            <a:r>
              <a:rPr lang="en-US" sz="1400" dirty="0">
                <a:solidFill>
                  <a:srgbClr val="E6EEFC"/>
                </a:solidFill>
                <a:latin typeface="Libre Franklin Medium" pitchFamily="34" charset="0"/>
                <a:ea typeface="Libre Franklin Medium" pitchFamily="34" charset="-122"/>
                <a:cs typeface="Libre Franklin Medium" pitchFamily="34" charset="-120"/>
              </a:rPr>
              <a:t>Project 4797 (n=177) is the primary cohort. Project 4581 (n=1,779) is replication only.</a:t>
            </a:r>
            <a:endParaRPr lang="en-US" sz="1400" dirty="0"/>
          </a:p>
        </p:txBody>
      </p:sp>
      <p:sp>
        <p:nvSpPr>
          <p:cNvPr id="9" name="Text 4"/>
          <p:cNvSpPr/>
          <p:nvPr/>
        </p:nvSpPr>
        <p:spPr>
          <a:xfrm>
            <a:off x="640080" y="4681728"/>
            <a:ext cx="10424160" cy="292608"/>
          </a:xfrm>
          <a:prstGeom prst="rect">
            <a:avLst/>
          </a:prstGeom>
          <a:noFill/>
          <a:ln/>
        </p:spPr>
        <p:txBody>
          <a:bodyPr wrap="square" lIns="0" tIns="0" rIns="0" bIns="0" rtlCol="0" anchor="ctr"/>
          <a:lstStyle/>
          <a:p>
            <a:pPr indent="0" marL="0">
              <a:buNone/>
            </a:pPr>
            <a:r>
              <a:rPr lang="en-US" sz="1500" b="1" dirty="0">
                <a:solidFill>
                  <a:srgbClr val="F4F4F6"/>
                </a:solidFill>
                <a:latin typeface="Libre Franklin" pitchFamily="34" charset="0"/>
                <a:ea typeface="Libre Franklin" pitchFamily="34" charset="-122"/>
                <a:cs typeface="Libre Franklin" pitchFamily="34" charset="-120"/>
              </a:rPr>
              <a:t>The screening difference held up under every check. The number of profiles did not settle.</a:t>
            </a:r>
            <a:endParaRPr lang="en-US" sz="1500" dirty="0"/>
          </a:p>
        </p:txBody>
      </p:sp>
      <p:sp>
        <p:nvSpPr>
          <p:cNvPr id="10" name="Text 5"/>
          <p:cNvSpPr/>
          <p:nvPr/>
        </p:nvSpPr>
        <p:spPr>
          <a:xfrm>
            <a:off x="640080" y="5623560"/>
            <a:ext cx="10607040" cy="256032"/>
          </a:xfrm>
          <a:prstGeom prst="rect">
            <a:avLst/>
          </a:prstGeom>
          <a:noFill/>
          <a:ln/>
        </p:spPr>
        <p:txBody>
          <a:bodyPr wrap="square" lIns="0" tIns="0" rIns="0" bIns="0" rtlCol="0" anchor="ctr"/>
          <a:lstStyle/>
          <a:p>
            <a:pPr indent="0" marL="0">
              <a:buNone/>
            </a:pPr>
            <a:r>
              <a:rPr lang="en-US" sz="1100" dirty="0">
                <a:solidFill>
                  <a:srgbClr val="91BAF4"/>
                </a:solidFill>
                <a:latin typeface="Libre Franklin Medium" pitchFamily="34" charset="0"/>
                <a:ea typeface="Libre Franklin Medium" pitchFamily="34" charset="-122"/>
                <a:cs typeface="Libre Franklin Medium" pitchFamily="34" charset="-120"/>
              </a:rPr>
              <a:t>Namit   ·   2026-07-30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Two questions</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2</a:t>
            </a:r>
            <a:endParaRPr lang="en-US" sz="1000" dirty="0"/>
          </a:p>
        </p:txBody>
      </p:sp>
      <p:sp>
        <p:nvSpPr>
          <p:cNvPr id="6" name="Text 2"/>
          <p:cNvSpPr/>
          <p:nvPr/>
        </p:nvSpPr>
        <p:spPr>
          <a:xfrm>
            <a:off x="457200" y="1874520"/>
            <a:ext cx="822960" cy="457200"/>
          </a:xfrm>
          <a:prstGeom prst="rect">
            <a:avLst/>
          </a:prstGeom>
          <a:noFill/>
          <a:ln/>
        </p:spPr>
        <p:txBody>
          <a:bodyPr wrap="square" lIns="0" tIns="0" rIns="0" bIns="0" rtlCol="0" anchor="ctr"/>
          <a:lstStyle/>
          <a:p>
            <a:pPr indent="0" marL="0">
              <a:buNone/>
            </a:pPr>
            <a:r>
              <a:rPr lang="en-US" sz="3000" b="1" dirty="0">
                <a:solidFill>
                  <a:srgbClr val="91BAF4"/>
                </a:solidFill>
                <a:latin typeface="Libre Franklin" pitchFamily="34" charset="0"/>
                <a:ea typeface="Libre Franklin" pitchFamily="34" charset="-122"/>
                <a:cs typeface="Libre Franklin" pitchFamily="34" charset="-120"/>
              </a:rPr>
              <a:t>01</a:t>
            </a:r>
            <a:endParaRPr lang="en-US" sz="3000" dirty="0"/>
          </a:p>
        </p:txBody>
      </p:sp>
      <p:sp>
        <p:nvSpPr>
          <p:cNvPr id="7" name="Text 3"/>
          <p:cNvSpPr/>
          <p:nvPr/>
        </p:nvSpPr>
        <p:spPr>
          <a:xfrm>
            <a:off x="1417320" y="1874520"/>
            <a:ext cx="9966960" cy="457200"/>
          </a:xfrm>
          <a:prstGeom prst="rect">
            <a:avLst/>
          </a:prstGeom>
          <a:noFill/>
          <a:ln/>
        </p:spPr>
        <p:txBody>
          <a:bodyPr wrap="square" lIns="0" tIns="0" rIns="0" bIns="0" rtlCol="0" anchor="ctr"/>
          <a:lstStyle/>
          <a:p>
            <a:pPr indent="0" marL="0">
              <a:buNone/>
            </a:pPr>
            <a:r>
              <a:rPr lang="en-US" sz="2200" b="1" dirty="0">
                <a:solidFill>
                  <a:srgbClr val="000000"/>
                </a:solidFill>
                <a:latin typeface="Libre Franklin" pitchFamily="34" charset="0"/>
                <a:ea typeface="Libre Franklin" pitchFamily="34" charset="-122"/>
                <a:cs typeface="Libre Franklin" pitchFamily="34" charset="-120"/>
              </a:rPr>
              <a:t>Can caregivers be grouped by their acceptability patterns?</a:t>
            </a:r>
            <a:endParaRPr lang="en-US" sz="2200" dirty="0"/>
          </a:p>
        </p:txBody>
      </p:sp>
      <p:sp>
        <p:nvSpPr>
          <p:cNvPr id="8" name="Text 4"/>
          <p:cNvSpPr/>
          <p:nvPr/>
        </p:nvSpPr>
        <p:spPr>
          <a:xfrm>
            <a:off x="1417320" y="2359152"/>
            <a:ext cx="9966960" cy="274320"/>
          </a:xfrm>
          <a:prstGeom prst="rect">
            <a:avLst/>
          </a:prstGeom>
          <a:noFill/>
          <a:ln/>
        </p:spPr>
        <p:txBody>
          <a:bodyPr wrap="square" lIns="0" tIns="0" rIns="0" bIns="0" rtlCol="0" anchor="ctr"/>
          <a:lstStyle/>
          <a:p>
            <a:pPr indent="0" marL="0">
              <a:buNone/>
            </a:pPr>
            <a:r>
              <a:rPr lang="en-US" sz="1300" dirty="0">
                <a:solidFill>
                  <a:srgbClr val="52525B"/>
                </a:solidFill>
                <a:latin typeface="Libre Franklin Medium" pitchFamily="34" charset="0"/>
                <a:ea typeface="Libre Franklin Medium" pitchFamily="34" charset="-122"/>
                <a:cs typeface="Libre Franklin Medium" pitchFamily="34" charset="-120"/>
              </a:rPr>
              <a:t>Ten acceptability domains, scored 0 to 100, are the only inputs.</a:t>
            </a:r>
            <a:endParaRPr lang="en-US" sz="1300" dirty="0"/>
          </a:p>
        </p:txBody>
      </p:sp>
      <p:sp>
        <p:nvSpPr>
          <p:cNvPr id="9" name="Shape 5"/>
          <p:cNvSpPr/>
          <p:nvPr/>
        </p:nvSpPr>
        <p:spPr>
          <a:xfrm>
            <a:off x="457200" y="3035808"/>
            <a:ext cx="11274552" cy="10973"/>
          </a:xfrm>
          <a:prstGeom prst="rect">
            <a:avLst/>
          </a:prstGeom>
          <a:solidFill>
            <a:srgbClr val="E6EEFC"/>
          </a:solidFill>
          <a:ln w="12700">
            <a:solidFill>
              <a:srgbClr val="E6EEFC"/>
            </a:solidFill>
            <a:prstDash val="solid"/>
          </a:ln>
        </p:spPr>
      </p:sp>
      <p:sp>
        <p:nvSpPr>
          <p:cNvPr id="10" name="Text 6"/>
          <p:cNvSpPr/>
          <p:nvPr/>
        </p:nvSpPr>
        <p:spPr>
          <a:xfrm>
            <a:off x="457200" y="3310128"/>
            <a:ext cx="822960" cy="457200"/>
          </a:xfrm>
          <a:prstGeom prst="rect">
            <a:avLst/>
          </a:prstGeom>
          <a:noFill/>
          <a:ln/>
        </p:spPr>
        <p:txBody>
          <a:bodyPr wrap="square" lIns="0" tIns="0" rIns="0" bIns="0" rtlCol="0" anchor="ctr"/>
          <a:lstStyle/>
          <a:p>
            <a:pPr indent="0" marL="0">
              <a:buNone/>
            </a:pPr>
            <a:r>
              <a:rPr lang="en-US" sz="3000" b="1" dirty="0">
                <a:solidFill>
                  <a:srgbClr val="91BAF4"/>
                </a:solidFill>
                <a:latin typeface="Libre Franklin" pitchFamily="34" charset="0"/>
                <a:ea typeface="Libre Franklin" pitchFamily="34" charset="-122"/>
                <a:cs typeface="Libre Franklin" pitchFamily="34" charset="-120"/>
              </a:rPr>
              <a:t>02</a:t>
            </a:r>
            <a:endParaRPr lang="en-US" sz="3000" dirty="0"/>
          </a:p>
        </p:txBody>
      </p:sp>
      <p:sp>
        <p:nvSpPr>
          <p:cNvPr id="11" name="Text 7"/>
          <p:cNvSpPr/>
          <p:nvPr/>
        </p:nvSpPr>
        <p:spPr>
          <a:xfrm>
            <a:off x="1417320" y="3310128"/>
            <a:ext cx="9966960" cy="457200"/>
          </a:xfrm>
          <a:prstGeom prst="rect">
            <a:avLst/>
          </a:prstGeom>
          <a:noFill/>
          <a:ln/>
        </p:spPr>
        <p:txBody>
          <a:bodyPr wrap="square" lIns="0" tIns="0" rIns="0" bIns="0" rtlCol="0" anchor="ctr"/>
          <a:lstStyle/>
          <a:p>
            <a:pPr indent="0" marL="0">
              <a:buNone/>
            </a:pPr>
            <a:r>
              <a:rPr lang="en-US" sz="2200" b="1" dirty="0">
                <a:solidFill>
                  <a:srgbClr val="000000"/>
                </a:solidFill>
                <a:latin typeface="Libre Franklin" pitchFamily="34" charset="0"/>
                <a:ea typeface="Libre Franklin" pitchFamily="34" charset="-122"/>
                <a:cs typeface="Libre Franklin" pitchFamily="34" charset="-120"/>
              </a:rPr>
              <a:t>Do the groups differ on things we never used to build them?</a:t>
            </a:r>
            <a:endParaRPr lang="en-US" sz="2200" dirty="0"/>
          </a:p>
        </p:txBody>
      </p:sp>
      <p:sp>
        <p:nvSpPr>
          <p:cNvPr id="12" name="Text 8"/>
          <p:cNvSpPr/>
          <p:nvPr/>
        </p:nvSpPr>
        <p:spPr>
          <a:xfrm>
            <a:off x="1417320" y="3794760"/>
            <a:ext cx="9966960" cy="274320"/>
          </a:xfrm>
          <a:prstGeom prst="rect">
            <a:avLst/>
          </a:prstGeom>
          <a:noFill/>
          <a:ln/>
        </p:spPr>
        <p:txBody>
          <a:bodyPr wrap="square" lIns="0" tIns="0" rIns="0" bIns="0" rtlCol="0" anchor="ctr"/>
          <a:lstStyle/>
          <a:p>
            <a:pPr indent="0" marL="0">
              <a:buNone/>
            </a:pPr>
            <a:r>
              <a:rPr lang="en-US" sz="1300" dirty="0">
                <a:solidFill>
                  <a:srgbClr val="52525B"/>
                </a:solidFill>
                <a:latin typeface="Libre Franklin Medium" pitchFamily="34" charset="0"/>
                <a:ea typeface="Libre Franklin Medium" pitchFamily="34" charset="-122"/>
                <a:cs typeface="Libre Franklin Medium" pitchFamily="34" charset="-120"/>
              </a:rPr>
              <a:t>Screening intention, autism knowledge, parental values, demographics and family context.</a:t>
            </a:r>
            <a:endParaRPr lang="en-US" sz="1300" dirty="0"/>
          </a:p>
        </p:txBody>
      </p:sp>
      <p:sp>
        <p:nvSpPr>
          <p:cNvPr id="13" name="Shape 9"/>
          <p:cNvSpPr/>
          <p:nvPr/>
        </p:nvSpPr>
        <p:spPr>
          <a:xfrm>
            <a:off x="457200" y="4572000"/>
            <a:ext cx="11274552" cy="914400"/>
          </a:xfrm>
          <a:prstGeom prst="roundRect">
            <a:avLst>
              <a:gd name="adj" fmla="val 12000"/>
            </a:avLst>
          </a:prstGeom>
          <a:solidFill>
            <a:srgbClr val="E6EEFC"/>
          </a:solidFill>
          <a:ln w="12700">
            <a:solidFill>
              <a:srgbClr val="E6EEFC"/>
            </a:solidFill>
            <a:prstDash val="solid"/>
          </a:ln>
        </p:spPr>
      </p:sp>
      <p:sp>
        <p:nvSpPr>
          <p:cNvPr id="14" name="Text 10"/>
          <p:cNvSpPr/>
          <p:nvPr/>
        </p:nvSpPr>
        <p:spPr>
          <a:xfrm>
            <a:off x="731520" y="4791456"/>
            <a:ext cx="10698480" cy="502920"/>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Those four outcomes stay out of the grouping entirely. They are looked at only after the groups are fixed.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From 177 records to 127</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3</a:t>
            </a:r>
            <a:endParaRPr lang="en-US" sz="1000" dirty="0"/>
          </a:p>
        </p:txBody>
      </p:sp>
      <p:sp>
        <p:nvSpPr>
          <p:cNvPr id="6" name="Shape 2"/>
          <p:cNvSpPr/>
          <p:nvPr/>
        </p:nvSpPr>
        <p:spPr>
          <a:xfrm>
            <a:off x="457200" y="1965960"/>
            <a:ext cx="2578608" cy="1691640"/>
          </a:xfrm>
          <a:prstGeom prst="roundRect">
            <a:avLst>
              <a:gd name="adj" fmla="val 7568"/>
            </a:avLst>
          </a:prstGeom>
          <a:solidFill>
            <a:srgbClr val="E6EEFC"/>
          </a:solidFill>
          <a:ln w="12700">
            <a:solidFill>
              <a:srgbClr val="E6EEFC"/>
            </a:solidFill>
            <a:prstDash val="solid"/>
          </a:ln>
        </p:spPr>
      </p:sp>
      <p:sp>
        <p:nvSpPr>
          <p:cNvPr id="7" name="Text 3"/>
          <p:cNvSpPr/>
          <p:nvPr/>
        </p:nvSpPr>
        <p:spPr>
          <a:xfrm>
            <a:off x="658368" y="2121408"/>
            <a:ext cx="2176272" cy="731520"/>
          </a:xfrm>
          <a:prstGeom prst="rect">
            <a:avLst/>
          </a:prstGeom>
          <a:noFill/>
          <a:ln/>
        </p:spPr>
        <p:txBody>
          <a:bodyPr wrap="square" lIns="0" tIns="0" rIns="0" bIns="0" rtlCol="0" anchor="ctr"/>
          <a:lstStyle/>
          <a:p>
            <a:pPr indent="0" marL="0">
              <a:buNone/>
            </a:pPr>
            <a:r>
              <a:rPr lang="en-US" sz="5200" b="1" spc="-100" kern="0" dirty="0">
                <a:solidFill>
                  <a:srgbClr val="3366FF"/>
                </a:solidFill>
                <a:latin typeface="Libre Franklin" pitchFamily="34" charset="0"/>
                <a:ea typeface="Libre Franklin" pitchFamily="34" charset="-122"/>
                <a:cs typeface="Libre Franklin" pitchFamily="34" charset="-120"/>
              </a:rPr>
              <a:t>177</a:t>
            </a:r>
            <a:endParaRPr lang="en-US" sz="5200" dirty="0"/>
          </a:p>
        </p:txBody>
      </p:sp>
      <p:sp>
        <p:nvSpPr>
          <p:cNvPr id="8" name="Text 4"/>
          <p:cNvSpPr/>
          <p:nvPr/>
        </p:nvSpPr>
        <p:spPr>
          <a:xfrm>
            <a:off x="658368" y="2871216"/>
            <a:ext cx="2176272" cy="274320"/>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Pulled from REDCap</a:t>
            </a:r>
            <a:endParaRPr lang="en-US" sz="1400" dirty="0"/>
          </a:p>
        </p:txBody>
      </p:sp>
      <p:sp>
        <p:nvSpPr>
          <p:cNvPr id="9" name="Text 5"/>
          <p:cNvSpPr/>
          <p:nvPr/>
        </p:nvSpPr>
        <p:spPr>
          <a:xfrm>
            <a:off x="658368" y="3163824"/>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Project 4797</a:t>
            </a:r>
            <a:endParaRPr lang="en-US" sz="1100" dirty="0"/>
          </a:p>
        </p:txBody>
      </p:sp>
      <p:sp>
        <p:nvSpPr>
          <p:cNvPr id="10" name="Shape 6"/>
          <p:cNvSpPr/>
          <p:nvPr/>
        </p:nvSpPr>
        <p:spPr>
          <a:xfrm>
            <a:off x="3072384" y="2715768"/>
            <a:ext cx="246888" cy="219456"/>
          </a:xfrm>
          <a:prstGeom prst="rightArrow">
            <a:avLst/>
          </a:prstGeom>
          <a:solidFill>
            <a:srgbClr val="91BAF4"/>
          </a:solidFill>
          <a:ln w="12700">
            <a:solidFill>
              <a:srgbClr val="91BAF4"/>
            </a:solidFill>
            <a:prstDash val="solid"/>
          </a:ln>
        </p:spPr>
      </p:sp>
      <p:sp>
        <p:nvSpPr>
          <p:cNvPr id="11" name="Shape 7"/>
          <p:cNvSpPr/>
          <p:nvPr/>
        </p:nvSpPr>
        <p:spPr>
          <a:xfrm>
            <a:off x="3355848" y="1965960"/>
            <a:ext cx="2578608" cy="1691640"/>
          </a:xfrm>
          <a:prstGeom prst="roundRect">
            <a:avLst>
              <a:gd name="adj" fmla="val 7568"/>
            </a:avLst>
          </a:prstGeom>
          <a:solidFill>
            <a:srgbClr val="E6EEFC"/>
          </a:solidFill>
          <a:ln w="12700">
            <a:solidFill>
              <a:srgbClr val="E6EEFC"/>
            </a:solidFill>
            <a:prstDash val="solid"/>
          </a:ln>
        </p:spPr>
      </p:sp>
      <p:sp>
        <p:nvSpPr>
          <p:cNvPr id="12" name="Text 8"/>
          <p:cNvSpPr/>
          <p:nvPr/>
        </p:nvSpPr>
        <p:spPr>
          <a:xfrm>
            <a:off x="3557016" y="2121408"/>
            <a:ext cx="2176272" cy="731520"/>
          </a:xfrm>
          <a:prstGeom prst="rect">
            <a:avLst/>
          </a:prstGeom>
          <a:noFill/>
          <a:ln/>
        </p:spPr>
        <p:txBody>
          <a:bodyPr wrap="square" lIns="0" tIns="0" rIns="0" bIns="0" rtlCol="0" anchor="ctr"/>
          <a:lstStyle/>
          <a:p>
            <a:pPr indent="0" marL="0">
              <a:buNone/>
            </a:pPr>
            <a:r>
              <a:rPr lang="en-US" sz="5200" b="1" spc="-100" kern="0" dirty="0">
                <a:solidFill>
                  <a:srgbClr val="3366FF"/>
                </a:solidFill>
                <a:latin typeface="Libre Franklin" pitchFamily="34" charset="0"/>
                <a:ea typeface="Libre Franklin" pitchFamily="34" charset="-122"/>
                <a:cs typeface="Libre Franklin" pitchFamily="34" charset="-120"/>
              </a:rPr>
              <a:t>135</a:t>
            </a:r>
            <a:endParaRPr lang="en-US" sz="5200" dirty="0"/>
          </a:p>
        </p:txBody>
      </p:sp>
      <p:sp>
        <p:nvSpPr>
          <p:cNvPr id="13" name="Text 9"/>
          <p:cNvSpPr/>
          <p:nvPr/>
        </p:nvSpPr>
        <p:spPr>
          <a:xfrm>
            <a:off x="3557016" y="2871216"/>
            <a:ext cx="2176272" cy="274320"/>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Selected for analysis</a:t>
            </a:r>
            <a:endParaRPr lang="en-US" sz="1400" dirty="0"/>
          </a:p>
        </p:txBody>
      </p:sp>
      <p:sp>
        <p:nvSpPr>
          <p:cNvPr id="14" name="Text 10"/>
          <p:cNvSpPr/>
          <p:nvPr/>
        </p:nvSpPr>
        <p:spPr>
          <a:xfrm>
            <a:off x="3557016" y="3163824"/>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Documented selection file</a:t>
            </a:r>
            <a:endParaRPr lang="en-US" sz="1100" dirty="0"/>
          </a:p>
        </p:txBody>
      </p:sp>
      <p:sp>
        <p:nvSpPr>
          <p:cNvPr id="15" name="Shape 11"/>
          <p:cNvSpPr/>
          <p:nvPr/>
        </p:nvSpPr>
        <p:spPr>
          <a:xfrm>
            <a:off x="5971032" y="2715768"/>
            <a:ext cx="246888" cy="219456"/>
          </a:xfrm>
          <a:prstGeom prst="rightArrow">
            <a:avLst/>
          </a:prstGeom>
          <a:solidFill>
            <a:srgbClr val="91BAF4"/>
          </a:solidFill>
          <a:ln w="12700">
            <a:solidFill>
              <a:srgbClr val="91BAF4"/>
            </a:solidFill>
            <a:prstDash val="solid"/>
          </a:ln>
        </p:spPr>
      </p:sp>
      <p:sp>
        <p:nvSpPr>
          <p:cNvPr id="16" name="Shape 12"/>
          <p:cNvSpPr/>
          <p:nvPr/>
        </p:nvSpPr>
        <p:spPr>
          <a:xfrm>
            <a:off x="6254496" y="1965960"/>
            <a:ext cx="2578608" cy="1691640"/>
          </a:xfrm>
          <a:prstGeom prst="roundRect">
            <a:avLst>
              <a:gd name="adj" fmla="val 7568"/>
            </a:avLst>
          </a:prstGeom>
          <a:solidFill>
            <a:srgbClr val="E6EEFC"/>
          </a:solidFill>
          <a:ln w="12700">
            <a:solidFill>
              <a:srgbClr val="E6EEFC"/>
            </a:solidFill>
            <a:prstDash val="solid"/>
          </a:ln>
        </p:spPr>
      </p:sp>
      <p:sp>
        <p:nvSpPr>
          <p:cNvPr id="17" name="Text 13"/>
          <p:cNvSpPr/>
          <p:nvPr/>
        </p:nvSpPr>
        <p:spPr>
          <a:xfrm>
            <a:off x="6455664" y="2121408"/>
            <a:ext cx="2176272" cy="731520"/>
          </a:xfrm>
          <a:prstGeom prst="rect">
            <a:avLst/>
          </a:prstGeom>
          <a:noFill/>
          <a:ln/>
        </p:spPr>
        <p:txBody>
          <a:bodyPr wrap="square" lIns="0" tIns="0" rIns="0" bIns="0" rtlCol="0" anchor="ctr"/>
          <a:lstStyle/>
          <a:p>
            <a:pPr indent="0" marL="0">
              <a:buNone/>
            </a:pPr>
            <a:r>
              <a:rPr lang="en-US" sz="5200" b="1" spc="-100" kern="0" dirty="0">
                <a:solidFill>
                  <a:srgbClr val="3366FF"/>
                </a:solidFill>
                <a:latin typeface="Libre Franklin" pitchFamily="34" charset="0"/>
                <a:ea typeface="Libre Franklin" pitchFamily="34" charset="-122"/>
                <a:cs typeface="Libre Franklin" pitchFamily="34" charset="-120"/>
              </a:rPr>
              <a:t>131</a:t>
            </a:r>
            <a:endParaRPr lang="en-US" sz="5200" dirty="0"/>
          </a:p>
        </p:txBody>
      </p:sp>
      <p:sp>
        <p:nvSpPr>
          <p:cNvPr id="18" name="Text 14"/>
          <p:cNvSpPr/>
          <p:nvPr/>
        </p:nvSpPr>
        <p:spPr>
          <a:xfrm>
            <a:off x="6455664" y="2871216"/>
            <a:ext cx="2176272" cy="274320"/>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Grouped</a:t>
            </a:r>
            <a:endParaRPr lang="en-US" sz="1400" dirty="0"/>
          </a:p>
        </p:txBody>
      </p:sp>
      <p:sp>
        <p:nvSpPr>
          <p:cNvPr id="19" name="Text 15"/>
          <p:cNvSpPr/>
          <p:nvPr/>
        </p:nvSpPr>
        <p:spPr>
          <a:xfrm>
            <a:off x="6455664" y="3163824"/>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8 of 10 domains answered</a:t>
            </a:r>
            <a:endParaRPr lang="en-US" sz="1100" dirty="0"/>
          </a:p>
        </p:txBody>
      </p:sp>
      <p:sp>
        <p:nvSpPr>
          <p:cNvPr id="20" name="Shape 16"/>
          <p:cNvSpPr/>
          <p:nvPr/>
        </p:nvSpPr>
        <p:spPr>
          <a:xfrm>
            <a:off x="8869680" y="2715768"/>
            <a:ext cx="246888" cy="219456"/>
          </a:xfrm>
          <a:prstGeom prst="rightArrow">
            <a:avLst/>
          </a:prstGeom>
          <a:solidFill>
            <a:srgbClr val="91BAF4"/>
          </a:solidFill>
          <a:ln w="12700">
            <a:solidFill>
              <a:srgbClr val="91BAF4"/>
            </a:solidFill>
            <a:prstDash val="solid"/>
          </a:ln>
        </p:spPr>
      </p:sp>
      <p:sp>
        <p:nvSpPr>
          <p:cNvPr id="21" name="Shape 17"/>
          <p:cNvSpPr/>
          <p:nvPr/>
        </p:nvSpPr>
        <p:spPr>
          <a:xfrm>
            <a:off x="9153144" y="1965960"/>
            <a:ext cx="2578608" cy="1691640"/>
          </a:xfrm>
          <a:prstGeom prst="roundRect">
            <a:avLst>
              <a:gd name="adj" fmla="val 7568"/>
            </a:avLst>
          </a:prstGeom>
          <a:solidFill>
            <a:srgbClr val="FDF0E0"/>
          </a:solidFill>
          <a:ln w="12700">
            <a:solidFill>
              <a:srgbClr val="FDF0E0"/>
            </a:solidFill>
            <a:prstDash val="solid"/>
          </a:ln>
        </p:spPr>
      </p:sp>
      <p:sp>
        <p:nvSpPr>
          <p:cNvPr id="22" name="Text 18"/>
          <p:cNvSpPr/>
          <p:nvPr/>
        </p:nvSpPr>
        <p:spPr>
          <a:xfrm>
            <a:off x="9354312" y="2121408"/>
            <a:ext cx="2176272" cy="731520"/>
          </a:xfrm>
          <a:prstGeom prst="rect">
            <a:avLst/>
          </a:prstGeom>
          <a:noFill/>
          <a:ln/>
        </p:spPr>
        <p:txBody>
          <a:bodyPr wrap="square" lIns="0" tIns="0" rIns="0" bIns="0" rtlCol="0" anchor="ctr"/>
          <a:lstStyle/>
          <a:p>
            <a:pPr indent="0" marL="0">
              <a:buNone/>
            </a:pPr>
            <a:r>
              <a:rPr lang="en-US" sz="5200" b="1" spc="-100" kern="0" dirty="0">
                <a:solidFill>
                  <a:srgbClr val="F57F00"/>
                </a:solidFill>
                <a:latin typeface="Libre Franklin" pitchFamily="34" charset="0"/>
                <a:ea typeface="Libre Franklin" pitchFamily="34" charset="-122"/>
                <a:cs typeface="Libre Franklin" pitchFamily="34" charset="-120"/>
              </a:rPr>
              <a:t>127</a:t>
            </a:r>
            <a:endParaRPr lang="en-US" sz="5200" dirty="0"/>
          </a:p>
        </p:txBody>
      </p:sp>
      <p:sp>
        <p:nvSpPr>
          <p:cNvPr id="23" name="Text 19"/>
          <p:cNvSpPr/>
          <p:nvPr/>
        </p:nvSpPr>
        <p:spPr>
          <a:xfrm>
            <a:off x="9354312" y="2871216"/>
            <a:ext cx="2176272" cy="274320"/>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Screening answer given</a:t>
            </a:r>
            <a:endParaRPr lang="en-US" sz="1400" dirty="0"/>
          </a:p>
        </p:txBody>
      </p:sp>
      <p:sp>
        <p:nvSpPr>
          <p:cNvPr id="24" name="Text 20"/>
          <p:cNvSpPr/>
          <p:nvPr/>
        </p:nvSpPr>
        <p:spPr>
          <a:xfrm>
            <a:off x="9354312" y="3163824"/>
            <a:ext cx="2176272" cy="365760"/>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Missing left as missing</a:t>
            </a:r>
            <a:endParaRPr lang="en-US" sz="1100" dirty="0"/>
          </a:p>
        </p:txBody>
      </p:sp>
      <p:sp>
        <p:nvSpPr>
          <p:cNvPr id="25" name="Text 21"/>
          <p:cNvSpPr/>
          <p:nvPr/>
        </p:nvSpPr>
        <p:spPr>
          <a:xfrm>
            <a:off x="457200" y="4160520"/>
            <a:ext cx="5486400" cy="1097280"/>
          </a:xfrm>
          <a:prstGeom prst="rect">
            <a:avLst/>
          </a:prstGeom>
          <a:noFill/>
          <a:ln/>
        </p:spPr>
        <p:txBody>
          <a:bodyPr wrap="square" lIns="0" tIns="0" rIns="0" bIns="0" rtlCol="0" anchor="ctr"/>
          <a:lstStyle/>
          <a:p>
            <a:pPr indent="0" marL="0">
              <a:spcAft>
                <a:spcPts val="800"/>
              </a:spcAft>
              <a:buNone/>
            </a:pPr>
            <a:r>
              <a:rPr lang="en-US" sz="1350" b="1" dirty="0">
                <a:solidFill>
                  <a:srgbClr val="000000"/>
                </a:solidFill>
                <a:latin typeface="Libre Franklin Medium" pitchFamily="34" charset="0"/>
                <a:ea typeface="Libre Franklin Medium" pitchFamily="34" charset="-122"/>
                <a:cs typeface="Libre Franklin Medium" pitchFamily="34" charset="-120"/>
              </a:rPr>
              <a:t>42 dropped</a:t>
            </a:r>
            <a:pPr indent="0" marL="0">
              <a:spcAft>
                <a:spcPts val="800"/>
              </a:spcAft>
              <a:buNone/>
            </a:pPr>
            <a:r>
              <a:rPr lang="en-US" sz="1350" dirty="0">
                <a:solidFill>
                  <a:srgbClr val="52525B"/>
                </a:solidFill>
                <a:latin typeface="Libre Franklin Medium" pitchFamily="34" charset="0"/>
                <a:ea typeface="Libre Franklin Medium" pitchFamily="34" charset="-122"/>
                <a:cs typeface="Libre Franklin Medium" pitchFamily="34" charset="-120"/>
              </a:rPr>
              <a:t> outside the selection file</a:t>
            </a:r>
            <a:endParaRPr lang="en-US" sz="1350" dirty="0"/>
          </a:p>
          <a:p>
            <a:pPr indent="0" marL="0">
              <a:spcAft>
                <a:spcPts val="800"/>
              </a:spcAft>
              <a:buNone/>
            </a:pPr>
            <a:r>
              <a:rPr lang="en-US" sz="1350" b="1" dirty="0">
                <a:solidFill>
                  <a:srgbClr val="000000"/>
                </a:solidFill>
                <a:latin typeface="Libre Franklin Medium" pitchFamily="34" charset="0"/>
                <a:ea typeface="Libre Franklin Medium" pitchFamily="34" charset="-122"/>
                <a:cs typeface="Libre Franklin Medium" pitchFamily="34" charset="-120"/>
              </a:rPr>
              <a:t>4 dropped</a:t>
            </a:r>
            <a:pPr indent="0" marL="0">
              <a:spcAft>
                <a:spcPts val="800"/>
              </a:spcAft>
              <a:buNone/>
            </a:pPr>
            <a:r>
              <a:rPr lang="en-US" sz="1350" dirty="0">
                <a:solidFill>
                  <a:srgbClr val="52525B"/>
                </a:solidFill>
                <a:latin typeface="Libre Franklin Medium" pitchFamily="34" charset="0"/>
                <a:ea typeface="Libre Franklin Medium" pitchFamily="34" charset="-122"/>
                <a:cs typeface="Libre Franklin Medium" pitchFamily="34" charset="-120"/>
              </a:rPr>
              <a:t> below the 8-of-10 domain rule</a:t>
            </a:r>
            <a:endParaRPr lang="en-US" sz="1350" dirty="0"/>
          </a:p>
          <a:p>
            <a:pPr indent="0" marL="0">
              <a:spcAft>
                <a:spcPts val="800"/>
              </a:spcAft>
              <a:buNone/>
            </a:pPr>
            <a:r>
              <a:rPr lang="en-US" sz="1350" b="1" dirty="0">
                <a:solidFill>
                  <a:srgbClr val="000000"/>
                </a:solidFill>
                <a:latin typeface="Libre Franklin Medium" pitchFamily="34" charset="0"/>
                <a:ea typeface="Libre Franklin Medium" pitchFamily="34" charset="-122"/>
                <a:cs typeface="Libre Franklin Medium" pitchFamily="34" charset="-120"/>
              </a:rPr>
              <a:t>4 dropped</a:t>
            </a:r>
            <a:pPr indent="0" marL="0">
              <a:spcAft>
                <a:spcPts val="800"/>
              </a:spcAft>
              <a:buNone/>
            </a:pPr>
            <a:r>
              <a:rPr lang="en-US" sz="1350" dirty="0">
                <a:solidFill>
                  <a:srgbClr val="52525B"/>
                </a:solidFill>
                <a:latin typeface="Libre Franklin Medium" pitchFamily="34" charset="0"/>
                <a:ea typeface="Libre Franklin Medium" pitchFamily="34" charset="-122"/>
                <a:cs typeface="Libre Franklin Medium" pitchFamily="34" charset="-120"/>
              </a:rPr>
              <a:t> with no screening answer</a:t>
            </a:r>
            <a:endParaRPr lang="en-US" sz="1350" dirty="0"/>
          </a:p>
        </p:txBody>
      </p:sp>
      <p:sp>
        <p:nvSpPr>
          <p:cNvPr id="26" name="Text 22"/>
          <p:cNvSpPr/>
          <p:nvPr/>
        </p:nvSpPr>
        <p:spPr>
          <a:xfrm>
            <a:off x="6400800" y="4160520"/>
            <a:ext cx="5330952" cy="82296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None of the last 4 answered Definitely yes, so dropping them is not neutral. Slide 8 shows the full range.</a:t>
            </a:r>
            <a:endParaRPr lang="en-US" sz="1250" dirty="0"/>
          </a:p>
        </p:txBody>
      </p:sp>
      <p:sp>
        <p:nvSpPr>
          <p:cNvPr id="27" name="Text 23"/>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Pulls are cached and hashed, so every count here traces back to a specific row.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What changed</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4</a:t>
            </a:r>
            <a:endParaRPr lang="en-US" sz="1000" dirty="0"/>
          </a:p>
        </p:txBody>
      </p:sp>
      <p:sp>
        <p:nvSpPr>
          <p:cNvPr id="6" name="Text 2"/>
          <p:cNvSpPr/>
          <p:nvPr/>
        </p:nvSpPr>
        <p:spPr>
          <a:xfrm>
            <a:off x="0" y="0"/>
            <a:ext cx="91440" cy="91440"/>
          </a:xfrm>
          <a:prstGeom prst="rect">
            <a:avLst/>
          </a:prstGeom>
          <a:noFill/>
          <a:ln/>
        </p:spPr>
        <p:txBody>
          <a:bodyPr wrap="square" rtlCol="0" anchor="ctr"/>
          <a:lstStyle/>
          <a:p>
            <a:pPr indent="0" marL="0">
              <a:buNone/>
            </a:pPr>
            <a:endParaRPr lang="en-US" dirty="0"/>
          </a:p>
        </p:txBody>
      </p:sp>
      <p:sp>
        <p:nvSpPr>
          <p:cNvPr id="7" name="Text 3"/>
          <p:cNvSpPr/>
          <p:nvPr/>
        </p:nvSpPr>
        <p:spPr>
          <a:xfrm>
            <a:off x="2743200" y="1755648"/>
            <a:ext cx="3840480" cy="201168"/>
          </a:xfrm>
          <a:prstGeom prst="rect">
            <a:avLst/>
          </a:prstGeom>
          <a:noFill/>
          <a:ln/>
        </p:spPr>
        <p:txBody>
          <a:bodyPr wrap="square" lIns="0" tIns="0" rIns="0" bIns="0" rtlCol="0" anchor="ctr"/>
          <a:lstStyle/>
          <a:p>
            <a:pPr indent="0" marL="0">
              <a:buNone/>
            </a:pPr>
            <a:r>
              <a:rPr lang="en-US" sz="1000" b="1" spc="60" kern="0" dirty="0">
                <a:solidFill>
                  <a:srgbClr val="71717A"/>
                </a:solidFill>
                <a:latin typeface="Libre Franklin" pitchFamily="34" charset="0"/>
                <a:ea typeface="Libre Franklin" pitchFamily="34" charset="-122"/>
                <a:cs typeface="Libre Franklin" pitchFamily="34" charset="-120"/>
              </a:rPr>
              <a:t>BEFORE</a:t>
            </a:r>
            <a:endParaRPr lang="en-US" sz="1000" dirty="0"/>
          </a:p>
        </p:txBody>
      </p:sp>
      <p:sp>
        <p:nvSpPr>
          <p:cNvPr id="8" name="Text 4"/>
          <p:cNvSpPr/>
          <p:nvPr/>
        </p:nvSpPr>
        <p:spPr>
          <a:xfrm>
            <a:off x="6583680" y="1755648"/>
            <a:ext cx="5148072" cy="201168"/>
          </a:xfrm>
          <a:prstGeom prst="rect">
            <a:avLst/>
          </a:prstGeom>
          <a:noFill/>
          <a:ln/>
        </p:spPr>
        <p:txBody>
          <a:bodyPr wrap="square" lIns="0" tIns="0" rIns="0" bIns="0" rtlCol="0" anchor="ctr"/>
          <a:lstStyle/>
          <a:p>
            <a:pPr indent="0" marL="0">
              <a:buNone/>
            </a:pPr>
            <a:r>
              <a:rPr lang="en-US" sz="1000" b="1" spc="60" kern="0" dirty="0">
                <a:solidFill>
                  <a:srgbClr val="F57F00"/>
                </a:solidFill>
                <a:latin typeface="Libre Franklin" pitchFamily="34" charset="0"/>
                <a:ea typeface="Libre Franklin" pitchFamily="34" charset="-122"/>
                <a:cs typeface="Libre Franklin" pitchFamily="34" charset="-120"/>
              </a:rPr>
              <a:t>AFTER</a:t>
            </a:r>
            <a:endParaRPr lang="en-US" sz="1000" dirty="0"/>
          </a:p>
        </p:txBody>
      </p:sp>
      <p:sp>
        <p:nvSpPr>
          <p:cNvPr id="9" name="Text 5"/>
          <p:cNvSpPr/>
          <p:nvPr/>
        </p:nvSpPr>
        <p:spPr>
          <a:xfrm>
            <a:off x="457200" y="2066544"/>
            <a:ext cx="2103120" cy="36576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Data source</a:t>
            </a:r>
            <a:endParaRPr lang="en-US" sz="1350" dirty="0"/>
          </a:p>
        </p:txBody>
      </p:sp>
      <p:sp>
        <p:nvSpPr>
          <p:cNvPr id="10" name="Text 6"/>
          <p:cNvSpPr/>
          <p:nvPr/>
        </p:nvSpPr>
        <p:spPr>
          <a:xfrm>
            <a:off x="2743200" y="2066544"/>
            <a:ext cx="3566160" cy="365760"/>
          </a:xfrm>
          <a:prstGeom prst="rect">
            <a:avLst/>
          </a:prstGeom>
          <a:noFill/>
          <a:ln/>
        </p:spPr>
        <p:txBody>
          <a:bodyPr wrap="square" lIns="0" tIns="0" rIns="0" bIns="0" rtlCol="0" anchor="ctr"/>
          <a:lstStyle/>
          <a:p>
            <a:pPr indent="0" marL="0">
              <a:buNone/>
            </a:pPr>
            <a:r>
              <a:rPr lang="en-US" sz="1250" dirty="0">
                <a:solidFill>
                  <a:srgbClr val="71717A"/>
                </a:solidFill>
                <a:latin typeface="Libre Franklin Medium" pitchFamily="34" charset="0"/>
                <a:ea typeface="Libre Franklin Medium" pitchFamily="34" charset="-122"/>
                <a:cs typeface="Libre Franklin Medium" pitchFamily="34" charset="-120"/>
              </a:rPr>
              <a:t>Local CSV, no checks</a:t>
            </a:r>
            <a:endParaRPr lang="en-US" sz="1250" dirty="0"/>
          </a:p>
        </p:txBody>
      </p:sp>
      <p:sp>
        <p:nvSpPr>
          <p:cNvPr id="11" name="Text 7"/>
          <p:cNvSpPr/>
          <p:nvPr/>
        </p:nvSpPr>
        <p:spPr>
          <a:xfrm>
            <a:off x="6583680" y="2066544"/>
            <a:ext cx="4965192" cy="36576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Hashed API pulls, row counts asserted</a:t>
            </a:r>
            <a:endParaRPr lang="en-US" sz="1250" dirty="0"/>
          </a:p>
        </p:txBody>
      </p:sp>
      <p:sp>
        <p:nvSpPr>
          <p:cNvPr id="12" name="Shape 8"/>
          <p:cNvSpPr/>
          <p:nvPr/>
        </p:nvSpPr>
        <p:spPr>
          <a:xfrm>
            <a:off x="457200" y="2523744"/>
            <a:ext cx="11274552" cy="10973"/>
          </a:xfrm>
          <a:prstGeom prst="rect">
            <a:avLst/>
          </a:prstGeom>
          <a:solidFill>
            <a:srgbClr val="E6EEFC"/>
          </a:solidFill>
          <a:ln w="12700">
            <a:solidFill>
              <a:srgbClr val="E6EEFC"/>
            </a:solidFill>
            <a:prstDash val="solid"/>
          </a:ln>
        </p:spPr>
      </p:sp>
      <p:sp>
        <p:nvSpPr>
          <p:cNvPr id="13" name="Text 9"/>
          <p:cNvSpPr/>
          <p:nvPr/>
        </p:nvSpPr>
        <p:spPr>
          <a:xfrm>
            <a:off x="457200" y="2816352"/>
            <a:ext cx="2103120" cy="36576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Bad responses</a:t>
            </a:r>
            <a:endParaRPr lang="en-US" sz="1350" dirty="0"/>
          </a:p>
        </p:txBody>
      </p:sp>
      <p:sp>
        <p:nvSpPr>
          <p:cNvPr id="14" name="Text 10"/>
          <p:cNvSpPr/>
          <p:nvPr/>
        </p:nvSpPr>
        <p:spPr>
          <a:xfrm>
            <a:off x="2743200" y="2816352"/>
            <a:ext cx="3566160" cy="365760"/>
          </a:xfrm>
          <a:prstGeom prst="rect">
            <a:avLst/>
          </a:prstGeom>
          <a:noFill/>
          <a:ln/>
        </p:spPr>
        <p:txBody>
          <a:bodyPr wrap="square" lIns="0" tIns="0" rIns="0" bIns="0" rtlCol="0" anchor="ctr"/>
          <a:lstStyle/>
          <a:p>
            <a:pPr indent="0" marL="0">
              <a:buNone/>
            </a:pPr>
            <a:r>
              <a:rPr lang="en-US" sz="1250" dirty="0">
                <a:solidFill>
                  <a:srgbClr val="71717A"/>
                </a:solidFill>
                <a:latin typeface="Libre Franklin Medium" pitchFamily="34" charset="0"/>
                <a:ea typeface="Libre Franklin Medium" pitchFamily="34" charset="-122"/>
                <a:cs typeface="Libre Franklin Medium" pitchFamily="34" charset="-120"/>
              </a:rPr>
              <a:t>No screen</a:t>
            </a:r>
            <a:endParaRPr lang="en-US" sz="1250" dirty="0"/>
          </a:p>
        </p:txBody>
      </p:sp>
      <p:sp>
        <p:nvSpPr>
          <p:cNvPr id="15" name="Text 11"/>
          <p:cNvSpPr/>
          <p:nvPr/>
        </p:nvSpPr>
        <p:spPr>
          <a:xfrm>
            <a:off x="6583680" y="2816352"/>
            <a:ext cx="4965192" cy="36576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10 rules, 4 trust levels, all 1,956 records</a:t>
            </a:r>
            <a:endParaRPr lang="en-US" sz="1250" dirty="0"/>
          </a:p>
        </p:txBody>
      </p:sp>
      <p:sp>
        <p:nvSpPr>
          <p:cNvPr id="16" name="Shape 12"/>
          <p:cNvSpPr/>
          <p:nvPr/>
        </p:nvSpPr>
        <p:spPr>
          <a:xfrm>
            <a:off x="457200" y="3273552"/>
            <a:ext cx="11274552" cy="10973"/>
          </a:xfrm>
          <a:prstGeom prst="rect">
            <a:avLst/>
          </a:prstGeom>
          <a:solidFill>
            <a:srgbClr val="E6EEFC"/>
          </a:solidFill>
          <a:ln w="12700">
            <a:solidFill>
              <a:srgbClr val="E6EEFC"/>
            </a:solidFill>
            <a:prstDash val="solid"/>
          </a:ln>
        </p:spPr>
      </p:sp>
      <p:sp>
        <p:nvSpPr>
          <p:cNvPr id="17" name="Text 13"/>
          <p:cNvSpPr/>
          <p:nvPr/>
        </p:nvSpPr>
        <p:spPr>
          <a:xfrm>
            <a:off x="457200" y="3566160"/>
            <a:ext cx="2103120" cy="36576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Rule accuracy</a:t>
            </a:r>
            <a:endParaRPr lang="en-US" sz="1350" dirty="0"/>
          </a:p>
        </p:txBody>
      </p:sp>
      <p:sp>
        <p:nvSpPr>
          <p:cNvPr id="18" name="Text 14"/>
          <p:cNvSpPr/>
          <p:nvPr/>
        </p:nvSpPr>
        <p:spPr>
          <a:xfrm>
            <a:off x="2743200" y="3566160"/>
            <a:ext cx="3566160" cy="365760"/>
          </a:xfrm>
          <a:prstGeom prst="rect">
            <a:avLst/>
          </a:prstGeom>
          <a:noFill/>
          <a:ln/>
        </p:spPr>
        <p:txBody>
          <a:bodyPr wrap="square" lIns="0" tIns="0" rIns="0" bIns="0" rtlCol="0" anchor="ctr"/>
          <a:lstStyle/>
          <a:p>
            <a:pPr indent="0" marL="0">
              <a:buNone/>
            </a:pPr>
            <a:r>
              <a:rPr lang="en-US" sz="1250" dirty="0">
                <a:solidFill>
                  <a:srgbClr val="71717A"/>
                </a:solidFill>
                <a:latin typeface="Libre Franklin Medium" pitchFamily="34" charset="0"/>
                <a:ea typeface="Libre Franklin Medium" pitchFamily="34" charset="-122"/>
                <a:cs typeface="Libre Franklin Medium" pitchFamily="34" charset="-120"/>
              </a:rPr>
              <a:t>Not measured</a:t>
            </a:r>
            <a:endParaRPr lang="en-US" sz="1250" dirty="0"/>
          </a:p>
        </p:txBody>
      </p:sp>
      <p:sp>
        <p:nvSpPr>
          <p:cNvPr id="19" name="Text 15"/>
          <p:cNvSpPr/>
          <p:nvPr/>
        </p:nvSpPr>
        <p:spPr>
          <a:xfrm>
            <a:off x="6583680" y="3566160"/>
            <a:ext cx="4965192" cy="36576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Every rule checked against 131 real caregivers</a:t>
            </a:r>
            <a:endParaRPr lang="en-US" sz="1250" dirty="0"/>
          </a:p>
        </p:txBody>
      </p:sp>
      <p:sp>
        <p:nvSpPr>
          <p:cNvPr id="20" name="Shape 16"/>
          <p:cNvSpPr/>
          <p:nvPr/>
        </p:nvSpPr>
        <p:spPr>
          <a:xfrm>
            <a:off x="457200" y="4023360"/>
            <a:ext cx="11274552" cy="10973"/>
          </a:xfrm>
          <a:prstGeom prst="rect">
            <a:avLst/>
          </a:prstGeom>
          <a:solidFill>
            <a:srgbClr val="E6EEFC"/>
          </a:solidFill>
          <a:ln w="12700">
            <a:solidFill>
              <a:srgbClr val="E6EEFC"/>
            </a:solidFill>
            <a:prstDash val="solid"/>
          </a:ln>
        </p:spPr>
      </p:sp>
      <p:sp>
        <p:nvSpPr>
          <p:cNvPr id="21" name="Text 17"/>
          <p:cNvSpPr/>
          <p:nvPr/>
        </p:nvSpPr>
        <p:spPr>
          <a:xfrm>
            <a:off x="457200" y="4315968"/>
            <a:ext cx="2103120" cy="36576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Exports</a:t>
            </a:r>
            <a:endParaRPr lang="en-US" sz="1350" dirty="0"/>
          </a:p>
        </p:txBody>
      </p:sp>
      <p:sp>
        <p:nvSpPr>
          <p:cNvPr id="22" name="Text 18"/>
          <p:cNvSpPr/>
          <p:nvPr/>
        </p:nvSpPr>
        <p:spPr>
          <a:xfrm>
            <a:off x="2743200" y="4315968"/>
            <a:ext cx="3566160" cy="365760"/>
          </a:xfrm>
          <a:prstGeom prst="rect">
            <a:avLst/>
          </a:prstGeom>
          <a:noFill/>
          <a:ln/>
        </p:spPr>
        <p:txBody>
          <a:bodyPr wrap="square" lIns="0" tIns="0" rIns="0" bIns="0" rtlCol="0" anchor="ctr"/>
          <a:lstStyle/>
          <a:p>
            <a:pPr indent="0" marL="0">
              <a:buNone/>
            </a:pPr>
            <a:r>
              <a:rPr lang="en-US" sz="1250" dirty="0">
                <a:solidFill>
                  <a:srgbClr val="71717A"/>
                </a:solidFill>
                <a:latin typeface="Libre Franklin Medium" pitchFamily="34" charset="0"/>
                <a:ea typeface="Libre Franklin Medium" pitchFamily="34" charset="-122"/>
                <a:cs typeface="Libre Franklin Medium" pitchFamily="34" charset="-120"/>
              </a:rPr>
              <a:t>Record-level fields included</a:t>
            </a:r>
            <a:endParaRPr lang="en-US" sz="1250" dirty="0"/>
          </a:p>
        </p:txBody>
      </p:sp>
      <p:sp>
        <p:nvSpPr>
          <p:cNvPr id="23" name="Text 19"/>
          <p:cNvSpPr/>
          <p:nvPr/>
        </p:nvSpPr>
        <p:spPr>
          <a:xfrm>
            <a:off x="6583680" y="4315968"/>
            <a:ext cx="4965192" cy="36576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Aggregate only</a:t>
            </a:r>
            <a:endParaRPr lang="en-US" sz="1250" dirty="0"/>
          </a:p>
        </p:txBody>
      </p:sp>
      <p:sp>
        <p:nvSpPr>
          <p:cNvPr id="24" name="Shape 20"/>
          <p:cNvSpPr/>
          <p:nvPr/>
        </p:nvSpPr>
        <p:spPr>
          <a:xfrm>
            <a:off x="457200" y="4773168"/>
            <a:ext cx="11274552" cy="10973"/>
          </a:xfrm>
          <a:prstGeom prst="rect">
            <a:avLst/>
          </a:prstGeom>
          <a:solidFill>
            <a:srgbClr val="E6EEFC"/>
          </a:solidFill>
          <a:ln w="12700">
            <a:solidFill>
              <a:srgbClr val="E6EEFC"/>
            </a:solidFill>
            <a:prstDash val="solid"/>
          </a:ln>
        </p:spPr>
      </p:sp>
      <p:sp>
        <p:nvSpPr>
          <p:cNvPr id="25" name="Text 21"/>
          <p:cNvSpPr/>
          <p:nvPr/>
        </p:nvSpPr>
        <p:spPr>
          <a:xfrm>
            <a:off x="457200" y="5065776"/>
            <a:ext cx="2103120" cy="36576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Old results</a:t>
            </a:r>
            <a:endParaRPr lang="en-US" sz="1350" dirty="0"/>
          </a:p>
        </p:txBody>
      </p:sp>
      <p:sp>
        <p:nvSpPr>
          <p:cNvPr id="26" name="Text 22"/>
          <p:cNvSpPr/>
          <p:nvPr/>
        </p:nvSpPr>
        <p:spPr>
          <a:xfrm>
            <a:off x="2743200" y="5065776"/>
            <a:ext cx="3566160" cy="365760"/>
          </a:xfrm>
          <a:prstGeom prst="rect">
            <a:avLst/>
          </a:prstGeom>
          <a:noFill/>
          <a:ln/>
        </p:spPr>
        <p:txBody>
          <a:bodyPr wrap="square" lIns="0" tIns="0" rIns="0" bIns="0" rtlCol="0" anchor="ctr"/>
          <a:lstStyle/>
          <a:p>
            <a:pPr indent="0" marL="0">
              <a:buNone/>
            </a:pPr>
            <a:r>
              <a:rPr lang="en-US" sz="1250" dirty="0">
                <a:solidFill>
                  <a:srgbClr val="71717A"/>
                </a:solidFill>
                <a:latin typeface="Libre Franklin Medium" pitchFamily="34" charset="0"/>
                <a:ea typeface="Libre Franklin Medium" pitchFamily="34" charset="-122"/>
                <a:cs typeface="Libre Franklin Medium" pitchFamily="34" charset="-120"/>
              </a:rPr>
              <a:t>Checked by hand</a:t>
            </a:r>
            <a:endParaRPr lang="en-US" sz="1250" dirty="0"/>
          </a:p>
        </p:txBody>
      </p:sp>
      <p:sp>
        <p:nvSpPr>
          <p:cNvPr id="27" name="Text 23"/>
          <p:cNvSpPr/>
          <p:nvPr/>
        </p:nvSpPr>
        <p:spPr>
          <a:xfrm>
            <a:off x="6583680" y="5065776"/>
            <a:ext cx="4965192" cy="36576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17 automated checks, all pass</a:t>
            </a:r>
            <a:endParaRPr lang="en-US" sz="1250" dirty="0"/>
          </a:p>
        </p:txBody>
      </p:sp>
      <p:sp>
        <p:nvSpPr>
          <p:cNvPr id="28" name="Shape 24"/>
          <p:cNvSpPr/>
          <p:nvPr/>
        </p:nvSpPr>
        <p:spPr>
          <a:xfrm>
            <a:off x="457200" y="5522976"/>
            <a:ext cx="11274552" cy="10973"/>
          </a:xfrm>
          <a:prstGeom prst="rect">
            <a:avLst/>
          </a:prstGeom>
          <a:solidFill>
            <a:srgbClr val="E6EEFC"/>
          </a:solidFill>
          <a:ln w="12700">
            <a:solidFill>
              <a:srgbClr val="E6EEFC"/>
            </a:solidFill>
            <a:prstDash val="solid"/>
          </a:ln>
        </p:spPr>
      </p:sp>
      <p:sp>
        <p:nvSpPr>
          <p:cNvPr id="29" name="Text 25"/>
          <p:cNvSpPr/>
          <p:nvPr/>
        </p:nvSpPr>
        <p:spPr>
          <a:xfrm>
            <a:off x="457200" y="5989320"/>
            <a:ext cx="11274552" cy="292608"/>
          </a:xfrm>
          <a:prstGeom prst="rect">
            <a:avLst/>
          </a:prstGeom>
          <a:noFill/>
          <a:ln/>
        </p:spPr>
        <p:txBody>
          <a:bodyPr wrap="square" lIns="0" tIns="0" rIns="0" bIns="0" rtlCol="0" anchor="ctr"/>
          <a:lstStyle/>
          <a:p>
            <a:pPr indent="0" marL="0">
              <a:buNone/>
            </a:pPr>
            <a:r>
              <a:rPr lang="en-US" sz="1350" b="1" dirty="0">
                <a:solidFill>
                  <a:srgbClr val="3366FF"/>
                </a:solidFill>
                <a:latin typeface="Libre Franklin Medium" pitchFamily="34" charset="0"/>
                <a:ea typeface="Libre Franklin Medium" pitchFamily="34" charset="-122"/>
                <a:cs typeface="Libre Franklin Medium" pitchFamily="34" charset="-120"/>
              </a:rPr>
              <a:t>1,956 / 1,956</a:t>
            </a:r>
            <a:pPr indent="0" marL="0">
              <a:buNone/>
            </a:pPr>
            <a:r>
              <a:rPr lang="en-US" sz="1350" dirty="0">
                <a:solidFill>
                  <a:srgbClr val="52525B"/>
                </a:solidFill>
                <a:latin typeface="Libre Franklin Medium" pitchFamily="34" charset="0"/>
                <a:ea typeface="Libre Franklin Medium" pitchFamily="34" charset="-122"/>
                <a:cs typeface="Libre Franklin Medium" pitchFamily="34" charset="-120"/>
              </a:rPr>
              <a:t> records given a trust level        </a:t>
            </a:r>
            <a:pPr indent="0" marL="0">
              <a:buNone/>
            </a:pPr>
            <a:r>
              <a:rPr lang="en-US" sz="1350" b="1" dirty="0">
                <a:solidFill>
                  <a:srgbClr val="3366FF"/>
                </a:solidFill>
                <a:latin typeface="Libre Franklin Medium" pitchFamily="34" charset="0"/>
                <a:ea typeface="Libre Franklin Medium" pitchFamily="34" charset="-122"/>
                <a:cs typeface="Libre Franklin Medium" pitchFamily="34" charset="-120"/>
              </a:rPr>
              <a:t>17 / 17</a:t>
            </a:r>
            <a:pPr indent="0" marL="0">
              <a:buNone/>
            </a:pPr>
            <a:r>
              <a:rPr lang="en-US" sz="1350" dirty="0">
                <a:solidFill>
                  <a:srgbClr val="52525B"/>
                </a:solidFill>
                <a:latin typeface="Libre Franklin Medium" pitchFamily="34" charset="0"/>
                <a:ea typeface="Libre Franklin Medium" pitchFamily="34" charset="-122"/>
                <a:cs typeface="Libre Franklin Medium" pitchFamily="34" charset="-120"/>
              </a:rPr>
              <a:t> old results reproduced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How the groups were found</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5</a:t>
            </a:r>
            <a:endParaRPr lang="en-US" sz="1000" dirty="0"/>
          </a:p>
        </p:txBody>
      </p:sp>
      <p:pic>
        <p:nvPicPr>
          <p:cNvPr id="6" name="Image 2" descr="/sessions/happy-eloquent-pascal/mnt/caregiver-cluster-analysis/Caregiver Outputs/figure_1_cluster_count_diagnostics.png">    </p:cNvPr>
          <p:cNvPicPr>
            <a:picLocks noChangeAspect="1"/>
          </p:cNvPicPr>
          <p:nvPr/>
        </p:nvPicPr>
        <p:blipFill>
          <a:blip r:embed="rId3"/>
          <a:stretch>
            <a:fillRect/>
          </a:stretch>
        </p:blipFill>
        <p:spPr>
          <a:xfrm>
            <a:off x="4480560" y="1645920"/>
            <a:ext cx="7251192" cy="3794760"/>
          </a:xfrm>
          <a:prstGeom prst="rect">
            <a:avLst/>
          </a:prstGeom>
        </p:spPr>
      </p:pic>
      <p:sp>
        <p:nvSpPr>
          <p:cNvPr id="7" name="Text 2"/>
          <p:cNvSpPr/>
          <p:nvPr/>
        </p:nvSpPr>
        <p:spPr>
          <a:xfrm>
            <a:off x="4480560" y="5468112"/>
            <a:ext cx="725119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Figure 1. Fit measures for 2 to 6 groups, n = 131.</a:t>
            </a:r>
            <a:endParaRPr lang="en-US" sz="900" dirty="0"/>
          </a:p>
        </p:txBody>
      </p:sp>
      <p:sp>
        <p:nvSpPr>
          <p:cNvPr id="8" name="Text 3"/>
          <p:cNvSpPr/>
          <p:nvPr/>
        </p:nvSpPr>
        <p:spPr>
          <a:xfrm>
            <a:off x="457200" y="1691640"/>
            <a:ext cx="3749040" cy="621792"/>
          </a:xfrm>
          <a:prstGeom prst="rect">
            <a:avLst/>
          </a:prstGeom>
          <a:noFill/>
          <a:ln/>
        </p:spPr>
        <p:txBody>
          <a:bodyPr wrap="square" lIns="0" tIns="0" rIns="0" bIns="0" rtlCol="0" anchor="ctr"/>
          <a:lstStyle/>
          <a:p>
            <a:pPr indent="0" marL="0">
              <a:buNone/>
            </a:pPr>
            <a:r>
              <a:rPr lang="en-US" sz="1250" dirty="0">
                <a:solidFill>
                  <a:srgbClr val="52525B"/>
                </a:solidFill>
                <a:latin typeface="Libre Franklin Medium" pitchFamily="34" charset="0"/>
                <a:ea typeface="Libre Franklin Medium" pitchFamily="34" charset="-122"/>
                <a:cs typeface="Libre Franklin Medium" pitchFamily="34" charset="-120"/>
              </a:rPr>
              <a:t>Ten acceptability domains, scored 0 to 100 and standardised, then K-means.</a:t>
            </a:r>
            <a:endParaRPr lang="en-US" sz="1250" dirty="0"/>
          </a:p>
        </p:txBody>
      </p:sp>
      <p:sp>
        <p:nvSpPr>
          <p:cNvPr id="9" name="Text 4"/>
          <p:cNvSpPr/>
          <p:nvPr/>
        </p:nvSpPr>
        <p:spPr>
          <a:xfrm>
            <a:off x="457200" y="2450592"/>
            <a:ext cx="3749040" cy="566928"/>
          </a:xfrm>
          <a:prstGeom prst="rect">
            <a:avLst/>
          </a:prstGeom>
          <a:noFill/>
          <a:ln/>
        </p:spPr>
        <p:txBody>
          <a:bodyPr wrap="square" lIns="0" tIns="0" rIns="0" bIns="0" rtlCol="0" anchor="ctr"/>
          <a:lstStyle/>
          <a:p>
            <a:pPr indent="0" marL="0">
              <a:buNone/>
            </a:pPr>
            <a:r>
              <a:rPr lang="en-US" sz="4000" b="1" spc="-50" kern="0" dirty="0">
                <a:solidFill>
                  <a:srgbClr val="3366FF"/>
                </a:solidFill>
                <a:latin typeface="Libre Franklin" pitchFamily="34" charset="0"/>
                <a:ea typeface="Libre Franklin" pitchFamily="34" charset="-122"/>
                <a:cs typeface="Libre Franklin" pitchFamily="34" charset="-120"/>
              </a:rPr>
              <a:t>2 groups</a:t>
            </a:r>
            <a:endParaRPr lang="en-US" sz="4000" dirty="0"/>
          </a:p>
        </p:txBody>
      </p:sp>
      <p:sp>
        <p:nvSpPr>
          <p:cNvPr id="10" name="Text 5"/>
          <p:cNvSpPr/>
          <p:nvPr/>
        </p:nvSpPr>
        <p:spPr>
          <a:xfrm>
            <a:off x="457200" y="3035808"/>
            <a:ext cx="374904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Chosen solution</a:t>
            </a:r>
            <a:endParaRPr lang="en-US" sz="1250" dirty="0"/>
          </a:p>
        </p:txBody>
      </p:sp>
      <p:sp>
        <p:nvSpPr>
          <p:cNvPr id="11" name="Text 6"/>
          <p:cNvSpPr/>
          <p:nvPr/>
        </p:nvSpPr>
        <p:spPr>
          <a:xfrm>
            <a:off x="457200" y="3675888"/>
            <a:ext cx="3749040" cy="566928"/>
          </a:xfrm>
          <a:prstGeom prst="rect">
            <a:avLst/>
          </a:prstGeom>
          <a:noFill/>
          <a:ln/>
        </p:spPr>
        <p:txBody>
          <a:bodyPr wrap="square" lIns="0" tIns="0" rIns="0" bIns="0" rtlCol="0" anchor="ctr"/>
          <a:lstStyle/>
          <a:p>
            <a:pPr indent="0" marL="0">
              <a:buNone/>
            </a:pPr>
            <a:r>
              <a:rPr lang="en-US" sz="4000" b="1" spc="-50" kern="0" dirty="0">
                <a:solidFill>
                  <a:srgbClr val="F57F00"/>
                </a:solidFill>
                <a:latin typeface="Libre Franklin" pitchFamily="34" charset="0"/>
                <a:ea typeface="Libre Franklin" pitchFamily="34" charset="-122"/>
                <a:cs typeface="Libre Franklin" pitchFamily="34" charset="-120"/>
              </a:rPr>
              <a:t>0.180</a:t>
            </a:r>
            <a:endParaRPr lang="en-US" sz="4000" dirty="0"/>
          </a:p>
        </p:txBody>
      </p:sp>
      <p:sp>
        <p:nvSpPr>
          <p:cNvPr id="12" name="Text 7"/>
          <p:cNvSpPr/>
          <p:nvPr/>
        </p:nvSpPr>
        <p:spPr>
          <a:xfrm>
            <a:off x="457200" y="4261104"/>
            <a:ext cx="374904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Silhouette</a:t>
            </a:r>
            <a:endParaRPr lang="en-US" sz="1250" dirty="0"/>
          </a:p>
        </p:txBody>
      </p:sp>
      <p:sp>
        <p:nvSpPr>
          <p:cNvPr id="13" name="Text 8"/>
          <p:cNvSpPr/>
          <p:nvPr/>
        </p:nvSpPr>
        <p:spPr>
          <a:xfrm>
            <a:off x="457200" y="4498848"/>
            <a:ext cx="374904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Weak separation</a:t>
            </a:r>
            <a:endParaRPr lang="en-US" sz="1050" dirty="0"/>
          </a:p>
        </p:txBody>
      </p:sp>
      <p:sp>
        <p:nvSpPr>
          <p:cNvPr id="14" name="Text 9"/>
          <p:cNvSpPr/>
          <p:nvPr/>
        </p:nvSpPr>
        <p:spPr>
          <a:xfrm>
            <a:off x="457200" y="4791456"/>
            <a:ext cx="3749040" cy="566928"/>
          </a:xfrm>
          <a:prstGeom prst="rect">
            <a:avLst/>
          </a:prstGeom>
          <a:noFill/>
          <a:ln/>
        </p:spPr>
        <p:txBody>
          <a:bodyPr wrap="square" lIns="0" tIns="0" rIns="0" bIns="0" rtlCol="0" anchor="ctr"/>
          <a:lstStyle/>
          <a:p>
            <a:pPr indent="0" marL="0">
              <a:buNone/>
            </a:pPr>
            <a:r>
              <a:rPr lang="en-US" sz="4000" b="1" spc="-50" kern="0" dirty="0">
                <a:solidFill>
                  <a:srgbClr val="3366FF"/>
                </a:solidFill>
                <a:latin typeface="Libre Franklin" pitchFamily="34" charset="0"/>
                <a:ea typeface="Libre Franklin" pitchFamily="34" charset="-122"/>
                <a:cs typeface="Libre Franklin" pitchFamily="34" charset="-120"/>
              </a:rPr>
              <a:t>0.704</a:t>
            </a:r>
            <a:endParaRPr lang="en-US" sz="4000" dirty="0"/>
          </a:p>
        </p:txBody>
      </p:sp>
      <p:sp>
        <p:nvSpPr>
          <p:cNvPr id="15" name="Text 10"/>
          <p:cNvSpPr/>
          <p:nvPr/>
        </p:nvSpPr>
        <p:spPr>
          <a:xfrm>
            <a:off x="457200" y="5376672"/>
            <a:ext cx="374904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Stability (ARI)</a:t>
            </a:r>
            <a:endParaRPr lang="en-US" sz="1250" dirty="0"/>
          </a:p>
        </p:txBody>
      </p:sp>
      <p:sp>
        <p:nvSpPr>
          <p:cNvPr id="16" name="Text 11"/>
          <p:cNvSpPr/>
          <p:nvPr/>
        </p:nvSpPr>
        <p:spPr>
          <a:xfrm>
            <a:off x="457200" y="5614416"/>
            <a:ext cx="374904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100 resamples of 80% of the data</a:t>
            </a:r>
            <a:endParaRPr lang="en-US" sz="1050" dirty="0"/>
          </a:p>
        </p:txBody>
      </p:sp>
      <p:sp>
        <p:nvSpPr>
          <p:cNvPr id="17" name="Text 12"/>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Two other fit measures, BIC and the gap statistic, both point to more than two groups. Slide 11 covers this.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The two groups</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6</a:t>
            </a:r>
            <a:endParaRPr lang="en-US" sz="1000" dirty="0"/>
          </a:p>
        </p:txBody>
      </p:sp>
      <p:pic>
        <p:nvPicPr>
          <p:cNvPr id="6" name="Image 2" descr="/sessions/happy-eloquent-pascal/mnt/caregiver-cluster-analysis/Caregiver Outputs/figure_2_primary_cluster_profiles.png">    </p:cNvPr>
          <p:cNvPicPr>
            <a:picLocks noChangeAspect="1"/>
          </p:cNvPicPr>
          <p:nvPr/>
        </p:nvPicPr>
        <p:blipFill>
          <a:blip r:embed="rId3"/>
          <a:stretch>
            <a:fillRect/>
          </a:stretch>
        </p:blipFill>
        <p:spPr>
          <a:xfrm>
            <a:off x="4023360" y="1627632"/>
            <a:ext cx="7708392" cy="4005072"/>
          </a:xfrm>
          <a:prstGeom prst="rect">
            <a:avLst/>
          </a:prstGeom>
        </p:spPr>
      </p:pic>
      <p:sp>
        <p:nvSpPr>
          <p:cNvPr id="7" name="Text 2"/>
          <p:cNvSpPr/>
          <p:nvPr/>
        </p:nvSpPr>
        <p:spPr>
          <a:xfrm>
            <a:off x="4023360" y="5669280"/>
            <a:ext cx="770839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Figure 2. Average domain scores by group, n = 131. Dashed ticks are the overall average.</a:t>
            </a:r>
            <a:endParaRPr lang="en-US" sz="900" dirty="0"/>
          </a:p>
        </p:txBody>
      </p:sp>
      <p:sp>
        <p:nvSpPr>
          <p:cNvPr id="8" name="Shape 3"/>
          <p:cNvSpPr/>
          <p:nvPr/>
        </p:nvSpPr>
        <p:spPr>
          <a:xfrm>
            <a:off x="457200" y="1691640"/>
            <a:ext cx="3291840" cy="868680"/>
          </a:xfrm>
          <a:prstGeom prst="roundRect">
            <a:avLst>
              <a:gd name="adj" fmla="val 12632"/>
            </a:avLst>
          </a:prstGeom>
          <a:solidFill>
            <a:srgbClr val="3366FF"/>
          </a:solidFill>
          <a:ln w="12700">
            <a:solidFill>
              <a:srgbClr val="3366FF"/>
            </a:solidFill>
            <a:prstDash val="solid"/>
          </a:ln>
        </p:spPr>
      </p:sp>
      <p:sp>
        <p:nvSpPr>
          <p:cNvPr id="9" name="Text 4"/>
          <p:cNvSpPr/>
          <p:nvPr/>
        </p:nvSpPr>
        <p:spPr>
          <a:xfrm>
            <a:off x="658368" y="1773936"/>
            <a:ext cx="1188720" cy="457200"/>
          </a:xfrm>
          <a:prstGeom prst="rect">
            <a:avLst/>
          </a:prstGeom>
          <a:noFill/>
          <a:ln/>
        </p:spPr>
        <p:txBody>
          <a:bodyPr wrap="square" lIns="0" tIns="0" rIns="0" bIns="0" rtlCol="0" anchor="ctr"/>
          <a:lstStyle/>
          <a:p>
            <a:pPr indent="0" marL="0">
              <a:buNone/>
            </a:pPr>
            <a:r>
              <a:rPr lang="en-US" sz="3000" b="1" dirty="0">
                <a:solidFill>
                  <a:srgbClr val="F4F4F6"/>
                </a:solidFill>
                <a:latin typeface="Libre Franklin" pitchFamily="34" charset="0"/>
                <a:ea typeface="Libre Franklin" pitchFamily="34" charset="-122"/>
                <a:cs typeface="Libre Franklin" pitchFamily="34" charset="-120"/>
              </a:rPr>
              <a:t>84</a:t>
            </a:r>
            <a:endParaRPr lang="en-US" sz="3000" dirty="0"/>
          </a:p>
        </p:txBody>
      </p:sp>
      <p:sp>
        <p:nvSpPr>
          <p:cNvPr id="10" name="Text 5"/>
          <p:cNvSpPr/>
          <p:nvPr/>
        </p:nvSpPr>
        <p:spPr>
          <a:xfrm>
            <a:off x="1691640" y="1901952"/>
            <a:ext cx="1828800" cy="256032"/>
          </a:xfrm>
          <a:prstGeom prst="rect">
            <a:avLst/>
          </a:prstGeom>
          <a:noFill/>
          <a:ln/>
        </p:spPr>
        <p:txBody>
          <a:bodyPr wrap="square" lIns="0" tIns="0" rIns="0" bIns="0" rtlCol="0" anchor="ctr"/>
          <a:lstStyle/>
          <a:p>
            <a:pPr indent="0" marL="0">
              <a:buNone/>
            </a:pPr>
            <a:r>
              <a:rPr lang="en-US" sz="1200" dirty="0">
                <a:solidFill>
                  <a:srgbClr val="91BAF4"/>
                </a:solidFill>
                <a:latin typeface="Libre Franklin Medium" pitchFamily="34" charset="0"/>
                <a:ea typeface="Libre Franklin Medium" pitchFamily="34" charset="-122"/>
                <a:cs typeface="Libre Franklin Medium" pitchFamily="34" charset="-120"/>
              </a:rPr>
              <a:t>of 131  ·  64.1%</a:t>
            </a:r>
            <a:endParaRPr lang="en-US" sz="1200" dirty="0"/>
          </a:p>
        </p:txBody>
      </p:sp>
      <p:sp>
        <p:nvSpPr>
          <p:cNvPr id="11" name="Text 6"/>
          <p:cNvSpPr/>
          <p:nvPr/>
        </p:nvSpPr>
        <p:spPr>
          <a:xfrm>
            <a:off x="658368" y="2231136"/>
            <a:ext cx="2926080" cy="256032"/>
          </a:xfrm>
          <a:prstGeom prst="rect">
            <a:avLst/>
          </a:prstGeom>
          <a:noFill/>
          <a:ln/>
        </p:spPr>
        <p:txBody>
          <a:bodyPr wrap="square" lIns="0" tIns="0" rIns="0" bIns="0" rtlCol="0" anchor="ctr"/>
          <a:lstStyle/>
          <a:p>
            <a:pPr indent="0" marL="0">
              <a:buNone/>
            </a:pPr>
            <a:r>
              <a:rPr lang="en-US" sz="1300" b="1" dirty="0">
                <a:solidFill>
                  <a:srgbClr val="F4F4F6"/>
                </a:solidFill>
                <a:latin typeface="Libre Franklin" pitchFamily="34" charset="0"/>
                <a:ea typeface="Libre Franklin" pitchFamily="34" charset="-122"/>
                <a:cs typeface="Libre Franklin" pitchFamily="34" charset="-120"/>
              </a:rPr>
              <a:t>Higher acceptability</a:t>
            </a:r>
            <a:endParaRPr lang="en-US" sz="1300" dirty="0"/>
          </a:p>
        </p:txBody>
      </p:sp>
      <p:sp>
        <p:nvSpPr>
          <p:cNvPr id="12" name="Shape 7"/>
          <p:cNvSpPr/>
          <p:nvPr/>
        </p:nvSpPr>
        <p:spPr>
          <a:xfrm>
            <a:off x="457200" y="2670048"/>
            <a:ext cx="3291840" cy="868680"/>
          </a:xfrm>
          <a:prstGeom prst="roundRect">
            <a:avLst>
              <a:gd name="adj" fmla="val 12632"/>
            </a:avLst>
          </a:prstGeom>
          <a:solidFill>
            <a:srgbClr val="F57F00"/>
          </a:solidFill>
          <a:ln w="12700">
            <a:solidFill>
              <a:srgbClr val="F57F00"/>
            </a:solidFill>
            <a:prstDash val="solid"/>
          </a:ln>
        </p:spPr>
      </p:sp>
      <p:sp>
        <p:nvSpPr>
          <p:cNvPr id="13" name="Text 8"/>
          <p:cNvSpPr/>
          <p:nvPr/>
        </p:nvSpPr>
        <p:spPr>
          <a:xfrm>
            <a:off x="658368" y="2752344"/>
            <a:ext cx="1188720" cy="457200"/>
          </a:xfrm>
          <a:prstGeom prst="rect">
            <a:avLst/>
          </a:prstGeom>
          <a:noFill/>
          <a:ln/>
        </p:spPr>
        <p:txBody>
          <a:bodyPr wrap="square" lIns="0" tIns="0" rIns="0" bIns="0" rtlCol="0" anchor="ctr"/>
          <a:lstStyle/>
          <a:p>
            <a:pPr indent="0" marL="0">
              <a:buNone/>
            </a:pPr>
            <a:r>
              <a:rPr lang="en-US" sz="3000" b="1" dirty="0">
                <a:solidFill>
                  <a:srgbClr val="F4F4F6"/>
                </a:solidFill>
                <a:latin typeface="Libre Franklin" pitchFamily="34" charset="0"/>
                <a:ea typeface="Libre Franklin" pitchFamily="34" charset="-122"/>
                <a:cs typeface="Libre Franklin" pitchFamily="34" charset="-120"/>
              </a:rPr>
              <a:t>47</a:t>
            </a:r>
            <a:endParaRPr lang="en-US" sz="3000" dirty="0"/>
          </a:p>
        </p:txBody>
      </p:sp>
      <p:sp>
        <p:nvSpPr>
          <p:cNvPr id="14" name="Text 9"/>
          <p:cNvSpPr/>
          <p:nvPr/>
        </p:nvSpPr>
        <p:spPr>
          <a:xfrm>
            <a:off x="1691640" y="2880360"/>
            <a:ext cx="1828800" cy="256032"/>
          </a:xfrm>
          <a:prstGeom prst="rect">
            <a:avLst/>
          </a:prstGeom>
          <a:noFill/>
          <a:ln/>
        </p:spPr>
        <p:txBody>
          <a:bodyPr wrap="square" lIns="0" tIns="0" rIns="0" bIns="0" rtlCol="0" anchor="ctr"/>
          <a:lstStyle/>
          <a:p>
            <a:pPr indent="0" marL="0">
              <a:buNone/>
            </a:pPr>
            <a:r>
              <a:rPr lang="en-US" sz="1200" dirty="0">
                <a:solidFill>
                  <a:srgbClr val="F4F4F6"/>
                </a:solidFill>
                <a:latin typeface="Libre Franklin Medium" pitchFamily="34" charset="0"/>
                <a:ea typeface="Libre Franklin Medium" pitchFamily="34" charset="-122"/>
                <a:cs typeface="Libre Franklin Medium" pitchFamily="34" charset="-120"/>
              </a:rPr>
              <a:t>of 131  ·  35.9%</a:t>
            </a:r>
            <a:endParaRPr lang="en-US" sz="1200" dirty="0"/>
          </a:p>
        </p:txBody>
      </p:sp>
      <p:sp>
        <p:nvSpPr>
          <p:cNvPr id="15" name="Text 10"/>
          <p:cNvSpPr/>
          <p:nvPr/>
        </p:nvSpPr>
        <p:spPr>
          <a:xfrm>
            <a:off x="658368" y="3209544"/>
            <a:ext cx="2926080" cy="256032"/>
          </a:xfrm>
          <a:prstGeom prst="rect">
            <a:avLst/>
          </a:prstGeom>
          <a:noFill/>
          <a:ln/>
        </p:spPr>
        <p:txBody>
          <a:bodyPr wrap="square" lIns="0" tIns="0" rIns="0" bIns="0" rtlCol="0" anchor="ctr"/>
          <a:lstStyle/>
          <a:p>
            <a:pPr indent="0" marL="0">
              <a:buNone/>
            </a:pPr>
            <a:r>
              <a:rPr lang="en-US" sz="1300" b="1" dirty="0">
                <a:solidFill>
                  <a:srgbClr val="F4F4F6"/>
                </a:solidFill>
                <a:latin typeface="Libre Franklin" pitchFamily="34" charset="0"/>
                <a:ea typeface="Libre Franklin" pitchFamily="34" charset="-122"/>
                <a:cs typeface="Libre Franklin" pitchFamily="34" charset="-120"/>
              </a:rPr>
              <a:t>Conditional acceptability</a:t>
            </a:r>
            <a:endParaRPr lang="en-US" sz="1300" dirty="0"/>
          </a:p>
        </p:txBody>
      </p:sp>
      <p:sp>
        <p:nvSpPr>
          <p:cNvPr id="16" name="Text 11"/>
          <p:cNvSpPr/>
          <p:nvPr/>
        </p:nvSpPr>
        <p:spPr>
          <a:xfrm>
            <a:off x="457200" y="3785616"/>
            <a:ext cx="3291840" cy="237744"/>
          </a:xfrm>
          <a:prstGeom prst="rect">
            <a:avLst/>
          </a:prstGeom>
          <a:noFill/>
          <a:ln/>
        </p:spPr>
        <p:txBody>
          <a:bodyPr wrap="square" lIns="0" tIns="0" rIns="0" bIns="0" rtlCol="0" anchor="ctr"/>
          <a:lstStyle/>
          <a:p>
            <a:pPr indent="0" marL="0">
              <a:buNone/>
            </a:pPr>
            <a:r>
              <a:rPr lang="en-US" sz="1250" b="1" dirty="0">
                <a:solidFill>
                  <a:srgbClr val="3366FF"/>
                </a:solidFill>
                <a:latin typeface="Libre Franklin" pitchFamily="34" charset="0"/>
                <a:ea typeface="Libre Franklin" pitchFamily="34" charset="-122"/>
                <a:cs typeface="Libre Franklin" pitchFamily="34" charset="-120"/>
              </a:rPr>
              <a:t>What separates them</a:t>
            </a:r>
            <a:endParaRPr lang="en-US" sz="1250" dirty="0"/>
          </a:p>
        </p:txBody>
      </p:sp>
      <p:sp>
        <p:nvSpPr>
          <p:cNvPr id="17" name="Text 12"/>
          <p:cNvSpPr/>
          <p:nvPr/>
        </p:nvSpPr>
        <p:spPr>
          <a:xfrm>
            <a:off x="457200" y="4059936"/>
            <a:ext cx="3291840" cy="10972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Trust and comfort with the clinician</a:t>
            </a:r>
            <a:endParaRPr lang="en-US" sz="1200" dirty="0"/>
          </a:p>
          <a:p>
            <a:pPr marL="342900" indent="-342900">
              <a:spcAft>
                <a:spcPts val="6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Willingness to do a blood draw</a:t>
            </a:r>
            <a:endParaRPr lang="en-US" sz="1200" dirty="0"/>
          </a:p>
          <a:p>
            <a:pPr marL="342900" indent="-342900">
              <a:spcAft>
                <a:spcPts val="6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Whether offering it to everyone feels right</a:t>
            </a:r>
            <a:endParaRPr lang="en-US" sz="1200" dirty="0"/>
          </a:p>
        </p:txBody>
      </p:sp>
      <p:sp>
        <p:nvSpPr>
          <p:cNvPr id="18" name="Text 13"/>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Both groups stay open to low-burden options. The split is about burden and trust, not blanket refusal.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Would you screen at 4 months?</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7</a:t>
            </a:r>
            <a:endParaRPr lang="en-US" sz="1000" dirty="0"/>
          </a:p>
        </p:txBody>
      </p:sp>
      <p:sp>
        <p:nvSpPr>
          <p:cNvPr id="6" name="Text 2"/>
          <p:cNvSpPr/>
          <p:nvPr/>
        </p:nvSpPr>
        <p:spPr>
          <a:xfrm>
            <a:off x="457200" y="1737360"/>
            <a:ext cx="3566160" cy="566928"/>
          </a:xfrm>
          <a:prstGeom prst="rect">
            <a:avLst/>
          </a:prstGeom>
          <a:noFill/>
          <a:ln/>
        </p:spPr>
        <p:txBody>
          <a:bodyPr wrap="square" lIns="0" tIns="0" rIns="0" bIns="0" rtlCol="0" anchor="ctr"/>
          <a:lstStyle/>
          <a:p>
            <a:pPr indent="0" marL="0">
              <a:buNone/>
            </a:pPr>
            <a:r>
              <a:rPr lang="en-US" sz="4000" b="1" spc="-50" kern="0" dirty="0">
                <a:solidFill>
                  <a:srgbClr val="3366FF"/>
                </a:solidFill>
                <a:latin typeface="Libre Franklin" pitchFamily="34" charset="0"/>
                <a:ea typeface="Libre Franklin" pitchFamily="34" charset="-122"/>
                <a:cs typeface="Libre Franklin" pitchFamily="34" charset="-120"/>
              </a:rPr>
              <a:t>56 / 80</a:t>
            </a:r>
            <a:endParaRPr lang="en-US" sz="4000" dirty="0"/>
          </a:p>
        </p:txBody>
      </p:sp>
      <p:sp>
        <p:nvSpPr>
          <p:cNvPr id="7" name="Text 3"/>
          <p:cNvSpPr/>
          <p:nvPr/>
        </p:nvSpPr>
        <p:spPr>
          <a:xfrm>
            <a:off x="457200" y="2322576"/>
            <a:ext cx="356616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Higher acceptability</a:t>
            </a:r>
            <a:endParaRPr lang="en-US" sz="1250" dirty="0"/>
          </a:p>
        </p:txBody>
      </p:sp>
      <p:sp>
        <p:nvSpPr>
          <p:cNvPr id="8" name="Text 4"/>
          <p:cNvSpPr/>
          <p:nvPr/>
        </p:nvSpPr>
        <p:spPr>
          <a:xfrm>
            <a:off x="457200" y="2560320"/>
            <a:ext cx="356616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70.0% said Definitely yes   ·   95% CI 59.2 to 78.9</a:t>
            </a:r>
            <a:endParaRPr lang="en-US" sz="1050" dirty="0"/>
          </a:p>
        </p:txBody>
      </p:sp>
      <p:sp>
        <p:nvSpPr>
          <p:cNvPr id="9" name="Text 5"/>
          <p:cNvSpPr/>
          <p:nvPr/>
        </p:nvSpPr>
        <p:spPr>
          <a:xfrm>
            <a:off x="4297680" y="1737360"/>
            <a:ext cx="3566160" cy="566928"/>
          </a:xfrm>
          <a:prstGeom prst="rect">
            <a:avLst/>
          </a:prstGeom>
          <a:noFill/>
          <a:ln/>
        </p:spPr>
        <p:txBody>
          <a:bodyPr wrap="square" lIns="0" tIns="0" rIns="0" bIns="0" rtlCol="0" anchor="ctr"/>
          <a:lstStyle/>
          <a:p>
            <a:pPr indent="0" marL="0">
              <a:buNone/>
            </a:pPr>
            <a:r>
              <a:rPr lang="en-US" sz="4000" b="1" spc="-50" kern="0" dirty="0">
                <a:solidFill>
                  <a:srgbClr val="F57F00"/>
                </a:solidFill>
                <a:latin typeface="Libre Franklin" pitchFamily="34" charset="0"/>
                <a:ea typeface="Libre Franklin" pitchFamily="34" charset="-122"/>
                <a:cs typeface="Libre Franklin" pitchFamily="34" charset="-120"/>
              </a:rPr>
              <a:t>13 / 47</a:t>
            </a:r>
            <a:endParaRPr lang="en-US" sz="4000" dirty="0"/>
          </a:p>
        </p:txBody>
      </p:sp>
      <p:sp>
        <p:nvSpPr>
          <p:cNvPr id="10" name="Text 6"/>
          <p:cNvSpPr/>
          <p:nvPr/>
        </p:nvSpPr>
        <p:spPr>
          <a:xfrm>
            <a:off x="4297680" y="2322576"/>
            <a:ext cx="356616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Conditional acceptability</a:t>
            </a:r>
            <a:endParaRPr lang="en-US" sz="1250" dirty="0"/>
          </a:p>
        </p:txBody>
      </p:sp>
      <p:sp>
        <p:nvSpPr>
          <p:cNvPr id="11" name="Text 7"/>
          <p:cNvSpPr/>
          <p:nvPr/>
        </p:nvSpPr>
        <p:spPr>
          <a:xfrm>
            <a:off x="4297680" y="2560320"/>
            <a:ext cx="356616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27.7% said Definitely yes   ·   95% CI 16.9 to 41.8</a:t>
            </a:r>
            <a:endParaRPr lang="en-US" sz="1050" dirty="0"/>
          </a:p>
        </p:txBody>
      </p:sp>
      <p:sp>
        <p:nvSpPr>
          <p:cNvPr id="12" name="Text 8"/>
          <p:cNvSpPr/>
          <p:nvPr/>
        </p:nvSpPr>
        <p:spPr>
          <a:xfrm>
            <a:off x="8138160" y="1737360"/>
            <a:ext cx="3566160" cy="566928"/>
          </a:xfrm>
          <a:prstGeom prst="rect">
            <a:avLst/>
          </a:prstGeom>
          <a:noFill/>
          <a:ln/>
        </p:spPr>
        <p:txBody>
          <a:bodyPr wrap="square" lIns="0" tIns="0" rIns="0" bIns="0" rtlCol="0" anchor="ctr"/>
          <a:lstStyle/>
          <a:p>
            <a:pPr indent="0" marL="0">
              <a:buNone/>
            </a:pPr>
            <a:r>
              <a:rPr lang="en-US" sz="4000" b="1" spc="-50" kern="0" dirty="0">
                <a:solidFill>
                  <a:srgbClr val="3366FF"/>
                </a:solidFill>
                <a:latin typeface="Libre Franklin" pitchFamily="34" charset="0"/>
                <a:ea typeface="Libre Franklin" pitchFamily="34" charset="-122"/>
                <a:cs typeface="Libre Franklin" pitchFamily="34" charset="-120"/>
              </a:rPr>
              <a:t>42.3 pp</a:t>
            </a:r>
            <a:endParaRPr lang="en-US" sz="4000" dirty="0"/>
          </a:p>
        </p:txBody>
      </p:sp>
      <p:sp>
        <p:nvSpPr>
          <p:cNvPr id="13" name="Text 9"/>
          <p:cNvSpPr/>
          <p:nvPr/>
        </p:nvSpPr>
        <p:spPr>
          <a:xfrm>
            <a:off x="8138160" y="2322576"/>
            <a:ext cx="356616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Difference</a:t>
            </a:r>
            <a:endParaRPr lang="en-US" sz="1250" dirty="0"/>
          </a:p>
        </p:txBody>
      </p:sp>
      <p:sp>
        <p:nvSpPr>
          <p:cNvPr id="14" name="Text 10"/>
          <p:cNvSpPr/>
          <p:nvPr/>
        </p:nvSpPr>
        <p:spPr>
          <a:xfrm>
            <a:off x="8138160" y="2560320"/>
            <a:ext cx="356616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Odds ratio 8.09   ·   95% CI 3.47 to 20.80</a:t>
            </a:r>
            <a:endParaRPr lang="en-US" sz="1050" dirty="0"/>
          </a:p>
        </p:txBody>
      </p:sp>
      <p:pic>
        <p:nvPicPr>
          <p:cNvPr id="15" name="Image 2" descr="/sessions/happy-eloquent-pascal/mnt/caregiver-cluster-analysis/Caregiver Outputs/figure_3_screening_outcome.png">    </p:cNvPr>
          <p:cNvPicPr>
            <a:picLocks noChangeAspect="1"/>
          </p:cNvPicPr>
          <p:nvPr/>
        </p:nvPicPr>
        <p:blipFill>
          <a:blip r:embed="rId3"/>
          <a:stretch>
            <a:fillRect/>
          </a:stretch>
        </p:blipFill>
        <p:spPr>
          <a:xfrm>
            <a:off x="1188720" y="3200400"/>
            <a:ext cx="9811512" cy="2185416"/>
          </a:xfrm>
          <a:prstGeom prst="rect">
            <a:avLst/>
          </a:prstGeom>
        </p:spPr>
      </p:pic>
      <p:sp>
        <p:nvSpPr>
          <p:cNvPr id="16" name="Text 11"/>
          <p:cNvSpPr/>
          <p:nvPr/>
        </p:nvSpPr>
        <p:spPr>
          <a:xfrm>
            <a:off x="1188720" y="5431536"/>
            <a:ext cx="981151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Figure 3. Definitely-yes rate by group with 95% intervals, n = 127 who answered.</a:t>
            </a:r>
            <a:endParaRPr lang="en-US" sz="900" dirty="0"/>
          </a:p>
        </p:txBody>
      </p:sp>
      <p:sp>
        <p:nvSpPr>
          <p:cNvPr id="17" name="Text 12"/>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This is a stated intention, not screening behaviour. Screening was never used to build the groups.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Does it survive the screening rules?</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8</a:t>
            </a:r>
            <a:endParaRPr lang="en-US" sz="1000" dirty="0"/>
          </a:p>
        </p:txBody>
      </p:sp>
      <p:pic>
        <p:nvPicPr>
          <p:cNvPr id="6" name="Image 2" descr="/sessions/happy-eloquent-pascal/mnt/caregiver-cluster-analysis/Caregiver Outputs/figure_20_tier_sensitivity.png">    </p:cNvPr>
          <p:cNvPicPr>
            <a:picLocks noChangeAspect="1"/>
          </p:cNvPicPr>
          <p:nvPr/>
        </p:nvPicPr>
        <p:blipFill>
          <a:blip r:embed="rId3"/>
          <a:stretch>
            <a:fillRect/>
          </a:stretch>
        </p:blipFill>
        <p:spPr>
          <a:xfrm>
            <a:off x="4709160" y="1691640"/>
            <a:ext cx="7022592" cy="4032504"/>
          </a:xfrm>
          <a:prstGeom prst="rect">
            <a:avLst/>
          </a:prstGeom>
        </p:spPr>
      </p:pic>
      <p:sp>
        <p:nvSpPr>
          <p:cNvPr id="7" name="Text 2"/>
          <p:cNvSpPr/>
          <p:nvPr/>
        </p:nvSpPr>
        <p:spPr>
          <a:xfrm>
            <a:off x="4709160" y="5760720"/>
            <a:ext cx="702259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Figure 20. Difference with 95% intervals across all five ways of choosing who to include.</a:t>
            </a:r>
            <a:endParaRPr lang="en-US" sz="900" dirty="0"/>
          </a:p>
        </p:txBody>
      </p:sp>
      <p:sp>
        <p:nvSpPr>
          <p:cNvPr id="8" name="Text 3"/>
          <p:cNvSpPr/>
          <p:nvPr/>
        </p:nvSpPr>
        <p:spPr>
          <a:xfrm>
            <a:off x="457200" y="1737360"/>
            <a:ext cx="4023360" cy="566928"/>
          </a:xfrm>
          <a:prstGeom prst="rect">
            <a:avLst/>
          </a:prstGeom>
          <a:noFill/>
          <a:ln/>
        </p:spPr>
        <p:txBody>
          <a:bodyPr wrap="square" lIns="0" tIns="0" rIns="0" bIns="0" rtlCol="0" anchor="ctr"/>
          <a:lstStyle/>
          <a:p>
            <a:pPr indent="0" marL="0">
              <a:buNone/>
            </a:pPr>
            <a:r>
              <a:rPr lang="en-US" sz="4000" b="1" spc="-50" kern="0" dirty="0">
                <a:solidFill>
                  <a:srgbClr val="3366FF"/>
                </a:solidFill>
                <a:latin typeface="Libre Franklin" pitchFamily="34" charset="0"/>
                <a:ea typeface="Libre Franklin" pitchFamily="34" charset="-122"/>
                <a:cs typeface="Libre Franklin" pitchFamily="34" charset="-120"/>
              </a:rPr>
              <a:t>42.3 – 48.5 pp</a:t>
            </a:r>
            <a:endParaRPr lang="en-US" sz="4000" dirty="0"/>
          </a:p>
        </p:txBody>
      </p:sp>
      <p:sp>
        <p:nvSpPr>
          <p:cNvPr id="9" name="Text 4"/>
          <p:cNvSpPr/>
          <p:nvPr/>
        </p:nvSpPr>
        <p:spPr>
          <a:xfrm>
            <a:off x="457200" y="2322576"/>
            <a:ext cx="402336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Difference stays in this range</a:t>
            </a:r>
            <a:endParaRPr lang="en-US" sz="1250" dirty="0"/>
          </a:p>
        </p:txBody>
      </p:sp>
      <p:sp>
        <p:nvSpPr>
          <p:cNvPr id="10" name="Text 5"/>
          <p:cNvSpPr/>
          <p:nvPr/>
        </p:nvSpPr>
        <p:spPr>
          <a:xfrm>
            <a:off x="457200" y="2560320"/>
            <a:ext cx="402336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Across the three clean-project definitions</a:t>
            </a:r>
            <a:endParaRPr lang="en-US" sz="1050" dirty="0"/>
          </a:p>
        </p:txBody>
      </p:sp>
      <p:sp>
        <p:nvSpPr>
          <p:cNvPr id="11" name="Text 6"/>
          <p:cNvSpPr/>
          <p:nvPr/>
        </p:nvSpPr>
        <p:spPr>
          <a:xfrm>
            <a:off x="457200" y="2999232"/>
            <a:ext cx="4023360" cy="566928"/>
          </a:xfrm>
          <a:prstGeom prst="rect">
            <a:avLst/>
          </a:prstGeom>
          <a:noFill/>
          <a:ln/>
        </p:spPr>
        <p:txBody>
          <a:bodyPr wrap="square" lIns="0" tIns="0" rIns="0" bIns="0" rtlCol="0" anchor="ctr"/>
          <a:lstStyle/>
          <a:p>
            <a:pPr indent="0" marL="0">
              <a:buNone/>
            </a:pPr>
            <a:r>
              <a:rPr lang="en-US" sz="4000" b="1" spc="-50" kern="0" dirty="0">
                <a:solidFill>
                  <a:srgbClr val="3366FF"/>
                </a:solidFill>
                <a:latin typeface="Libre Franklin" pitchFamily="34" charset="0"/>
                <a:ea typeface="Libre Franklin" pitchFamily="34" charset="-122"/>
                <a:cs typeface="Libre Franklin" pitchFamily="34" charset="-120"/>
              </a:rPr>
              <a:t>7.39 – 11.09</a:t>
            </a:r>
            <a:endParaRPr lang="en-US" sz="4000" dirty="0"/>
          </a:p>
        </p:txBody>
      </p:sp>
      <p:sp>
        <p:nvSpPr>
          <p:cNvPr id="12" name="Text 7"/>
          <p:cNvSpPr/>
          <p:nvPr/>
        </p:nvSpPr>
        <p:spPr>
          <a:xfrm>
            <a:off x="457200" y="3584448"/>
            <a:ext cx="402336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Odds ratio stays in this range</a:t>
            </a:r>
            <a:endParaRPr lang="en-US" sz="1250" dirty="0"/>
          </a:p>
        </p:txBody>
      </p:sp>
      <p:sp>
        <p:nvSpPr>
          <p:cNvPr id="13" name="Text 8"/>
          <p:cNvSpPr/>
          <p:nvPr/>
        </p:nvSpPr>
        <p:spPr>
          <a:xfrm>
            <a:off x="457200" y="3822192"/>
            <a:ext cx="402336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Every interval sits above 1</a:t>
            </a:r>
            <a:endParaRPr lang="en-US" sz="1050" dirty="0"/>
          </a:p>
        </p:txBody>
      </p:sp>
      <p:sp>
        <p:nvSpPr>
          <p:cNvPr id="14" name="Text 9"/>
          <p:cNvSpPr/>
          <p:nvPr/>
        </p:nvSpPr>
        <p:spPr>
          <a:xfrm>
            <a:off x="457200" y="4261104"/>
            <a:ext cx="4023360" cy="566928"/>
          </a:xfrm>
          <a:prstGeom prst="rect">
            <a:avLst/>
          </a:prstGeom>
          <a:noFill/>
          <a:ln/>
        </p:spPr>
        <p:txBody>
          <a:bodyPr wrap="square" lIns="0" tIns="0" rIns="0" bIns="0" rtlCol="0" anchor="ctr"/>
          <a:lstStyle/>
          <a:p>
            <a:pPr indent="0" marL="0">
              <a:buNone/>
            </a:pPr>
            <a:r>
              <a:rPr lang="en-US" sz="4000" b="1" spc="-50" kern="0" dirty="0">
                <a:solidFill>
                  <a:srgbClr val="F57F00"/>
                </a:solidFill>
                <a:latin typeface="Libre Franklin" pitchFamily="34" charset="0"/>
                <a:ea typeface="Libre Franklin" pitchFamily="34" charset="-122"/>
                <a:cs typeface="Libre Franklin" pitchFamily="34" charset="-120"/>
              </a:rPr>
              <a:t>39.0 – 44.5 pp</a:t>
            </a:r>
            <a:endParaRPr lang="en-US" sz="4000" dirty="0"/>
          </a:p>
        </p:txBody>
      </p:sp>
      <p:sp>
        <p:nvSpPr>
          <p:cNvPr id="15" name="Text 10"/>
          <p:cNvSpPr/>
          <p:nvPr/>
        </p:nvSpPr>
        <p:spPr>
          <a:xfrm>
            <a:off x="457200" y="4846320"/>
            <a:ext cx="402336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Worst case for the 4 dropped records</a:t>
            </a:r>
            <a:endParaRPr lang="en-US" sz="1250" dirty="0"/>
          </a:p>
        </p:txBody>
      </p:sp>
      <p:sp>
        <p:nvSpPr>
          <p:cNvPr id="16" name="Text 11"/>
          <p:cNvSpPr/>
          <p:nvPr/>
        </p:nvSpPr>
        <p:spPr>
          <a:xfrm>
            <a:off x="457200" y="5084064"/>
            <a:ext cx="402336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Even the least favourable split holds</a:t>
            </a:r>
            <a:endParaRPr lang="en-US" sz="1050" dirty="0"/>
          </a:p>
        </p:txBody>
      </p:sp>
      <p:sp>
        <p:nvSpPr>
          <p:cNvPr id="17" name="Text 12"/>
          <p:cNvSpPr/>
          <p:nvPr/>
        </p:nvSpPr>
        <p:spPr>
          <a:xfrm>
            <a:off x="457200" y="5413248"/>
            <a:ext cx="4023360" cy="310896"/>
          </a:xfrm>
          <a:prstGeom prst="rect">
            <a:avLst/>
          </a:prstGeom>
          <a:noFill/>
          <a:ln/>
        </p:spPr>
        <p:txBody>
          <a:bodyPr wrap="square" lIns="0" tIns="0" rIns="0" bIns="0" rtlCol="0" anchor="ctr"/>
          <a:lstStyle/>
          <a:p>
            <a:pPr indent="0" marL="0">
              <a:buNone/>
            </a:pPr>
            <a:r>
              <a:rPr lang="en-US" sz="1800" b="1" dirty="0">
                <a:solidFill>
                  <a:srgbClr val="3366FF"/>
                </a:solidFill>
                <a:latin typeface="Libre Franklin" pitchFamily="34" charset="0"/>
                <a:ea typeface="Libre Franklin" pitchFamily="34" charset="-122"/>
                <a:cs typeface="Libre Franklin" pitchFamily="34" charset="-120"/>
              </a:rPr>
              <a:t>The result holds.</a:t>
            </a:r>
            <a:endParaRPr lang="en-US" sz="1800" dirty="0"/>
          </a:p>
        </p:txBody>
      </p:sp>
      <p:sp>
        <p:nvSpPr>
          <p:cNvPr id="18" name="Text 13"/>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Rules and thresholds were fixed before we looked at what they did to the result. Definitions 4 and 5 mix or replace cohorts and are shown for comparison only.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Everything else we looked at</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9</a:t>
            </a:r>
            <a:endParaRPr lang="en-US" sz="1000" dirty="0"/>
          </a:p>
        </p:txBody>
      </p:sp>
      <p:sp>
        <p:nvSpPr>
          <p:cNvPr id="6" name="Text 2"/>
          <p:cNvSpPr/>
          <p:nvPr/>
        </p:nvSpPr>
        <p:spPr>
          <a:xfrm>
            <a:off x="457200" y="1801368"/>
            <a:ext cx="2286000" cy="27432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Autism knowledge</a:t>
            </a:r>
            <a:endParaRPr lang="en-US" sz="1350" dirty="0"/>
          </a:p>
        </p:txBody>
      </p:sp>
      <p:sp>
        <p:nvSpPr>
          <p:cNvPr id="7" name="Text 3"/>
          <p:cNvSpPr/>
          <p:nvPr/>
        </p:nvSpPr>
        <p:spPr>
          <a:xfrm>
            <a:off x="2788920" y="1801368"/>
            <a:ext cx="3200400" cy="274320"/>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3.90 (n=77) vs 3.41 (n=46) out of 7</a:t>
            </a:r>
            <a:endParaRPr lang="en-US" sz="1200" dirty="0"/>
          </a:p>
        </p:txBody>
      </p:sp>
      <p:sp>
        <p:nvSpPr>
          <p:cNvPr id="8" name="Text 4"/>
          <p:cNvSpPr/>
          <p:nvPr/>
        </p:nvSpPr>
        <p:spPr>
          <a:xfrm>
            <a:off x="2788920" y="2093976"/>
            <a:ext cx="3200400" cy="256032"/>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p = 0.099</a:t>
            </a:r>
            <a:endParaRPr lang="en-US" sz="1100" dirty="0"/>
          </a:p>
        </p:txBody>
      </p:sp>
      <p:sp>
        <p:nvSpPr>
          <p:cNvPr id="9" name="Text 5"/>
          <p:cNvSpPr/>
          <p:nvPr/>
        </p:nvSpPr>
        <p:spPr>
          <a:xfrm>
            <a:off x="457200" y="2093976"/>
            <a:ext cx="2286000" cy="256032"/>
          </a:xfrm>
          <a:prstGeom prst="rect">
            <a:avLst/>
          </a:prstGeom>
          <a:noFill/>
          <a:ln/>
        </p:spPr>
        <p:txBody>
          <a:bodyPr wrap="square" lIns="0" tIns="0" rIns="0" bIns="0" rtlCol="0" anchor="ctr"/>
          <a:lstStyle/>
          <a:p>
            <a:pPr indent="0" marL="0">
              <a:buNone/>
            </a:pPr>
            <a:r>
              <a:rPr lang="en-US" sz="1100" b="1" dirty="0">
                <a:solidFill>
                  <a:srgbClr val="71717A"/>
                </a:solidFill>
                <a:latin typeface="Libre Franklin Medium" pitchFamily="34" charset="0"/>
                <a:ea typeface="Libre Franklin Medium" pitchFamily="34" charset="-122"/>
                <a:cs typeface="Libre Franklin Medium" pitchFamily="34" charset="-120"/>
              </a:rPr>
              <a:t>No difference</a:t>
            </a:r>
            <a:endParaRPr lang="en-US" sz="1100" dirty="0"/>
          </a:p>
        </p:txBody>
      </p:sp>
      <p:sp>
        <p:nvSpPr>
          <p:cNvPr id="10" name="Shape 6"/>
          <p:cNvSpPr/>
          <p:nvPr/>
        </p:nvSpPr>
        <p:spPr>
          <a:xfrm>
            <a:off x="457200" y="2441448"/>
            <a:ext cx="5532120" cy="10973"/>
          </a:xfrm>
          <a:prstGeom prst="rect">
            <a:avLst/>
          </a:prstGeom>
          <a:solidFill>
            <a:srgbClr val="E6EEFC"/>
          </a:solidFill>
          <a:ln w="12700">
            <a:solidFill>
              <a:srgbClr val="E6EEFC"/>
            </a:solidFill>
            <a:prstDash val="solid"/>
          </a:ln>
        </p:spPr>
      </p:sp>
      <p:sp>
        <p:nvSpPr>
          <p:cNvPr id="11" name="Text 7"/>
          <p:cNvSpPr/>
          <p:nvPr/>
        </p:nvSpPr>
        <p:spPr>
          <a:xfrm>
            <a:off x="457200" y="2715768"/>
            <a:ext cx="2286000" cy="27432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Parental values</a:t>
            </a:r>
            <a:endParaRPr lang="en-US" sz="1350" dirty="0"/>
          </a:p>
        </p:txBody>
      </p:sp>
      <p:sp>
        <p:nvSpPr>
          <p:cNvPr id="12" name="Text 8"/>
          <p:cNvSpPr/>
          <p:nvPr/>
        </p:nvSpPr>
        <p:spPr>
          <a:xfrm>
            <a:off x="2788920" y="2715768"/>
            <a:ext cx="3200400" cy="274320"/>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Largest gap is self-direction, d = 0.48</a:t>
            </a:r>
            <a:endParaRPr lang="en-US" sz="1200" dirty="0"/>
          </a:p>
        </p:txBody>
      </p:sp>
      <p:sp>
        <p:nvSpPr>
          <p:cNvPr id="13" name="Text 9"/>
          <p:cNvSpPr/>
          <p:nvPr/>
        </p:nvSpPr>
        <p:spPr>
          <a:xfrm>
            <a:off x="2788920" y="3008376"/>
            <a:ext cx="3200400" cy="256032"/>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adjusted p = 0.129</a:t>
            </a:r>
            <a:endParaRPr lang="en-US" sz="1100" dirty="0"/>
          </a:p>
        </p:txBody>
      </p:sp>
      <p:sp>
        <p:nvSpPr>
          <p:cNvPr id="14" name="Text 10"/>
          <p:cNvSpPr/>
          <p:nvPr/>
        </p:nvSpPr>
        <p:spPr>
          <a:xfrm>
            <a:off x="457200" y="3008376"/>
            <a:ext cx="2286000" cy="256032"/>
          </a:xfrm>
          <a:prstGeom prst="rect">
            <a:avLst/>
          </a:prstGeom>
          <a:noFill/>
          <a:ln/>
        </p:spPr>
        <p:txBody>
          <a:bodyPr wrap="square" lIns="0" tIns="0" rIns="0" bIns="0" rtlCol="0" anchor="ctr"/>
          <a:lstStyle/>
          <a:p>
            <a:pPr indent="0" marL="0">
              <a:buNone/>
            </a:pPr>
            <a:r>
              <a:rPr lang="en-US" sz="1100" b="1" dirty="0">
                <a:solidFill>
                  <a:srgbClr val="71717A"/>
                </a:solidFill>
                <a:latin typeface="Libre Franklin Medium" pitchFamily="34" charset="0"/>
                <a:ea typeface="Libre Franklin Medium" pitchFamily="34" charset="-122"/>
                <a:cs typeface="Libre Franklin Medium" pitchFamily="34" charset="-120"/>
              </a:rPr>
              <a:t>No difference</a:t>
            </a:r>
            <a:endParaRPr lang="en-US" sz="1100" dirty="0"/>
          </a:p>
        </p:txBody>
      </p:sp>
      <p:sp>
        <p:nvSpPr>
          <p:cNvPr id="15" name="Shape 11"/>
          <p:cNvSpPr/>
          <p:nvPr/>
        </p:nvSpPr>
        <p:spPr>
          <a:xfrm>
            <a:off x="457200" y="3355848"/>
            <a:ext cx="5532120" cy="10973"/>
          </a:xfrm>
          <a:prstGeom prst="rect">
            <a:avLst/>
          </a:prstGeom>
          <a:solidFill>
            <a:srgbClr val="E6EEFC"/>
          </a:solidFill>
          <a:ln w="12700">
            <a:solidFill>
              <a:srgbClr val="E6EEFC"/>
            </a:solidFill>
            <a:prstDash val="solid"/>
          </a:ln>
        </p:spPr>
      </p:sp>
      <p:sp>
        <p:nvSpPr>
          <p:cNvPr id="16" name="Text 12"/>
          <p:cNvSpPr/>
          <p:nvPr/>
        </p:nvSpPr>
        <p:spPr>
          <a:xfrm>
            <a:off x="457200" y="3630168"/>
            <a:ext cx="2286000" cy="27432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Premature birth</a:t>
            </a:r>
            <a:endParaRPr lang="en-US" sz="1350" dirty="0"/>
          </a:p>
        </p:txBody>
      </p:sp>
      <p:sp>
        <p:nvSpPr>
          <p:cNvPr id="17" name="Text 13"/>
          <p:cNvSpPr/>
          <p:nvPr/>
        </p:nvSpPr>
        <p:spPr>
          <a:xfrm>
            <a:off x="2788920" y="3630168"/>
            <a:ext cx="3200400" cy="274320"/>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25/84 (30%) vs 22/47 (47%)</a:t>
            </a:r>
            <a:endParaRPr lang="en-US" sz="1200" dirty="0"/>
          </a:p>
        </p:txBody>
      </p:sp>
      <p:sp>
        <p:nvSpPr>
          <p:cNvPr id="18" name="Text 14"/>
          <p:cNvSpPr/>
          <p:nvPr/>
        </p:nvSpPr>
        <p:spPr>
          <a:xfrm>
            <a:off x="2788920" y="3922776"/>
            <a:ext cx="3200400" cy="256032"/>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p = 0.051, adjusted p = 0.562</a:t>
            </a:r>
            <a:endParaRPr lang="en-US" sz="1100" dirty="0"/>
          </a:p>
        </p:txBody>
      </p:sp>
      <p:sp>
        <p:nvSpPr>
          <p:cNvPr id="19" name="Text 15"/>
          <p:cNvSpPr/>
          <p:nvPr/>
        </p:nvSpPr>
        <p:spPr>
          <a:xfrm>
            <a:off x="457200" y="3922776"/>
            <a:ext cx="2286000" cy="256032"/>
          </a:xfrm>
          <a:prstGeom prst="rect">
            <a:avLst/>
          </a:prstGeom>
          <a:noFill/>
          <a:ln/>
        </p:spPr>
        <p:txBody>
          <a:bodyPr wrap="square" lIns="0" tIns="0" rIns="0" bIns="0" rtlCol="0" anchor="ctr"/>
          <a:lstStyle/>
          <a:p>
            <a:pP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Suggestive only</a:t>
            </a:r>
            <a:endParaRPr lang="en-US" sz="1100" dirty="0"/>
          </a:p>
        </p:txBody>
      </p:sp>
      <p:sp>
        <p:nvSpPr>
          <p:cNvPr id="20" name="Shape 16"/>
          <p:cNvSpPr/>
          <p:nvPr/>
        </p:nvSpPr>
        <p:spPr>
          <a:xfrm>
            <a:off x="457200" y="4270248"/>
            <a:ext cx="5532120" cy="10973"/>
          </a:xfrm>
          <a:prstGeom prst="rect">
            <a:avLst/>
          </a:prstGeom>
          <a:solidFill>
            <a:srgbClr val="E6EEFC"/>
          </a:solidFill>
          <a:ln w="12700">
            <a:solidFill>
              <a:srgbClr val="E6EEFC"/>
            </a:solidFill>
            <a:prstDash val="solid"/>
          </a:ln>
        </p:spPr>
      </p:sp>
      <p:sp>
        <p:nvSpPr>
          <p:cNvPr id="21" name="Text 17"/>
          <p:cNvSpPr/>
          <p:nvPr/>
        </p:nvSpPr>
        <p:spPr>
          <a:xfrm>
            <a:off x="457200" y="4544568"/>
            <a:ext cx="2286000" cy="274320"/>
          </a:xfrm>
          <a:prstGeom prst="rect">
            <a:avLst/>
          </a:prstGeom>
          <a:noFill/>
          <a:ln/>
        </p:spPr>
        <p:txBody>
          <a:bodyPr wrap="square" lIns="0" tIns="0" rIns="0" bIns="0" rtlCol="0" anchor="ctr"/>
          <a:lstStyle/>
          <a:p>
            <a:pPr indent="0" marL="0">
              <a:buNone/>
            </a:pPr>
            <a:r>
              <a:rPr lang="en-US" sz="1350" b="1" dirty="0">
                <a:solidFill>
                  <a:srgbClr val="000000"/>
                </a:solidFill>
                <a:latin typeface="Libre Franklin" pitchFamily="34" charset="0"/>
                <a:ea typeface="Libre Franklin" pitchFamily="34" charset="-122"/>
                <a:cs typeface="Libre Franklin" pitchFamily="34" charset="-120"/>
              </a:rPr>
              <a:t>Autistic child at home</a:t>
            </a:r>
            <a:endParaRPr lang="en-US" sz="1350" dirty="0"/>
          </a:p>
        </p:txBody>
      </p:sp>
      <p:sp>
        <p:nvSpPr>
          <p:cNvPr id="22" name="Text 18"/>
          <p:cNvSpPr/>
          <p:nvPr/>
        </p:nvSpPr>
        <p:spPr>
          <a:xfrm>
            <a:off x="2788920" y="4544568"/>
            <a:ext cx="3200400" cy="274320"/>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Odds ratio 4.32, 95% CI 1.78 to 10.50</a:t>
            </a:r>
            <a:endParaRPr lang="en-US" sz="1200" dirty="0"/>
          </a:p>
        </p:txBody>
      </p:sp>
      <p:sp>
        <p:nvSpPr>
          <p:cNvPr id="23" name="Text 19"/>
          <p:cNvSpPr/>
          <p:nvPr/>
        </p:nvSpPr>
        <p:spPr>
          <a:xfrm>
            <a:off x="2788920" y="4837176"/>
            <a:ext cx="3200400" cy="256032"/>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p = 0.0012</a:t>
            </a:r>
            <a:endParaRPr lang="en-US" sz="1100" dirty="0"/>
          </a:p>
        </p:txBody>
      </p:sp>
      <p:sp>
        <p:nvSpPr>
          <p:cNvPr id="24" name="Text 20"/>
          <p:cNvSpPr/>
          <p:nvPr/>
        </p:nvSpPr>
        <p:spPr>
          <a:xfrm>
            <a:off x="457200" y="4837176"/>
            <a:ext cx="2286000" cy="256032"/>
          </a:xfrm>
          <a:prstGeom prst="rect">
            <a:avLst/>
          </a:prstGeom>
          <a:noFill/>
          <a:ln/>
        </p:spPr>
        <p:txBody>
          <a:bodyPr wrap="square" lIns="0" tIns="0" rIns="0" bIns="0" rtlCol="0" anchor="ctr"/>
          <a:lstStyle/>
          <a:p>
            <a:pP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Real, and separate from group</a:t>
            </a:r>
            <a:endParaRPr lang="en-US" sz="1100" dirty="0"/>
          </a:p>
        </p:txBody>
      </p:sp>
      <p:sp>
        <p:nvSpPr>
          <p:cNvPr id="25" name="Shape 21"/>
          <p:cNvSpPr/>
          <p:nvPr/>
        </p:nvSpPr>
        <p:spPr>
          <a:xfrm>
            <a:off x="457200" y="5184648"/>
            <a:ext cx="5532120" cy="10973"/>
          </a:xfrm>
          <a:prstGeom prst="rect">
            <a:avLst/>
          </a:prstGeom>
          <a:solidFill>
            <a:srgbClr val="E6EEFC"/>
          </a:solidFill>
          <a:ln w="12700">
            <a:solidFill>
              <a:srgbClr val="E6EEFC"/>
            </a:solidFill>
            <a:prstDash val="solid"/>
          </a:ln>
        </p:spPr>
      </p:sp>
      <p:pic>
        <p:nvPicPr>
          <p:cNvPr id="26" name="Image 2" descr="/sessions/happy-eloquent-pascal/mnt/caregiver-cluster-analysis/Caregiver Outputs/figure_18_logistic_forest.png">    </p:cNvPr>
          <p:cNvPicPr>
            <a:picLocks noChangeAspect="1"/>
          </p:cNvPicPr>
          <p:nvPr/>
        </p:nvPicPr>
        <p:blipFill>
          <a:blip r:embed="rId3"/>
          <a:stretch>
            <a:fillRect/>
          </a:stretch>
        </p:blipFill>
        <p:spPr>
          <a:xfrm>
            <a:off x="6492240" y="1737360"/>
            <a:ext cx="5239512" cy="3017520"/>
          </a:xfrm>
          <a:prstGeom prst="rect">
            <a:avLst/>
          </a:prstGeom>
        </p:spPr>
      </p:pic>
      <p:sp>
        <p:nvSpPr>
          <p:cNvPr id="27" name="Text 22"/>
          <p:cNvSpPr/>
          <p:nvPr/>
        </p:nvSpPr>
        <p:spPr>
          <a:xfrm>
            <a:off x="6492240" y="4791456"/>
            <a:ext cx="523951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Figure 18. Odds ratios for screening intention, n = 127.</a:t>
            </a:r>
            <a:endParaRPr lang="en-US" sz="900" dirty="0"/>
          </a:p>
        </p:txBody>
      </p:sp>
      <p:sp>
        <p:nvSpPr>
          <p:cNvPr id="28" name="Text 23"/>
          <p:cNvSpPr/>
          <p:nvPr/>
        </p:nvSpPr>
        <p:spPr>
          <a:xfrm>
            <a:off x="6492240" y="5212080"/>
            <a:ext cx="5239512" cy="54864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Having an autistic child at home raises the odds of screening about fourfold, whichever group a caregiver is in.</a:t>
            </a:r>
            <a:endParaRPr lang="en-US" sz="1250" dirty="0"/>
          </a:p>
        </p:txBody>
      </p:sp>
      <p:sp>
        <p:nvSpPr>
          <p:cNvPr id="29" name="Text 24"/>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With 47 people in the smaller group we could only detect a difference of about 26 points, so a null here means not enough data rather than no difference.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The old project, 4581</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10</a:t>
            </a:r>
            <a:endParaRPr lang="en-US" sz="1000" dirty="0"/>
          </a:p>
        </p:txBody>
      </p:sp>
      <p:pic>
        <p:nvPicPr>
          <p:cNvPr id="6" name="Image 2" descr="/sessions/happy-eloquent-pascal/mnt/caregiver-cluster-analysis/Caregiver Outputs/figure_7_timing_ecdf.png">    </p:cNvPr>
          <p:cNvPicPr>
            <a:picLocks noChangeAspect="1"/>
          </p:cNvPicPr>
          <p:nvPr/>
        </p:nvPicPr>
        <p:blipFill>
          <a:blip r:embed="rId3"/>
          <a:stretch>
            <a:fillRect/>
          </a:stretch>
        </p:blipFill>
        <p:spPr>
          <a:xfrm>
            <a:off x="6903720" y="1719072"/>
            <a:ext cx="4828032" cy="3072384"/>
          </a:xfrm>
          <a:prstGeom prst="rect">
            <a:avLst/>
          </a:prstGeom>
        </p:spPr>
      </p:pic>
      <p:sp>
        <p:nvSpPr>
          <p:cNvPr id="7" name="Text 2"/>
          <p:cNvSpPr/>
          <p:nvPr/>
        </p:nvSpPr>
        <p:spPr>
          <a:xfrm>
            <a:off x="6903720" y="4828032"/>
            <a:ext cx="482803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Figure 7. How long people took. The verified-human floor is 11.57 minutes.</a:t>
            </a:r>
            <a:endParaRPr lang="en-US" sz="900" dirty="0"/>
          </a:p>
        </p:txBody>
      </p:sp>
      <p:sp>
        <p:nvSpPr>
          <p:cNvPr id="8" name="Text 3"/>
          <p:cNvSpPr/>
          <p:nvPr/>
        </p:nvSpPr>
        <p:spPr>
          <a:xfrm>
            <a:off x="457200" y="1737360"/>
            <a:ext cx="3108960" cy="566928"/>
          </a:xfrm>
          <a:prstGeom prst="rect">
            <a:avLst/>
          </a:prstGeom>
          <a:noFill/>
          <a:ln/>
        </p:spPr>
        <p:txBody>
          <a:bodyPr wrap="square" lIns="0" tIns="0" rIns="0" bIns="0" rtlCol="0" anchor="ctr"/>
          <a:lstStyle/>
          <a:p>
            <a:pPr indent="0" marL="0">
              <a:buNone/>
            </a:pPr>
            <a:r>
              <a:rPr lang="en-US" sz="4000" b="1" spc="-50" kern="0" dirty="0">
                <a:solidFill>
                  <a:srgbClr val="F57F00"/>
                </a:solidFill>
                <a:latin typeface="Libre Franklin" pitchFamily="34" charset="0"/>
                <a:ea typeface="Libre Franklin" pitchFamily="34" charset="-122"/>
                <a:cs typeface="Libre Franklin" pitchFamily="34" charset="-120"/>
              </a:rPr>
              <a:t>71 / 1,779</a:t>
            </a:r>
            <a:endParaRPr lang="en-US" sz="4000" dirty="0"/>
          </a:p>
        </p:txBody>
      </p:sp>
      <p:sp>
        <p:nvSpPr>
          <p:cNvPr id="9" name="Text 4"/>
          <p:cNvSpPr/>
          <p:nvPr/>
        </p:nvSpPr>
        <p:spPr>
          <a:xfrm>
            <a:off x="457200" y="2322576"/>
            <a:ext cx="310896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Pass the strict rules</a:t>
            </a:r>
            <a:endParaRPr lang="en-US" sz="1250" dirty="0"/>
          </a:p>
        </p:txBody>
      </p:sp>
      <p:sp>
        <p:nvSpPr>
          <p:cNvPr id="10" name="Text 5"/>
          <p:cNvSpPr/>
          <p:nvPr/>
        </p:nvSpPr>
        <p:spPr>
          <a:xfrm>
            <a:off x="457200" y="2560320"/>
            <a:ext cx="310896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4.0% of the old project</a:t>
            </a:r>
            <a:endParaRPr lang="en-US" sz="1050" dirty="0"/>
          </a:p>
        </p:txBody>
      </p:sp>
      <p:sp>
        <p:nvSpPr>
          <p:cNvPr id="11" name="Text 6"/>
          <p:cNvSpPr/>
          <p:nvPr/>
        </p:nvSpPr>
        <p:spPr>
          <a:xfrm>
            <a:off x="3749040" y="1737360"/>
            <a:ext cx="2834640" cy="566928"/>
          </a:xfrm>
          <a:prstGeom prst="rect">
            <a:avLst/>
          </a:prstGeom>
          <a:noFill/>
          <a:ln/>
        </p:spPr>
        <p:txBody>
          <a:bodyPr wrap="square" lIns="0" tIns="0" rIns="0" bIns="0" rtlCol="0" anchor="ctr"/>
          <a:lstStyle/>
          <a:p>
            <a:pPr indent="0" marL="0">
              <a:buNone/>
            </a:pPr>
            <a:r>
              <a:rPr lang="en-US" sz="4000" b="1" spc="-50" kern="0" dirty="0">
                <a:solidFill>
                  <a:srgbClr val="F57F00"/>
                </a:solidFill>
                <a:latin typeface="Libre Franklin" pitchFamily="34" charset="0"/>
                <a:ea typeface="Libre Franklin" pitchFamily="34" charset="-122"/>
                <a:cs typeface="Libre Franklin" pitchFamily="34" charset="-120"/>
              </a:rPr>
              <a:t>49</a:t>
            </a:r>
            <a:endParaRPr lang="en-US" sz="4000" dirty="0"/>
          </a:p>
        </p:txBody>
      </p:sp>
      <p:sp>
        <p:nvSpPr>
          <p:cNvPr id="12" name="Text 7"/>
          <p:cNvSpPr/>
          <p:nvPr/>
        </p:nvSpPr>
        <p:spPr>
          <a:xfrm>
            <a:off x="3749040" y="2322576"/>
            <a:ext cx="283464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Enough data to group</a:t>
            </a:r>
            <a:endParaRPr lang="en-US" sz="1250" dirty="0"/>
          </a:p>
        </p:txBody>
      </p:sp>
      <p:sp>
        <p:nvSpPr>
          <p:cNvPr id="13" name="Text 8"/>
          <p:cNvSpPr/>
          <p:nvPr/>
        </p:nvSpPr>
        <p:spPr>
          <a:xfrm>
            <a:off x="457200" y="3035808"/>
            <a:ext cx="6126480" cy="566928"/>
          </a:xfrm>
          <a:prstGeom prst="rect">
            <a:avLst/>
          </a:prstGeom>
          <a:noFill/>
          <a:ln/>
        </p:spPr>
        <p:txBody>
          <a:bodyPr wrap="square" lIns="0" tIns="0" rIns="0" bIns="0" rtlCol="0" anchor="ctr"/>
          <a:lstStyle/>
          <a:p>
            <a:pPr indent="0" marL="0">
              <a:buNone/>
            </a:pPr>
            <a:r>
              <a:rPr lang="en-US" sz="4000" b="1" spc="-50" kern="0" dirty="0">
                <a:solidFill>
                  <a:srgbClr val="3366FF"/>
                </a:solidFill>
                <a:latin typeface="Libre Franklin" pitchFamily="34" charset="0"/>
                <a:ea typeface="Libre Franklin" pitchFamily="34" charset="-122"/>
                <a:cs typeface="Libre Franklin" pitchFamily="34" charset="-120"/>
              </a:rPr>
              <a:t>9.74</a:t>
            </a:r>
            <a:endParaRPr lang="en-US" sz="4000" dirty="0"/>
          </a:p>
        </p:txBody>
      </p:sp>
      <p:sp>
        <p:nvSpPr>
          <p:cNvPr id="14" name="Text 9"/>
          <p:cNvSpPr/>
          <p:nvPr/>
        </p:nvSpPr>
        <p:spPr>
          <a:xfrm>
            <a:off x="457200" y="3621024"/>
            <a:ext cx="6126480" cy="23774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Odds ratio in the 71</a:t>
            </a:r>
            <a:endParaRPr lang="en-US" sz="1250" dirty="0"/>
          </a:p>
        </p:txBody>
      </p:sp>
      <p:sp>
        <p:nvSpPr>
          <p:cNvPr id="15" name="Text 10"/>
          <p:cNvSpPr/>
          <p:nvPr/>
        </p:nvSpPr>
        <p:spPr>
          <a:xfrm>
            <a:off x="457200" y="3858768"/>
            <a:ext cx="6126480" cy="256032"/>
          </a:xfrm>
          <a:prstGeom prst="rect">
            <a:avLst/>
          </a:prstGeom>
          <a:noFill/>
          <a:ln/>
        </p:spPr>
        <p:txBody>
          <a:bodyPr wrap="square" lIns="0" tIns="0" rIns="0" bIns="0" rtlCol="0" anchor="ctr"/>
          <a:lstStyle/>
          <a:p>
            <a:pPr indent="0" marL="0">
              <a:buNone/>
            </a:pPr>
            <a:r>
              <a:rPr lang="en-US" sz="1050" dirty="0">
                <a:solidFill>
                  <a:srgbClr val="52525B"/>
                </a:solidFill>
                <a:latin typeface="Libre Franklin Medium" pitchFamily="34" charset="0"/>
                <a:ea typeface="Libre Franklin Medium" pitchFamily="34" charset="-122"/>
                <a:cs typeface="Libre Franklin Medium" pitchFamily="34" charset="-120"/>
              </a:rPr>
              <a:t>95% CI 1.96 to 96.77   ·   same direction, far less precise</a:t>
            </a:r>
            <a:endParaRPr lang="en-US" sz="1050" dirty="0"/>
          </a:p>
        </p:txBody>
      </p:sp>
      <p:sp>
        <p:nvSpPr>
          <p:cNvPr id="16" name="Shape 11"/>
          <p:cNvSpPr/>
          <p:nvPr/>
        </p:nvSpPr>
        <p:spPr>
          <a:xfrm>
            <a:off x="457200" y="4224528"/>
            <a:ext cx="6126480" cy="1417320"/>
          </a:xfrm>
          <a:prstGeom prst="roundRect">
            <a:avLst>
              <a:gd name="adj" fmla="val 7742"/>
            </a:avLst>
          </a:prstGeom>
          <a:solidFill>
            <a:srgbClr val="FDF0E0"/>
          </a:solidFill>
          <a:ln w="12700">
            <a:solidFill>
              <a:srgbClr val="FDF0E0"/>
            </a:solidFill>
            <a:prstDash val="solid"/>
          </a:ln>
        </p:spPr>
      </p:sp>
      <p:sp>
        <p:nvSpPr>
          <p:cNvPr id="17" name="Text 12"/>
          <p:cNvSpPr/>
          <p:nvPr/>
        </p:nvSpPr>
        <p:spPr>
          <a:xfrm>
            <a:off x="685800" y="4352544"/>
            <a:ext cx="5669280" cy="274320"/>
          </a:xfrm>
          <a:prstGeom prst="rect">
            <a:avLst/>
          </a:prstGeom>
          <a:noFill/>
          <a:ln/>
        </p:spPr>
        <p:txBody>
          <a:bodyPr wrap="square" lIns="0" tIns="0" rIns="0" bIns="0" rtlCol="0" anchor="ctr"/>
          <a:lstStyle/>
          <a:p>
            <a:pPr indent="0" marL="0">
              <a:buNone/>
            </a:pPr>
            <a:r>
              <a:rPr lang="en-US" sz="1400" b="1" dirty="0">
                <a:solidFill>
                  <a:srgbClr val="F57F00"/>
                </a:solidFill>
                <a:latin typeface="Libre Franklin" pitchFamily="34" charset="0"/>
                <a:ea typeface="Libre Franklin" pitchFamily="34" charset="-122"/>
                <a:cs typeface="Libre Franklin" pitchFamily="34" charset="-120"/>
              </a:rPr>
              <a:t>94.4% is not a bot rate</a:t>
            </a:r>
            <a:endParaRPr lang="en-US" sz="1400" dirty="0"/>
          </a:p>
        </p:txBody>
      </p:sp>
      <p:sp>
        <p:nvSpPr>
          <p:cNvPr id="18" name="Text 13"/>
          <p:cNvSpPr/>
          <p:nvPr/>
        </p:nvSpPr>
        <p:spPr>
          <a:xfrm>
            <a:off x="685800" y="4663440"/>
            <a:ext cx="5669280" cy="868680"/>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A model separates the two projects at 94.4%. But they were run at different times with a different questionnaire, so that number mixes fraud with ordinary differences between cohorts. It cannot be read as a fraud rate.</a:t>
            </a:r>
            <a:endParaRPr lang="en-US" sz="1200" dirty="0"/>
          </a:p>
        </p:txBody>
      </p:sp>
      <p:sp>
        <p:nvSpPr>
          <p:cNvPr id="19" name="Text 14"/>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4581 has no picture check, no age cross-check, and no email field. That is why it is dirty, and why it stays a comparison rather than part of the main result.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Why we say the group count is unsettled</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11</a:t>
            </a:r>
            <a:endParaRPr lang="en-US" sz="1000" dirty="0"/>
          </a:p>
        </p:txBody>
      </p:sp>
      <p:pic>
        <p:nvPicPr>
          <p:cNvPr id="6" name="Image 2" descr="/sessions/happy-eloquent-pascal/mnt/caregiver-cluster-analysis/Caregiver Outputs/figure_16_case_silhouette.png">    </p:cNvPr>
          <p:cNvPicPr>
            <a:picLocks noChangeAspect="1"/>
          </p:cNvPicPr>
          <p:nvPr/>
        </p:nvPicPr>
        <p:blipFill>
          <a:blip r:embed="rId3"/>
          <a:stretch>
            <a:fillRect/>
          </a:stretch>
        </p:blipFill>
        <p:spPr>
          <a:xfrm>
            <a:off x="6949440" y="1719072"/>
            <a:ext cx="4782312" cy="3621024"/>
          </a:xfrm>
          <a:prstGeom prst="rect">
            <a:avLst/>
          </a:prstGeom>
        </p:spPr>
      </p:pic>
      <p:sp>
        <p:nvSpPr>
          <p:cNvPr id="7" name="Text 2"/>
          <p:cNvSpPr/>
          <p:nvPr/>
        </p:nvSpPr>
        <p:spPr>
          <a:xfrm>
            <a:off x="6949440" y="5376672"/>
            <a:ext cx="4782312" cy="237744"/>
          </a:xfrm>
          <a:prstGeom prst="rect">
            <a:avLst/>
          </a:prstGeom>
          <a:noFill/>
          <a:ln/>
        </p:spPr>
        <p:txBody>
          <a:bodyPr wrap="square" lIns="0" tIns="0" rIns="0" bIns="0" rtlCol="0" anchor="ctr"/>
          <a:lstStyle/>
          <a:p>
            <a:pPr indent="0" marL="0">
              <a:buNone/>
            </a:pPr>
            <a:r>
              <a:rPr lang="en-US" sz="900" dirty="0">
                <a:solidFill>
                  <a:srgbClr val="71717A"/>
                </a:solidFill>
                <a:latin typeface="Libre Franklin Medium" pitchFamily="34" charset="0"/>
                <a:ea typeface="Libre Franklin Medium" pitchFamily="34" charset="-122"/>
                <a:cs typeface="Libre Franklin Medium" pitchFamily="34" charset="-120"/>
              </a:rPr>
              <a:t>Figure 16. Fit for each person. Bars below zero sit closer to the other group.</a:t>
            </a:r>
            <a:endParaRPr lang="en-US" sz="900" dirty="0"/>
          </a:p>
        </p:txBody>
      </p:sp>
      <p:sp>
        <p:nvSpPr>
          <p:cNvPr id="8" name="Text 3"/>
          <p:cNvSpPr/>
          <p:nvPr/>
        </p:nvSpPr>
        <p:spPr>
          <a:xfrm>
            <a:off x="457200" y="1783080"/>
            <a:ext cx="6126480" cy="256032"/>
          </a:xfrm>
          <a:prstGeom prst="rect">
            <a:avLst/>
          </a:prstGeom>
          <a:noFill/>
          <a:ln/>
        </p:spPr>
        <p:txBody>
          <a:bodyPr wrap="square" lIns="0" tIns="0" rIns="0" bIns="0" rtlCol="0" anchor="ctr"/>
          <a:lstStyle/>
          <a:p>
            <a:pPr indent="0" marL="0">
              <a:buNone/>
            </a:pPr>
            <a:r>
              <a:rPr lang="en-US" sz="1400" b="1" dirty="0">
                <a:solidFill>
                  <a:srgbClr val="F57F00"/>
                </a:solidFill>
                <a:latin typeface="Libre Franklin" pitchFamily="34" charset="0"/>
                <a:ea typeface="Libre Franklin" pitchFamily="34" charset="-122"/>
                <a:cs typeface="Libre Franklin" pitchFamily="34" charset="-120"/>
              </a:rPr>
              <a:t>BIC prefers three groups</a:t>
            </a:r>
            <a:endParaRPr lang="en-US" sz="1400" dirty="0"/>
          </a:p>
        </p:txBody>
      </p:sp>
      <p:sp>
        <p:nvSpPr>
          <p:cNvPr id="9" name="Text 4"/>
          <p:cNvSpPr/>
          <p:nvPr/>
        </p:nvSpPr>
        <p:spPr>
          <a:xfrm>
            <a:off x="457200" y="2057400"/>
            <a:ext cx="6126480" cy="27432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1,697.9 for three against 2,329.7 for two.</a:t>
            </a:r>
            <a:endParaRPr lang="en-US" sz="1250" dirty="0"/>
          </a:p>
        </p:txBody>
      </p:sp>
      <p:sp>
        <p:nvSpPr>
          <p:cNvPr id="10" name="Shape 5"/>
          <p:cNvSpPr/>
          <p:nvPr/>
        </p:nvSpPr>
        <p:spPr>
          <a:xfrm>
            <a:off x="457200" y="2423160"/>
            <a:ext cx="6126480" cy="10973"/>
          </a:xfrm>
          <a:prstGeom prst="rect">
            <a:avLst/>
          </a:prstGeom>
          <a:solidFill>
            <a:srgbClr val="E6EEFC"/>
          </a:solidFill>
          <a:ln w="12700">
            <a:solidFill>
              <a:srgbClr val="E6EEFC"/>
            </a:solidFill>
            <a:prstDash val="solid"/>
          </a:ln>
        </p:spPr>
      </p:sp>
      <p:sp>
        <p:nvSpPr>
          <p:cNvPr id="11" name="Text 6"/>
          <p:cNvSpPr/>
          <p:nvPr/>
        </p:nvSpPr>
        <p:spPr>
          <a:xfrm>
            <a:off x="457200" y="2697480"/>
            <a:ext cx="6126480" cy="256032"/>
          </a:xfrm>
          <a:prstGeom prst="rect">
            <a:avLst/>
          </a:prstGeom>
          <a:noFill/>
          <a:ln/>
        </p:spPr>
        <p:txBody>
          <a:bodyPr wrap="square" lIns="0" tIns="0" rIns="0" bIns="0" rtlCol="0" anchor="ctr"/>
          <a:lstStyle/>
          <a:p>
            <a:pPr indent="0" marL="0">
              <a:buNone/>
            </a:pPr>
            <a:r>
              <a:rPr lang="en-US" sz="1400" b="1" dirty="0">
                <a:solidFill>
                  <a:srgbClr val="F57F00"/>
                </a:solidFill>
                <a:latin typeface="Libre Franklin" pitchFamily="34" charset="0"/>
                <a:ea typeface="Libre Franklin" pitchFamily="34" charset="-122"/>
                <a:cs typeface="Libre Franklin" pitchFamily="34" charset="-120"/>
              </a:rPr>
              <a:t>A different method splits it differently</a:t>
            </a:r>
            <a:endParaRPr lang="en-US" sz="1400" dirty="0"/>
          </a:p>
        </p:txBody>
      </p:sp>
      <p:sp>
        <p:nvSpPr>
          <p:cNvPr id="12" name="Text 7"/>
          <p:cNvSpPr/>
          <p:nvPr/>
        </p:nvSpPr>
        <p:spPr>
          <a:xfrm>
            <a:off x="457200" y="2971800"/>
            <a:ext cx="6126480" cy="27432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A mixture model gives 110 and 21, not 84 and 47.</a:t>
            </a:r>
            <a:endParaRPr lang="en-US" sz="1250" dirty="0"/>
          </a:p>
        </p:txBody>
      </p:sp>
      <p:sp>
        <p:nvSpPr>
          <p:cNvPr id="13" name="Shape 8"/>
          <p:cNvSpPr/>
          <p:nvPr/>
        </p:nvSpPr>
        <p:spPr>
          <a:xfrm>
            <a:off x="457200" y="3337560"/>
            <a:ext cx="6126480" cy="10973"/>
          </a:xfrm>
          <a:prstGeom prst="rect">
            <a:avLst/>
          </a:prstGeom>
          <a:solidFill>
            <a:srgbClr val="E6EEFC"/>
          </a:solidFill>
          <a:ln w="12700">
            <a:solidFill>
              <a:srgbClr val="E6EEFC"/>
            </a:solidFill>
            <a:prstDash val="solid"/>
          </a:ln>
        </p:spPr>
      </p:sp>
      <p:sp>
        <p:nvSpPr>
          <p:cNvPr id="14" name="Text 9"/>
          <p:cNvSpPr/>
          <p:nvPr/>
        </p:nvSpPr>
        <p:spPr>
          <a:xfrm>
            <a:off x="457200" y="3611880"/>
            <a:ext cx="6126480" cy="256032"/>
          </a:xfrm>
          <a:prstGeom prst="rect">
            <a:avLst/>
          </a:prstGeom>
          <a:noFill/>
          <a:ln/>
        </p:spPr>
        <p:txBody>
          <a:bodyPr wrap="square" lIns="0" tIns="0" rIns="0" bIns="0" rtlCol="0" anchor="ctr"/>
          <a:lstStyle/>
          <a:p>
            <a:pPr indent="0" marL="0">
              <a:buNone/>
            </a:pPr>
            <a:r>
              <a:rPr lang="en-US" sz="1400" b="1" dirty="0">
                <a:solidFill>
                  <a:srgbClr val="F57F00"/>
                </a:solidFill>
                <a:latin typeface="Libre Franklin" pitchFamily="34" charset="0"/>
                <a:ea typeface="Libre Franklin" pitchFamily="34" charset="-122"/>
                <a:cs typeface="Libre Franklin" pitchFamily="34" charset="-120"/>
              </a:rPr>
              <a:t>Separation is weak</a:t>
            </a:r>
            <a:endParaRPr lang="en-US" sz="1400" dirty="0"/>
          </a:p>
        </p:txBody>
      </p:sp>
      <p:sp>
        <p:nvSpPr>
          <p:cNvPr id="15" name="Text 10"/>
          <p:cNvSpPr/>
          <p:nvPr/>
        </p:nvSpPr>
        <p:spPr>
          <a:xfrm>
            <a:off x="457200" y="3886200"/>
            <a:ext cx="6126480" cy="27432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Silhouette 0.180, and some people sit on the wrong side.</a:t>
            </a:r>
            <a:endParaRPr lang="en-US" sz="1250" dirty="0"/>
          </a:p>
        </p:txBody>
      </p:sp>
      <p:sp>
        <p:nvSpPr>
          <p:cNvPr id="16" name="Shape 11"/>
          <p:cNvSpPr/>
          <p:nvPr/>
        </p:nvSpPr>
        <p:spPr>
          <a:xfrm>
            <a:off x="457200" y="4251960"/>
            <a:ext cx="6126480" cy="10973"/>
          </a:xfrm>
          <a:prstGeom prst="rect">
            <a:avLst/>
          </a:prstGeom>
          <a:solidFill>
            <a:srgbClr val="E6EEFC"/>
          </a:solidFill>
          <a:ln w="12700">
            <a:solidFill>
              <a:srgbClr val="E6EEFC"/>
            </a:solidFill>
            <a:prstDash val="solid"/>
          </a:ln>
        </p:spPr>
      </p:sp>
      <p:sp>
        <p:nvSpPr>
          <p:cNvPr id="17" name="Text 12"/>
          <p:cNvSpPr/>
          <p:nvPr/>
        </p:nvSpPr>
        <p:spPr>
          <a:xfrm>
            <a:off x="457200" y="4526280"/>
            <a:ext cx="6126480" cy="256032"/>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Structure does exist</a:t>
            </a:r>
            <a:endParaRPr lang="en-US" sz="1400" dirty="0"/>
          </a:p>
        </p:txBody>
      </p:sp>
      <p:sp>
        <p:nvSpPr>
          <p:cNvPr id="18" name="Text 13"/>
          <p:cNvSpPr/>
          <p:nvPr/>
        </p:nvSpPr>
        <p:spPr>
          <a:xfrm>
            <a:off x="457200" y="4800600"/>
            <a:ext cx="6126480" cy="274320"/>
          </a:xfrm>
          <a:prstGeom prst="rect">
            <a:avLst/>
          </a:prstGeom>
          <a:noFill/>
          <a:ln/>
        </p:spPr>
        <p:txBody>
          <a:bodyPr wrap="square" lIns="0" tIns="0" rIns="0" bIns="0" rtlCol="0" anchor="ctr"/>
          <a:lstStyle/>
          <a:p>
            <a:pPr indent="0" marL="0">
              <a:buNone/>
            </a:pPr>
            <a:r>
              <a:rPr lang="en-US" sz="1250" dirty="0">
                <a:solidFill>
                  <a:srgbClr val="000000"/>
                </a:solidFill>
                <a:latin typeface="Libre Franklin Medium" pitchFamily="34" charset="0"/>
                <a:ea typeface="Libre Franklin Medium" pitchFamily="34" charset="-122"/>
                <a:cs typeface="Libre Franklin Medium" pitchFamily="34" charset="-120"/>
              </a:rPr>
              <a:t>A one-group model is rejected, p = 0.0099. The shape is what is unclear.</a:t>
            </a:r>
            <a:endParaRPr lang="en-US" sz="1250" dirty="0"/>
          </a:p>
        </p:txBody>
      </p:sp>
      <p:sp>
        <p:nvSpPr>
          <p:cNvPr id="19" name="Shape 14"/>
          <p:cNvSpPr/>
          <p:nvPr/>
        </p:nvSpPr>
        <p:spPr>
          <a:xfrm>
            <a:off x="457200" y="5166360"/>
            <a:ext cx="6126480" cy="10973"/>
          </a:xfrm>
          <a:prstGeom prst="rect">
            <a:avLst/>
          </a:prstGeom>
          <a:solidFill>
            <a:srgbClr val="E6EEFC"/>
          </a:solidFill>
          <a:ln w="12700">
            <a:solidFill>
              <a:srgbClr val="E6EEFC"/>
            </a:solidFill>
            <a:prstDash val="solid"/>
          </a:ln>
        </p:spPr>
      </p:sp>
      <p:sp>
        <p:nvSpPr>
          <p:cNvPr id="20" name="Shape 15"/>
          <p:cNvSpPr/>
          <p:nvPr/>
        </p:nvSpPr>
        <p:spPr>
          <a:xfrm>
            <a:off x="457200" y="5440680"/>
            <a:ext cx="6126480" cy="713232"/>
          </a:xfrm>
          <a:prstGeom prst="roundRect">
            <a:avLst>
              <a:gd name="adj" fmla="val 15385"/>
            </a:avLst>
          </a:prstGeom>
          <a:solidFill>
            <a:srgbClr val="E6EEFC"/>
          </a:solidFill>
          <a:ln w="12700">
            <a:solidFill>
              <a:srgbClr val="E6EEFC"/>
            </a:solidFill>
            <a:prstDash val="solid"/>
          </a:ln>
        </p:spPr>
      </p:sp>
      <p:sp>
        <p:nvSpPr>
          <p:cNvPr id="21" name="Text 16"/>
          <p:cNvSpPr/>
          <p:nvPr/>
        </p:nvSpPr>
        <p:spPr>
          <a:xfrm>
            <a:off x="685800" y="5541264"/>
            <a:ext cx="5669280" cy="530352"/>
          </a:xfrm>
          <a:prstGeom prst="rect">
            <a:avLst/>
          </a:prstGeom>
          <a:noFill/>
          <a:ln/>
        </p:spPr>
        <p:txBody>
          <a:bodyPr wrap="square" lIns="0" tIns="0" rIns="0" bIns="0" rtlCol="0" anchor="ctr"/>
          <a:lstStyle/>
          <a:p>
            <a:pPr indent="0" marL="0">
              <a:buNone/>
            </a:pPr>
            <a:r>
              <a:rPr lang="en-US" sz="1300" b="1" dirty="0">
                <a:solidFill>
                  <a:srgbClr val="3366FF"/>
                </a:solidFill>
                <a:latin typeface="Libre Franklin" pitchFamily="34" charset="0"/>
                <a:ea typeface="Libre Franklin" pitchFamily="34" charset="-122"/>
                <a:cs typeface="Libre Franklin" pitchFamily="34" charset="-120"/>
              </a:rPr>
              <a:t>Keep two groups because they are useful. Drop any wording that treats them as real kinds of people.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Where this leaves us</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12</a:t>
            </a:r>
            <a:endParaRPr lang="en-US" sz="1000" dirty="0"/>
          </a:p>
        </p:txBody>
      </p:sp>
      <p:sp>
        <p:nvSpPr>
          <p:cNvPr id="6" name="Text 2"/>
          <p:cNvSpPr/>
          <p:nvPr/>
        </p:nvSpPr>
        <p:spPr>
          <a:xfrm>
            <a:off x="457200" y="1783080"/>
            <a:ext cx="5486400" cy="274320"/>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Solid</a:t>
            </a:r>
            <a:endParaRPr lang="en-US" sz="1500" dirty="0"/>
          </a:p>
        </p:txBody>
      </p:sp>
      <p:sp>
        <p:nvSpPr>
          <p:cNvPr id="7" name="Text 3"/>
          <p:cNvSpPr/>
          <p:nvPr/>
        </p:nvSpPr>
        <p:spPr>
          <a:xfrm>
            <a:off x="457200" y="2103120"/>
            <a:ext cx="5486400" cy="10058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The screening difference is large and holds up: 42.3 to 48.5 points.</a:t>
            </a:r>
            <a:endParaRPr lang="en-US" sz="1300" dirty="0"/>
          </a:p>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The analysis reruns cleanly, with 17 of 17 old results reproduced.</a:t>
            </a:r>
            <a:endParaRPr lang="en-US" sz="1300" dirty="0"/>
          </a:p>
        </p:txBody>
      </p:sp>
      <p:sp>
        <p:nvSpPr>
          <p:cNvPr id="8" name="Text 4"/>
          <p:cNvSpPr/>
          <p:nvPr/>
        </p:nvSpPr>
        <p:spPr>
          <a:xfrm>
            <a:off x="6245352" y="1783080"/>
            <a:ext cx="5486400" cy="274320"/>
          </a:xfrm>
          <a:prstGeom prst="rect">
            <a:avLst/>
          </a:prstGeom>
          <a:noFill/>
          <a:ln/>
        </p:spPr>
        <p:txBody>
          <a:bodyPr wrap="square" lIns="0" tIns="0" rIns="0" bIns="0" rtlCol="0" anchor="ctr"/>
          <a:lstStyle/>
          <a:p>
            <a:pPr indent="0" marL="0">
              <a:buNone/>
            </a:pPr>
            <a:r>
              <a:rPr lang="en-US" sz="1500" b="1" dirty="0">
                <a:solidFill>
                  <a:srgbClr val="F57F00"/>
                </a:solidFill>
                <a:latin typeface="Libre Franklin" pitchFamily="34" charset="0"/>
                <a:ea typeface="Libre Franklin" pitchFamily="34" charset="-122"/>
                <a:cs typeface="Libre Franklin" pitchFamily="34" charset="-120"/>
              </a:rPr>
              <a:t>Open</a:t>
            </a:r>
            <a:endParaRPr lang="en-US" sz="1500" dirty="0"/>
          </a:p>
        </p:txBody>
      </p:sp>
      <p:sp>
        <p:nvSpPr>
          <p:cNvPr id="9" name="Text 5"/>
          <p:cNvSpPr/>
          <p:nvPr/>
        </p:nvSpPr>
        <p:spPr>
          <a:xfrm>
            <a:off x="6245352" y="2103120"/>
            <a:ext cx="5486400" cy="10058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How many groups there really are.</a:t>
            </a:r>
            <a:endParaRPr lang="en-US" sz="1300" dirty="0"/>
          </a:p>
          <a:p>
            <a:pPr marL="342900" indent="-342900">
              <a:spcAft>
                <a:spcPts val="800"/>
              </a:spcAft>
              <a:buSzPct val="100000"/>
              <a:buChar char="•"/>
            </a:pPr>
            <a:r>
              <a:rPr lang="en-US" sz="1300" dirty="0">
                <a:solidFill>
                  <a:srgbClr val="000000"/>
                </a:solidFill>
                <a:latin typeface="Libre Franklin Medium" pitchFamily="34" charset="0"/>
                <a:ea typeface="Libre Franklin Medium" pitchFamily="34" charset="-122"/>
                <a:cs typeface="Libre Franklin Medium" pitchFamily="34" charset="-120"/>
              </a:rPr>
              <a:t>How much of the 4581 separation is fraud rather than a different cohort.</a:t>
            </a:r>
            <a:endParaRPr lang="en-US" sz="1300" dirty="0"/>
          </a:p>
        </p:txBody>
      </p:sp>
      <p:sp>
        <p:nvSpPr>
          <p:cNvPr id="10" name="Shape 6"/>
          <p:cNvSpPr/>
          <p:nvPr/>
        </p:nvSpPr>
        <p:spPr>
          <a:xfrm>
            <a:off x="457200" y="3401568"/>
            <a:ext cx="11274552" cy="10973"/>
          </a:xfrm>
          <a:prstGeom prst="rect">
            <a:avLst/>
          </a:prstGeom>
          <a:solidFill>
            <a:srgbClr val="E6EEFC"/>
          </a:solidFill>
          <a:ln w="12700">
            <a:solidFill>
              <a:srgbClr val="E6EEFC"/>
            </a:solidFill>
            <a:prstDash val="solid"/>
          </a:ln>
        </p:spPr>
      </p:sp>
      <p:sp>
        <p:nvSpPr>
          <p:cNvPr id="11" name="Text 7"/>
          <p:cNvSpPr/>
          <p:nvPr/>
        </p:nvSpPr>
        <p:spPr>
          <a:xfrm>
            <a:off x="457200" y="3639312"/>
            <a:ext cx="5486400" cy="274320"/>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Next</a:t>
            </a:r>
            <a:endParaRPr lang="en-US" sz="1500" dirty="0"/>
          </a:p>
        </p:txBody>
      </p:sp>
      <p:sp>
        <p:nvSpPr>
          <p:cNvPr id="12" name="Text 8"/>
          <p:cNvSpPr/>
          <p:nvPr/>
        </p:nvSpPr>
        <p:spPr>
          <a:xfrm>
            <a:off x="457200" y="4005072"/>
            <a:ext cx="914400" cy="292608"/>
          </a:xfrm>
          <a:prstGeom prst="rect">
            <a:avLst/>
          </a:prstGeom>
          <a:noFill/>
          <a:ln/>
        </p:spPr>
        <p:txBody>
          <a:bodyPr wrap="square" lIns="0" tIns="0" rIns="0" bIns="0" rtlCol="0" anchor="ctr"/>
          <a:lstStyle/>
          <a:p>
            <a:pPr indent="0" marL="0">
              <a:buNone/>
            </a:pPr>
            <a:r>
              <a:rPr lang="en-US" sz="1800" b="1" dirty="0">
                <a:solidFill>
                  <a:srgbClr val="91BAF4"/>
                </a:solidFill>
                <a:latin typeface="Libre Franklin" pitchFamily="34" charset="0"/>
                <a:ea typeface="Libre Franklin" pitchFamily="34" charset="-122"/>
                <a:cs typeface="Libre Franklin" pitchFamily="34" charset="-120"/>
              </a:rPr>
              <a:t>01</a:t>
            </a:r>
            <a:endParaRPr lang="en-US" sz="1800" dirty="0"/>
          </a:p>
        </p:txBody>
      </p:sp>
      <p:sp>
        <p:nvSpPr>
          <p:cNvPr id="13" name="Text 9"/>
          <p:cNvSpPr/>
          <p:nvPr/>
        </p:nvSpPr>
        <p:spPr>
          <a:xfrm>
            <a:off x="457200" y="4334256"/>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Collect and check more clean records</a:t>
            </a:r>
            <a:endParaRPr lang="en-US" sz="1250" dirty="0"/>
          </a:p>
        </p:txBody>
      </p:sp>
      <p:sp>
        <p:nvSpPr>
          <p:cNvPr id="14" name="Text 10"/>
          <p:cNvSpPr/>
          <p:nvPr/>
        </p:nvSpPr>
        <p:spPr>
          <a:xfrm>
            <a:off x="457200" y="4864608"/>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Keep the eligibility checks on</a:t>
            </a:r>
            <a:endParaRPr lang="en-US" sz="1100" dirty="0"/>
          </a:p>
        </p:txBody>
      </p:sp>
      <p:sp>
        <p:nvSpPr>
          <p:cNvPr id="15" name="Text 11"/>
          <p:cNvSpPr/>
          <p:nvPr/>
        </p:nvSpPr>
        <p:spPr>
          <a:xfrm>
            <a:off x="3300984" y="4005072"/>
            <a:ext cx="914400" cy="292608"/>
          </a:xfrm>
          <a:prstGeom prst="rect">
            <a:avLst/>
          </a:prstGeom>
          <a:noFill/>
          <a:ln/>
        </p:spPr>
        <p:txBody>
          <a:bodyPr wrap="square" lIns="0" tIns="0" rIns="0" bIns="0" rtlCol="0" anchor="ctr"/>
          <a:lstStyle/>
          <a:p>
            <a:pPr indent="0" marL="0">
              <a:buNone/>
            </a:pPr>
            <a:r>
              <a:rPr lang="en-US" sz="1800" b="1" dirty="0">
                <a:solidFill>
                  <a:srgbClr val="91BAF4"/>
                </a:solidFill>
                <a:latin typeface="Libre Franklin" pitchFamily="34" charset="0"/>
                <a:ea typeface="Libre Franklin" pitchFamily="34" charset="-122"/>
                <a:cs typeface="Libre Franklin" pitchFamily="34" charset="-120"/>
              </a:rPr>
              <a:t>02</a:t>
            </a:r>
            <a:endParaRPr lang="en-US" sz="1800" dirty="0"/>
          </a:p>
        </p:txBody>
      </p:sp>
      <p:sp>
        <p:nvSpPr>
          <p:cNvPr id="16" name="Text 12"/>
          <p:cNvSpPr/>
          <p:nvPr/>
        </p:nvSpPr>
        <p:spPr>
          <a:xfrm>
            <a:off x="3300984" y="4334256"/>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Settle the knowledge key and selection file</a:t>
            </a:r>
            <a:endParaRPr lang="en-US" sz="1250" dirty="0"/>
          </a:p>
        </p:txBody>
      </p:sp>
      <p:sp>
        <p:nvSpPr>
          <p:cNvPr id="17" name="Text 13"/>
          <p:cNvSpPr/>
          <p:nvPr/>
        </p:nvSpPr>
        <p:spPr>
          <a:xfrm>
            <a:off x="3300984" y="4864608"/>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Two open documentation items</a:t>
            </a:r>
            <a:endParaRPr lang="en-US" sz="1100" dirty="0"/>
          </a:p>
        </p:txBody>
      </p:sp>
      <p:sp>
        <p:nvSpPr>
          <p:cNvPr id="18" name="Text 14"/>
          <p:cNvSpPr/>
          <p:nvPr/>
        </p:nvSpPr>
        <p:spPr>
          <a:xfrm>
            <a:off x="6144768" y="4005072"/>
            <a:ext cx="914400" cy="292608"/>
          </a:xfrm>
          <a:prstGeom prst="rect">
            <a:avLst/>
          </a:prstGeom>
          <a:noFill/>
          <a:ln/>
        </p:spPr>
        <p:txBody>
          <a:bodyPr wrap="square" lIns="0" tIns="0" rIns="0" bIns="0" rtlCol="0" anchor="ctr"/>
          <a:lstStyle/>
          <a:p>
            <a:pPr indent="0" marL="0">
              <a:buNone/>
            </a:pPr>
            <a:r>
              <a:rPr lang="en-US" sz="1800" b="1" dirty="0">
                <a:solidFill>
                  <a:srgbClr val="91BAF4"/>
                </a:solidFill>
                <a:latin typeface="Libre Franklin" pitchFamily="34" charset="0"/>
                <a:ea typeface="Libre Franklin" pitchFamily="34" charset="-122"/>
                <a:cs typeface="Libre Franklin" pitchFamily="34" charset="-120"/>
              </a:rPr>
              <a:t>03</a:t>
            </a:r>
            <a:endParaRPr lang="en-US" sz="1800" dirty="0"/>
          </a:p>
        </p:txBody>
      </p:sp>
      <p:sp>
        <p:nvSpPr>
          <p:cNvPr id="19" name="Text 15"/>
          <p:cNvSpPr/>
          <p:nvPr/>
        </p:nvSpPr>
        <p:spPr>
          <a:xfrm>
            <a:off x="6144768" y="4334256"/>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Rerun the checks as the sample grows</a:t>
            </a:r>
            <a:endParaRPr lang="en-US" sz="1250" dirty="0"/>
          </a:p>
        </p:txBody>
      </p:sp>
      <p:sp>
        <p:nvSpPr>
          <p:cNvPr id="20" name="Text 16"/>
          <p:cNvSpPr/>
          <p:nvPr/>
        </p:nvSpPr>
        <p:spPr>
          <a:xfrm>
            <a:off x="6144768" y="4864608"/>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All five inclusion definitions</a:t>
            </a:r>
            <a:endParaRPr lang="en-US" sz="1100" dirty="0"/>
          </a:p>
        </p:txBody>
      </p:sp>
      <p:sp>
        <p:nvSpPr>
          <p:cNvPr id="21" name="Text 17"/>
          <p:cNvSpPr/>
          <p:nvPr/>
        </p:nvSpPr>
        <p:spPr>
          <a:xfrm>
            <a:off x="8988552" y="4005072"/>
            <a:ext cx="914400" cy="292608"/>
          </a:xfrm>
          <a:prstGeom prst="rect">
            <a:avLst/>
          </a:prstGeom>
          <a:noFill/>
          <a:ln/>
        </p:spPr>
        <p:txBody>
          <a:bodyPr wrap="square" lIns="0" tIns="0" rIns="0" bIns="0" rtlCol="0" anchor="ctr"/>
          <a:lstStyle/>
          <a:p>
            <a:pPr indent="0" marL="0">
              <a:buNone/>
            </a:pPr>
            <a:r>
              <a:rPr lang="en-US" sz="1800" b="1" dirty="0">
                <a:solidFill>
                  <a:srgbClr val="91BAF4"/>
                </a:solidFill>
                <a:latin typeface="Libre Franklin" pitchFamily="34" charset="0"/>
                <a:ea typeface="Libre Franklin" pitchFamily="34" charset="-122"/>
                <a:cs typeface="Libre Franklin" pitchFamily="34" charset="-120"/>
              </a:rPr>
              <a:t>04</a:t>
            </a:r>
            <a:endParaRPr lang="en-US" sz="1800" dirty="0"/>
          </a:p>
        </p:txBody>
      </p:sp>
      <p:sp>
        <p:nvSpPr>
          <p:cNvPr id="22" name="Text 18"/>
          <p:cNvSpPr/>
          <p:nvPr/>
        </p:nvSpPr>
        <p:spPr>
          <a:xfrm>
            <a:off x="8988552" y="4334256"/>
            <a:ext cx="2606040" cy="512064"/>
          </a:xfrm>
          <a:prstGeom prst="rect">
            <a:avLst/>
          </a:prstGeom>
          <a:noFill/>
          <a:ln/>
        </p:spPr>
        <p:txBody>
          <a:bodyPr wrap="square" lIns="0" tIns="0" rIns="0" bIns="0" rtlCol="0" anchor="ctr"/>
          <a:lstStyle/>
          <a:p>
            <a:pPr indent="0" marL="0">
              <a:buNone/>
            </a:pPr>
            <a:r>
              <a:rPr lang="en-US" sz="1250" b="1" dirty="0">
                <a:solidFill>
                  <a:srgbClr val="000000"/>
                </a:solidFill>
                <a:latin typeface="Libre Franklin" pitchFamily="34" charset="0"/>
                <a:ea typeface="Libre Franklin" pitchFamily="34" charset="-122"/>
                <a:cs typeface="Libre Franklin" pitchFamily="34" charset="-120"/>
              </a:rPr>
              <a:t>Reword the manuscript</a:t>
            </a:r>
            <a:endParaRPr lang="en-US" sz="1250" dirty="0"/>
          </a:p>
        </p:txBody>
      </p:sp>
      <p:sp>
        <p:nvSpPr>
          <p:cNvPr id="23" name="Text 19"/>
          <p:cNvSpPr/>
          <p:nvPr/>
        </p:nvSpPr>
        <p:spPr>
          <a:xfrm>
            <a:off x="8988552" y="4864608"/>
            <a:ext cx="2606040" cy="402336"/>
          </a:xfrm>
          <a:prstGeom prst="rect">
            <a:avLst/>
          </a:prstGeom>
          <a:noFill/>
          <a:ln/>
        </p:spPr>
        <p:txBody>
          <a:bodyPr wrap="square" lIns="0" tIns="0" rIns="0" bIns="0" rtlCol="0" anchor="ctr"/>
          <a:lstStyle/>
          <a:p>
            <a:pPr indent="0" marL="0">
              <a:buNone/>
            </a:pPr>
            <a:r>
              <a:rPr lang="en-US" sz="1100" dirty="0">
                <a:solidFill>
                  <a:srgbClr val="52525B"/>
                </a:solidFill>
                <a:latin typeface="Libre Franklin Medium" pitchFamily="34" charset="0"/>
                <a:ea typeface="Libre Franklin Medium" pitchFamily="34" charset="-122"/>
                <a:cs typeface="Libre Franklin Medium" pitchFamily="34" charset="-120"/>
              </a:rPr>
              <a:t>Group and gradient, not type</a:t>
            </a:r>
            <a:endParaRPr lang="en-US" sz="1100" dirty="0"/>
          </a:p>
        </p:txBody>
      </p:sp>
      <p:sp>
        <p:nvSpPr>
          <p:cNvPr id="24" name="Text 20"/>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Everything here is an association within an exploratory grouping. Nothing supports targeting caregivers by demographics.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sessions/happy-eloquent-pascal/mnt/.claude/skills/esd-lab/assets/logos/logo-horizontal-discovery-blue.png">    </p:cNvPr>
          <p:cNvPicPr>
            <a:picLocks noChangeAspect="1"/>
          </p:cNvPicPr>
          <p:nvPr/>
        </p:nvPicPr>
        <p:blipFill>
          <a:blip r:embed="rId1"/>
          <a:stretch>
            <a:fillRect/>
          </a:stretch>
        </p:blipFill>
        <p:spPr>
          <a:xfrm>
            <a:off x="457200" y="310896"/>
            <a:ext cx="1225296" cy="274320"/>
          </a:xfrm>
          <a:prstGeom prst="rect">
            <a:avLst/>
          </a:prstGeom>
        </p:spPr>
      </p:pic>
      <p:pic>
        <p:nvPicPr>
          <p:cNvPr id="3" name="Image 1" descr="/sessions/happy-eloquent-pascal/mnt/.claude/skills/esd-lab/assets/logos/uofsc-horizontal-garnet.png">    </p:cNvPr>
          <p:cNvPicPr>
            <a:picLocks noChangeAspect="1"/>
          </p:cNvPicPr>
          <p:nvPr/>
        </p:nvPicPr>
        <p:blipFill>
          <a:blip r:embed="rId2"/>
          <a:stretch>
            <a:fillRect/>
          </a:stretch>
        </p:blipFill>
        <p:spPr>
          <a:xfrm>
            <a:off x="1828800" y="310896"/>
            <a:ext cx="1024128" cy="274320"/>
          </a:xfrm>
          <a:prstGeom prst="rect">
            <a:avLst/>
          </a:prstGeom>
        </p:spPr>
      </p:pic>
      <p:sp>
        <p:nvSpPr>
          <p:cNvPr id="4" name="Text 0"/>
          <p:cNvSpPr/>
          <p:nvPr/>
        </p:nvSpPr>
        <p:spPr>
          <a:xfrm>
            <a:off x="457200" y="841248"/>
            <a:ext cx="11274552" cy="548640"/>
          </a:xfrm>
          <a:prstGeom prst="rect">
            <a:avLst/>
          </a:prstGeom>
          <a:noFill/>
          <a:ln/>
        </p:spPr>
        <p:txBody>
          <a:bodyPr wrap="square" lIns="0" tIns="0" rIns="0" bIns="0" rtlCol="0" anchor="ctr"/>
          <a:lstStyle/>
          <a:p>
            <a:pPr indent="0" marL="0">
              <a:buNone/>
            </a:pPr>
            <a:r>
              <a:rPr lang="en-US" sz="3000" b="1" spc="-30" kern="0" dirty="0">
                <a:solidFill>
                  <a:srgbClr val="000000"/>
                </a:solidFill>
                <a:latin typeface="Libre Franklin" pitchFamily="34" charset="0"/>
                <a:ea typeface="Libre Franklin" pitchFamily="34" charset="-122"/>
                <a:cs typeface="Libre Franklin" pitchFamily="34" charset="-120"/>
              </a:rPr>
              <a:t>Backup slides</a:t>
            </a:r>
            <a:endParaRPr lang="en-US" sz="3000" dirty="0"/>
          </a:p>
        </p:txBody>
      </p:sp>
      <p:sp>
        <p:nvSpPr>
          <p:cNvPr id="5" name="Text 1"/>
          <p:cNvSpPr/>
          <p:nvPr/>
        </p:nvSpPr>
        <p:spPr>
          <a:xfrm>
            <a:off x="11430000" y="6327648"/>
            <a:ext cx="365760" cy="219456"/>
          </a:xfrm>
          <a:prstGeom prst="rect">
            <a:avLst/>
          </a:prstGeom>
          <a:noFill/>
          <a:ln/>
        </p:spPr>
        <p:txBody>
          <a:bodyPr wrap="square" lIns="0" tIns="0" rIns="0" bIns="0" rtlCol="0" anchor="ctr"/>
          <a:lstStyle/>
          <a:p>
            <a:pPr algn="r" indent="0" marL="0">
              <a:buNone/>
            </a:pPr>
            <a:r>
              <a:rPr lang="en-US" sz="1000" dirty="0">
                <a:solidFill>
                  <a:srgbClr val="91BAF4"/>
                </a:solidFill>
                <a:latin typeface="Libre Franklin Medium" pitchFamily="34" charset="0"/>
                <a:ea typeface="Libre Franklin Medium" pitchFamily="34" charset="-122"/>
                <a:cs typeface="Libre Franklin Medium" pitchFamily="34" charset="-120"/>
              </a:rPr>
              <a:t>13</a:t>
            </a:r>
            <a:endParaRPr lang="en-US" sz="1000" dirty="0"/>
          </a:p>
        </p:txBody>
      </p:sp>
      <p:sp>
        <p:nvSpPr>
          <p:cNvPr id="6" name="Text 2"/>
          <p:cNvSpPr/>
          <p:nvPr/>
        </p:nvSpPr>
        <p:spPr>
          <a:xfrm>
            <a:off x="457200" y="1828800"/>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A1</a:t>
            </a:r>
            <a:endParaRPr lang="en-US" sz="1300" dirty="0"/>
          </a:p>
        </p:txBody>
      </p:sp>
      <p:sp>
        <p:nvSpPr>
          <p:cNvPr id="7" name="Text 3"/>
          <p:cNvSpPr/>
          <p:nvPr/>
        </p:nvSpPr>
        <p:spPr>
          <a:xfrm>
            <a:off x="1097280" y="1828800"/>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The 10 screening rules and thresholds</a:t>
            </a:r>
            <a:endParaRPr lang="en-US" sz="1300" dirty="0"/>
          </a:p>
        </p:txBody>
      </p:sp>
      <p:sp>
        <p:nvSpPr>
          <p:cNvPr id="8" name="Shape 4"/>
          <p:cNvSpPr/>
          <p:nvPr/>
        </p:nvSpPr>
        <p:spPr>
          <a:xfrm>
            <a:off x="457200" y="2212848"/>
            <a:ext cx="5486400" cy="10973"/>
          </a:xfrm>
          <a:prstGeom prst="rect">
            <a:avLst/>
          </a:prstGeom>
          <a:solidFill>
            <a:srgbClr val="E6EEFC"/>
          </a:solidFill>
          <a:ln w="12700">
            <a:solidFill>
              <a:srgbClr val="E6EEFC"/>
            </a:solidFill>
            <a:prstDash val="solid"/>
          </a:ln>
        </p:spPr>
      </p:sp>
      <p:sp>
        <p:nvSpPr>
          <p:cNvPr id="9" name="Text 5"/>
          <p:cNvSpPr/>
          <p:nvPr/>
        </p:nvSpPr>
        <p:spPr>
          <a:xfrm>
            <a:off x="457200" y="2487168"/>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A2</a:t>
            </a:r>
            <a:endParaRPr lang="en-US" sz="1300" dirty="0"/>
          </a:p>
        </p:txBody>
      </p:sp>
      <p:sp>
        <p:nvSpPr>
          <p:cNvPr id="10" name="Text 6"/>
          <p:cNvSpPr/>
          <p:nvPr/>
        </p:nvSpPr>
        <p:spPr>
          <a:xfrm>
            <a:off x="1097280" y="2487168"/>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Rule error rates against 131 real caregivers</a:t>
            </a:r>
            <a:endParaRPr lang="en-US" sz="1300" dirty="0"/>
          </a:p>
        </p:txBody>
      </p:sp>
      <p:sp>
        <p:nvSpPr>
          <p:cNvPr id="11" name="Shape 7"/>
          <p:cNvSpPr/>
          <p:nvPr/>
        </p:nvSpPr>
        <p:spPr>
          <a:xfrm>
            <a:off x="457200" y="2871216"/>
            <a:ext cx="5486400" cy="10973"/>
          </a:xfrm>
          <a:prstGeom prst="rect">
            <a:avLst/>
          </a:prstGeom>
          <a:solidFill>
            <a:srgbClr val="E6EEFC"/>
          </a:solidFill>
          <a:ln w="12700">
            <a:solidFill>
              <a:srgbClr val="E6EEFC"/>
            </a:solidFill>
            <a:prstDash val="solid"/>
          </a:ln>
        </p:spPr>
      </p:sp>
      <p:sp>
        <p:nvSpPr>
          <p:cNvPr id="12" name="Text 8"/>
          <p:cNvSpPr/>
          <p:nvPr/>
        </p:nvSpPr>
        <p:spPr>
          <a:xfrm>
            <a:off x="457200" y="3145536"/>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A3</a:t>
            </a:r>
            <a:endParaRPr lang="en-US" sz="1300" dirty="0"/>
          </a:p>
        </p:txBody>
      </p:sp>
      <p:sp>
        <p:nvSpPr>
          <p:cNvPr id="13" name="Text 9"/>
          <p:cNvSpPr/>
          <p:nvPr/>
        </p:nvSpPr>
        <p:spPr>
          <a:xfrm>
            <a:off x="1097280" y="3145536"/>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Agreement between the different detectors</a:t>
            </a:r>
            <a:endParaRPr lang="en-US" sz="1300" dirty="0"/>
          </a:p>
        </p:txBody>
      </p:sp>
      <p:sp>
        <p:nvSpPr>
          <p:cNvPr id="14" name="Shape 10"/>
          <p:cNvSpPr/>
          <p:nvPr/>
        </p:nvSpPr>
        <p:spPr>
          <a:xfrm>
            <a:off x="457200" y="3529584"/>
            <a:ext cx="5486400" cy="10973"/>
          </a:xfrm>
          <a:prstGeom prst="rect">
            <a:avLst/>
          </a:prstGeom>
          <a:solidFill>
            <a:srgbClr val="E6EEFC"/>
          </a:solidFill>
          <a:ln w="12700">
            <a:solidFill>
              <a:srgbClr val="E6EEFC"/>
            </a:solidFill>
            <a:prstDash val="solid"/>
          </a:ln>
        </p:spPr>
      </p:sp>
      <p:sp>
        <p:nvSpPr>
          <p:cNvPr id="15" name="Text 11"/>
          <p:cNvSpPr/>
          <p:nvPr/>
        </p:nvSpPr>
        <p:spPr>
          <a:xfrm>
            <a:off x="457200" y="3803904"/>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A4</a:t>
            </a:r>
            <a:endParaRPr lang="en-US" sz="1300" dirty="0"/>
          </a:p>
        </p:txBody>
      </p:sp>
      <p:sp>
        <p:nvSpPr>
          <p:cNvPr id="16" name="Text 12"/>
          <p:cNvSpPr/>
          <p:nvPr/>
        </p:nvSpPr>
        <p:spPr>
          <a:xfrm>
            <a:off x="1097280" y="3803904"/>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Full table of all five inclusion definitions</a:t>
            </a:r>
            <a:endParaRPr lang="en-US" sz="1300" dirty="0"/>
          </a:p>
        </p:txBody>
      </p:sp>
      <p:sp>
        <p:nvSpPr>
          <p:cNvPr id="17" name="Shape 13"/>
          <p:cNvSpPr/>
          <p:nvPr/>
        </p:nvSpPr>
        <p:spPr>
          <a:xfrm>
            <a:off x="457200" y="4187952"/>
            <a:ext cx="5486400" cy="10973"/>
          </a:xfrm>
          <a:prstGeom prst="rect">
            <a:avLst/>
          </a:prstGeom>
          <a:solidFill>
            <a:srgbClr val="E6EEFC"/>
          </a:solidFill>
          <a:ln w="12700">
            <a:solidFill>
              <a:srgbClr val="E6EEFC"/>
            </a:solidFill>
            <a:prstDash val="solid"/>
          </a:ln>
        </p:spPr>
      </p:sp>
      <p:sp>
        <p:nvSpPr>
          <p:cNvPr id="18" name="Text 14"/>
          <p:cNvSpPr/>
          <p:nvPr/>
        </p:nvSpPr>
        <p:spPr>
          <a:xfrm>
            <a:off x="457200" y="4462272"/>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A5</a:t>
            </a:r>
            <a:endParaRPr lang="en-US" sz="1300" dirty="0"/>
          </a:p>
        </p:txBody>
      </p:sp>
      <p:sp>
        <p:nvSpPr>
          <p:cNvPr id="19" name="Text 15"/>
          <p:cNvSpPr/>
          <p:nvPr/>
        </p:nvSpPr>
        <p:spPr>
          <a:xfrm>
            <a:off x="1097280" y="4462272"/>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Complete model output</a:t>
            </a:r>
            <a:endParaRPr lang="en-US" sz="1300" dirty="0"/>
          </a:p>
        </p:txBody>
      </p:sp>
      <p:sp>
        <p:nvSpPr>
          <p:cNvPr id="20" name="Shape 16"/>
          <p:cNvSpPr/>
          <p:nvPr/>
        </p:nvSpPr>
        <p:spPr>
          <a:xfrm>
            <a:off x="457200" y="4846320"/>
            <a:ext cx="5486400" cy="10973"/>
          </a:xfrm>
          <a:prstGeom prst="rect">
            <a:avLst/>
          </a:prstGeom>
          <a:solidFill>
            <a:srgbClr val="E6EEFC"/>
          </a:solidFill>
          <a:ln w="12700">
            <a:solidFill>
              <a:srgbClr val="E6EEFC"/>
            </a:solidFill>
            <a:prstDash val="solid"/>
          </a:ln>
        </p:spPr>
      </p:sp>
      <p:sp>
        <p:nvSpPr>
          <p:cNvPr id="21" name="Text 17"/>
          <p:cNvSpPr/>
          <p:nvPr/>
        </p:nvSpPr>
        <p:spPr>
          <a:xfrm>
            <a:off x="6245352" y="1828800"/>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A6</a:t>
            </a:r>
            <a:endParaRPr lang="en-US" sz="1300" dirty="0"/>
          </a:p>
        </p:txBody>
      </p:sp>
      <p:sp>
        <p:nvSpPr>
          <p:cNvPr id="22" name="Text 18"/>
          <p:cNvSpPr/>
          <p:nvPr/>
        </p:nvSpPr>
        <p:spPr>
          <a:xfrm>
            <a:off x="6885432" y="1828800"/>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Group-count diagnostics in full</a:t>
            </a:r>
            <a:endParaRPr lang="en-US" sz="1300" dirty="0"/>
          </a:p>
        </p:txBody>
      </p:sp>
      <p:sp>
        <p:nvSpPr>
          <p:cNvPr id="23" name="Shape 19"/>
          <p:cNvSpPr/>
          <p:nvPr/>
        </p:nvSpPr>
        <p:spPr>
          <a:xfrm>
            <a:off x="6245352" y="2212848"/>
            <a:ext cx="5486400" cy="10973"/>
          </a:xfrm>
          <a:prstGeom prst="rect">
            <a:avLst/>
          </a:prstGeom>
          <a:solidFill>
            <a:srgbClr val="E6EEFC"/>
          </a:solidFill>
          <a:ln w="12700">
            <a:solidFill>
              <a:srgbClr val="E6EEFC"/>
            </a:solidFill>
            <a:prstDash val="solid"/>
          </a:ln>
        </p:spPr>
      </p:sp>
      <p:sp>
        <p:nvSpPr>
          <p:cNvPr id="24" name="Text 20"/>
          <p:cNvSpPr/>
          <p:nvPr/>
        </p:nvSpPr>
        <p:spPr>
          <a:xfrm>
            <a:off x="6245352" y="2487168"/>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A7</a:t>
            </a:r>
            <a:endParaRPr lang="en-US" sz="1300" dirty="0"/>
          </a:p>
        </p:txBody>
      </p:sp>
      <p:sp>
        <p:nvSpPr>
          <p:cNvPr id="25" name="Text 21"/>
          <p:cNvSpPr/>
          <p:nvPr/>
        </p:nvSpPr>
        <p:spPr>
          <a:xfrm>
            <a:off x="6885432" y="2487168"/>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Field differences between the two projects</a:t>
            </a:r>
            <a:endParaRPr lang="en-US" sz="1300" dirty="0"/>
          </a:p>
        </p:txBody>
      </p:sp>
      <p:sp>
        <p:nvSpPr>
          <p:cNvPr id="26" name="Shape 22"/>
          <p:cNvSpPr/>
          <p:nvPr/>
        </p:nvSpPr>
        <p:spPr>
          <a:xfrm>
            <a:off x="6245352" y="2871216"/>
            <a:ext cx="5486400" cy="10973"/>
          </a:xfrm>
          <a:prstGeom prst="rect">
            <a:avLst/>
          </a:prstGeom>
          <a:solidFill>
            <a:srgbClr val="E6EEFC"/>
          </a:solidFill>
          <a:ln w="12700">
            <a:solidFill>
              <a:srgbClr val="E6EEFC"/>
            </a:solidFill>
            <a:prstDash val="solid"/>
          </a:ln>
        </p:spPr>
      </p:sp>
      <p:sp>
        <p:nvSpPr>
          <p:cNvPr id="27" name="Text 23"/>
          <p:cNvSpPr/>
          <p:nvPr/>
        </p:nvSpPr>
        <p:spPr>
          <a:xfrm>
            <a:off x="6245352" y="3145536"/>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A8</a:t>
            </a:r>
            <a:endParaRPr lang="en-US" sz="1300" dirty="0"/>
          </a:p>
        </p:txBody>
      </p:sp>
      <p:sp>
        <p:nvSpPr>
          <p:cNvPr id="28" name="Text 24"/>
          <p:cNvSpPr/>
          <p:nvPr/>
        </p:nvSpPr>
        <p:spPr>
          <a:xfrm>
            <a:off x="6885432" y="3145536"/>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The 17 reproduced results</a:t>
            </a:r>
            <a:endParaRPr lang="en-US" sz="1300" dirty="0"/>
          </a:p>
        </p:txBody>
      </p:sp>
      <p:sp>
        <p:nvSpPr>
          <p:cNvPr id="29" name="Shape 25"/>
          <p:cNvSpPr/>
          <p:nvPr/>
        </p:nvSpPr>
        <p:spPr>
          <a:xfrm>
            <a:off x="6245352" y="3529584"/>
            <a:ext cx="5486400" cy="10973"/>
          </a:xfrm>
          <a:prstGeom prst="rect">
            <a:avLst/>
          </a:prstGeom>
          <a:solidFill>
            <a:srgbClr val="E6EEFC"/>
          </a:solidFill>
          <a:ln w="12700">
            <a:solidFill>
              <a:srgbClr val="E6EEFC"/>
            </a:solidFill>
            <a:prstDash val="solid"/>
          </a:ln>
        </p:spPr>
      </p:sp>
      <p:sp>
        <p:nvSpPr>
          <p:cNvPr id="30" name="Text 26"/>
          <p:cNvSpPr/>
          <p:nvPr/>
        </p:nvSpPr>
        <p:spPr>
          <a:xfrm>
            <a:off x="6245352" y="3803904"/>
            <a:ext cx="548640" cy="274320"/>
          </a:xfrm>
          <a:prstGeom prst="rect">
            <a:avLst/>
          </a:prstGeom>
          <a:noFill/>
          <a:ln/>
        </p:spPr>
        <p:txBody>
          <a:bodyPr wrap="square" lIns="0" tIns="0" rIns="0" bIns="0" rtlCol="0" anchor="ctr"/>
          <a:lstStyle/>
          <a:p>
            <a:pPr indent="0" marL="0">
              <a:buNone/>
            </a:pPr>
            <a:r>
              <a:rPr lang="en-US" sz="1300" b="1" dirty="0">
                <a:solidFill>
                  <a:srgbClr val="91BAF4"/>
                </a:solidFill>
                <a:latin typeface="Libre Franklin" pitchFamily="34" charset="0"/>
                <a:ea typeface="Libre Franklin" pitchFamily="34" charset="-122"/>
                <a:cs typeface="Libre Franklin" pitchFamily="34" charset="-120"/>
              </a:rPr>
              <a:t>A9</a:t>
            </a:r>
            <a:endParaRPr lang="en-US" sz="1300" dirty="0"/>
          </a:p>
        </p:txBody>
      </p:sp>
      <p:sp>
        <p:nvSpPr>
          <p:cNvPr id="31" name="Text 27"/>
          <p:cNvSpPr/>
          <p:nvPr/>
        </p:nvSpPr>
        <p:spPr>
          <a:xfrm>
            <a:off x="6885432" y="3803904"/>
            <a:ext cx="4754880" cy="274320"/>
          </a:xfrm>
          <a:prstGeom prst="rect">
            <a:avLst/>
          </a:prstGeom>
          <a:noFill/>
          <a:ln/>
        </p:spPr>
        <p:txBody>
          <a:bodyPr wrap="square" lIns="0" tIns="0" rIns="0" bIns="0" rtlCol="0" anchor="ctr"/>
          <a:lstStyle/>
          <a:p>
            <a:pP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How small a difference we could detect</a:t>
            </a:r>
            <a:endParaRPr lang="en-US" sz="1300" dirty="0"/>
          </a:p>
        </p:txBody>
      </p:sp>
      <p:sp>
        <p:nvSpPr>
          <p:cNvPr id="32" name="Shape 28"/>
          <p:cNvSpPr/>
          <p:nvPr/>
        </p:nvSpPr>
        <p:spPr>
          <a:xfrm>
            <a:off x="6245352" y="4187952"/>
            <a:ext cx="5486400" cy="10973"/>
          </a:xfrm>
          <a:prstGeom prst="rect">
            <a:avLst/>
          </a:prstGeom>
          <a:solidFill>
            <a:srgbClr val="E6EEFC"/>
          </a:solidFill>
          <a:ln w="12700">
            <a:solidFill>
              <a:srgbClr val="E6EEFC"/>
            </a:solidFill>
            <a:prstDash val="solid"/>
          </a:ln>
        </p:spPr>
      </p:sp>
      <p:sp>
        <p:nvSpPr>
          <p:cNvPr id="33" name="Text 29"/>
          <p:cNvSpPr/>
          <p:nvPr/>
        </p:nvSpPr>
        <p:spPr>
          <a:xfrm>
            <a:off x="457200" y="6309360"/>
            <a:ext cx="10607040" cy="256032"/>
          </a:xfrm>
          <a:prstGeom prst="rect">
            <a:avLst/>
          </a:prstGeom>
          <a:noFill/>
          <a:ln/>
        </p:spPr>
        <p:txBody>
          <a:bodyPr wrap="square" lIns="0" tIns="0" rIns="0" bIns="0" rtlCol="0" anchor="ctr"/>
          <a:lstStyle/>
          <a:p>
            <a:pPr indent="0" marL="0">
              <a:buNone/>
            </a:pPr>
            <a:r>
              <a:rPr lang="en-US" sz="1000" dirty="0">
                <a:solidFill>
                  <a:srgbClr val="52525B"/>
                </a:solidFill>
                <a:latin typeface="Libre Franklin Medium" pitchFamily="34" charset="0"/>
                <a:ea typeface="Libre Franklin Medium" pitchFamily="34" charset="-122"/>
                <a:cs typeface="Libre Franklin Medium" pitchFamily="34" charset="-120"/>
              </a:rPr>
              <a:t>Each one is already an exported table or figure, so any of them can be opened during questions.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366FF"/>
        </a:solidFill>
      </p:bgPr>
    </p:bg>
    <p:spTree>
      <p:nvGrpSpPr>
        <p:cNvPr id="1" name=""/>
        <p:cNvGrpSpPr/>
        <p:nvPr/>
      </p:nvGrpSpPr>
      <p:grpSpPr>
        <a:xfrm>
          <a:off x="0" y="0"/>
          <a:ext cx="0" cy="0"/>
          <a:chOff x="0" y="0"/>
          <a:chExt cx="0" cy="0"/>
        </a:xfrm>
      </p:grpSpPr>
      <p:pic>
        <p:nvPicPr>
          <p:cNvPr id="2" name="Image 0" descr="/sessions/happy-eloquent-pascal/mnt/.claude/skills/esd-lab/assets/patterns/pattern-icon-band-white.png">    </p:cNvPr>
          <p:cNvPicPr>
            <a:picLocks noChangeAspect="1"/>
          </p:cNvPicPr>
          <p:nvPr/>
        </p:nvPicPr>
        <p:blipFill>
          <a:blip r:embed="rId1">
            <a:alphaModFix amt="38000"/>
          </a:blip>
          <a:stretch>
            <a:fillRect/>
          </a:stretch>
        </p:blipFill>
        <p:spPr>
          <a:xfrm>
            <a:off x="0" y="0"/>
            <a:ext cx="12191695" cy="548640"/>
          </a:xfrm>
          <a:prstGeom prst="rect">
            <a:avLst/>
          </a:prstGeom>
        </p:spPr>
      </p:pic>
      <p:pic>
        <p:nvPicPr>
          <p:cNvPr id="3" name="Image 1" descr="/sessions/happy-eloquent-pascal/mnt/.claude/skills/esd-lab/assets/patterns/pattern-icon-band-white.png">    </p:cNvPr>
          <p:cNvPicPr>
            <a:picLocks noChangeAspect="1"/>
          </p:cNvPicPr>
          <p:nvPr/>
        </p:nvPicPr>
        <p:blipFill>
          <a:blip r:embed="rId2">
            <a:alphaModFix amt="38000"/>
          </a:blip>
          <a:stretch>
            <a:fillRect/>
          </a:stretch>
        </p:blipFill>
        <p:spPr>
          <a:xfrm>
            <a:off x="0" y="6309360"/>
            <a:ext cx="12191695" cy="548640"/>
          </a:xfrm>
          <a:prstGeom prst="rect">
            <a:avLst/>
          </a:prstGeom>
        </p:spPr>
      </p:pic>
      <p:pic>
        <p:nvPicPr>
          <p:cNvPr id="4" name="Image 2" descr="/sessions/happy-eloquent-pascal/mnt/.claude/skills/esd-lab/assets/icons/sunburst-cool-white.png">    </p:cNvPr>
          <p:cNvPicPr>
            <a:picLocks noChangeAspect="1"/>
          </p:cNvPicPr>
          <p:nvPr/>
        </p:nvPicPr>
        <p:blipFill>
          <a:blip r:embed="rId3">
            <a:alphaModFix amt="40000"/>
          </a:blip>
          <a:stretch>
            <a:fillRect/>
          </a:stretch>
        </p:blipFill>
        <p:spPr>
          <a:xfrm>
            <a:off x="10241280" y="1417320"/>
            <a:ext cx="1280160" cy="1280160"/>
          </a:xfrm>
          <a:prstGeom prst="rect">
            <a:avLst/>
          </a:prstGeom>
        </p:spPr>
      </p:pic>
      <p:sp>
        <p:nvSpPr>
          <p:cNvPr id="5" name="Text 0"/>
          <p:cNvSpPr/>
          <p:nvPr/>
        </p:nvSpPr>
        <p:spPr>
          <a:xfrm>
            <a:off x="822960" y="2468880"/>
            <a:ext cx="10332720" cy="1645920"/>
          </a:xfrm>
          <a:prstGeom prst="rect">
            <a:avLst/>
          </a:prstGeom>
          <a:noFill/>
          <a:ln/>
        </p:spPr>
        <p:txBody>
          <a:bodyPr wrap="square" lIns="0" tIns="0" rIns="0" bIns="0" rtlCol="0" anchor="ctr"/>
          <a:lstStyle/>
          <a:p>
            <a:pPr indent="0" marL="0">
              <a:lnSpc>
                <a:spcPts val="4800"/>
              </a:lnSpc>
              <a:buNone/>
            </a:pPr>
            <a:r>
              <a:rPr lang="en-US" sz="3800" b="1" spc="-30" kern="0" dirty="0">
                <a:solidFill>
                  <a:srgbClr val="F4F4F6"/>
                </a:solidFill>
                <a:latin typeface="Libre Franklin" pitchFamily="34" charset="0"/>
                <a:ea typeface="Libre Franklin" pitchFamily="34" charset="-122"/>
                <a:cs typeface="Libre Franklin" pitchFamily="34" charset="-120"/>
              </a:rPr>
              <a:t>The screening difference is solid.</a:t>
            </a:r>
            <a:endParaRPr lang="en-US" sz="3800" dirty="0"/>
          </a:p>
          <a:p>
            <a:pPr indent="0" marL="0">
              <a:lnSpc>
                <a:spcPts val="4800"/>
              </a:lnSpc>
              <a:buNone/>
            </a:pPr>
            <a:r>
              <a:rPr lang="en-US" sz="3800" b="1" spc="-30" kern="0" dirty="0">
                <a:solidFill>
                  <a:srgbClr val="F4F4F6"/>
                </a:solidFill>
                <a:latin typeface="Libre Franklin" pitchFamily="34" charset="0"/>
                <a:ea typeface="Libre Franklin" pitchFamily="34" charset="-122"/>
                <a:cs typeface="Libre Franklin" pitchFamily="34" charset="-120"/>
              </a:rPr>
              <a:t>The number of groups is not.</a:t>
            </a:r>
            <a:endParaRPr lang="en-US" sz="3800" dirty="0"/>
          </a:p>
        </p:txBody>
      </p:sp>
      <p:sp>
        <p:nvSpPr>
          <p:cNvPr id="6" name="Text 1"/>
          <p:cNvSpPr/>
          <p:nvPr/>
        </p:nvSpPr>
        <p:spPr>
          <a:xfrm>
            <a:off x="822960" y="4315968"/>
            <a:ext cx="10332720" cy="292608"/>
          </a:xfrm>
          <a:prstGeom prst="rect">
            <a:avLst/>
          </a:prstGeom>
          <a:noFill/>
          <a:ln/>
        </p:spPr>
        <p:txBody>
          <a:bodyPr wrap="square" lIns="0" tIns="0" rIns="0" bIns="0" rtlCol="0" anchor="ctr"/>
          <a:lstStyle/>
          <a:p>
            <a:pPr indent="0" marL="0">
              <a:buNone/>
            </a:pPr>
            <a:r>
              <a:rPr lang="en-US" sz="1350" dirty="0">
                <a:solidFill>
                  <a:srgbClr val="E6EEFC"/>
                </a:solidFill>
                <a:latin typeface="Libre Franklin Medium" pitchFamily="34" charset="0"/>
                <a:ea typeface="Libre Franklin Medium" pitchFamily="34" charset="-122"/>
                <a:cs typeface="Libre Franklin Medium" pitchFamily="34" charset="-120"/>
              </a:rPr>
              <a:t>42.3 to 48.5 point difference   ·   odds ratio 7.39 to 11.09   ·   17 of 17 old results reproduced</a:t>
            </a:r>
            <a:endParaRPr lang="en-US" sz="1350" dirty="0"/>
          </a:p>
        </p:txBody>
      </p:sp>
      <p:pic>
        <p:nvPicPr>
          <p:cNvPr id="7" name="Image 3" descr="/sessions/happy-eloquent-pascal/mnt/.claude/skills/esd-lab/assets/logos/logo-horizontal-cool-white.png">    </p:cNvPr>
          <p:cNvPicPr>
            <a:picLocks noChangeAspect="1"/>
          </p:cNvPicPr>
          <p:nvPr/>
        </p:nvPicPr>
        <p:blipFill>
          <a:blip r:embed="rId4"/>
          <a:stretch>
            <a:fillRect/>
          </a:stretch>
        </p:blipFill>
        <p:spPr>
          <a:xfrm>
            <a:off x="822960" y="5029200"/>
            <a:ext cx="1618488" cy="365760"/>
          </a:xfrm>
          <a:prstGeom prst="rect">
            <a:avLst/>
          </a:prstGeom>
        </p:spPr>
      </p:pic>
      <p:sp>
        <p:nvSpPr>
          <p:cNvPr id="8" name="Text 2"/>
          <p:cNvSpPr/>
          <p:nvPr/>
        </p:nvSpPr>
        <p:spPr>
          <a:xfrm>
            <a:off x="822960" y="5504688"/>
            <a:ext cx="10332720" cy="256032"/>
          </a:xfrm>
          <a:prstGeom prst="rect">
            <a:avLst/>
          </a:prstGeom>
          <a:noFill/>
          <a:ln/>
        </p:spPr>
        <p:txBody>
          <a:bodyPr wrap="square" lIns="0" tIns="0" rIns="0" bIns="0" rtlCol="0" anchor="ctr"/>
          <a:lstStyle/>
          <a:p>
            <a:pPr indent="0" marL="0">
              <a:buNone/>
            </a:pPr>
            <a:r>
              <a:rPr lang="en-US" sz="1050" dirty="0">
                <a:solidFill>
                  <a:srgbClr val="91BAF4"/>
                </a:solidFill>
                <a:latin typeface="Libre Franklin Medium" pitchFamily="34" charset="0"/>
                <a:ea typeface="Libre Franklin Medium" pitchFamily="34" charset="-122"/>
                <a:cs typeface="Libre Franklin Medium" pitchFamily="34" charset="-120"/>
              </a:rPr>
              <a:t>Early Social Development Lab  ·  Institute for Mind and Brain  ·  University of South Carolina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University of South Carolina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Caregiver Acceptability Profiles for 4-Month Autism Screening</dc:title>
  <dc:subject>PptxGenJS Presentation</dc:subject>
  <dc:creator>Early Social Development Lab</dc:creator>
  <cp:lastModifiedBy>Early Social Development Lab</cp:lastModifiedBy>
  <cp:revision>1</cp:revision>
  <dcterms:created xsi:type="dcterms:W3CDTF">2026-08-05T19:08:34Z</dcterms:created>
  <dcterms:modified xsi:type="dcterms:W3CDTF">2026-08-05T19:08:34Z</dcterms:modified>
</cp:coreProperties>
</file>