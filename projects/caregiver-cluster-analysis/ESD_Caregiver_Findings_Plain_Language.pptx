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Tier 1  Something impossible in it</c:v>
                </c:pt>
              </c:strCache>
            </c:strRef>
          </c:tx>
          <c:spPr>
            <a:solidFill>
              <a:srgbClr val="D74E2D"/>
            </a:solidFill>
            <a:ln w="12700">
              <a:solidFill>
                <a:srgbClr val="FFFFFF"/>
              </a:solidFill>
            </a:ln>
          </c:spPr>
          <c:dLbls>
            <c:dLbl>
              <c:idx val="1"/>
              <c:tx>
                <c:rich>
                  <a:bodyPr/>
                  <a:lstStyle/>
                  <a:p>
                    <a:pPr>
                      <a:defRPr sz="1100" b="1">
                        <a:solidFill>
                          <a:srgbClr val="FFFFFF"/>
                        </a:solidFill>
                        <a:latin typeface="Libre Franklin Medium"/>
                      </a:defRPr>
                    </a:pPr>
                    <a:r>
                      <a:t>27%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Sheet1!$B$2:$B$3</c:f>
              <c:numCache>
                <c:formatCode>General</c:formatCode>
                <c:ptCount val="2"/>
                <c:pt idx="0">
                  <c:v>1.1</c:v>
                </c:pt>
                <c:pt idx="1">
                  <c:v>27.5</c:v>
                </c:pt>
              </c:numCache>
            </c:numRef>
          </c:val>
        </c:ser>
        <c:ser>
          <c:idx val="1"/>
          <c:order val="1"/>
          <c:tx>
            <c:strRef>
              <c:f>Sheet1!$C$1</c:f>
              <c:strCache>
                <c:ptCount val="1"/>
                <c:pt idx="0">
                  <c:v>Tier 2  Looks very doubtful</c:v>
                </c:pt>
              </c:strCache>
            </c:strRef>
          </c:tx>
          <c:spPr>
            <a:solidFill>
              <a:srgbClr val="F57F00"/>
            </a:solidFill>
            <a:ln w="12700">
              <a:solidFill>
                <a:srgbClr val="FFFFFF"/>
              </a:solidFill>
            </a:ln>
          </c:spPr>
          <c:dLbls>
            <c:dLbl>
              <c:idx val="1"/>
              <c:tx>
                <c:rich>
                  <a:bodyPr/>
                  <a:lstStyle/>
                  <a:p>
                    <a:pPr>
                      <a:defRPr sz="1100" b="1">
                        <a:solidFill>
                          <a:srgbClr val="000000"/>
                        </a:solidFill>
                        <a:latin typeface="Libre Franklin Medium"/>
                      </a:defRPr>
                    </a:pPr>
                    <a:r>
                      <a:t>31%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Sheet1!$C$2:$C$3</c:f>
              <c:numCache>
                <c:formatCode>General</c:formatCode>
                <c:ptCount val="2"/>
                <c:pt idx="0">
                  <c:v>1.7</c:v>
                </c:pt>
                <c:pt idx="1">
                  <c:v>31.5</c:v>
                </c:pt>
              </c:numCache>
            </c:numRef>
          </c:val>
        </c:ser>
        <c:ser>
          <c:idx val="2"/>
          <c:order val="2"/>
          <c:tx>
            <c:strRef>
              <c:f>Sheet1!$D$1</c:f>
              <c:strCache>
                <c:ptCount val="1"/>
                <c:pt idx="0">
                  <c:v>Tier 3  Not sure either way</c:v>
                </c:pt>
              </c:strCache>
            </c:strRef>
          </c:tx>
          <c:spPr>
            <a:solidFill>
              <a:srgbClr val="F4DA26"/>
            </a:solidFill>
            <a:ln w="12700">
              <a:solidFill>
                <a:srgbClr val="FFFFFF"/>
              </a:solidFill>
            </a:ln>
          </c:spPr>
          <c:dLbls>
            <c:dLbl>
              <c:idx val="0"/>
              <c:tx>
                <c:rich>
                  <a:bodyPr/>
                  <a:lstStyle/>
                  <a:p>
                    <a:pPr>
                      <a:defRPr sz="1100" b="1">
                        <a:solidFill>
                          <a:srgbClr val="000000"/>
                        </a:solidFill>
                        <a:latin typeface="Libre Franklin Medium"/>
                      </a:defRPr>
                    </a:pPr>
                    <a:r>
                      <a:t>11%</a:t>
                    </a:r>
                  </a:p>
                </c:rich>
              </c:tx>
              <c:dLblPos val="ctr"/>
              <c:showLegendKey val="0"/>
              <c:showVal val="1"/>
              <c:showCatName val="0"/>
              <c:showSerName val="0"/>
              <c:showPercent val="0"/>
              <c:showBubbleSize val="0"/>
            </c:dLbl>
            <c:dLbl>
              <c:idx val="1"/>
              <c:tx>
                <c:rich>
                  <a:bodyPr/>
                  <a:lstStyle/>
                  <a:p>
                    <a:pPr>
                      <a:defRPr sz="1100" b="1">
                        <a:solidFill>
                          <a:srgbClr val="000000"/>
                        </a:solidFill>
                        <a:latin typeface="Libre Franklin Medium"/>
                      </a:defRPr>
                    </a:pPr>
                    <a:r>
                      <a:t>37%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Sheet1!$D$2:$D$3</c:f>
              <c:numCache>
                <c:formatCode>General</c:formatCode>
                <c:ptCount val="2"/>
                <c:pt idx="0">
                  <c:v>10.7</c:v>
                </c:pt>
                <c:pt idx="1">
                  <c:v>37.1</c:v>
                </c:pt>
              </c:numCache>
            </c:numRef>
          </c:val>
        </c:ser>
        <c:ser>
          <c:idx val="3"/>
          <c:order val="3"/>
          <c:tx>
            <c:strRef>
              <c:f>Sheet1!$E$1</c:f>
              <c:strCache>
                <c:ptCount val="1"/>
                <c:pt idx="0">
                  <c:v>Tier 4  Passed every check</c:v>
                </c:pt>
              </c:strCache>
            </c:strRef>
          </c:tx>
          <c:spPr>
            <a:solidFill>
              <a:srgbClr val="3366FF"/>
            </a:solidFill>
            <a:ln w="12700">
              <a:solidFill>
                <a:srgbClr val="FFFFFF"/>
              </a:solidFill>
            </a:ln>
          </c:spPr>
          <c:dLbls>
            <c:dLbl>
              <c:idx val="0"/>
              <c:tx>
                <c:rich>
                  <a:bodyPr/>
                  <a:lstStyle/>
                  <a:p>
                    <a:pPr>
                      <a:defRPr sz="1100" b="1">
                        <a:solidFill>
                          <a:srgbClr val="FFFFFF"/>
                        </a:solidFill>
                        <a:latin typeface="Libre Franklin Medium"/>
                      </a:defRPr>
                    </a:pPr>
                    <a:r>
                      <a:t>86%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Sheet1!$E$2:$E$3</c:f>
              <c:numCache>
                <c:formatCode>General</c:formatCode>
                <c:ptCount val="2"/>
                <c:pt idx="0">
                  <c:v>86.4</c:v>
                </c:pt>
                <c:pt idx="1">
                  <c:v>3.9</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1100">
                <a:latin typeface="Libre Franklin Medium"/>
              </a:defRPr>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900">
                <a:latin typeface="Libre Franklin Medium"/>
              </a:defRPr>
            </a:pPr>
          </a:p>
        </c:txPr>
        <c:crossAx val="-2068027336"/>
        <c:crosses val="autoZero"/>
      </c:valAx>
    </c:plotArea>
    <c:legend>
      <c:legendPos val="b"/>
      <c:overlay val="0"/>
      <c:txPr>
        <a:bodyPr/>
        <a:lstStyle/>
        <a:p>
          <a:pPr>
            <a:defRPr sz="900">
              <a:latin typeface="Libre Franklin Medium"/>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put this version together so we can talk through the findings without anyone needing to hold ten numbers in their head at once. Every figure here also appears in the long deck, and every number is the same. I have just taken the scaffolding off.</a:t>
            </a:r>
          </a:p>
          <a:p/>
          <a:p>
            <a:r>
              <a:t>There are two stories running side by side. The first is about caregivers and how they feel about infant autism screening. The second is about how much of the incoming survey data we can actually trust. I will do the caregiver story first, then the data quality story, and then finish with what we are willing to say out loud and what we are not.</a:t>
            </a:r>
          </a:p>
          <a:p/>
          <a:p>
            <a:r>
              <a:t>If anything is unclear as I go, please stop me. That is the whole point of this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design idea that everything else rests on, so it is worth thirty seconds even with a friendly audience.</a:t>
            </a:r>
          </a:p>
          <a:p/>
          <a:p>
            <a:r>
              <a:t>We built the caregiver groups using only the ten attitude questions on the left. The four things on the right were deliberately locked out of that process. We only looked at them once the groups already existed and could not be changed.</a:t>
            </a:r>
          </a:p>
          <a:p/>
          <a:p>
            <a:r>
              <a:t>Why that matters: if I had let the screening answer help build the groups, and then announced that the groups differ on screening, I would have proved nothing at all. Keeping it out is what makes the comparison on the next few slides worth anything.</a:t>
            </a:r>
          </a:p>
          <a:p/>
          <a:p>
            <a:r>
              <a:t>On the numbers, 1,956 records came in across the two projects, but only 131 caregivers answered enough of the attitude block to be placed in a group, and 127 of those also gave a usable screening answer. Those are the people the caregiver story is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with the labels here. The second group is not against screening. If you look at where their orange markers sit, most of them are above the midpoint. That is why we call them conditional rather than low acceptability.</a:t>
            </a:r>
          </a:p>
          <a:p/>
          <a:p>
            <a:r>
              <a:t>What actually splits the two groups is trust in clinicians, willingness to accept a blood test, and whether screening feels ethically right to them. Those three sit at the top because they have the widest gaps, all around 25 points on a 100 point scale.</a:t>
            </a:r>
          </a:p>
          <a:p/>
          <a:p>
            <a:r>
              <a:t>The bottom row is the one I find most useful. Both groups agree that the screen itself is not distressing. So this is not squeamishness about the procedure. It is about whether they trust the people and the process around it, which is a much more actionable thing for us to work on.</a:t>
            </a:r>
          </a:p>
          <a:p/>
          <a:p>
            <a:r>
              <a:t>One honest caveat if someone asks. These are two ends of a spread rather than two clean types of person. The groups are a useful summary, not a discovery of two different kinds of caregiver.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and it is a big gap. Seventy percent against twenty eight percent, so roughly forty two points apart.</a:t>
            </a:r>
          </a:p>
          <a:p/>
          <a:p>
            <a:r>
              <a:t>The way I would put it in a sentence for a non technical reader is this. If you know which of the two attitude groups a caregiver falls into, you can predict their screening answer far better than chance, and we worked that out without ever letting the screening answer influence the grouping.</a:t>
            </a:r>
          </a:p>
          <a:p/>
          <a:p>
            <a:r>
              <a:t>The thing I want to head off is the causal reading. Nobody should walk away thinking that changing a caregiver's attitude will change their screening decision. We asked both questions in the same sitting, so we have no way to say which came first, or whether something else drives both. It is a strong link, and links are useful for targeting outreach, but it is not a lever we have proven.</a:t>
            </a:r>
          </a:p>
          <a:p/>
          <a:p>
            <a:r>
              <a:t>If someone worries the result depends on where we drew the line, we also checked the looser version. Counting probably yes as well, it is ninety percent against sixty percent. Same ordering, so it is not an artefact of the cut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challenge to the previous slide is that families already living with autism are both more accepting and more likely to screen, and that this is the whole story. So we tested it head on.</a:t>
            </a:r>
          </a:p>
          <a:p/>
          <a:p>
            <a:r>
              <a:t>Autism at home does matter, about four times the odds, and that is a real finding in its own right. But the attitude group effect barely moves once we account for it. It stays around eight and a half times the odds. So the two things are working alongside each other rather than one hiding behind the other.</a:t>
            </a:r>
          </a:p>
          <a:p/>
          <a:p>
            <a:r>
              <a:t>The simplest way to see it is the split by household. Among families with an autistic child at home it is eighty eight percent against thirty eight percent. Among families without, it is fifty seven percent against seventeen percent. Same direction, same rough size, both clear.</a:t>
            </a:r>
          </a:p>
          <a:p/>
          <a:p>
            <a:r>
              <a:t>The top row is the one I would not over read. It asks whether being in the warmer group matters more when you already have autism in the family. The answer is that we cannot tell. With this sample size, that line would have to be much narrower before it told us anything.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like this slide because it keeps us honest. The two groups differ enormously on attitudes and on screening intent, but they are not obviously different kinds of people.</a:t>
            </a:r>
          </a:p>
          <a:p/>
          <a:p>
            <a:r>
              <a:t>Knowledge goes the way you would expect, about 3.9 correct against 3.4 out of seven, but the uncertainty bars overlap and I would not build anything on it. Values looked more interesting at first, with self direction showing the largest raw difference, but we tested ten values and once you account for that it stops being convincing. Demographics show nothing at all.</a:t>
            </a:r>
          </a:p>
          <a:p/>
          <a:p>
            <a:r>
              <a:t>Now the part I would put in bold. With forty seven people in one group and eighty in the other, we could only reliably spot a difference of about twenty five percentage points. Anything smaller than that is simply invisible to us. So the correct sentence is that we did not find a difference, not that there is no difference. Please do not let anyone write that the two groups are demographically identical.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clearest single picture of why we cannot just pool the two projects and enjoy the bigger sample.</a:t>
            </a:r>
          </a:p>
          <a:p/>
          <a:p>
            <a:r>
              <a:t>Every record in both projects goes through the same ten rules, and comes out with a tier from 1 to 4. The rules never look at the screening answer or anything else we care about, so the tiering cannot be tuned to make a result look nicer.</a:t>
            </a:r>
          </a:p>
          <a:p/>
          <a:p>
            <a:r>
              <a:t>In the clean project, eighty six percent land in Tier 4 and only two records out of 177 are Tier 1. In the legacy project it flips completely. Under four percent pass, and nearly five hundred records trip a hard impossibility.</a:t>
            </a:r>
          </a:p>
          <a:p/>
          <a:p>
            <a:r>
              <a:t>The sentence at the bottom is the one I most want people to repeat correctly. A Tier 1 record might be a rushed human, a form that misbehaved, or something automated. We genuinely cannot tell those apart, so we describe the evidence rather than accusing the respondent. If anyone asks me for a percentage of bots, the honest answer is that we do not have one and cannot get one from this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newest piece of the data quality work and I think it is the most defensible thing we have, so let me explain why with the example rather than the theory.</a:t>
            </a:r>
          </a:p>
          <a:p/>
          <a:p>
            <a:r>
              <a:t>A caregiver told us they have two children. Then, on the next question, they ticked three different age bands. Two children cannot occupy three age bands. The form was never designed to accept that, so at least one of those answers is not a truthful report.</a:t>
            </a:r>
          </a:p>
          <a:p/>
          <a:p>
            <a:r>
              <a:t>Compare that with our other checks. Most of them say something like this person finished faster than any verified human, which is suspicious but arguable. This one is not arguable. Either the form allows the combination or it does not, and it does not.</a:t>
            </a:r>
          </a:p>
          <a:p/>
          <a:p>
            <a:r>
              <a:t>Three numbers make the case. It caught forty four records. Every single one is in the legacy project and none are in the clean project, which is a small sanity check on the rule itself. And it flagged zero of our 131 verified human caregivers, so we can lean on it hard without losing any good data.</a:t>
            </a:r>
          </a:p>
          <a:p/>
          <a:p>
            <a:r>
              <a:t>One limitation I would volunteer before anyone asks. Forty four records is only about two and a half percent of the legacy project. This check is very accurate about what it catches, but it says nothing about how many other bad records are sitting there uncaught. It is not a contamination estimate.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two halves of the talk meet. The fair worry is that the caregiver finding is an artefact of bad data, so we tested it directly.</a:t>
            </a:r>
          </a:p>
          <a:p/>
          <a:p>
            <a:r>
              <a:t>We picked five sensible ways of deciding which records deserve to be in the analysis, from only the very cleanest records right through to pooling in part of the legacy project. Then we re ran everything five times and looked at whether the gap between the two caregiver groups moved.</a:t>
            </a:r>
          </a:p>
          <a:p/>
          <a:p>
            <a:r>
              <a:t>It did not move much. It stays somewhere between forty two and fifty two points, and every one of those five lines stays clear of zero. If the messy records were manufacturing this result, tightening to the cleanest subset should have made it collapse. Instead it went up slightly.</a:t>
            </a:r>
          </a:p>
          <a:p/>
          <a:p>
            <a:r>
              <a:t>The structural reason is simple and worth saying. Inside the 131 caregivers we actually grouped, 117 already pass every check. There are only fourteen low trust records in there, so filtering does not have much to remove.</a:t>
            </a:r>
          </a:p>
          <a:p/>
          <a:p>
            <a:r>
              <a:t>I would not lean on the top row. It is the legacy only replication and it rests on forty seven people, which is why its line is so wide.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end here rather than on a result, because the wording is what actually leaves this room.</a:t>
            </a:r>
          </a:p>
          <a:p/>
          <a:p>
            <a:r>
              <a:t>The left column is what the figures support. Four sentences, and I would be comfortable defending any of them to a reviewer.</a:t>
            </a:r>
          </a:p>
          <a:p/>
          <a:p>
            <a:r>
              <a:t>The right column is the set of sentences that are tempting, natural to write, and not supported. The causal one is the easiest to slip into. The bot percentage is the one people will ask for directly, and I would rather we agree now that the answer is we do not have one. And the demographic equivalence claim is subtle, because a null result feels like evidence of sameness when it is really just evidence that our sample was too small to see anything.</a:t>
            </a:r>
          </a:p>
          <a:p/>
          <a:p>
            <a:r>
              <a:t>None of the right column weakens the finding. The gap is large, it survives adjustment, it survives every strictness setting, and the logic audit is clean. We just do not want to spend that credibility on claims the data cannot carry.</a:t>
            </a:r>
          </a:p>
          <a:p/>
          <a:p>
            <a:r>
              <a:t>If everyone is comfortable with the four sentences on the left, that is what goes into the manuscript draft, and the long deck has the traceability and the full checklist behind each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ttern-icon-band-white.png"/>
          <p:cNvPicPr>
            <a:picLocks noChangeAspect="1"/>
          </p:cNvPicPr>
          <p:nvPr/>
        </p:nvPicPr>
        <p:blipFill>
          <a:blip r:embed="rId2"/>
          <a:stretch>
            <a:fillRect/>
          </a:stretch>
        </p:blipFill>
        <p:spPr>
          <a:xfrm>
            <a:off x="-548640" y="5074920"/>
            <a:ext cx="13258800" cy="2194560"/>
          </a:xfrm>
          <a:prstGeom prst="rect">
            <a:avLst/>
          </a:prstGeom>
        </p:spPr>
      </p:pic>
      <p:sp>
        <p:nvSpPr>
          <p:cNvPr id="4" name="Rounded Rectangle 3"/>
          <p:cNvSpPr/>
          <p:nvPr/>
        </p:nvSpPr>
        <p:spPr>
          <a:xfrm>
            <a:off x="548640" y="420624"/>
            <a:ext cx="5440680" cy="84124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horizontal-discovery-blue.png"/>
          <p:cNvPicPr>
            <a:picLocks noChangeAspect="1"/>
          </p:cNvPicPr>
          <p:nvPr/>
        </p:nvPicPr>
        <p:blipFill>
          <a:blip r:embed="rId3"/>
          <a:stretch>
            <a:fillRect/>
          </a:stretch>
        </p:blipFill>
        <p:spPr>
          <a:xfrm>
            <a:off x="841247" y="603504"/>
            <a:ext cx="896323" cy="420624"/>
          </a:xfrm>
          <a:prstGeom prst="rect">
            <a:avLst/>
          </a:prstGeom>
        </p:spPr>
      </p:pic>
      <p:pic>
        <p:nvPicPr>
          <p:cNvPr id="6" name="Picture 5" descr="uofsc-horizontal-garnet.png"/>
          <p:cNvPicPr>
            <a:picLocks noChangeAspect="1"/>
          </p:cNvPicPr>
          <p:nvPr/>
        </p:nvPicPr>
        <p:blipFill>
          <a:blip r:embed="rId4"/>
          <a:stretch>
            <a:fillRect/>
          </a:stretch>
        </p:blipFill>
        <p:spPr>
          <a:xfrm>
            <a:off x="1938739" y="603504"/>
            <a:ext cx="2843948" cy="420624"/>
          </a:xfrm>
          <a:prstGeom prst="rect">
            <a:avLst/>
          </a:prstGeom>
        </p:spPr>
      </p:pic>
      <p:sp>
        <p:nvSpPr>
          <p:cNvPr id="7" name="TextBox 6"/>
          <p:cNvSpPr txBox="1"/>
          <p:nvPr/>
        </p:nvSpPr>
        <p:spPr>
          <a:xfrm>
            <a:off x="548640" y="2011680"/>
            <a:ext cx="10607040" cy="1463040"/>
          </a:xfrm>
          <a:prstGeom prst="rect">
            <a:avLst/>
          </a:prstGeom>
          <a:noFill/>
        </p:spPr>
        <p:txBody>
          <a:bodyPr wrap="square" lIns="0" rIns="0" tIns="0" bIns="0" anchor="t">
            <a:spAutoFit/>
          </a:bodyPr>
          <a:lstStyle/>
          <a:p>
            <a:pPr algn="l">
              <a:lnSpc>
                <a:spcPct val="94000"/>
              </a:lnSpc>
              <a:spcAft>
                <a:spcPts val="0"/>
              </a:spcAft>
            </a:pPr>
            <a:r>
              <a:rPr sz="4200" b="1" spc="-30">
                <a:solidFill>
                  <a:srgbClr val="F4F4F6"/>
                </a:solidFill>
                <a:latin typeface="Libre Franklin"/>
              </a:rPr>
              <a:t>Caregiver Screening Attitudes
and Data Quality</a:t>
            </a:r>
          </a:p>
        </p:txBody>
      </p:sp>
      <p:sp>
        <p:nvSpPr>
          <p:cNvPr id="8" name="TextBox 7"/>
          <p:cNvSpPr txBox="1"/>
          <p:nvPr/>
        </p:nvSpPr>
        <p:spPr>
          <a:xfrm>
            <a:off x="548640" y="3584448"/>
            <a:ext cx="10607040" cy="329184"/>
          </a:xfrm>
          <a:prstGeom prst="rect">
            <a:avLst/>
          </a:prstGeom>
          <a:noFill/>
        </p:spPr>
        <p:txBody>
          <a:bodyPr wrap="square" lIns="0" rIns="0" tIns="0" bIns="0" anchor="t">
            <a:spAutoFit/>
          </a:bodyPr>
          <a:lstStyle/>
          <a:p>
            <a:pPr algn="l">
              <a:spcAft>
                <a:spcPts val="0"/>
              </a:spcAft>
            </a:pPr>
            <a:r>
              <a:rPr sz="1600" b="0">
                <a:solidFill>
                  <a:srgbClr val="E6EEFC"/>
                </a:solidFill>
                <a:latin typeface="Libre Franklin Medium"/>
              </a:rPr>
              <a:t>A plain language walk through of what we found</a:t>
            </a:r>
          </a:p>
        </p:txBody>
      </p:sp>
      <p:sp>
        <p:nvSpPr>
          <p:cNvPr id="9" name="TextBox 8"/>
          <p:cNvSpPr txBox="1"/>
          <p:nvPr/>
        </p:nvSpPr>
        <p:spPr>
          <a:xfrm>
            <a:off x="548640" y="4041648"/>
            <a:ext cx="10607040" cy="548640"/>
          </a:xfrm>
          <a:prstGeom prst="rect">
            <a:avLst/>
          </a:prstGeom>
          <a:noFill/>
        </p:spPr>
        <p:txBody>
          <a:bodyPr wrap="square" lIns="0" rIns="0" tIns="0" bIns="0" anchor="t">
            <a:spAutoFit/>
          </a:bodyPr>
          <a:lstStyle/>
          <a:p>
            <a:pPr algn="l">
              <a:spcAft>
                <a:spcPts val="300"/>
              </a:spcAft>
            </a:pPr>
            <a:r>
              <a:rPr sz="1050" b="0">
                <a:solidFill>
                  <a:srgbClr val="91BAF4"/>
                </a:solidFill>
                <a:latin typeface="Libre Franklin Medium"/>
              </a:rPr>
              <a:t>Early Social Development Lab, University of South Carolina</a:t>
            </a:r>
          </a:p>
          <a:p>
            <a:pPr algn="l">
              <a:spcAft>
                <a:spcPts val="300"/>
              </a:spcAft>
            </a:pPr>
            <a:r>
              <a:rPr sz="1050" b="0">
                <a:solidFill>
                  <a:srgbClr val="91BAF4"/>
                </a:solidFill>
                <a:latin typeface="Libre Franklin Medium"/>
              </a:rPr>
              <a:t>Based on 1,956 survey records. Same numbers as the full technical deck, fewer of them on each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What we did, in one slide</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We asked caregivers how they feel about infant autism screening. Then, separately, we checked whether those feelings line up with what they say they would actually do.</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548640" y="1828800"/>
            <a:ext cx="4937760" cy="2788920"/>
          </a:xfrm>
          <a:prstGeom prst="roundRect">
            <a:avLst>
              <a:gd name="adj" fmla="val 14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011680"/>
            <a:ext cx="4389120" cy="237744"/>
          </a:xfrm>
          <a:prstGeom prst="rect">
            <a:avLst/>
          </a:prstGeom>
          <a:noFill/>
        </p:spPr>
        <p:txBody>
          <a:bodyPr wrap="square" lIns="0" rIns="0" tIns="0" bIns="0" anchor="t">
            <a:spAutoFit/>
          </a:bodyPr>
          <a:lstStyle/>
          <a:p>
            <a:pPr algn="l">
              <a:spcAft>
                <a:spcPts val="0"/>
              </a:spcAft>
            </a:pPr>
            <a:r>
              <a:rPr sz="1000" b="1" spc="60">
                <a:solidFill>
                  <a:srgbClr val="F57F00"/>
                </a:solidFill>
                <a:latin typeface="Libre Franklin"/>
              </a:rPr>
              <a:t>WHAT BUILDS THE GROUPS</a:t>
            </a:r>
          </a:p>
        </p:txBody>
      </p:sp>
      <p:sp>
        <p:nvSpPr>
          <p:cNvPr id="8" name="TextBox 7"/>
          <p:cNvSpPr txBox="1"/>
          <p:nvPr/>
        </p:nvSpPr>
        <p:spPr>
          <a:xfrm>
            <a:off x="822959" y="2304288"/>
            <a:ext cx="4389120" cy="365760"/>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10 attitude questions only</a:t>
            </a:r>
          </a:p>
        </p:txBody>
      </p:sp>
      <p:sp>
        <p:nvSpPr>
          <p:cNvPr id="9" name="TextBox 8"/>
          <p:cNvSpPr txBox="1"/>
          <p:nvPr/>
        </p:nvSpPr>
        <p:spPr>
          <a:xfrm>
            <a:off x="822959" y="2743200"/>
            <a:ext cx="4389120" cy="1691640"/>
          </a:xfrm>
          <a:prstGeom prst="rect">
            <a:avLst/>
          </a:prstGeom>
          <a:noFill/>
        </p:spPr>
        <p:txBody>
          <a:bodyPr wrap="square" lIns="0" rIns="0" tIns="0" bIns="0" anchor="t">
            <a:spAutoFit/>
          </a:bodyPr>
          <a:lstStyle/>
          <a:p>
            <a:pPr algn="l">
              <a:lnSpc>
                <a:spcPct val="105000"/>
              </a:lnSpc>
              <a:spcAft>
                <a:spcPts val="0"/>
              </a:spcAft>
            </a:pPr>
            <a:r>
              <a:rPr sz="1050" b="0">
                <a:solidFill>
                  <a:srgbClr val="000000"/>
                </a:solidFill>
                <a:latin typeface="Libre Franklin Medium"/>
              </a:rPr>
              <a:t>Trust in clinicians, comfort with a blood test, whether screening feels ethical, how much distress it would cause, how useful it seems, tolerance for a wrong answer, openness to equipment, feasibility, low burden options, and how unpleasant it feels.</a:t>
            </a:r>
          </a:p>
        </p:txBody>
      </p:sp>
      <p:sp>
        <p:nvSpPr>
          <p:cNvPr id="10" name="Right Arrow 9"/>
          <p:cNvSpPr/>
          <p:nvPr/>
        </p:nvSpPr>
        <p:spPr>
          <a:xfrm>
            <a:off x="5632704" y="2962656"/>
            <a:ext cx="841248" cy="530352"/>
          </a:xfrm>
          <a:prstGeom prst="rightArrow">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02552" y="1828800"/>
            <a:ext cx="4937760" cy="2788920"/>
          </a:xfrm>
          <a:prstGeom prst="roundRect">
            <a:avLst>
              <a:gd name="adj" fmla="val 14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76872" y="2011680"/>
            <a:ext cx="4389120" cy="237744"/>
          </a:xfrm>
          <a:prstGeom prst="rect">
            <a:avLst/>
          </a:prstGeom>
          <a:noFill/>
        </p:spPr>
        <p:txBody>
          <a:bodyPr wrap="square" lIns="0" rIns="0" tIns="0" bIns="0" anchor="t">
            <a:spAutoFit/>
          </a:bodyPr>
          <a:lstStyle/>
          <a:p>
            <a:pPr algn="l">
              <a:spcAft>
                <a:spcPts val="0"/>
              </a:spcAft>
            </a:pPr>
            <a:r>
              <a:rPr sz="1000" b="1" spc="60">
                <a:solidFill>
                  <a:srgbClr val="F57F00"/>
                </a:solidFill>
                <a:latin typeface="Libre Franklin"/>
              </a:rPr>
              <a:t>KEPT OUT, CHECKED AFTERWARDS</a:t>
            </a:r>
          </a:p>
        </p:txBody>
      </p:sp>
      <p:sp>
        <p:nvSpPr>
          <p:cNvPr id="13" name="TextBox 12"/>
          <p:cNvSpPr txBox="1"/>
          <p:nvPr/>
        </p:nvSpPr>
        <p:spPr>
          <a:xfrm>
            <a:off x="6976872" y="2304288"/>
            <a:ext cx="4389120" cy="365760"/>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4 things we never let in</a:t>
            </a:r>
          </a:p>
        </p:txBody>
      </p:sp>
      <p:sp>
        <p:nvSpPr>
          <p:cNvPr id="14" name="Oval 13"/>
          <p:cNvSpPr/>
          <p:nvPr/>
        </p:nvSpPr>
        <p:spPr>
          <a:xfrm>
            <a:off x="6976872" y="2811780"/>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5472" y="2761488"/>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Screening intent</a:t>
            </a:r>
          </a:p>
        </p:txBody>
      </p:sp>
      <p:sp>
        <p:nvSpPr>
          <p:cNvPr id="16" name="TextBox 15"/>
          <p:cNvSpPr txBox="1"/>
          <p:nvPr/>
        </p:nvSpPr>
        <p:spPr>
          <a:xfrm>
            <a:off x="9098280" y="2775204"/>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Would you get your baby screened?</a:t>
            </a:r>
          </a:p>
        </p:txBody>
      </p:sp>
      <p:sp>
        <p:nvSpPr>
          <p:cNvPr id="17" name="Oval 16"/>
          <p:cNvSpPr/>
          <p:nvPr/>
        </p:nvSpPr>
        <p:spPr>
          <a:xfrm>
            <a:off x="6976872" y="3241548"/>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5472" y="3191256"/>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Autism knowledge</a:t>
            </a:r>
          </a:p>
        </p:txBody>
      </p:sp>
      <p:sp>
        <p:nvSpPr>
          <p:cNvPr id="19" name="TextBox 18"/>
          <p:cNvSpPr txBox="1"/>
          <p:nvPr/>
        </p:nvSpPr>
        <p:spPr>
          <a:xfrm>
            <a:off x="9098280" y="3204972"/>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A 7 question quiz with right answers</a:t>
            </a:r>
          </a:p>
        </p:txBody>
      </p:sp>
      <p:sp>
        <p:nvSpPr>
          <p:cNvPr id="20" name="Oval 19"/>
          <p:cNvSpPr/>
          <p:nvPr/>
        </p:nvSpPr>
        <p:spPr>
          <a:xfrm>
            <a:off x="6976872" y="3671315"/>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05472" y="3621024"/>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Personal values</a:t>
            </a:r>
          </a:p>
        </p:txBody>
      </p:sp>
      <p:sp>
        <p:nvSpPr>
          <p:cNvPr id="22" name="TextBox 21"/>
          <p:cNvSpPr txBox="1"/>
          <p:nvPr/>
        </p:nvSpPr>
        <p:spPr>
          <a:xfrm>
            <a:off x="9098280" y="3634740"/>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What matters to you in life</a:t>
            </a:r>
          </a:p>
        </p:txBody>
      </p:sp>
      <p:sp>
        <p:nvSpPr>
          <p:cNvPr id="23" name="Oval 22"/>
          <p:cNvSpPr/>
          <p:nvPr/>
        </p:nvSpPr>
        <p:spPr>
          <a:xfrm>
            <a:off x="6976872" y="4101083"/>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5472" y="4050791"/>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Demographics</a:t>
            </a:r>
          </a:p>
        </p:txBody>
      </p:sp>
      <p:sp>
        <p:nvSpPr>
          <p:cNvPr id="25" name="TextBox 24"/>
          <p:cNvSpPr txBox="1"/>
          <p:nvPr/>
        </p:nvSpPr>
        <p:spPr>
          <a:xfrm>
            <a:off x="9098280" y="4064507"/>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Education, work, area, family setup</a:t>
            </a:r>
          </a:p>
        </p:txBody>
      </p:sp>
      <p:sp>
        <p:nvSpPr>
          <p:cNvPr id="26" name="Rounded Rectangle 25"/>
          <p:cNvSpPr/>
          <p:nvPr/>
        </p:nvSpPr>
        <p:spPr>
          <a:xfrm>
            <a:off x="548640" y="4846320"/>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020056"/>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28" name="Oval 27"/>
          <p:cNvSpPr/>
          <p:nvPr/>
        </p:nvSpPr>
        <p:spPr>
          <a:xfrm>
            <a:off x="786384"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30" name="TextBox 29"/>
          <p:cNvSpPr txBox="1"/>
          <p:nvPr/>
        </p:nvSpPr>
        <p:spPr>
          <a:xfrm>
            <a:off x="1097280"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1,956 records came in. 131 caregivers answered enough attitude questions to be grouped. 127 of those also answered the screening question.</a:t>
            </a:r>
          </a:p>
        </p:txBody>
      </p:sp>
      <p:sp>
        <p:nvSpPr>
          <p:cNvPr id="31" name="Oval 30"/>
          <p:cNvSpPr/>
          <p:nvPr/>
        </p:nvSpPr>
        <p:spPr>
          <a:xfrm>
            <a:off x="4429658"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29658"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33" name="TextBox 32"/>
          <p:cNvSpPr txBox="1"/>
          <p:nvPr/>
        </p:nvSpPr>
        <p:spPr>
          <a:xfrm>
            <a:off x="4740554"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screening answer never went into the grouping, so when we compare the groups on it later we are not arguing in a circle.</a:t>
            </a:r>
          </a:p>
        </p:txBody>
      </p:sp>
      <p:sp>
        <p:nvSpPr>
          <p:cNvPr id="34" name="Oval 33"/>
          <p:cNvSpPr/>
          <p:nvPr/>
        </p:nvSpPr>
        <p:spPr>
          <a:xfrm>
            <a:off x="8072932"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72932"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36" name="TextBox 35"/>
          <p:cNvSpPr txBox="1"/>
          <p:nvPr/>
        </p:nvSpPr>
        <p:spPr>
          <a:xfrm>
            <a:off x="8383828"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Everything on the right is a check we run after the groups already exist. It cannot bend the groups to fit a story.</a:t>
            </a:r>
          </a:p>
        </p:txBody>
      </p:sp>
      <p:sp>
        <p:nvSpPr>
          <p:cNvPr id="37" name="TextBox 36"/>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table_5b_cohort_flow.csv, table_16_trust_tier_counts.csv, config.yaml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Caregivers fall into two broad groups</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One group is warm about screening across the board. The other is supportive too, but with conditions attached.</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784717" y="1700784"/>
            <a:ext cx="6495572" cy="449884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2_primary_cluster_profiles.png"/>
          <p:cNvPicPr>
            <a:picLocks noChangeAspect="1"/>
          </p:cNvPicPr>
          <p:nvPr/>
        </p:nvPicPr>
        <p:blipFill>
          <a:blip r:embed="rId3"/>
          <a:stretch>
            <a:fillRect/>
          </a:stretch>
        </p:blipFill>
        <p:spPr>
          <a:xfrm>
            <a:off x="876157" y="1792224"/>
            <a:ext cx="6312692" cy="4315968"/>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row is one attitude. Further right means more supportive. Blue circles are the warmer group, orange squares are the conditional group.</a:t>
            </a:r>
          </a:p>
        </p:txBody>
      </p:sp>
      <p:sp>
        <p:nvSpPr>
          <p:cNvPr id="13" name="Oval 12"/>
          <p:cNvSpPr/>
          <p:nvPr/>
        </p:nvSpPr>
        <p:spPr>
          <a:xfrm>
            <a:off x="7936992" y="3034893"/>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3062325"/>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3021177"/>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wider the gap between the two markers, the more that attitude separates the groups. The three widest gaps are all about trust and ethics.</a:t>
            </a:r>
          </a:p>
        </p:txBody>
      </p:sp>
      <p:sp>
        <p:nvSpPr>
          <p:cNvPr id="16" name="Oval 15"/>
          <p:cNvSpPr/>
          <p:nvPr/>
        </p:nvSpPr>
        <p:spPr>
          <a:xfrm>
            <a:off x="7936992" y="3879799"/>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907231"/>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866083"/>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Look at the bottom row. Both groups sit at the far right, so neither of them finds the screen itself upsetting. The disagreement is about the conditions around it.</a:t>
            </a:r>
          </a:p>
        </p:txBody>
      </p:sp>
      <p:sp>
        <p:nvSpPr>
          <p:cNvPr id="19" name="TextBox 18"/>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figure_2_primary_cluster_profiles.png, table_4_cluster_defining_profiles.csv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The two groups answer the screening question very differently</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About 7 in 10 caregivers in the warmer group said they would definitely screen their baby. In the conditional group it was closer to 3 in 10.</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1977174" y="1645920"/>
            <a:ext cx="8237346" cy="305409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3_screening_outcome.png"/>
          <p:cNvPicPr>
            <a:picLocks noChangeAspect="1"/>
          </p:cNvPicPr>
          <p:nvPr/>
        </p:nvPicPr>
        <p:blipFill>
          <a:blip r:embed="rId3"/>
          <a:stretch>
            <a:fillRect/>
          </a:stretch>
        </p:blipFill>
        <p:spPr>
          <a:xfrm>
            <a:off x="2068614" y="1737360"/>
            <a:ext cx="8054466" cy="2871215"/>
          </a:xfrm>
          <a:prstGeom prst="rect">
            <a:avLst/>
          </a:prstGeom>
        </p:spPr>
      </p:pic>
      <p:sp>
        <p:nvSpPr>
          <p:cNvPr id="8" name="Rounded Rectangle 7"/>
          <p:cNvSpPr/>
          <p:nvPr/>
        </p:nvSpPr>
        <p:spPr>
          <a:xfrm>
            <a:off x="548640" y="4809744"/>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983480"/>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86384"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1097280"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Left panel: the share who said definitely yes. The vertical bar shows how sure we are about that share.</a:t>
            </a:r>
          </a:p>
        </p:txBody>
      </p:sp>
      <p:sp>
        <p:nvSpPr>
          <p:cNvPr id="13" name="Oval 12"/>
          <p:cNvSpPr/>
          <p:nvPr/>
        </p:nvSpPr>
        <p:spPr>
          <a:xfrm>
            <a:off x="4429658"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4740554"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two bars do not overlap, which is the simple test for whether a difference is real or just noise. Here it is real.</a:t>
            </a:r>
          </a:p>
        </p:txBody>
      </p:sp>
      <p:sp>
        <p:nvSpPr>
          <p:cNvPr id="16" name="Oval 15"/>
          <p:cNvSpPr/>
          <p:nvPr/>
        </p:nvSpPr>
        <p:spPr>
          <a:xfrm>
            <a:off x="8072932"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2932"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383828"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Right panel: the full mix of answers. Notice the dark blue block is much bigger for the warmer group.</a:t>
            </a:r>
          </a:p>
        </p:txBody>
      </p:sp>
      <p:sp>
        <p:nvSpPr>
          <p:cNvPr id="19" name="TextBox 18"/>
          <p:cNvSpPr txBox="1"/>
          <p:nvPr/>
        </p:nvSpPr>
        <p:spPr>
          <a:xfrm>
            <a:off x="548640" y="5961888"/>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figure_3_screening_outcome.png, table_5_screening_outcome.csv</a:t>
            </a:r>
          </a:p>
        </p:txBody>
      </p:sp>
      <p:sp>
        <p:nvSpPr>
          <p:cNvPr id="20" name="Rounded Rectangle 19"/>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Careful: this is a link, not a cause. We asked about attitudes and screening in the same sitting, so we cannot say which one drives the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It is not simply families who already live with autism</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Having an autistic child at home does make a caregiver more likely to screen. It does not explain the group difference away.</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548640" y="1902595"/>
            <a:ext cx="6967728" cy="409522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18_logistic_forest.png"/>
          <p:cNvPicPr>
            <a:picLocks noChangeAspect="1"/>
          </p:cNvPicPr>
          <p:nvPr/>
        </p:nvPicPr>
        <p:blipFill>
          <a:blip r:embed="rId3"/>
          <a:stretch>
            <a:fillRect/>
          </a:stretch>
        </p:blipFill>
        <p:spPr>
          <a:xfrm>
            <a:off x="640080" y="1994035"/>
            <a:ext cx="6784848" cy="3912344"/>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dot is an odds ratio. Anything to the right of the dashed line at 1 means more likely to say definitely yes.</a:t>
            </a:r>
          </a:p>
        </p:txBody>
      </p:sp>
      <p:sp>
        <p:nvSpPr>
          <p:cNvPr id="13" name="Oval 12"/>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Bottom row: the attitude group is worth about 8.7 times the odds, even after we account for autism in the home.</a:t>
            </a:r>
          </a:p>
        </p:txBody>
      </p:sp>
      <p:sp>
        <p:nvSpPr>
          <p:cNvPr id="16" name="Oval 15"/>
          <p:cNvSpPr/>
          <p:nvPr/>
        </p:nvSpPr>
        <p:spPr>
          <a:xfrm>
            <a:off x="7936992" y="358993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61736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576218"/>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Middle row: autism at home matters on its own, about 4.3 times the odds.</a:t>
            </a:r>
          </a:p>
        </p:txBody>
      </p:sp>
      <p:sp>
        <p:nvSpPr>
          <p:cNvPr id="19" name="Oval 18"/>
          <p:cNvSpPr/>
          <p:nvPr/>
        </p:nvSpPr>
        <p:spPr>
          <a:xfrm>
            <a:off x="7936992" y="4144975"/>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4172407"/>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4</a:t>
            </a:r>
          </a:p>
        </p:txBody>
      </p:sp>
      <p:sp>
        <p:nvSpPr>
          <p:cNvPr id="21" name="TextBox 20"/>
          <p:cNvSpPr txBox="1"/>
          <p:nvPr/>
        </p:nvSpPr>
        <p:spPr>
          <a:xfrm>
            <a:off x="8247888" y="4131259"/>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Top row asks whether the two effects feed off each other. The line crosses 1, so we cannot tell. They look like they just add up.</a:t>
            </a:r>
          </a:p>
        </p:txBody>
      </p:sp>
      <p:sp>
        <p:nvSpPr>
          <p:cNvPr id="22" name="TextBox 2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figure_18_logistic_forest.png, table_22_logistic_models.csv, table_11_asd_family_context.csv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Some things you would expect to matter, do not</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Autism knowledge, personal values and demographics all look about the same in both groups. That is a finding worth stating carefully.</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2666534" y="1645920"/>
            <a:ext cx="6858626" cy="305409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4_autism_knowledge.png"/>
          <p:cNvPicPr>
            <a:picLocks noChangeAspect="1"/>
          </p:cNvPicPr>
          <p:nvPr/>
        </p:nvPicPr>
        <p:blipFill>
          <a:blip r:embed="rId3"/>
          <a:stretch>
            <a:fillRect/>
          </a:stretch>
        </p:blipFill>
        <p:spPr>
          <a:xfrm>
            <a:off x="2757974" y="1737360"/>
            <a:ext cx="6675746" cy="2871215"/>
          </a:xfrm>
          <a:prstGeom prst="rect">
            <a:avLst/>
          </a:prstGeom>
        </p:spPr>
      </p:pic>
      <p:sp>
        <p:nvSpPr>
          <p:cNvPr id="8" name="Rounded Rectangle 7"/>
          <p:cNvSpPr/>
          <p:nvPr/>
        </p:nvSpPr>
        <p:spPr>
          <a:xfrm>
            <a:off x="548640" y="4809744"/>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983480"/>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86384"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1097280"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Left panel: average score on a 7 question autism quiz. The vertical bars overlap, so we cannot call this a real difference.</a:t>
            </a:r>
          </a:p>
        </p:txBody>
      </p:sp>
      <p:sp>
        <p:nvSpPr>
          <p:cNvPr id="13" name="Oval 12"/>
          <p:cNvSpPr/>
          <p:nvPr/>
        </p:nvSpPr>
        <p:spPr>
          <a:xfrm>
            <a:off x="4429658"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4740554"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Right panel: the same comparison, question by question. Both groups are strong on vaccines and Tylenol, both weak on genetics.</a:t>
            </a:r>
          </a:p>
        </p:txBody>
      </p:sp>
      <p:sp>
        <p:nvSpPr>
          <p:cNvPr id="16" name="Oval 15"/>
          <p:cNvSpPr/>
          <p:nvPr/>
        </p:nvSpPr>
        <p:spPr>
          <a:xfrm>
            <a:off x="8072932"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2932"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383828"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same picture holds for values and for demographics. Nothing survives once we account for how many things we tested.</a:t>
            </a:r>
          </a:p>
        </p:txBody>
      </p:sp>
      <p:sp>
        <p:nvSpPr>
          <p:cNvPr id="19" name="TextBox 18"/>
          <p:cNvSpPr txBox="1"/>
          <p:nvPr/>
        </p:nvSpPr>
        <p:spPr>
          <a:xfrm>
            <a:off x="548640" y="5961888"/>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figure_4_autism_knowledge.png, figure_5_values_characterization.png, figure_6_demographic_characterization.png, table_29_power_precision.csv</a:t>
            </a:r>
          </a:p>
        </p:txBody>
      </p:sp>
      <p:sp>
        <p:nvSpPr>
          <p:cNvPr id="20" name="Rounded Rectangle 19"/>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We did not find a difference. That is not the same as there being none. At this sample size, gaps under about 25 points would be invisible to 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Now the second question: how much of this data can we trust?</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One project was collected under supervision. The other was flooded with low quality submissions. We score every record against the same fixed set of rules.</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graphicFrame>
        <p:nvGraphicFramePr>
          <p:cNvPr id="6" name="Chart 5"/>
          <p:cNvGraphicFramePr>
            <a:graphicFrameLocks noGrp="1"/>
          </p:cNvGraphicFramePr>
          <p:nvPr/>
        </p:nvGraphicFramePr>
        <p:xfrm>
          <a:off x="548640" y="1700784"/>
          <a:ext cx="6967728" cy="3383280"/>
        </p:xfrm>
        <a:graphic>
          <a:graphicData uri="http://schemas.openxmlformats.org/drawingml/2006/chart">
            <c:chart xmlns:c="http://schemas.openxmlformats.org/drawingml/2006/chart" r:id="rId3"/>
          </a:graphicData>
        </a:graphic>
      </p:graphicFrame>
      <p:sp>
        <p:nvSpPr>
          <p:cNvPr id="7" name="Rounded Rectangle 6"/>
          <p:cNvSpPr/>
          <p:nvPr/>
        </p:nvSpPr>
        <p:spPr>
          <a:xfrm>
            <a:off x="7699248" y="1700784"/>
            <a:ext cx="3941063" cy="3383280"/>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9" name="Oval 8"/>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1" name="TextBox 10"/>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Blue on the right is Tier 4, meaning the record passed every check. Red on the left is Tier 1, meaning something in it is impossible.</a:t>
            </a:r>
          </a:p>
        </p:txBody>
      </p:sp>
      <p:sp>
        <p:nvSpPr>
          <p:cNvPr id="12" name="Oval 11"/>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4" name="TextBox 13"/>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In the clean project almost 9 in 10 records pass. In the legacy project fewer than 1 in 20 do.</a:t>
            </a:r>
          </a:p>
        </p:txBody>
      </p:sp>
      <p:sp>
        <p:nvSpPr>
          <p:cNvPr id="15" name="Oval 14"/>
          <p:cNvSpPr/>
          <p:nvPr/>
        </p:nvSpPr>
        <p:spPr>
          <a:xfrm>
            <a:off x="7936992" y="3445002"/>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3472434"/>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7" name="TextBox 16"/>
          <p:cNvSpPr txBox="1"/>
          <p:nvPr/>
        </p:nvSpPr>
        <p:spPr>
          <a:xfrm>
            <a:off x="8247888" y="3431286"/>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That is why we treat the clean project as our main dataset and the legacy one as a rough second opinion.</a:t>
            </a:r>
          </a:p>
        </p:txBody>
      </p:sp>
      <p:sp>
        <p:nvSpPr>
          <p:cNvPr id="18" name="Rounded Rectangle 17"/>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A low tier means we do not trust the record. It does not mean a bot filled it in. We have no way to tell who or what typed the answers.</a:t>
            </a:r>
          </a:p>
        </p:txBody>
      </p:sp>
      <p:sp>
        <p:nvSpPr>
          <p:cNvPr id="20" name="TextBox 19"/>
          <p:cNvSpPr txBox="1"/>
          <p:nvPr/>
        </p:nvSpPr>
        <p:spPr>
          <a:xfrm>
            <a:off x="548640" y="6035040"/>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A simple check that catches impossible answers</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If the survey form could not have produced an answer, the record cannot be right. There is no threshold to argue about and no judgement call to make.</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548640" y="1719072"/>
            <a:ext cx="5989320" cy="3246120"/>
          </a:xfrm>
          <a:prstGeom prst="roundRect">
            <a:avLst>
              <a:gd name="adj" fmla="val 12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83664"/>
            <a:ext cx="5486400" cy="219456"/>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A REAL EXAMPLE FROM RECORD 4581_1069</a:t>
            </a:r>
          </a:p>
        </p:txBody>
      </p:sp>
      <p:sp>
        <p:nvSpPr>
          <p:cNvPr id="8" name="Rounded Rectangle 7"/>
          <p:cNvSpPr/>
          <p:nvPr/>
        </p:nvSpPr>
        <p:spPr>
          <a:xfrm>
            <a:off x="804672" y="2194560"/>
            <a:ext cx="5477256" cy="64008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13432"/>
            <a:ext cx="3931920" cy="219456"/>
          </a:xfrm>
          <a:prstGeom prst="rect">
            <a:avLst/>
          </a:prstGeom>
          <a:noFill/>
        </p:spPr>
        <p:txBody>
          <a:bodyPr wrap="square" lIns="0" rIns="0" tIns="0" bIns="0" anchor="t">
            <a:spAutoFit/>
          </a:bodyPr>
          <a:lstStyle/>
          <a:p>
            <a:pPr algn="l">
              <a:spcAft>
                <a:spcPts val="0"/>
              </a:spcAft>
            </a:pPr>
            <a:r>
              <a:rPr sz="1200" b="0">
                <a:solidFill>
                  <a:srgbClr val="000000"/>
                </a:solidFill>
                <a:latin typeface="Libre Franklin Medium"/>
              </a:rPr>
              <a:t>How many children do you have?</a:t>
            </a:r>
          </a:p>
        </p:txBody>
      </p:sp>
      <p:sp>
        <p:nvSpPr>
          <p:cNvPr id="10" name="Rounded Rectangle 9"/>
          <p:cNvSpPr/>
          <p:nvPr/>
        </p:nvSpPr>
        <p:spPr>
          <a:xfrm>
            <a:off x="5166359" y="2304288"/>
            <a:ext cx="960120" cy="420624"/>
          </a:xfrm>
          <a:prstGeom prst="roundRect">
            <a:avLst>
              <a:gd name="adj" fmla="val 2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59" y="2382012"/>
            <a:ext cx="960120" cy="274320"/>
          </a:xfrm>
          <a:prstGeom prst="rect">
            <a:avLst/>
          </a:prstGeom>
          <a:noFill/>
        </p:spPr>
        <p:txBody>
          <a:bodyPr wrap="square" lIns="0" rIns="0" tIns="0" bIns="0" anchor="t">
            <a:spAutoFit/>
          </a:bodyPr>
          <a:lstStyle/>
          <a:p>
            <a:pPr algn="ctr">
              <a:spcAft>
                <a:spcPts val="0"/>
              </a:spcAft>
            </a:pPr>
            <a:r>
              <a:rPr sz="1600" b="1">
                <a:solidFill>
                  <a:srgbClr val="F4F4F6"/>
                </a:solidFill>
                <a:latin typeface="Libre Franklin"/>
              </a:rPr>
              <a:t>2</a:t>
            </a:r>
          </a:p>
        </p:txBody>
      </p:sp>
      <p:sp>
        <p:nvSpPr>
          <p:cNvPr id="12" name="Rounded Rectangle 11"/>
          <p:cNvSpPr/>
          <p:nvPr/>
        </p:nvSpPr>
        <p:spPr>
          <a:xfrm>
            <a:off x="804672" y="2944368"/>
            <a:ext cx="5477256" cy="8412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54096"/>
            <a:ext cx="5074920" cy="219456"/>
          </a:xfrm>
          <a:prstGeom prst="rect">
            <a:avLst/>
          </a:prstGeom>
          <a:noFill/>
        </p:spPr>
        <p:txBody>
          <a:bodyPr wrap="square" lIns="0" rIns="0" tIns="0" bIns="0" anchor="t">
            <a:spAutoFit/>
          </a:bodyPr>
          <a:lstStyle/>
          <a:p>
            <a:pPr algn="l">
              <a:spcAft>
                <a:spcPts val="0"/>
              </a:spcAft>
            </a:pPr>
            <a:r>
              <a:rPr sz="1200" b="0">
                <a:solidFill>
                  <a:srgbClr val="000000"/>
                </a:solidFill>
                <a:latin typeface="Libre Franklin Medium"/>
              </a:rPr>
              <a:t>Which age bands are your children in?</a:t>
            </a:r>
          </a:p>
        </p:txBody>
      </p:sp>
      <p:sp>
        <p:nvSpPr>
          <p:cNvPr id="14" name="Rounded Rectangle 13"/>
          <p:cNvSpPr/>
          <p:nvPr/>
        </p:nvSpPr>
        <p:spPr>
          <a:xfrm>
            <a:off x="1005840"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3</a:t>
            </a:r>
          </a:p>
        </p:txBody>
      </p:sp>
      <p:sp>
        <p:nvSpPr>
          <p:cNvPr id="16" name="Rounded Rectangle 15"/>
          <p:cNvSpPr/>
          <p:nvPr/>
        </p:nvSpPr>
        <p:spPr>
          <a:xfrm>
            <a:off x="2231136"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31136"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4</a:t>
            </a:r>
          </a:p>
        </p:txBody>
      </p:sp>
      <p:sp>
        <p:nvSpPr>
          <p:cNvPr id="18" name="Rounded Rectangle 17"/>
          <p:cNvSpPr/>
          <p:nvPr/>
        </p:nvSpPr>
        <p:spPr>
          <a:xfrm>
            <a:off x="3456432"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5</a:t>
            </a:r>
          </a:p>
        </p:txBody>
      </p:sp>
      <p:sp>
        <p:nvSpPr>
          <p:cNvPr id="20" name="TextBox 19"/>
          <p:cNvSpPr txBox="1"/>
          <p:nvPr/>
        </p:nvSpPr>
        <p:spPr>
          <a:xfrm>
            <a:off x="4773168" y="3369564"/>
            <a:ext cx="1554480" cy="219456"/>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3 bands ticked</a:t>
            </a:r>
          </a:p>
        </p:txBody>
      </p:sp>
      <p:sp>
        <p:nvSpPr>
          <p:cNvPr id="21" name="Rounded Rectangle 20"/>
          <p:cNvSpPr/>
          <p:nvPr/>
        </p:nvSpPr>
        <p:spPr>
          <a:xfrm>
            <a:off x="804672" y="3913632"/>
            <a:ext cx="5477256" cy="822960"/>
          </a:xfrm>
          <a:prstGeom prst="roundRect">
            <a:avLst>
              <a:gd name="adj" fmla="val 12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4023360"/>
            <a:ext cx="5074920" cy="640080"/>
          </a:xfrm>
          <a:prstGeom prst="rect">
            <a:avLst/>
          </a:prstGeom>
          <a:noFill/>
        </p:spPr>
        <p:txBody>
          <a:bodyPr wrap="square" lIns="0" rIns="0" tIns="0" bIns="0" anchor="t">
            <a:spAutoFit/>
          </a:bodyPr>
          <a:lstStyle/>
          <a:p>
            <a:pPr algn="l">
              <a:lnSpc>
                <a:spcPct val="105000"/>
              </a:lnSpc>
              <a:spcAft>
                <a:spcPts val="0"/>
              </a:spcAft>
            </a:pPr>
            <a:r>
              <a:rPr sz="1150" b="0">
                <a:solidFill>
                  <a:srgbClr val="FFFFFF"/>
                </a:solidFill>
                <a:latin typeface="Libre Franklin Medium"/>
              </a:rPr>
              <a:t>Three different age bands cannot hold two children.
The form does not allow it, so at least one answer here is not a real report.</a:t>
            </a:r>
          </a:p>
        </p:txBody>
      </p:sp>
      <p:sp>
        <p:nvSpPr>
          <p:cNvPr id="23" name="Rounded Rectangle 22"/>
          <p:cNvSpPr/>
          <p:nvPr/>
        </p:nvSpPr>
        <p:spPr>
          <a:xfrm>
            <a:off x="7699248" y="1719072"/>
            <a:ext cx="3941063" cy="731520"/>
          </a:xfrm>
          <a:prstGeom prst="roundRect">
            <a:avLst>
              <a:gd name="adj" fmla="val 13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36992" y="1837943"/>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44</a:t>
            </a:r>
          </a:p>
        </p:txBody>
      </p:sp>
      <p:sp>
        <p:nvSpPr>
          <p:cNvPr id="25" name="TextBox 24"/>
          <p:cNvSpPr txBox="1"/>
          <p:nvPr/>
        </p:nvSpPr>
        <p:spPr>
          <a:xfrm>
            <a:off x="8887968" y="1938528"/>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records flagged by this check</a:t>
            </a:r>
          </a:p>
        </p:txBody>
      </p:sp>
      <p:sp>
        <p:nvSpPr>
          <p:cNvPr id="26" name="Rounded Rectangle 25"/>
          <p:cNvSpPr/>
          <p:nvPr/>
        </p:nvSpPr>
        <p:spPr>
          <a:xfrm>
            <a:off x="7699248" y="2560320"/>
            <a:ext cx="3941063" cy="731520"/>
          </a:xfrm>
          <a:prstGeom prst="roundRect">
            <a:avLst>
              <a:gd name="adj" fmla="val 13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36992" y="2679191"/>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44</a:t>
            </a:r>
          </a:p>
        </p:txBody>
      </p:sp>
      <p:sp>
        <p:nvSpPr>
          <p:cNvPr id="28" name="TextBox 27"/>
          <p:cNvSpPr txBox="1"/>
          <p:nvPr/>
        </p:nvSpPr>
        <p:spPr>
          <a:xfrm>
            <a:off x="8887968" y="2779776"/>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of them in the legacy project</a:t>
            </a:r>
          </a:p>
        </p:txBody>
      </p:sp>
      <p:sp>
        <p:nvSpPr>
          <p:cNvPr id="29" name="Rounded Rectangle 28"/>
          <p:cNvSpPr/>
          <p:nvPr/>
        </p:nvSpPr>
        <p:spPr>
          <a:xfrm>
            <a:off x="7699248" y="3401568"/>
            <a:ext cx="3941063" cy="731520"/>
          </a:xfrm>
          <a:prstGeom prst="roundRect">
            <a:avLst>
              <a:gd name="adj" fmla="val 13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36992" y="3520439"/>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0</a:t>
            </a:r>
          </a:p>
        </p:txBody>
      </p:sp>
      <p:sp>
        <p:nvSpPr>
          <p:cNvPr id="31" name="TextBox 30"/>
          <p:cNvSpPr txBox="1"/>
          <p:nvPr/>
        </p:nvSpPr>
        <p:spPr>
          <a:xfrm>
            <a:off x="8887968" y="3621024"/>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of them in the clean project</a:t>
            </a:r>
          </a:p>
        </p:txBody>
      </p:sp>
      <p:sp>
        <p:nvSpPr>
          <p:cNvPr id="32" name="Rounded Rectangle 31"/>
          <p:cNvSpPr/>
          <p:nvPr/>
        </p:nvSpPr>
        <p:spPr>
          <a:xfrm>
            <a:off x="7699248" y="4242816"/>
            <a:ext cx="3941063" cy="731520"/>
          </a:xfrm>
          <a:prstGeom prst="roundRect">
            <a:avLst>
              <a:gd name="adj" fmla="val 13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36992" y="4361688"/>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0</a:t>
            </a:r>
          </a:p>
        </p:txBody>
      </p:sp>
      <p:sp>
        <p:nvSpPr>
          <p:cNvPr id="34" name="TextBox 33"/>
          <p:cNvSpPr txBox="1"/>
          <p:nvPr/>
        </p:nvSpPr>
        <p:spPr>
          <a:xfrm>
            <a:off x="8887968" y="4462272"/>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false alarms in 131 verified humans</a:t>
            </a:r>
          </a:p>
        </p:txBody>
      </p:sp>
      <p:sp>
        <p:nvSpPr>
          <p:cNvPr id="35" name="Rounded Rectangle 34"/>
          <p:cNvSpPr/>
          <p:nvPr/>
        </p:nvSpPr>
        <p:spPr>
          <a:xfrm>
            <a:off x="548640" y="5138928"/>
            <a:ext cx="5989320"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312664"/>
            <a:ext cx="5513831"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WHY THIS ONE IS DIFFERENT</a:t>
            </a:r>
          </a:p>
        </p:txBody>
      </p:sp>
      <p:sp>
        <p:nvSpPr>
          <p:cNvPr id="37" name="Oval 36"/>
          <p:cNvSpPr/>
          <p:nvPr/>
        </p:nvSpPr>
        <p:spPr>
          <a:xfrm>
            <a:off x="786384" y="559612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62356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39" name="TextBox 38"/>
          <p:cNvSpPr txBox="1"/>
          <p:nvPr/>
        </p:nvSpPr>
        <p:spPr>
          <a:xfrm>
            <a:off x="1097280" y="5596128"/>
            <a:ext cx="229057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Most fraud checks say a record looks unusual. This one says the record is impossible, which is much harder to argue with.</a:t>
            </a:r>
          </a:p>
        </p:txBody>
      </p:sp>
      <p:sp>
        <p:nvSpPr>
          <p:cNvPr id="40" name="Oval 39"/>
          <p:cNvSpPr/>
          <p:nvPr/>
        </p:nvSpPr>
        <p:spPr>
          <a:xfrm>
            <a:off x="3698748" y="559612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98748" y="562356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42" name="TextBox 41"/>
          <p:cNvSpPr txBox="1"/>
          <p:nvPr/>
        </p:nvSpPr>
        <p:spPr>
          <a:xfrm>
            <a:off x="4009644" y="5596128"/>
            <a:ext cx="229057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It never flagged any of our 131 verified human caregivers, so tightening it costs no good data.</a:t>
            </a:r>
          </a:p>
        </p:txBody>
      </p:sp>
      <p:sp>
        <p:nvSpPr>
          <p:cNvPr id="43" name="TextBox 42"/>
          <p:cNvSpPr txBox="1"/>
          <p:nvPr/>
        </p:nvSpPr>
        <p:spPr>
          <a:xfrm>
            <a:off x="548640" y="636422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table_34_branching_logic_audit.csv (44 rows), table_15_rule_false_positive_rates.csv, table_15b_rule_counts_by_project.csv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Does the messy data change the main finding?</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We re ran the whole analysis five times, using five different levels of strictness about which records to keep. The answer barely moved.</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548640" y="1912245"/>
            <a:ext cx="6967728" cy="4075925"/>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20_tier_sensitivity.png"/>
          <p:cNvPicPr>
            <a:picLocks noChangeAspect="1"/>
          </p:cNvPicPr>
          <p:nvPr/>
        </p:nvPicPr>
        <p:blipFill>
          <a:blip r:embed="rId3"/>
          <a:stretch>
            <a:fillRect/>
          </a:stretch>
        </p:blipFill>
        <p:spPr>
          <a:xfrm>
            <a:off x="640080" y="2003685"/>
            <a:ext cx="6784848" cy="3893045"/>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row is one way of deciding which records to keep. The bottom row is the strictest, the top row uses only the legacy project.</a:t>
            </a:r>
          </a:p>
        </p:txBody>
      </p:sp>
      <p:sp>
        <p:nvSpPr>
          <p:cNvPr id="13" name="Oval 12"/>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dot is how big the gap between the two caregiver groups is. The line shows how sure we are about it.</a:t>
            </a:r>
          </a:p>
        </p:txBody>
      </p:sp>
      <p:sp>
        <p:nvSpPr>
          <p:cNvPr id="16" name="Oval 15"/>
          <p:cNvSpPr/>
          <p:nvPr/>
        </p:nvSpPr>
        <p:spPr>
          <a:xfrm>
            <a:off x="7936992" y="358993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61736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576218"/>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Every line sits well to the right of zero, so the finding holds whichever rule we pick. The gap ranges from about 42 to 52 points.</a:t>
            </a:r>
          </a:p>
        </p:txBody>
      </p:sp>
      <p:sp>
        <p:nvSpPr>
          <p:cNvPr id="19" name="Oval 18"/>
          <p:cNvSpPr/>
          <p:nvPr/>
        </p:nvSpPr>
        <p:spPr>
          <a:xfrm>
            <a:off x="7936992" y="4289907"/>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4317339"/>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4</a:t>
            </a:r>
          </a:p>
        </p:txBody>
      </p:sp>
      <p:sp>
        <p:nvSpPr>
          <p:cNvPr id="21" name="TextBox 20"/>
          <p:cNvSpPr txBox="1"/>
          <p:nvPr/>
        </p:nvSpPr>
        <p:spPr>
          <a:xfrm>
            <a:off x="8247888" y="4276191"/>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top row looks strongest but its line is very wide, because it rests on only 47 people. Treat it as consistent rather than as proof.</a:t>
            </a:r>
          </a:p>
        </p:txBody>
      </p:sp>
      <p:sp>
        <p:nvSpPr>
          <p:cNvPr id="22" name="TextBox 2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figure_20_tier_sensitivity.png, table_20_tier_sensitivity.csv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What we can say, and what we will not say</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Everything on the left is supported by the figures we just walked through. Everything on the right is a sentence I would ask us not to write.</a:t>
            </a:r>
          </a:p>
        </p:txBody>
      </p:sp>
      <p:pic>
        <p:nvPicPr>
          <p:cNvPr id="5" name="Picture 4" descr="logo-horizontal-discovery-blue.png"/>
          <p:cNvPicPr>
            <a:picLocks noChangeAspect="1"/>
          </p:cNvPicPr>
          <p:nvPr/>
        </p:nvPicPr>
        <p:blipFill>
          <a:blip r:embed="rId2"/>
          <a:stretch>
            <a:fillRect/>
          </a:stretch>
        </p:blipFill>
        <p:spPr>
          <a:xfrm>
            <a:off x="11076127" y="402336"/>
            <a:ext cx="565073" cy="265176"/>
          </a:xfrm>
          <a:prstGeom prst="rect">
            <a:avLst/>
          </a:prstGeom>
        </p:spPr>
      </p:pic>
      <p:sp>
        <p:nvSpPr>
          <p:cNvPr id="6" name="Rounded Rectangle 5"/>
          <p:cNvSpPr/>
          <p:nvPr/>
        </p:nvSpPr>
        <p:spPr>
          <a:xfrm>
            <a:off x="548640" y="1792224"/>
            <a:ext cx="5486400" cy="3749039"/>
          </a:xfrm>
          <a:prstGeom prst="roundRect">
            <a:avLst>
              <a:gd name="adj" fmla="val 14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36792" y="1792224"/>
            <a:ext cx="5303520" cy="3749039"/>
          </a:xfrm>
          <a:prstGeom prst="roundRect">
            <a:avLst>
              <a:gd name="adj" fmla="val 14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75104"/>
            <a:ext cx="4937760" cy="274320"/>
          </a:xfrm>
          <a:prstGeom prst="rect">
            <a:avLst/>
          </a:prstGeom>
          <a:noFill/>
        </p:spPr>
        <p:txBody>
          <a:bodyPr wrap="square" lIns="0" rIns="0" tIns="0" bIns="0" anchor="t">
            <a:spAutoFit/>
          </a:bodyPr>
          <a:lstStyle/>
          <a:p>
            <a:pPr algn="l">
              <a:spcAft>
                <a:spcPts val="0"/>
              </a:spcAft>
            </a:pPr>
            <a:r>
              <a:rPr sz="1500" b="1">
                <a:solidFill>
                  <a:srgbClr val="3366FF"/>
                </a:solidFill>
                <a:latin typeface="Libre Franklin"/>
              </a:rPr>
              <a:t>We can say this</a:t>
            </a:r>
          </a:p>
        </p:txBody>
      </p:sp>
      <p:sp>
        <p:nvSpPr>
          <p:cNvPr id="9" name="TextBox 8"/>
          <p:cNvSpPr txBox="1"/>
          <p:nvPr/>
        </p:nvSpPr>
        <p:spPr>
          <a:xfrm>
            <a:off x="6611112" y="1975104"/>
            <a:ext cx="4754880" cy="274320"/>
          </a:xfrm>
          <a:prstGeom prst="rect">
            <a:avLst/>
          </a:prstGeom>
          <a:noFill/>
        </p:spPr>
        <p:txBody>
          <a:bodyPr wrap="square" lIns="0" rIns="0" tIns="0" bIns="0" anchor="t">
            <a:spAutoFit/>
          </a:bodyPr>
          <a:lstStyle/>
          <a:p>
            <a:pPr algn="l">
              <a:spcAft>
                <a:spcPts val="0"/>
              </a:spcAft>
            </a:pPr>
            <a:r>
              <a:rPr sz="1500" b="1">
                <a:solidFill>
                  <a:srgbClr val="D74E2D"/>
                </a:solidFill>
                <a:latin typeface="Libre Franklin"/>
              </a:rPr>
              <a:t>We will not say this</a:t>
            </a:r>
          </a:p>
        </p:txBody>
      </p:sp>
      <p:sp>
        <p:nvSpPr>
          <p:cNvPr id="10" name="Oval 9"/>
          <p:cNvSpPr/>
          <p:nvPr/>
        </p:nvSpPr>
        <p:spPr>
          <a:xfrm>
            <a:off x="822959" y="241401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4602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2" name="TextBox 11"/>
          <p:cNvSpPr txBox="1"/>
          <p:nvPr/>
        </p:nvSpPr>
        <p:spPr>
          <a:xfrm>
            <a:off x="1170432" y="239572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The two caregiver groups are about 42 points apart on whether they would definitely screen their baby.</a:t>
            </a:r>
          </a:p>
        </p:txBody>
      </p:sp>
      <p:sp>
        <p:nvSpPr>
          <p:cNvPr id="13" name="Oval 12"/>
          <p:cNvSpPr/>
          <p:nvPr/>
        </p:nvSpPr>
        <p:spPr>
          <a:xfrm>
            <a:off x="822959" y="319125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2326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5" name="TextBox 14"/>
          <p:cNvSpPr txBox="1"/>
          <p:nvPr/>
        </p:nvSpPr>
        <p:spPr>
          <a:xfrm>
            <a:off x="1170432" y="317296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gap survives once we account for autism in the home, and it holds under all five strictness settings we tried.</a:t>
            </a:r>
          </a:p>
        </p:txBody>
      </p:sp>
      <p:sp>
        <p:nvSpPr>
          <p:cNvPr id="16" name="Oval 15"/>
          <p:cNvSpPr/>
          <p:nvPr/>
        </p:nvSpPr>
        <p:spPr>
          <a:xfrm>
            <a:off x="822959" y="396849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00050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8" name="TextBox 17"/>
          <p:cNvSpPr txBox="1"/>
          <p:nvPr/>
        </p:nvSpPr>
        <p:spPr>
          <a:xfrm>
            <a:off x="1170432" y="395020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44 records in the legacy project contain answers the survey form could not have produced.</a:t>
            </a:r>
          </a:p>
        </p:txBody>
      </p:sp>
      <p:sp>
        <p:nvSpPr>
          <p:cNvPr id="19" name="Oval 18"/>
          <p:cNvSpPr/>
          <p:nvPr/>
        </p:nvSpPr>
        <p:spPr>
          <a:xfrm>
            <a:off x="822959" y="474573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77774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21" name="TextBox 20"/>
          <p:cNvSpPr txBox="1"/>
          <p:nvPr/>
        </p:nvSpPr>
        <p:spPr>
          <a:xfrm>
            <a:off x="1170432" y="472744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Almost 9 in 10 clean project records pass every trust check. Fewer than 1 in 20 legacy records do.</a:t>
            </a:r>
          </a:p>
        </p:txBody>
      </p:sp>
      <p:sp>
        <p:nvSpPr>
          <p:cNvPr id="22" name="Oval 21"/>
          <p:cNvSpPr/>
          <p:nvPr/>
        </p:nvSpPr>
        <p:spPr>
          <a:xfrm>
            <a:off x="6611112" y="241401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11112" y="244602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24" name="TextBox 23"/>
          <p:cNvSpPr txBox="1"/>
          <p:nvPr/>
        </p:nvSpPr>
        <p:spPr>
          <a:xfrm>
            <a:off x="6958584" y="239572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attitudes cause screening decisions. We measured both in the same sitting.</a:t>
            </a:r>
          </a:p>
        </p:txBody>
      </p:sp>
      <p:sp>
        <p:nvSpPr>
          <p:cNvPr id="25" name="Oval 24"/>
          <p:cNvSpPr/>
          <p:nvPr/>
        </p:nvSpPr>
        <p:spPr>
          <a:xfrm>
            <a:off x="6611112" y="319125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22326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27" name="TextBox 26"/>
          <p:cNvSpPr txBox="1"/>
          <p:nvPr/>
        </p:nvSpPr>
        <p:spPr>
          <a:xfrm>
            <a:off x="6958584" y="317296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any share of records came from bots. We have no way to tell who typed them.</a:t>
            </a:r>
          </a:p>
        </p:txBody>
      </p:sp>
      <p:sp>
        <p:nvSpPr>
          <p:cNvPr id="28" name="Oval 27"/>
          <p:cNvSpPr/>
          <p:nvPr/>
        </p:nvSpPr>
        <p:spPr>
          <a:xfrm>
            <a:off x="6611112" y="396849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11112" y="400050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30" name="TextBox 29"/>
          <p:cNvSpPr txBox="1"/>
          <p:nvPr/>
        </p:nvSpPr>
        <p:spPr>
          <a:xfrm>
            <a:off x="6958584" y="395020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the two groups are the same on knowledge or demographics. We just could not detect a gap this small.</a:t>
            </a:r>
          </a:p>
        </p:txBody>
      </p:sp>
      <p:sp>
        <p:nvSpPr>
          <p:cNvPr id="31" name="Oval 30"/>
          <p:cNvSpPr/>
          <p:nvPr/>
        </p:nvSpPr>
        <p:spPr>
          <a:xfrm>
            <a:off x="6611112" y="474573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11112" y="477774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33" name="TextBox 32"/>
          <p:cNvSpPr txBox="1"/>
          <p:nvPr/>
        </p:nvSpPr>
        <p:spPr>
          <a:xfrm>
            <a:off x="6958584" y="472744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the 44 flagged records tell us how much of the legacy project is bad. They only tell us about those 44.</a:t>
            </a:r>
          </a:p>
        </p:txBody>
      </p:sp>
      <p:sp>
        <p:nvSpPr>
          <p:cNvPr id="34" name="Rounded Rectangle 33"/>
          <p:cNvSpPr/>
          <p:nvPr/>
        </p:nvSpPr>
        <p:spPr>
          <a:xfrm>
            <a:off x="548640" y="5724144"/>
            <a:ext cx="11094415"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59" y="5870448"/>
            <a:ext cx="10545775" cy="310896"/>
          </a:xfrm>
          <a:prstGeom prst="rect">
            <a:avLst/>
          </a:prstGeom>
          <a:noFill/>
        </p:spPr>
        <p:txBody>
          <a:bodyPr wrap="square" lIns="0" rIns="0" tIns="0" bIns="0" anchor="t">
            <a:spAutoFit/>
          </a:bodyPr>
          <a:lstStyle/>
          <a:p>
            <a:pPr algn="l">
              <a:spcAft>
                <a:spcPts val="0"/>
              </a:spcAft>
            </a:pPr>
            <a:r>
              <a:rPr sz="1200" b="1">
                <a:solidFill>
                  <a:srgbClr val="F4F4F6"/>
                </a:solidFill>
                <a:latin typeface="Libre Franklin"/>
              </a:rPr>
              <a:t>Next steps: keep the clean project as our main dataset, report trust tiers instead of labels, and use the wording on the left when we write this up.</a:t>
            </a:r>
          </a:p>
        </p:txBody>
      </p:sp>
      <p:sp>
        <p:nvSpPr>
          <p:cNvPr id="36" name="TextBox 35"/>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table_30_decision_summary.csv, plus every figure in this deck. Full detail is in ESD_Caregiver_Cluster_and_Trust_Screen.pptx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