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can we group caregivers by how acceptable they find infant screening, and does that grouping tell us anything.
Answer: yes on both, with one caveat about how many groups there really are.
Ten slides, about ten minutes. Data, method, results, then what I still do not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no more than that.
The ten areas come from theory, not from searching the data, so they stay interpretable.
The 8-of-10 rule was set before we looked at any result. Only four caregivers fail it.
Two groups was the choice, and slide 6 shows how well it fits.
Step four is the discipline that makes the result mean anything. Screening stays out of group formation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projects. 4797 is the one we analyse. 4581 is older and larger and we keep it only for comparison.
The three checks on the left are the reason 4797 is trustworthy and 4581 is not. They were added to the newer version.
The chart is the single clearest picture of the problem. Not one of 131 real caregivers finished in under 11.57 minutes. In the old project, one in eight did.
That gives us a threshold we did not have to invent.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rules, each a fixed threshold written down before we used it.
The right-hand column is what makes them defensible. Each rule was run against caregivers we know are real, and the number is how often it wrongly flagged them. Five rules never do.
The two projects come out completely differently. Under three percent flagged in the current project, nearly sixty percent in the old one.
The number that matters most for today: only three flagged records sit inside the 135 we analyse. The cohort was already clean.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numbers, each drop with a stated reason.
The 42 are people outside the study's own cohort file. That selection rule predates this analysis and is one thing I would still like documented.
Only four people fail the 8-of-10 rule, so the data is in good shape.
The last four matter more than they look. None said Definitely yes, so removing them helps our result. We tested all four ways of putting them back and the difference never drops below 39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numbers describe the fit.
Sizes are usable. Neither group is so small that comparisons fall apart.
Read repeatability and separation together. We find the same split every time we resample, and that split is not a wide gap.
Both can hold at once. It means we are describing a scale rather than two categories, and I keep the language matched to that all the way through.
The chart shows it honestly. A handful of people sit on the wrong side of the line and I have left them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table I would want if I were in the audience. Every area, both averages, and the gap.
The three biggest gaps are all around twenty-five points: trust in the clinician, willingness to do a blood draw, and whether offering it to everyone feels right.
The smallest gap is disgust and anger, four points, and both groups are near the top of that scale. Nobody finds the idea offensive.
Note the bottom row of the ranking. Both groups sit above 74 on simple options like video and saliva. The Conditional group is not saying no, it is saying not like that.
Practical read: reduce the burden and build trust, rather than trying to educate.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finding, and it is large by any standard.
Seventy percent against twenty-eight, a forty-two point difference, with ranges that do not come close to touching.
The counts differ, 80 and 47, because four people in the Higher group gave no answer. That is why I show counts rather than percentages alone.
Look at the right-hand chart too. It is not just Definitely yes. Forty percent of the Conditional group land in no, probably not, or unsure, against ten percent in the Higher group.
Say the caveat once: this is stated intention, not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left answers the obvious challenge. Change who counts as included and the difference moves between forty-two and forty-nine points, the odds ratio between seven and eleven. Stable.
Below it, the honest summary of everything else. Knowledge does not separate the groups. Values do not survive testing ten of them at once.
Premature birth is the one to be careful with. Thirty against forty-seven percent looks real but it is borderline before correction and nowhere near after. It is a hypothesis for the next round.
The one solid extra factor is having an autistic child at home, about four times the odds, and it works alongside group rather than through it.
The footer matters. With forty-seven people, no difference found is not the same as no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column is what I would defend today. Right column is what I would not.
The screening difference is large and it moved very little under every inclusion rule we tried.
What I will not claim is that there are exactly two kinds of caregiver. One fit measure prefers three groups, and a different method splits the same 131 people 110 to 21. There is structure, but its shape is unsettled.
Item two on the next list is what I need from this room: the cohort selection rule and one knowledge answer key are still undocumented.
The bottom line is the practical one. Lower the effort, lead with trust and consent. Teaching people more about autism is not what moves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366FF"/>
        </a:solidFill>
      </p:bgPr>
    </p:bg>
    <p:spTree>
      <p:nvGrpSpPr>
        <p:cNvPr id="1" name=""/>
        <p:cNvGrpSpPr/>
        <p:nvPr/>
      </p:nvGrpSpPr>
      <p:grpSpPr>
        <a:xfrm>
          <a:off x="0" y="0"/>
          <a:ext cx="0" cy="0"/>
          <a:chOff x="0" y="0"/>
          <a:chExt cx="0" cy="0"/>
        </a:xfrm>
      </p:grpSpPr>
      <p:pic>
        <p:nvPicPr>
          <p:cNvPr id="2" name="Image 0" descr="/sessions/happy-eloquent-pascal/mnt/.claude/skills/esd-lab/assets/patterns/pattern-icon-band-white.png">    </p:cNvPr>
          <p:cNvPicPr>
            <a:picLocks noChangeAspect="1"/>
          </p:cNvPicPr>
          <p:nvPr/>
        </p:nvPicPr>
        <p:blipFill>
          <a:blip r:embed="rId1">
            <a:alphaModFix amt="38000"/>
          </a:blip>
          <a:stretch>
            <a:fillRect/>
          </a:stretch>
        </p:blipFill>
        <p:spPr>
          <a:xfrm>
            <a:off x="0" y="0"/>
            <a:ext cx="12191695" cy="530352"/>
          </a:xfrm>
          <a:prstGeom prst="rect">
            <a:avLst/>
          </a:prstGeom>
        </p:spPr>
      </p:pic>
      <p:pic>
        <p:nvPicPr>
          <p:cNvPr id="3" name="Image 1" descr="/sessions/happy-eloquent-pascal/mnt/.claude/skills/esd-lab/assets/patterns/pattern-icon-band-white.png">    </p:cNvPr>
          <p:cNvPicPr>
            <a:picLocks noChangeAspect="1"/>
          </p:cNvPicPr>
          <p:nvPr/>
        </p:nvPicPr>
        <p:blipFill>
          <a:blip r:embed="rId2">
            <a:alphaModFix amt="38000"/>
          </a:blip>
          <a:stretch>
            <a:fillRect/>
          </a:stretch>
        </p:blipFill>
        <p:spPr>
          <a:xfrm>
            <a:off x="0" y="6327648"/>
            <a:ext cx="12191695" cy="530352"/>
          </a:xfrm>
          <a:prstGeom prst="rect">
            <a:avLst/>
          </a:prstGeom>
        </p:spPr>
      </p:pic>
      <p:pic>
        <p:nvPicPr>
          <p:cNvPr id="4" name="Image 2" descr="/sessions/happy-eloquent-pascal/mnt/.claude/skills/esd-lab/assets/logos/logo-horizontal-cool-white.png">    </p:cNvPr>
          <p:cNvPicPr>
            <a:picLocks noChangeAspect="1"/>
          </p:cNvPicPr>
          <p:nvPr/>
        </p:nvPicPr>
        <p:blipFill>
          <a:blip r:embed="rId3"/>
          <a:stretch>
            <a:fillRect/>
          </a:stretch>
        </p:blipFill>
        <p:spPr>
          <a:xfrm>
            <a:off x="640080" y="1234440"/>
            <a:ext cx="1618488" cy="365760"/>
          </a:xfrm>
          <a:prstGeom prst="rect">
            <a:avLst/>
          </a:prstGeom>
        </p:spPr>
      </p:pic>
      <p:sp>
        <p:nvSpPr>
          <p:cNvPr id="5" name="Text 0"/>
          <p:cNvSpPr/>
          <p:nvPr/>
        </p:nvSpPr>
        <p:spPr>
          <a:xfrm>
            <a:off x="640080" y="2011680"/>
            <a:ext cx="10607040" cy="1371600"/>
          </a:xfrm>
          <a:prstGeom prst="rect">
            <a:avLst/>
          </a:prstGeom>
          <a:noFill/>
          <a:ln/>
        </p:spPr>
        <p:txBody>
          <a:bodyPr wrap="square" lIns="0" tIns="0" rIns="0" bIns="0" rtlCol="0" anchor="ctr"/>
          <a:lstStyle/>
          <a:p>
            <a:pPr indent="0" marL="0">
              <a:lnSpc>
                <a:spcPts val="4600"/>
              </a:lnSpc>
              <a:buNone/>
            </a:pPr>
            <a:r>
              <a:rPr lang="en-US" sz="4200" b="1" spc="-40" kern="0" dirty="0">
                <a:solidFill>
                  <a:srgbClr val="F4F4F6"/>
                </a:solidFill>
                <a:latin typeface="Libre Franklin" pitchFamily="34" charset="0"/>
                <a:ea typeface="Libre Franklin" pitchFamily="34" charset="-122"/>
                <a:cs typeface="Libre Franklin" pitchFamily="34" charset="-120"/>
              </a:rPr>
              <a:t>Caregiver Acceptability and</a:t>
            </a:r>
            <a:endParaRPr lang="en-US" sz="4200" dirty="0"/>
          </a:p>
          <a:p>
            <a:pPr indent="0" marL="0">
              <a:lnSpc>
                <a:spcPts val="4600"/>
              </a:lnSpc>
              <a:buNone/>
            </a:pPr>
            <a:r>
              <a:rPr lang="en-US" sz="4200" b="1" spc="-40" kern="0" dirty="0">
                <a:solidFill>
                  <a:srgbClr val="F4F4F6"/>
                </a:solidFill>
                <a:latin typeface="Libre Franklin" pitchFamily="34" charset="0"/>
                <a:ea typeface="Libre Franklin" pitchFamily="34" charset="-122"/>
                <a:cs typeface="Libre Franklin" pitchFamily="34" charset="-120"/>
              </a:rPr>
              <a:t>4-Month Autism Screening</a:t>
            </a:r>
            <a:endParaRPr lang="en-US" sz="4200" dirty="0"/>
          </a:p>
        </p:txBody>
      </p:sp>
      <p:sp>
        <p:nvSpPr>
          <p:cNvPr id="6" name="Text 1"/>
          <p:cNvSpPr/>
          <p:nvPr/>
        </p:nvSpPr>
        <p:spPr>
          <a:xfrm>
            <a:off x="640080" y="3456432"/>
            <a:ext cx="10607040" cy="329184"/>
          </a:xfrm>
          <a:prstGeom prst="rect">
            <a:avLst/>
          </a:prstGeom>
          <a:noFill/>
          <a:ln/>
        </p:spPr>
        <p:txBody>
          <a:bodyPr wrap="square" lIns="0" tIns="0" rIns="0" bIns="0" rtlCol="0" anchor="ctr"/>
          <a:lstStyle/>
          <a:p>
            <a:pPr indent="0" marL="0">
              <a:buNone/>
            </a:pPr>
            <a:r>
              <a:rPr lang="en-US" sz="1700" dirty="0">
                <a:solidFill>
                  <a:srgbClr val="91BAF4"/>
                </a:solidFill>
                <a:latin typeface="Libre Franklin Medium" pitchFamily="34" charset="0"/>
                <a:ea typeface="Libre Franklin Medium" pitchFamily="34" charset="-122"/>
                <a:cs typeface="Libre Franklin Medium" pitchFamily="34" charset="-120"/>
              </a:rPr>
              <a:t>Grouping caregivers by how acceptable they find screening, and what that predicts</a:t>
            </a:r>
            <a:endParaRPr lang="en-US" sz="1700" dirty="0"/>
          </a:p>
        </p:txBody>
      </p:sp>
      <p:sp>
        <p:nvSpPr>
          <p:cNvPr id="7" name="Shape 2"/>
          <p:cNvSpPr/>
          <p:nvPr/>
        </p:nvSpPr>
        <p:spPr>
          <a:xfrm>
            <a:off x="640080" y="4114800"/>
            <a:ext cx="1371600" cy="27432"/>
          </a:xfrm>
          <a:prstGeom prst="rect">
            <a:avLst/>
          </a:prstGeom>
          <a:solidFill>
            <a:srgbClr val="91BAF4"/>
          </a:solidFill>
          <a:ln w="12700">
            <a:solidFill>
              <a:srgbClr val="91BAF4"/>
            </a:solidFill>
            <a:prstDash val="solid"/>
          </a:ln>
        </p:spPr>
      </p:sp>
      <p:sp>
        <p:nvSpPr>
          <p:cNvPr id="8" name="Text 3"/>
          <p:cNvSpPr/>
          <p:nvPr/>
        </p:nvSpPr>
        <p:spPr>
          <a:xfrm>
            <a:off x="640080" y="4352544"/>
            <a:ext cx="10424160" cy="329184"/>
          </a:xfrm>
          <a:prstGeom prst="rect">
            <a:avLst/>
          </a:prstGeom>
          <a:noFill/>
          <a:ln/>
        </p:spPr>
        <p:txBody>
          <a:bodyPr wrap="square" lIns="0" tIns="0" rIns="0" bIns="0" rtlCol="0" anchor="ctr"/>
          <a:lstStyle/>
          <a:p>
            <a:pPr indent="0" marL="0">
              <a:buNone/>
            </a:pPr>
            <a:r>
              <a:rPr lang="en-US" sz="1550" b="1" dirty="0">
                <a:solidFill>
                  <a:srgbClr val="F4F4F6"/>
                </a:solidFill>
                <a:latin typeface="Libre Franklin" pitchFamily="34" charset="0"/>
                <a:ea typeface="Libre Franklin" pitchFamily="34" charset="-122"/>
                <a:cs typeface="Libre Franklin" pitchFamily="34" charset="-120"/>
              </a:rPr>
              <a:t>131 caregivers split into two groups. 70.0% of one group would definitely screen at 4 months, against 27.7% of the other.</a:t>
            </a:r>
            <a:endParaRPr lang="en-US" sz="1550" dirty="0"/>
          </a:p>
        </p:txBody>
      </p:sp>
      <p:sp>
        <p:nvSpPr>
          <p:cNvPr id="9" name="Text 4"/>
          <p:cNvSpPr/>
          <p:nvPr/>
        </p:nvSpPr>
        <p:spPr>
          <a:xfrm>
            <a:off x="640080" y="4718304"/>
            <a:ext cx="10424160" cy="292608"/>
          </a:xfrm>
          <a:prstGeom prst="rect">
            <a:avLst/>
          </a:prstGeom>
          <a:noFill/>
          <a:ln/>
        </p:spPr>
        <p:txBody>
          <a:bodyPr wrap="square" lIns="0" tIns="0" rIns="0" bIns="0" rtlCol="0" anchor="ctr"/>
          <a:lstStyle/>
          <a:p>
            <a:pPr indent="0" marL="0">
              <a:buNone/>
            </a:pPr>
            <a:r>
              <a:rPr lang="en-US" sz="1400" dirty="0">
                <a:solidFill>
                  <a:srgbClr val="E6EEFC"/>
                </a:solidFill>
                <a:latin typeface="Libre Franklin Medium" pitchFamily="34" charset="0"/>
                <a:ea typeface="Libre Franklin Medium" pitchFamily="34" charset="-122"/>
                <a:cs typeface="Libre Franklin Medium" pitchFamily="34" charset="-120"/>
              </a:rPr>
              <a:t>A 42.3 point difference that held up under every check we ran.</a:t>
            </a:r>
            <a:endParaRPr lang="en-US" sz="1400" dirty="0"/>
          </a:p>
        </p:txBody>
      </p:sp>
      <p:sp>
        <p:nvSpPr>
          <p:cNvPr id="10" name="Text 5"/>
          <p:cNvSpPr/>
          <p:nvPr/>
        </p:nvSpPr>
        <p:spPr>
          <a:xfrm>
            <a:off x="640080" y="5669280"/>
            <a:ext cx="10607040" cy="256032"/>
          </a:xfrm>
          <a:prstGeom prst="rect">
            <a:avLst/>
          </a:prstGeom>
          <a:noFill/>
          <a:ln/>
        </p:spPr>
        <p:txBody>
          <a:bodyPr wrap="square" lIns="0" tIns="0" rIns="0" bIns="0" rtlCol="0" anchor="ctr"/>
          <a:lstStyle/>
          <a:p>
            <a:pPr indent="0" marL="0">
              <a:buNone/>
            </a:pPr>
            <a:r>
              <a:rPr lang="en-US" sz="1100" dirty="0">
                <a:solidFill>
                  <a:srgbClr val="91BAF4"/>
                </a:solidFill>
                <a:latin typeface="Libre Franklin Medium" pitchFamily="34" charset="0"/>
                <a:ea typeface="Libre Franklin Medium" pitchFamily="34" charset="-122"/>
                <a:cs typeface="Libre Franklin Medium" pitchFamily="34" charset="-120"/>
              </a:rPr>
              <a:t>Namit   ·   Early Social Development Lab   ·   2026-08-09</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sessions/happy-eloquent-pascal/mnt/.claude/skills/esd-lab/assets/logos/logo-horizontal-discovery-blue.png">    </p:cNvPr>
          <p:cNvPicPr>
            <a:picLocks noChangeAspect="1"/>
          </p:cNvPicPr>
          <p:nvPr/>
        </p:nvPicPr>
        <p:blipFill>
          <a:blip r:embed="rId1"/>
          <a:stretch>
            <a:fillRect/>
          </a:stretch>
        </p:blipFill>
        <p:spPr>
          <a:xfrm>
            <a:off x="457200" y="292608"/>
            <a:ext cx="1179576" cy="265176"/>
          </a:xfrm>
          <a:prstGeom prst="rect">
            <a:avLst/>
          </a:prstGeom>
        </p:spPr>
      </p:pic>
      <p:pic>
        <p:nvPicPr>
          <p:cNvPr id="3" name="Image 1" descr="/sessions/happy-eloquent-pascal/mnt/.claude/skills/esd-lab/assets/logos/uofsc-horizontal-garnet.png">    </p:cNvPr>
          <p:cNvPicPr>
            <a:picLocks noChangeAspect="1"/>
          </p:cNvPicPr>
          <p:nvPr/>
        </p:nvPicPr>
        <p:blipFill>
          <a:blip r:embed="rId2"/>
          <a:stretch>
            <a:fillRect/>
          </a:stretch>
        </p:blipFill>
        <p:spPr>
          <a:xfrm>
            <a:off x="1783080" y="292608"/>
            <a:ext cx="987552" cy="265176"/>
          </a:xfrm>
          <a:prstGeom prst="rect">
            <a:avLst/>
          </a:prstGeom>
        </p:spPr>
      </p:pic>
      <p:sp>
        <p:nvSpPr>
          <p:cNvPr id="4" name="Text 0"/>
          <p:cNvSpPr/>
          <p:nvPr/>
        </p:nvSpPr>
        <p:spPr>
          <a:xfrm>
            <a:off x="457200" y="786384"/>
            <a:ext cx="11274552" cy="512064"/>
          </a:xfrm>
          <a:prstGeom prst="rect">
            <a:avLst/>
          </a:prstGeom>
          <a:noFill/>
          <a:ln/>
        </p:spPr>
        <p:txBody>
          <a:bodyPr wrap="square" lIns="0" tIns="0" rIns="0" bIns="0" rtlCol="0" anchor="ctr"/>
          <a:lstStyle/>
          <a:p>
            <a:pPr indent="0" marL="0">
              <a:buNone/>
            </a:pPr>
            <a:r>
              <a:rPr lang="en-US" sz="2900" b="1" spc="-30" kern="0" dirty="0">
                <a:solidFill>
                  <a:srgbClr val="000000"/>
                </a:solidFill>
                <a:latin typeface="Libre Franklin" pitchFamily="34" charset="0"/>
                <a:ea typeface="Libre Franklin" pitchFamily="34" charset="-122"/>
                <a:cs typeface="Libre Franklin" pitchFamily="34" charset="-120"/>
              </a:rPr>
              <a:t>How the analysis works</a:t>
            </a:r>
            <a:endParaRPr lang="en-US" sz="2900" dirty="0"/>
          </a:p>
        </p:txBody>
      </p:sp>
      <p:sp>
        <p:nvSpPr>
          <p:cNvPr id="5" name="Text 1"/>
          <p:cNvSpPr/>
          <p:nvPr/>
        </p:nvSpPr>
        <p:spPr>
          <a:xfrm>
            <a:off x="11384280" y="6355080"/>
            <a:ext cx="365760" cy="219456"/>
          </a:xfrm>
          <a:prstGeom prst="rect">
            <a:avLst/>
          </a:prstGeom>
          <a:noFill/>
          <a:ln/>
        </p:spPr>
        <p:txBody>
          <a:bodyPr wrap="square" lIns="0" tIns="0" rIns="0" bIns="0" rtlCol="0" anchor="ctr"/>
          <a:lstStyle/>
          <a:p>
            <a:pPr algn="r" indent="0" marL="0">
              <a:buNone/>
            </a:pPr>
            <a:r>
              <a:rPr lang="en-US" sz="1000" dirty="0">
                <a:solidFill>
                  <a:srgbClr val="91BAF4"/>
                </a:solidFill>
                <a:latin typeface="Libre Franklin Medium" pitchFamily="34" charset="0"/>
                <a:ea typeface="Libre Franklin Medium" pitchFamily="34" charset="-122"/>
                <a:cs typeface="Libre Franklin Medium" pitchFamily="34" charset="-120"/>
              </a:rPr>
              <a:t>2</a:t>
            </a:r>
            <a:endParaRPr lang="en-US" sz="1000" dirty="0"/>
          </a:p>
        </p:txBody>
      </p:sp>
      <p:sp>
        <p:nvSpPr>
          <p:cNvPr id="6" name="Shape 2"/>
          <p:cNvSpPr/>
          <p:nvPr/>
        </p:nvSpPr>
        <p:spPr>
          <a:xfrm>
            <a:off x="457200" y="1755648"/>
            <a:ext cx="402336" cy="402336"/>
          </a:xfrm>
          <a:prstGeom prst="ellipse">
            <a:avLst/>
          </a:prstGeom>
          <a:solidFill>
            <a:srgbClr val="E6EEFC"/>
          </a:solidFill>
          <a:ln w="12700">
            <a:solidFill>
              <a:srgbClr val="E6EEFC"/>
            </a:solidFill>
            <a:prstDash val="solid"/>
          </a:ln>
        </p:spPr>
      </p:sp>
      <p:sp>
        <p:nvSpPr>
          <p:cNvPr id="7" name="Text 3"/>
          <p:cNvSpPr/>
          <p:nvPr/>
        </p:nvSpPr>
        <p:spPr>
          <a:xfrm>
            <a:off x="457200" y="1810512"/>
            <a:ext cx="402336" cy="292608"/>
          </a:xfrm>
          <a:prstGeom prst="rect">
            <a:avLst/>
          </a:prstGeom>
          <a:noFill/>
          <a:ln/>
        </p:spPr>
        <p:txBody>
          <a:bodyPr wrap="square" lIns="0" tIns="0" rIns="0" bIns="0" rtlCol="0" anchor="ctr"/>
          <a:lstStyle/>
          <a:p>
            <a:pPr algn="ctr" indent="0" marL="0">
              <a:buNone/>
            </a:pPr>
            <a:r>
              <a:rPr lang="en-US" sz="1600" b="1" dirty="0">
                <a:solidFill>
                  <a:srgbClr val="3366FF"/>
                </a:solidFill>
                <a:latin typeface="Libre Franklin" pitchFamily="34" charset="0"/>
                <a:ea typeface="Libre Franklin" pitchFamily="34" charset="-122"/>
                <a:cs typeface="Libre Franklin" pitchFamily="34" charset="-120"/>
              </a:rPr>
              <a:t>1</a:t>
            </a:r>
            <a:endParaRPr lang="en-US" sz="1600" dirty="0"/>
          </a:p>
        </p:txBody>
      </p:sp>
      <p:sp>
        <p:nvSpPr>
          <p:cNvPr id="8" name="Text 4"/>
          <p:cNvSpPr/>
          <p:nvPr/>
        </p:nvSpPr>
        <p:spPr>
          <a:xfrm>
            <a:off x="1051560" y="1755648"/>
            <a:ext cx="3657600" cy="292608"/>
          </a:xfrm>
          <a:prstGeom prst="rect">
            <a:avLst/>
          </a:prstGeom>
          <a:noFill/>
          <a:ln/>
        </p:spPr>
        <p:txBody>
          <a:bodyPr wrap="square" lIns="0" tIns="0" rIns="0" bIns="0" rtlCol="0" anchor="ctr"/>
          <a:lstStyle/>
          <a:p>
            <a:pPr indent="0" marL="0">
              <a:buNone/>
            </a:pPr>
            <a:r>
              <a:rPr lang="en-US" sz="1500" b="1" dirty="0">
                <a:solidFill>
                  <a:srgbClr val="000000"/>
                </a:solidFill>
                <a:latin typeface="Libre Franklin" pitchFamily="34" charset="0"/>
                <a:ea typeface="Libre Franklin" pitchFamily="34" charset="-122"/>
                <a:cs typeface="Libre Franklin" pitchFamily="34" charset="-120"/>
              </a:rPr>
              <a:t>Score 10 acceptability areas</a:t>
            </a:r>
            <a:endParaRPr lang="en-US" sz="1500" dirty="0"/>
          </a:p>
        </p:txBody>
      </p:sp>
      <p:sp>
        <p:nvSpPr>
          <p:cNvPr id="9" name="Text 5"/>
          <p:cNvSpPr/>
          <p:nvPr/>
        </p:nvSpPr>
        <p:spPr>
          <a:xfrm>
            <a:off x="4846320" y="1755648"/>
            <a:ext cx="6858000" cy="457200"/>
          </a:xfrm>
          <a:prstGeom prst="rect">
            <a:avLst/>
          </a:prstGeom>
          <a:noFill/>
          <a:ln/>
        </p:spPr>
        <p:txBody>
          <a:bodyPr wrap="square" lIns="0" tIns="0" rIns="0" bIns="0" rtlCol="0" anchor="ctr"/>
          <a:lstStyle/>
          <a:p>
            <a:pPr indent="0" marL="0">
              <a:buNone/>
            </a:pPr>
            <a:r>
              <a:rPr lang="en-US" sz="1250" dirty="0">
                <a:solidFill>
                  <a:srgbClr val="52525B"/>
                </a:solidFill>
                <a:latin typeface="Libre Franklin Medium" pitchFamily="34" charset="0"/>
                <a:ea typeface="Libre Franklin Medium" pitchFamily="34" charset="-122"/>
                <a:cs typeface="Libre Franklin Medium" pitchFamily="34" charset="-120"/>
              </a:rPr>
              <a:t>Each survey item is rescaled to 0 to 100. Negative items are flipped so higher always means more accepting.</a:t>
            </a:r>
            <a:endParaRPr lang="en-US" sz="1250" dirty="0"/>
          </a:p>
        </p:txBody>
      </p:sp>
      <p:sp>
        <p:nvSpPr>
          <p:cNvPr id="10" name="Shape 6"/>
          <p:cNvSpPr/>
          <p:nvPr/>
        </p:nvSpPr>
        <p:spPr>
          <a:xfrm>
            <a:off x="457200" y="2359152"/>
            <a:ext cx="11274552" cy="10058"/>
          </a:xfrm>
          <a:prstGeom prst="rect">
            <a:avLst/>
          </a:prstGeom>
          <a:solidFill>
            <a:srgbClr val="E6EEFC"/>
          </a:solidFill>
          <a:ln w="12700">
            <a:solidFill>
              <a:srgbClr val="E6EEFC"/>
            </a:solidFill>
            <a:prstDash val="solid"/>
          </a:ln>
        </p:spPr>
      </p:sp>
      <p:sp>
        <p:nvSpPr>
          <p:cNvPr id="11" name="Shape 7"/>
          <p:cNvSpPr/>
          <p:nvPr/>
        </p:nvSpPr>
        <p:spPr>
          <a:xfrm>
            <a:off x="457200" y="2633472"/>
            <a:ext cx="402336" cy="402336"/>
          </a:xfrm>
          <a:prstGeom prst="ellipse">
            <a:avLst/>
          </a:prstGeom>
          <a:solidFill>
            <a:srgbClr val="E6EEFC"/>
          </a:solidFill>
          <a:ln w="12700">
            <a:solidFill>
              <a:srgbClr val="E6EEFC"/>
            </a:solidFill>
            <a:prstDash val="solid"/>
          </a:ln>
        </p:spPr>
      </p:sp>
      <p:sp>
        <p:nvSpPr>
          <p:cNvPr id="12" name="Text 8"/>
          <p:cNvSpPr/>
          <p:nvPr/>
        </p:nvSpPr>
        <p:spPr>
          <a:xfrm>
            <a:off x="457200" y="2688336"/>
            <a:ext cx="402336" cy="292608"/>
          </a:xfrm>
          <a:prstGeom prst="rect">
            <a:avLst/>
          </a:prstGeom>
          <a:noFill/>
          <a:ln/>
        </p:spPr>
        <p:txBody>
          <a:bodyPr wrap="square" lIns="0" tIns="0" rIns="0" bIns="0" rtlCol="0" anchor="ctr"/>
          <a:lstStyle/>
          <a:p>
            <a:pPr algn="ctr" indent="0" marL="0">
              <a:buNone/>
            </a:pPr>
            <a:r>
              <a:rPr lang="en-US" sz="1600" b="1" dirty="0">
                <a:solidFill>
                  <a:srgbClr val="3366FF"/>
                </a:solidFill>
                <a:latin typeface="Libre Franklin" pitchFamily="34" charset="0"/>
                <a:ea typeface="Libre Franklin" pitchFamily="34" charset="-122"/>
                <a:cs typeface="Libre Franklin" pitchFamily="34" charset="-120"/>
              </a:rPr>
              <a:t>2</a:t>
            </a:r>
            <a:endParaRPr lang="en-US" sz="1600" dirty="0"/>
          </a:p>
        </p:txBody>
      </p:sp>
      <p:sp>
        <p:nvSpPr>
          <p:cNvPr id="13" name="Text 9"/>
          <p:cNvSpPr/>
          <p:nvPr/>
        </p:nvSpPr>
        <p:spPr>
          <a:xfrm>
            <a:off x="1051560" y="2633472"/>
            <a:ext cx="3657600" cy="292608"/>
          </a:xfrm>
          <a:prstGeom prst="rect">
            <a:avLst/>
          </a:prstGeom>
          <a:noFill/>
          <a:ln/>
        </p:spPr>
        <p:txBody>
          <a:bodyPr wrap="square" lIns="0" tIns="0" rIns="0" bIns="0" rtlCol="0" anchor="ctr"/>
          <a:lstStyle/>
          <a:p>
            <a:pPr indent="0" marL="0">
              <a:buNone/>
            </a:pPr>
            <a:r>
              <a:rPr lang="en-US" sz="1500" b="1" dirty="0">
                <a:solidFill>
                  <a:srgbClr val="000000"/>
                </a:solidFill>
                <a:latin typeface="Libre Franklin" pitchFamily="34" charset="0"/>
                <a:ea typeface="Libre Franklin" pitchFamily="34" charset="-122"/>
                <a:cs typeface="Libre Franklin" pitchFamily="34" charset="-120"/>
              </a:rPr>
              <a:t>Keep caregivers with enough data</a:t>
            </a:r>
            <a:endParaRPr lang="en-US" sz="1500" dirty="0"/>
          </a:p>
        </p:txBody>
      </p:sp>
      <p:sp>
        <p:nvSpPr>
          <p:cNvPr id="14" name="Text 10"/>
          <p:cNvSpPr/>
          <p:nvPr/>
        </p:nvSpPr>
        <p:spPr>
          <a:xfrm>
            <a:off x="4846320" y="2633472"/>
            <a:ext cx="6858000" cy="457200"/>
          </a:xfrm>
          <a:prstGeom prst="rect">
            <a:avLst/>
          </a:prstGeom>
          <a:noFill/>
          <a:ln/>
        </p:spPr>
        <p:txBody>
          <a:bodyPr wrap="square" lIns="0" tIns="0" rIns="0" bIns="0" rtlCol="0" anchor="ctr"/>
          <a:lstStyle/>
          <a:p>
            <a:pPr indent="0" marL="0">
              <a:buNone/>
            </a:pPr>
            <a:r>
              <a:rPr lang="en-US" sz="1250" dirty="0">
                <a:solidFill>
                  <a:srgbClr val="52525B"/>
                </a:solidFill>
                <a:latin typeface="Libre Franklin Medium" pitchFamily="34" charset="0"/>
                <a:ea typeface="Libre Franklin Medium" pitchFamily="34" charset="-122"/>
                <a:cs typeface="Libre Franklin Medium" pitchFamily="34" charset="-120"/>
              </a:rPr>
              <a:t>At least 8 of the 10 areas answered.  131 of 135 qualify, 97.0%.</a:t>
            </a:r>
            <a:endParaRPr lang="en-US" sz="1250" dirty="0"/>
          </a:p>
        </p:txBody>
      </p:sp>
      <p:sp>
        <p:nvSpPr>
          <p:cNvPr id="15" name="Shape 11"/>
          <p:cNvSpPr/>
          <p:nvPr/>
        </p:nvSpPr>
        <p:spPr>
          <a:xfrm>
            <a:off x="457200" y="3236976"/>
            <a:ext cx="11274552" cy="10058"/>
          </a:xfrm>
          <a:prstGeom prst="rect">
            <a:avLst/>
          </a:prstGeom>
          <a:solidFill>
            <a:srgbClr val="E6EEFC"/>
          </a:solidFill>
          <a:ln w="12700">
            <a:solidFill>
              <a:srgbClr val="E6EEFC"/>
            </a:solidFill>
            <a:prstDash val="solid"/>
          </a:ln>
        </p:spPr>
      </p:sp>
      <p:sp>
        <p:nvSpPr>
          <p:cNvPr id="16" name="Shape 12"/>
          <p:cNvSpPr/>
          <p:nvPr/>
        </p:nvSpPr>
        <p:spPr>
          <a:xfrm>
            <a:off x="457200" y="3511296"/>
            <a:ext cx="402336" cy="402336"/>
          </a:xfrm>
          <a:prstGeom prst="ellipse">
            <a:avLst/>
          </a:prstGeom>
          <a:solidFill>
            <a:srgbClr val="E6EEFC"/>
          </a:solidFill>
          <a:ln w="12700">
            <a:solidFill>
              <a:srgbClr val="E6EEFC"/>
            </a:solidFill>
            <a:prstDash val="solid"/>
          </a:ln>
        </p:spPr>
      </p:sp>
      <p:sp>
        <p:nvSpPr>
          <p:cNvPr id="17" name="Text 13"/>
          <p:cNvSpPr/>
          <p:nvPr/>
        </p:nvSpPr>
        <p:spPr>
          <a:xfrm>
            <a:off x="457200" y="3566160"/>
            <a:ext cx="402336" cy="292608"/>
          </a:xfrm>
          <a:prstGeom prst="rect">
            <a:avLst/>
          </a:prstGeom>
          <a:noFill/>
          <a:ln/>
        </p:spPr>
        <p:txBody>
          <a:bodyPr wrap="square" lIns="0" tIns="0" rIns="0" bIns="0" rtlCol="0" anchor="ctr"/>
          <a:lstStyle/>
          <a:p>
            <a:pPr algn="ctr" indent="0" marL="0">
              <a:buNone/>
            </a:pPr>
            <a:r>
              <a:rPr lang="en-US" sz="1600" b="1" dirty="0">
                <a:solidFill>
                  <a:srgbClr val="3366FF"/>
                </a:solidFill>
                <a:latin typeface="Libre Franklin" pitchFamily="34" charset="0"/>
                <a:ea typeface="Libre Franklin" pitchFamily="34" charset="-122"/>
                <a:cs typeface="Libre Franklin" pitchFamily="34" charset="-120"/>
              </a:rPr>
              <a:t>3</a:t>
            </a:r>
            <a:endParaRPr lang="en-US" sz="1600" dirty="0"/>
          </a:p>
        </p:txBody>
      </p:sp>
      <p:sp>
        <p:nvSpPr>
          <p:cNvPr id="18" name="Text 14"/>
          <p:cNvSpPr/>
          <p:nvPr/>
        </p:nvSpPr>
        <p:spPr>
          <a:xfrm>
            <a:off x="1051560" y="3511296"/>
            <a:ext cx="3657600" cy="292608"/>
          </a:xfrm>
          <a:prstGeom prst="rect">
            <a:avLst/>
          </a:prstGeom>
          <a:noFill/>
          <a:ln/>
        </p:spPr>
        <p:txBody>
          <a:bodyPr wrap="square" lIns="0" tIns="0" rIns="0" bIns="0" rtlCol="0" anchor="ctr"/>
          <a:lstStyle/>
          <a:p>
            <a:pPr indent="0" marL="0">
              <a:buNone/>
            </a:pPr>
            <a:r>
              <a:rPr lang="en-US" sz="1500" b="1" dirty="0">
                <a:solidFill>
                  <a:srgbClr val="000000"/>
                </a:solidFill>
                <a:latin typeface="Libre Franklin" pitchFamily="34" charset="0"/>
                <a:ea typeface="Libre Franklin" pitchFamily="34" charset="-122"/>
                <a:cs typeface="Libre Franklin" pitchFamily="34" charset="-120"/>
              </a:rPr>
              <a:t>Split into groups</a:t>
            </a:r>
            <a:endParaRPr lang="en-US" sz="1500" dirty="0"/>
          </a:p>
        </p:txBody>
      </p:sp>
      <p:sp>
        <p:nvSpPr>
          <p:cNvPr id="19" name="Text 15"/>
          <p:cNvSpPr/>
          <p:nvPr/>
        </p:nvSpPr>
        <p:spPr>
          <a:xfrm>
            <a:off x="4846320" y="3511296"/>
            <a:ext cx="6858000" cy="457200"/>
          </a:xfrm>
          <a:prstGeom prst="rect">
            <a:avLst/>
          </a:prstGeom>
          <a:noFill/>
          <a:ln/>
        </p:spPr>
        <p:txBody>
          <a:bodyPr wrap="square" lIns="0" tIns="0" rIns="0" bIns="0" rtlCol="0" anchor="ctr"/>
          <a:lstStyle/>
          <a:p>
            <a:pPr indent="0" marL="0">
              <a:buNone/>
            </a:pPr>
            <a:r>
              <a:rPr lang="en-US" sz="1250" dirty="0">
                <a:solidFill>
                  <a:srgbClr val="52525B"/>
                </a:solidFill>
                <a:latin typeface="Libre Franklin Medium" pitchFamily="34" charset="0"/>
                <a:ea typeface="Libre Franklin Medium" pitchFamily="34" charset="-122"/>
                <a:cs typeface="Libre Franklin Medium" pitchFamily="34" charset="-120"/>
              </a:rPr>
              <a:t>Sort caregivers by how alike their ten scores are. Two groups: 84 and 47.</a:t>
            </a:r>
            <a:endParaRPr lang="en-US" sz="1250" dirty="0"/>
          </a:p>
        </p:txBody>
      </p:sp>
      <p:sp>
        <p:nvSpPr>
          <p:cNvPr id="20" name="Shape 16"/>
          <p:cNvSpPr/>
          <p:nvPr/>
        </p:nvSpPr>
        <p:spPr>
          <a:xfrm>
            <a:off x="457200" y="4114800"/>
            <a:ext cx="11274552" cy="10058"/>
          </a:xfrm>
          <a:prstGeom prst="rect">
            <a:avLst/>
          </a:prstGeom>
          <a:solidFill>
            <a:srgbClr val="E6EEFC"/>
          </a:solidFill>
          <a:ln w="12700">
            <a:solidFill>
              <a:srgbClr val="E6EEFC"/>
            </a:solidFill>
            <a:prstDash val="solid"/>
          </a:ln>
        </p:spPr>
      </p:sp>
      <p:sp>
        <p:nvSpPr>
          <p:cNvPr id="21" name="Shape 17"/>
          <p:cNvSpPr/>
          <p:nvPr/>
        </p:nvSpPr>
        <p:spPr>
          <a:xfrm>
            <a:off x="457200" y="4389120"/>
            <a:ext cx="402336" cy="402336"/>
          </a:xfrm>
          <a:prstGeom prst="ellipse">
            <a:avLst/>
          </a:prstGeom>
          <a:solidFill>
            <a:srgbClr val="E6EEFC"/>
          </a:solidFill>
          <a:ln w="12700">
            <a:solidFill>
              <a:srgbClr val="E6EEFC"/>
            </a:solidFill>
            <a:prstDash val="solid"/>
          </a:ln>
        </p:spPr>
      </p:sp>
      <p:sp>
        <p:nvSpPr>
          <p:cNvPr id="22" name="Text 18"/>
          <p:cNvSpPr/>
          <p:nvPr/>
        </p:nvSpPr>
        <p:spPr>
          <a:xfrm>
            <a:off x="457200" y="4443984"/>
            <a:ext cx="402336" cy="292608"/>
          </a:xfrm>
          <a:prstGeom prst="rect">
            <a:avLst/>
          </a:prstGeom>
          <a:noFill/>
          <a:ln/>
        </p:spPr>
        <p:txBody>
          <a:bodyPr wrap="square" lIns="0" tIns="0" rIns="0" bIns="0" rtlCol="0" anchor="ctr"/>
          <a:lstStyle/>
          <a:p>
            <a:pPr algn="ctr" indent="0" marL="0">
              <a:buNone/>
            </a:pPr>
            <a:r>
              <a:rPr lang="en-US" sz="1600" b="1" dirty="0">
                <a:solidFill>
                  <a:srgbClr val="3366FF"/>
                </a:solidFill>
                <a:latin typeface="Libre Franklin" pitchFamily="34" charset="0"/>
                <a:ea typeface="Libre Franklin" pitchFamily="34" charset="-122"/>
                <a:cs typeface="Libre Franklin" pitchFamily="34" charset="-120"/>
              </a:rPr>
              <a:t>4</a:t>
            </a:r>
            <a:endParaRPr lang="en-US" sz="1600" dirty="0"/>
          </a:p>
        </p:txBody>
      </p:sp>
      <p:sp>
        <p:nvSpPr>
          <p:cNvPr id="23" name="Text 19"/>
          <p:cNvSpPr/>
          <p:nvPr/>
        </p:nvSpPr>
        <p:spPr>
          <a:xfrm>
            <a:off x="1051560" y="4389120"/>
            <a:ext cx="3657600" cy="292608"/>
          </a:xfrm>
          <a:prstGeom prst="rect">
            <a:avLst/>
          </a:prstGeom>
          <a:noFill/>
          <a:ln/>
        </p:spPr>
        <p:txBody>
          <a:bodyPr wrap="square" lIns="0" tIns="0" rIns="0" bIns="0" rtlCol="0" anchor="ctr"/>
          <a:lstStyle/>
          <a:p>
            <a:pPr indent="0" marL="0">
              <a:buNone/>
            </a:pPr>
            <a:r>
              <a:rPr lang="en-US" sz="1500" b="1" dirty="0">
                <a:solidFill>
                  <a:srgbClr val="000000"/>
                </a:solidFill>
                <a:latin typeface="Libre Franklin" pitchFamily="34" charset="0"/>
                <a:ea typeface="Libre Franklin" pitchFamily="34" charset="-122"/>
                <a:cs typeface="Libre Franklin" pitchFamily="34" charset="-120"/>
              </a:rPr>
              <a:t>Compare on things kept out</a:t>
            </a:r>
            <a:endParaRPr lang="en-US" sz="1500" dirty="0"/>
          </a:p>
        </p:txBody>
      </p:sp>
      <p:sp>
        <p:nvSpPr>
          <p:cNvPr id="24" name="Text 20"/>
          <p:cNvSpPr/>
          <p:nvPr/>
        </p:nvSpPr>
        <p:spPr>
          <a:xfrm>
            <a:off x="4846320" y="4389120"/>
            <a:ext cx="6858000" cy="457200"/>
          </a:xfrm>
          <a:prstGeom prst="rect">
            <a:avLst/>
          </a:prstGeom>
          <a:noFill/>
          <a:ln/>
        </p:spPr>
        <p:txBody>
          <a:bodyPr wrap="square" lIns="0" tIns="0" rIns="0" bIns="0" rtlCol="0" anchor="ctr"/>
          <a:lstStyle/>
          <a:p>
            <a:pPr indent="0" marL="0">
              <a:buNone/>
            </a:pPr>
            <a:r>
              <a:rPr lang="en-US" sz="1250" dirty="0">
                <a:solidFill>
                  <a:srgbClr val="52525B"/>
                </a:solidFill>
                <a:latin typeface="Libre Franklin Medium" pitchFamily="34" charset="0"/>
                <a:ea typeface="Libre Franklin Medium" pitchFamily="34" charset="-122"/>
                <a:cs typeface="Libre Franklin Medium" pitchFamily="34" charset="-120"/>
              </a:rPr>
              <a:t>Screening intention, autism knowledge, parental values, demographics. None of these help form the groups.</a:t>
            </a:r>
            <a:endParaRPr lang="en-US" sz="1250" dirty="0"/>
          </a:p>
        </p:txBody>
      </p:sp>
      <p:sp>
        <p:nvSpPr>
          <p:cNvPr id="25" name="Shape 21"/>
          <p:cNvSpPr/>
          <p:nvPr/>
        </p:nvSpPr>
        <p:spPr>
          <a:xfrm>
            <a:off x="457200" y="4992624"/>
            <a:ext cx="11274552" cy="10058"/>
          </a:xfrm>
          <a:prstGeom prst="rect">
            <a:avLst/>
          </a:prstGeom>
          <a:solidFill>
            <a:srgbClr val="E6EEFC"/>
          </a:solidFill>
          <a:ln w="12700">
            <a:solidFill>
              <a:srgbClr val="E6EEFC"/>
            </a:solidFill>
            <a:prstDash val="solid"/>
          </a:ln>
        </p:spPr>
      </p:sp>
      <p:sp>
        <p:nvSpPr>
          <p:cNvPr id="26" name="Shape 22"/>
          <p:cNvSpPr/>
          <p:nvPr/>
        </p:nvSpPr>
        <p:spPr>
          <a:xfrm>
            <a:off x="457200" y="5257800"/>
            <a:ext cx="11274552" cy="868680"/>
          </a:xfrm>
          <a:prstGeom prst="roundRect">
            <a:avLst>
              <a:gd name="adj" fmla="val 12632"/>
            </a:avLst>
          </a:prstGeom>
          <a:solidFill>
            <a:srgbClr val="E6EEFC"/>
          </a:solidFill>
          <a:ln w="12700">
            <a:solidFill>
              <a:srgbClr val="E6EEFC"/>
            </a:solidFill>
            <a:prstDash val="solid"/>
          </a:ln>
        </p:spPr>
      </p:sp>
      <p:sp>
        <p:nvSpPr>
          <p:cNvPr id="27" name="Text 23"/>
          <p:cNvSpPr/>
          <p:nvPr/>
        </p:nvSpPr>
        <p:spPr>
          <a:xfrm>
            <a:off x="731520" y="5468112"/>
            <a:ext cx="10698480" cy="457200"/>
          </a:xfrm>
          <a:prstGeom prst="rect">
            <a:avLst/>
          </a:prstGeom>
          <a:noFill/>
          <a:ln/>
        </p:spPr>
        <p:txBody>
          <a:bodyPr wrap="square" lIns="0" tIns="0" rIns="0" bIns="0" rtlCol="0" anchor="ctr"/>
          <a:lstStyle/>
          <a:p>
            <a:pPr indent="0" marL="0">
              <a:buNone/>
            </a:pPr>
            <a:r>
              <a:rPr lang="en-US" sz="1400" b="1" dirty="0">
                <a:solidFill>
                  <a:srgbClr val="3366FF"/>
                </a:solidFill>
                <a:latin typeface="Libre Franklin" pitchFamily="34" charset="0"/>
                <a:ea typeface="Libre Franklin" pitchFamily="34" charset="-122"/>
                <a:cs typeface="Libre Franklin" pitchFamily="34" charset="-120"/>
              </a:rPr>
              <a:t>Why step 4 matters: if screening intention helped build the groups, any difference we found afterwards would be something we put there ourselves.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sessions/happy-eloquent-pascal/mnt/.claude/skills/esd-lab/assets/logos/logo-horizontal-discovery-blue.png">    </p:cNvPr>
          <p:cNvPicPr>
            <a:picLocks noChangeAspect="1"/>
          </p:cNvPicPr>
          <p:nvPr/>
        </p:nvPicPr>
        <p:blipFill>
          <a:blip r:embed="rId1"/>
          <a:stretch>
            <a:fillRect/>
          </a:stretch>
        </p:blipFill>
        <p:spPr>
          <a:xfrm>
            <a:off x="457200" y="292608"/>
            <a:ext cx="1179576" cy="265176"/>
          </a:xfrm>
          <a:prstGeom prst="rect">
            <a:avLst/>
          </a:prstGeom>
        </p:spPr>
      </p:pic>
      <p:pic>
        <p:nvPicPr>
          <p:cNvPr id="3" name="Image 1" descr="/sessions/happy-eloquent-pascal/mnt/.claude/skills/esd-lab/assets/logos/uofsc-horizontal-garnet.png">    </p:cNvPr>
          <p:cNvPicPr>
            <a:picLocks noChangeAspect="1"/>
          </p:cNvPicPr>
          <p:nvPr/>
        </p:nvPicPr>
        <p:blipFill>
          <a:blip r:embed="rId2"/>
          <a:stretch>
            <a:fillRect/>
          </a:stretch>
        </p:blipFill>
        <p:spPr>
          <a:xfrm>
            <a:off x="1783080" y="292608"/>
            <a:ext cx="987552" cy="265176"/>
          </a:xfrm>
          <a:prstGeom prst="rect">
            <a:avLst/>
          </a:prstGeom>
        </p:spPr>
      </p:pic>
      <p:sp>
        <p:nvSpPr>
          <p:cNvPr id="4" name="Text 0"/>
          <p:cNvSpPr/>
          <p:nvPr/>
        </p:nvSpPr>
        <p:spPr>
          <a:xfrm>
            <a:off x="457200" y="786384"/>
            <a:ext cx="11274552" cy="512064"/>
          </a:xfrm>
          <a:prstGeom prst="rect">
            <a:avLst/>
          </a:prstGeom>
          <a:noFill/>
          <a:ln/>
        </p:spPr>
        <p:txBody>
          <a:bodyPr wrap="square" lIns="0" tIns="0" rIns="0" bIns="0" rtlCol="0" anchor="ctr"/>
          <a:lstStyle/>
          <a:p>
            <a:pPr indent="0" marL="0">
              <a:buNone/>
            </a:pPr>
            <a:r>
              <a:rPr lang="en-US" sz="2900" b="1" spc="-30" kern="0" dirty="0">
                <a:solidFill>
                  <a:srgbClr val="000000"/>
                </a:solidFill>
                <a:latin typeface="Libre Franklin" pitchFamily="34" charset="0"/>
                <a:ea typeface="Libre Franklin" pitchFamily="34" charset="-122"/>
                <a:cs typeface="Libre Franklin" pitchFamily="34" charset="-120"/>
              </a:rPr>
              <a:t>The data we have</a:t>
            </a:r>
            <a:endParaRPr lang="en-US" sz="2900" dirty="0"/>
          </a:p>
        </p:txBody>
      </p:sp>
      <p:sp>
        <p:nvSpPr>
          <p:cNvPr id="5" name="Text 1"/>
          <p:cNvSpPr/>
          <p:nvPr/>
        </p:nvSpPr>
        <p:spPr>
          <a:xfrm>
            <a:off x="11384280" y="6355080"/>
            <a:ext cx="365760" cy="219456"/>
          </a:xfrm>
          <a:prstGeom prst="rect">
            <a:avLst/>
          </a:prstGeom>
          <a:noFill/>
          <a:ln/>
        </p:spPr>
        <p:txBody>
          <a:bodyPr wrap="square" lIns="0" tIns="0" rIns="0" bIns="0" rtlCol="0" anchor="ctr"/>
          <a:lstStyle/>
          <a:p>
            <a:pPr algn="r" indent="0" marL="0">
              <a:buNone/>
            </a:pPr>
            <a:r>
              <a:rPr lang="en-US" sz="1000" dirty="0">
                <a:solidFill>
                  <a:srgbClr val="91BAF4"/>
                </a:solidFill>
                <a:latin typeface="Libre Franklin Medium" pitchFamily="34" charset="0"/>
                <a:ea typeface="Libre Franklin Medium" pitchFamily="34" charset="-122"/>
                <a:cs typeface="Libre Franklin Medium" pitchFamily="34" charset="-120"/>
              </a:rPr>
              <a:t>3</a:t>
            </a:r>
            <a:endParaRPr lang="en-US" sz="1000" dirty="0"/>
          </a:p>
        </p:txBody>
      </p:sp>
      <p:sp>
        <p:nvSpPr>
          <p:cNvPr id="6" name="Text 2"/>
          <p:cNvSpPr/>
          <p:nvPr/>
        </p:nvSpPr>
        <p:spPr>
          <a:xfrm>
            <a:off x="457200" y="1691640"/>
            <a:ext cx="5760720" cy="219456"/>
          </a:xfrm>
          <a:prstGeom prst="rect">
            <a:avLst/>
          </a:prstGeom>
          <a:noFill/>
          <a:ln/>
        </p:spPr>
        <p:txBody>
          <a:bodyPr wrap="square" lIns="0" tIns="0" rIns="0" bIns="0" rtlCol="0" anchor="ctr"/>
          <a:lstStyle/>
          <a:p>
            <a:pPr indent="0" marL="0">
              <a:buNone/>
            </a:pPr>
            <a:r>
              <a:rPr lang="en-US" sz="1050" b="1" spc="60" kern="0" dirty="0">
                <a:solidFill>
                  <a:srgbClr val="3366FF"/>
                </a:solidFill>
                <a:latin typeface="Libre Franklin" pitchFamily="34" charset="0"/>
                <a:ea typeface="Libre Franklin" pitchFamily="34" charset="-122"/>
                <a:cs typeface="Libre Franklin" pitchFamily="34" charset="-120"/>
              </a:rPr>
              <a:t>TWO REDCAP PROJECTS</a:t>
            </a:r>
            <a:endParaRPr lang="en-US" sz="1050" dirty="0"/>
          </a:p>
        </p:txBody>
      </p:sp>
      <p:sp>
        <p:nvSpPr>
          <p:cNvPr id="7" name="Text 3"/>
          <p:cNvSpPr/>
          <p:nvPr/>
        </p:nvSpPr>
        <p:spPr>
          <a:xfrm>
            <a:off x="457200" y="1975104"/>
            <a:ext cx="1554480" cy="256032"/>
          </a:xfrm>
          <a:prstGeom prst="rect">
            <a:avLst/>
          </a:prstGeom>
          <a:noFill/>
          <a:ln/>
        </p:spPr>
        <p:txBody>
          <a:bodyPr wrap="square" lIns="0" tIns="0" rIns="0" bIns="0" rtlCol="0" anchor="ctr"/>
          <a:lstStyle/>
          <a:p>
            <a:pPr indent="0" marL="0">
              <a:buNone/>
            </a:pPr>
            <a:r>
              <a:rPr lang="en-US" sz="1400" b="1" dirty="0">
                <a:solidFill>
                  <a:srgbClr val="3366FF"/>
                </a:solidFill>
                <a:latin typeface="Libre Franklin" pitchFamily="34" charset="0"/>
                <a:ea typeface="Libre Franklin" pitchFamily="34" charset="-122"/>
                <a:cs typeface="Libre Franklin" pitchFamily="34" charset="-120"/>
              </a:rPr>
              <a:t>Project 4797</a:t>
            </a:r>
            <a:endParaRPr lang="en-US" sz="1400" dirty="0"/>
          </a:p>
        </p:txBody>
      </p:sp>
      <p:sp>
        <p:nvSpPr>
          <p:cNvPr id="8" name="Text 4"/>
          <p:cNvSpPr/>
          <p:nvPr/>
        </p:nvSpPr>
        <p:spPr>
          <a:xfrm>
            <a:off x="2103120" y="1975104"/>
            <a:ext cx="1234440" cy="256032"/>
          </a:xfrm>
          <a:prstGeom prst="rect">
            <a:avLst/>
          </a:prstGeom>
          <a:noFill/>
          <a:ln/>
        </p:spPr>
        <p:txBody>
          <a:bodyPr wrap="square" lIns="0" tIns="0" rIns="0" bIns="0" rtlCol="0" anchor="ctr"/>
          <a:lstStyle/>
          <a:p>
            <a:pP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177 records</a:t>
            </a:r>
            <a:endParaRPr lang="en-US" sz="1300" dirty="0"/>
          </a:p>
        </p:txBody>
      </p:sp>
      <p:sp>
        <p:nvSpPr>
          <p:cNvPr id="9" name="Text 5"/>
          <p:cNvSpPr/>
          <p:nvPr/>
        </p:nvSpPr>
        <p:spPr>
          <a:xfrm>
            <a:off x="3383280" y="1975104"/>
            <a:ext cx="1097280" cy="256032"/>
          </a:xfrm>
          <a:prstGeom prst="rect">
            <a:avLst/>
          </a:prstGeom>
          <a:noFill/>
          <a:ln/>
        </p:spPr>
        <p:txBody>
          <a:bodyPr wrap="square" lIns="0" tIns="0" rIns="0" bIns="0" rtlCol="0" anchor="ctr"/>
          <a:lstStyle/>
          <a:p>
            <a:pP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324 fields</a:t>
            </a:r>
            <a:endParaRPr lang="en-US" sz="1300" dirty="0"/>
          </a:p>
        </p:txBody>
      </p:sp>
      <p:sp>
        <p:nvSpPr>
          <p:cNvPr id="10" name="Text 6"/>
          <p:cNvSpPr/>
          <p:nvPr/>
        </p:nvSpPr>
        <p:spPr>
          <a:xfrm>
            <a:off x="4572000" y="1975104"/>
            <a:ext cx="1691640" cy="365760"/>
          </a:xfrm>
          <a:prstGeom prst="rect">
            <a:avLst/>
          </a:prstGeom>
          <a:noFill/>
          <a:ln/>
        </p:spPr>
        <p:txBody>
          <a:bodyPr wrap="square" lIns="0" tIns="0" rIns="0" bIns="0" rtlCol="0" anchor="ctr"/>
          <a:lstStyle/>
          <a:p>
            <a:pPr indent="0" marL="0">
              <a:buNone/>
            </a:pPr>
            <a:r>
              <a:rPr lang="en-US" sz="1100" dirty="0">
                <a:solidFill>
                  <a:srgbClr val="52525B"/>
                </a:solidFill>
                <a:latin typeface="Libre Franklin Medium" pitchFamily="34" charset="0"/>
                <a:ea typeface="Libre Franklin Medium" pitchFamily="34" charset="-122"/>
                <a:cs typeface="Libre Franklin Medium" pitchFamily="34" charset="-120"/>
              </a:rPr>
              <a:t>Current, used for the analysis</a:t>
            </a:r>
            <a:endParaRPr lang="en-US" sz="1100" dirty="0"/>
          </a:p>
        </p:txBody>
      </p:sp>
      <p:sp>
        <p:nvSpPr>
          <p:cNvPr id="11" name="Shape 7"/>
          <p:cNvSpPr/>
          <p:nvPr/>
        </p:nvSpPr>
        <p:spPr>
          <a:xfrm>
            <a:off x="457200" y="2359152"/>
            <a:ext cx="5806440" cy="10058"/>
          </a:xfrm>
          <a:prstGeom prst="rect">
            <a:avLst/>
          </a:prstGeom>
          <a:solidFill>
            <a:srgbClr val="E6EEFC"/>
          </a:solidFill>
          <a:ln w="12700">
            <a:solidFill>
              <a:srgbClr val="E6EEFC"/>
            </a:solidFill>
            <a:prstDash val="solid"/>
          </a:ln>
        </p:spPr>
      </p:sp>
      <p:sp>
        <p:nvSpPr>
          <p:cNvPr id="12" name="Text 8"/>
          <p:cNvSpPr/>
          <p:nvPr/>
        </p:nvSpPr>
        <p:spPr>
          <a:xfrm>
            <a:off x="457200" y="2578608"/>
            <a:ext cx="1554480" cy="256032"/>
          </a:xfrm>
          <a:prstGeom prst="rect">
            <a:avLst/>
          </a:prstGeom>
          <a:noFill/>
          <a:ln/>
        </p:spPr>
        <p:txBody>
          <a:bodyPr wrap="square" lIns="0" tIns="0" rIns="0" bIns="0" rtlCol="0" anchor="ctr"/>
          <a:lstStyle/>
          <a:p>
            <a:pPr indent="0" marL="0">
              <a:buNone/>
            </a:pPr>
            <a:r>
              <a:rPr lang="en-US" sz="1400" b="1" dirty="0">
                <a:solidFill>
                  <a:srgbClr val="F57F00"/>
                </a:solidFill>
                <a:latin typeface="Libre Franklin" pitchFamily="34" charset="0"/>
                <a:ea typeface="Libre Franklin" pitchFamily="34" charset="-122"/>
                <a:cs typeface="Libre Franklin" pitchFamily="34" charset="-120"/>
              </a:rPr>
              <a:t>Project 4581</a:t>
            </a:r>
            <a:endParaRPr lang="en-US" sz="1400" dirty="0"/>
          </a:p>
        </p:txBody>
      </p:sp>
      <p:sp>
        <p:nvSpPr>
          <p:cNvPr id="13" name="Text 9"/>
          <p:cNvSpPr/>
          <p:nvPr/>
        </p:nvSpPr>
        <p:spPr>
          <a:xfrm>
            <a:off x="2103120" y="2578608"/>
            <a:ext cx="1234440" cy="256032"/>
          </a:xfrm>
          <a:prstGeom prst="rect">
            <a:avLst/>
          </a:prstGeom>
          <a:noFill/>
          <a:ln/>
        </p:spPr>
        <p:txBody>
          <a:bodyPr wrap="square" lIns="0" tIns="0" rIns="0" bIns="0" rtlCol="0" anchor="ctr"/>
          <a:lstStyle/>
          <a:p>
            <a:pP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1,779 records</a:t>
            </a:r>
            <a:endParaRPr lang="en-US" sz="1300" dirty="0"/>
          </a:p>
        </p:txBody>
      </p:sp>
      <p:sp>
        <p:nvSpPr>
          <p:cNvPr id="14" name="Text 10"/>
          <p:cNvSpPr/>
          <p:nvPr/>
        </p:nvSpPr>
        <p:spPr>
          <a:xfrm>
            <a:off x="3383280" y="2578608"/>
            <a:ext cx="1097280" cy="256032"/>
          </a:xfrm>
          <a:prstGeom prst="rect">
            <a:avLst/>
          </a:prstGeom>
          <a:noFill/>
          <a:ln/>
        </p:spPr>
        <p:txBody>
          <a:bodyPr wrap="square" lIns="0" tIns="0" rIns="0" bIns="0" rtlCol="0" anchor="ctr"/>
          <a:lstStyle/>
          <a:p>
            <a:pP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315 fields</a:t>
            </a:r>
            <a:endParaRPr lang="en-US" sz="1300" dirty="0"/>
          </a:p>
        </p:txBody>
      </p:sp>
      <p:sp>
        <p:nvSpPr>
          <p:cNvPr id="15" name="Text 11"/>
          <p:cNvSpPr/>
          <p:nvPr/>
        </p:nvSpPr>
        <p:spPr>
          <a:xfrm>
            <a:off x="4572000" y="2578608"/>
            <a:ext cx="1691640" cy="365760"/>
          </a:xfrm>
          <a:prstGeom prst="rect">
            <a:avLst/>
          </a:prstGeom>
          <a:noFill/>
          <a:ln/>
        </p:spPr>
        <p:txBody>
          <a:bodyPr wrap="square" lIns="0" tIns="0" rIns="0" bIns="0" rtlCol="0" anchor="ctr"/>
          <a:lstStyle/>
          <a:p>
            <a:pPr indent="0" marL="0">
              <a:buNone/>
            </a:pPr>
            <a:r>
              <a:rPr lang="en-US" sz="1100" dirty="0">
                <a:solidFill>
                  <a:srgbClr val="52525B"/>
                </a:solidFill>
                <a:latin typeface="Libre Franklin Medium" pitchFamily="34" charset="0"/>
                <a:ea typeface="Libre Franklin Medium" pitchFamily="34" charset="-122"/>
                <a:cs typeface="Libre Franklin Medium" pitchFamily="34" charset="-120"/>
              </a:rPr>
              <a:t>Older, kept for comparison only</a:t>
            </a:r>
            <a:endParaRPr lang="en-US" sz="1100" dirty="0"/>
          </a:p>
        </p:txBody>
      </p:sp>
      <p:sp>
        <p:nvSpPr>
          <p:cNvPr id="16" name="Shape 12"/>
          <p:cNvSpPr/>
          <p:nvPr/>
        </p:nvSpPr>
        <p:spPr>
          <a:xfrm>
            <a:off x="457200" y="2962656"/>
            <a:ext cx="5806440" cy="10058"/>
          </a:xfrm>
          <a:prstGeom prst="rect">
            <a:avLst/>
          </a:prstGeom>
          <a:solidFill>
            <a:srgbClr val="E6EEFC"/>
          </a:solidFill>
          <a:ln w="12700">
            <a:solidFill>
              <a:srgbClr val="E6EEFC"/>
            </a:solidFill>
            <a:prstDash val="solid"/>
          </a:ln>
        </p:spPr>
      </p:sp>
      <p:sp>
        <p:nvSpPr>
          <p:cNvPr id="17" name="Text 13"/>
          <p:cNvSpPr/>
          <p:nvPr/>
        </p:nvSpPr>
        <p:spPr>
          <a:xfrm>
            <a:off x="457200" y="3291840"/>
            <a:ext cx="5806440" cy="274320"/>
          </a:xfrm>
          <a:prstGeom prst="rect">
            <a:avLst/>
          </a:prstGeom>
          <a:noFill/>
          <a:ln/>
        </p:spPr>
        <p:txBody>
          <a:bodyPr wrap="square" lIns="0" tIns="0" rIns="0" bIns="0" rtlCol="0" anchor="ctr"/>
          <a:lstStyle/>
          <a:p>
            <a:pPr indent="0" marL="0">
              <a:buNone/>
            </a:pPr>
            <a:r>
              <a:rPr lang="en-US" sz="1250" dirty="0">
                <a:solidFill>
                  <a:srgbClr val="52525B"/>
                </a:solidFill>
                <a:latin typeface="Libre Franklin Medium" pitchFamily="34" charset="0"/>
                <a:ea typeface="Libre Franklin Medium" pitchFamily="34" charset="-122"/>
                <a:cs typeface="Libre Franklin Medium" pitchFamily="34" charset="-120"/>
              </a:rPr>
              <a:t>311 fields are shared. 13 exist only in 4797, 4 only in 4581.</a:t>
            </a:r>
            <a:endParaRPr lang="en-US" sz="1250" dirty="0"/>
          </a:p>
        </p:txBody>
      </p:sp>
      <p:sp>
        <p:nvSpPr>
          <p:cNvPr id="18" name="Text 14"/>
          <p:cNvSpPr/>
          <p:nvPr/>
        </p:nvSpPr>
        <p:spPr>
          <a:xfrm>
            <a:off x="457200" y="3794760"/>
            <a:ext cx="5760720" cy="219456"/>
          </a:xfrm>
          <a:prstGeom prst="rect">
            <a:avLst/>
          </a:prstGeom>
          <a:noFill/>
          <a:ln/>
        </p:spPr>
        <p:txBody>
          <a:bodyPr wrap="square" lIns="0" tIns="0" rIns="0" bIns="0" rtlCol="0" anchor="ctr"/>
          <a:lstStyle/>
          <a:p>
            <a:pPr indent="0" marL="0">
              <a:buNone/>
            </a:pPr>
            <a:r>
              <a:rPr lang="en-US" sz="1050" b="1" spc="60" kern="0" dirty="0">
                <a:solidFill>
                  <a:srgbClr val="3366FF"/>
                </a:solidFill>
                <a:latin typeface="Libre Franklin" pitchFamily="34" charset="0"/>
                <a:ea typeface="Libre Franklin" pitchFamily="34" charset="-122"/>
                <a:cs typeface="Libre Franklin" pitchFamily="34" charset="-120"/>
              </a:rPr>
              <a:t>THREE CHECKS 4797 HAS AND 4581 DOES NOT</a:t>
            </a:r>
            <a:endParaRPr lang="en-US" sz="1050" dirty="0"/>
          </a:p>
        </p:txBody>
      </p:sp>
      <p:sp>
        <p:nvSpPr>
          <p:cNvPr id="19" name="Text 15"/>
          <p:cNvSpPr/>
          <p:nvPr/>
        </p:nvSpPr>
        <p:spPr>
          <a:xfrm>
            <a:off x="457200" y="4078224"/>
            <a:ext cx="1828800" cy="256032"/>
          </a:xfrm>
          <a:prstGeom prst="rect">
            <a:avLst/>
          </a:prstGeom>
          <a:noFill/>
          <a:ln/>
        </p:spPr>
        <p:txBody>
          <a:bodyPr wrap="square" lIns="0" tIns="0" rIns="0" bIns="0" rtlCol="0" anchor="ctr"/>
          <a:lstStyle/>
          <a:p>
            <a:pPr indent="0" marL="0">
              <a:buNone/>
            </a:pPr>
            <a:r>
              <a:rPr lang="en-US" sz="1250" b="1" dirty="0">
                <a:solidFill>
                  <a:srgbClr val="000000"/>
                </a:solidFill>
                <a:latin typeface="Libre Franklin" pitchFamily="34" charset="0"/>
                <a:ea typeface="Libre Franklin" pitchFamily="34" charset="-122"/>
                <a:cs typeface="Libre Franklin" pitchFamily="34" charset="-120"/>
              </a:rPr>
              <a:t>Picture question</a:t>
            </a:r>
            <a:endParaRPr lang="en-US" sz="1250" dirty="0"/>
          </a:p>
        </p:txBody>
      </p:sp>
      <p:sp>
        <p:nvSpPr>
          <p:cNvPr id="20" name="Text 16"/>
          <p:cNvSpPr/>
          <p:nvPr/>
        </p:nvSpPr>
        <p:spPr>
          <a:xfrm>
            <a:off x="2377440" y="4078224"/>
            <a:ext cx="3886200" cy="457200"/>
          </a:xfrm>
          <a:prstGeom prst="rect">
            <a:avLst/>
          </a:prstGeom>
          <a:noFill/>
          <a:ln/>
        </p:spPr>
        <p:txBody>
          <a:bodyPr wrap="square" lIns="0" tIns="0" rIns="0" bIns="0" rtlCol="0" anchor="ctr"/>
          <a:lstStyle/>
          <a:p>
            <a:pPr indent="0" marL="0">
              <a:buNone/>
            </a:pPr>
            <a:r>
              <a:rPr lang="en-US" sz="1150" dirty="0">
                <a:solidFill>
                  <a:srgbClr val="52525B"/>
                </a:solidFill>
                <a:latin typeface="Libre Franklin Medium" pitchFamily="34" charset="0"/>
                <a:ea typeface="Libre Franklin Medium" pitchFamily="34" charset="-122"/>
                <a:cs typeface="Libre Franklin Medium" pitchFamily="34" charset="-120"/>
              </a:rPr>
              <a:t>Asks what a parent would do in a photo. Cannot be answered from text alone.</a:t>
            </a:r>
            <a:endParaRPr lang="en-US" sz="1150" dirty="0"/>
          </a:p>
        </p:txBody>
      </p:sp>
      <p:sp>
        <p:nvSpPr>
          <p:cNvPr id="21" name="Text 17"/>
          <p:cNvSpPr/>
          <p:nvPr/>
        </p:nvSpPr>
        <p:spPr>
          <a:xfrm>
            <a:off x="457200" y="4645152"/>
            <a:ext cx="1828800" cy="256032"/>
          </a:xfrm>
          <a:prstGeom prst="rect">
            <a:avLst/>
          </a:prstGeom>
          <a:noFill/>
          <a:ln/>
        </p:spPr>
        <p:txBody>
          <a:bodyPr wrap="square" lIns="0" tIns="0" rIns="0" bIns="0" rtlCol="0" anchor="ctr"/>
          <a:lstStyle/>
          <a:p>
            <a:pPr indent="0" marL="0">
              <a:buNone/>
            </a:pPr>
            <a:r>
              <a:rPr lang="en-US" sz="1250" b="1" dirty="0">
                <a:solidFill>
                  <a:srgbClr val="000000"/>
                </a:solidFill>
                <a:latin typeface="Libre Franklin" pitchFamily="34" charset="0"/>
                <a:ea typeface="Libre Franklin" pitchFamily="34" charset="-122"/>
                <a:cs typeface="Libre Franklin" pitchFamily="34" charset="-120"/>
              </a:rPr>
              <a:t>Age cross-check</a:t>
            </a:r>
            <a:endParaRPr lang="en-US" sz="1250" dirty="0"/>
          </a:p>
        </p:txBody>
      </p:sp>
      <p:sp>
        <p:nvSpPr>
          <p:cNvPr id="22" name="Text 18"/>
          <p:cNvSpPr/>
          <p:nvPr/>
        </p:nvSpPr>
        <p:spPr>
          <a:xfrm>
            <a:off x="2377440" y="4645152"/>
            <a:ext cx="3886200" cy="457200"/>
          </a:xfrm>
          <a:prstGeom prst="rect">
            <a:avLst/>
          </a:prstGeom>
          <a:noFill/>
          <a:ln/>
        </p:spPr>
        <p:txBody>
          <a:bodyPr wrap="square" lIns="0" tIns="0" rIns="0" bIns="0" rtlCol="0" anchor="ctr"/>
          <a:lstStyle/>
          <a:p>
            <a:pPr indent="0" marL="0">
              <a:buNone/>
            </a:pPr>
            <a:r>
              <a:rPr lang="en-US" sz="1150" dirty="0">
                <a:solidFill>
                  <a:srgbClr val="52525B"/>
                </a:solidFill>
                <a:latin typeface="Libre Franklin Medium" pitchFamily="34" charset="0"/>
                <a:ea typeface="Libre Franklin Medium" pitchFamily="34" charset="-122"/>
                <a:cs typeface="Libre Franklin Medium" pitchFamily="34" charset="-120"/>
              </a:rPr>
              <a:t>Compares the age given at sign-up with the child's date of birth later on.</a:t>
            </a:r>
            <a:endParaRPr lang="en-US" sz="1150" dirty="0"/>
          </a:p>
        </p:txBody>
      </p:sp>
      <p:sp>
        <p:nvSpPr>
          <p:cNvPr id="23" name="Text 19"/>
          <p:cNvSpPr/>
          <p:nvPr/>
        </p:nvSpPr>
        <p:spPr>
          <a:xfrm>
            <a:off x="457200" y="5212080"/>
            <a:ext cx="1828800" cy="256032"/>
          </a:xfrm>
          <a:prstGeom prst="rect">
            <a:avLst/>
          </a:prstGeom>
          <a:noFill/>
          <a:ln/>
        </p:spPr>
        <p:txBody>
          <a:bodyPr wrap="square" lIns="0" tIns="0" rIns="0" bIns="0" rtlCol="0" anchor="ctr"/>
          <a:lstStyle/>
          <a:p>
            <a:pPr indent="0" marL="0">
              <a:buNone/>
            </a:pPr>
            <a:r>
              <a:rPr lang="en-US" sz="1250" b="1" dirty="0">
                <a:solidFill>
                  <a:srgbClr val="000000"/>
                </a:solidFill>
                <a:latin typeface="Libre Franklin" pitchFamily="34" charset="0"/>
                <a:ea typeface="Libre Franklin" pitchFamily="34" charset="-122"/>
                <a:cs typeface="Libre Franklin" pitchFamily="34" charset="-120"/>
              </a:rPr>
              <a:t>Email field</a:t>
            </a:r>
            <a:endParaRPr lang="en-US" sz="1250" dirty="0"/>
          </a:p>
        </p:txBody>
      </p:sp>
      <p:sp>
        <p:nvSpPr>
          <p:cNvPr id="24" name="Text 20"/>
          <p:cNvSpPr/>
          <p:nvPr/>
        </p:nvSpPr>
        <p:spPr>
          <a:xfrm>
            <a:off x="2377440" y="5212080"/>
            <a:ext cx="3886200" cy="457200"/>
          </a:xfrm>
          <a:prstGeom prst="rect">
            <a:avLst/>
          </a:prstGeom>
          <a:noFill/>
          <a:ln/>
        </p:spPr>
        <p:txBody>
          <a:bodyPr wrap="square" lIns="0" tIns="0" rIns="0" bIns="0" rtlCol="0" anchor="ctr"/>
          <a:lstStyle/>
          <a:p>
            <a:pPr indent="0" marL="0">
              <a:buNone/>
            </a:pPr>
            <a:r>
              <a:rPr lang="en-US" sz="1150" dirty="0">
                <a:solidFill>
                  <a:srgbClr val="52525B"/>
                </a:solidFill>
                <a:latin typeface="Libre Franklin Medium" pitchFamily="34" charset="0"/>
                <a:ea typeface="Libre Franklin Medium" pitchFamily="34" charset="-122"/>
                <a:cs typeface="Libre Franklin Medium" pitchFamily="34" charset="-120"/>
              </a:rPr>
              <a:t>Lets us spot repeat and throwaway addresses.</a:t>
            </a:r>
            <a:endParaRPr lang="en-US" sz="1150" dirty="0"/>
          </a:p>
        </p:txBody>
      </p:sp>
      <p:pic>
        <p:nvPicPr>
          <p:cNvPr id="25" name="Image 2" descr="/sessions/happy-eloquent-pascal/mnt/caregiver-cluster-analysis/Caregiver Outputs/figure_7_timing_ecdf.png">    </p:cNvPr>
          <p:cNvPicPr>
            <a:picLocks noChangeAspect="1"/>
          </p:cNvPicPr>
          <p:nvPr/>
        </p:nvPicPr>
        <p:blipFill>
          <a:blip r:embed="rId3"/>
          <a:stretch>
            <a:fillRect/>
          </a:stretch>
        </p:blipFill>
        <p:spPr>
          <a:xfrm>
            <a:off x="6720840" y="1737360"/>
            <a:ext cx="5010912" cy="3191256"/>
          </a:xfrm>
          <a:prstGeom prst="rect">
            <a:avLst/>
          </a:prstGeom>
        </p:spPr>
      </p:pic>
      <p:sp>
        <p:nvSpPr>
          <p:cNvPr id="26" name="Text 21"/>
          <p:cNvSpPr/>
          <p:nvPr/>
        </p:nvSpPr>
        <p:spPr>
          <a:xfrm>
            <a:off x="6720840" y="4965192"/>
            <a:ext cx="5010912" cy="237744"/>
          </a:xfrm>
          <a:prstGeom prst="rect">
            <a:avLst/>
          </a:prstGeom>
          <a:noFill/>
          <a:ln/>
        </p:spPr>
        <p:txBody>
          <a:bodyPr wrap="square" lIns="0" tIns="0" rIns="0" bIns="0" rtlCol="0" anchor="ctr"/>
          <a:lstStyle/>
          <a:p>
            <a:pPr indent="0" marL="0">
              <a:buNone/>
            </a:pPr>
            <a:r>
              <a:rPr lang="en-US" sz="900" dirty="0">
                <a:solidFill>
                  <a:srgbClr val="71717A"/>
                </a:solidFill>
                <a:latin typeface="Libre Franklin Medium" pitchFamily="34" charset="0"/>
                <a:ea typeface="Libre Franklin Medium" pitchFamily="34" charset="-122"/>
                <a:cs typeface="Libre Franklin Medium" pitchFamily="34" charset="-120"/>
              </a:rPr>
              <a:t>How long people took to finish. Shaded area is faster than any verified caregiver.</a:t>
            </a:r>
            <a:endParaRPr lang="en-US" sz="900" dirty="0"/>
          </a:p>
        </p:txBody>
      </p:sp>
      <p:sp>
        <p:nvSpPr>
          <p:cNvPr id="27" name="Shape 22"/>
          <p:cNvSpPr/>
          <p:nvPr/>
        </p:nvSpPr>
        <p:spPr>
          <a:xfrm>
            <a:off x="6720840" y="5285232"/>
            <a:ext cx="5010912" cy="804672"/>
          </a:xfrm>
          <a:prstGeom prst="roundRect">
            <a:avLst>
              <a:gd name="adj" fmla="val 13636"/>
            </a:avLst>
          </a:prstGeom>
          <a:solidFill>
            <a:srgbClr val="E6EEFC"/>
          </a:solidFill>
          <a:ln w="12700">
            <a:solidFill>
              <a:srgbClr val="E6EEFC"/>
            </a:solidFill>
            <a:prstDash val="solid"/>
          </a:ln>
        </p:spPr>
      </p:sp>
      <p:sp>
        <p:nvSpPr>
          <p:cNvPr id="28" name="Text 23"/>
          <p:cNvSpPr/>
          <p:nvPr/>
        </p:nvSpPr>
        <p:spPr>
          <a:xfrm>
            <a:off x="6903720" y="5394960"/>
            <a:ext cx="4663440" cy="594360"/>
          </a:xfrm>
          <a:prstGeom prst="rect">
            <a:avLst/>
          </a:prstGeom>
          <a:noFill/>
          <a:ln/>
        </p:spPr>
        <p:txBody>
          <a:bodyPr wrap="square" lIns="0" tIns="0" rIns="0" bIns="0" rtlCol="0" anchor="ctr"/>
          <a:lstStyle/>
          <a:p>
            <a:pPr indent="0" marL="0">
              <a:buNone/>
            </a:pPr>
            <a:r>
              <a:rPr lang="en-US" sz="1250" b="1" dirty="0">
                <a:solidFill>
                  <a:srgbClr val="3366FF"/>
                </a:solidFill>
                <a:latin typeface="Libre Franklin" pitchFamily="34" charset="0"/>
                <a:ea typeface="Libre Franklin" pitchFamily="34" charset="-122"/>
                <a:cs typeface="Libre Franklin" pitchFamily="34" charset="-120"/>
              </a:rPr>
              <a:t>The fastest of 131 real caregivers took 11.57 minutes. In 4581, 12.5% finished faster than that.</a:t>
            </a:r>
            <a:endParaRPr lang="en-US" sz="1250" dirty="0"/>
          </a:p>
        </p:txBody>
      </p:sp>
      <p:sp>
        <p:nvSpPr>
          <p:cNvPr id="29" name="Text 24"/>
          <p:cNvSpPr/>
          <p:nvPr/>
        </p:nvSpPr>
        <p:spPr>
          <a:xfrm>
            <a:off x="457200" y="6336792"/>
            <a:ext cx="10698480" cy="256032"/>
          </a:xfrm>
          <a:prstGeom prst="rect">
            <a:avLst/>
          </a:prstGeom>
          <a:noFill/>
          <a:ln/>
        </p:spPr>
        <p:txBody>
          <a:bodyPr wrap="square" lIns="0" tIns="0" rIns="0" bIns="0" rtlCol="0" anchor="ctr"/>
          <a:lstStyle/>
          <a:p>
            <a:pPr indent="0" marL="0">
              <a:buNone/>
            </a:pPr>
            <a:r>
              <a:rPr lang="en-US" sz="1000" dirty="0">
                <a:solidFill>
                  <a:srgbClr val="52525B"/>
                </a:solidFill>
                <a:latin typeface="Libre Franklin Medium" pitchFamily="34" charset="0"/>
                <a:ea typeface="Libre Franklin Medium" pitchFamily="34" charset="-122"/>
                <a:cs typeface="Libre Franklin Medium" pitchFamily="34" charset="-120"/>
              </a:rPr>
              <a:t>Both projects record how long each of the four survey sections took, so speed checks work in either one.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sessions/happy-eloquent-pascal/mnt/.claude/skills/esd-lab/assets/logos/logo-horizontal-discovery-blue.png">    </p:cNvPr>
          <p:cNvPicPr>
            <a:picLocks noChangeAspect="1"/>
          </p:cNvPicPr>
          <p:nvPr/>
        </p:nvPicPr>
        <p:blipFill>
          <a:blip r:embed="rId1"/>
          <a:stretch>
            <a:fillRect/>
          </a:stretch>
        </p:blipFill>
        <p:spPr>
          <a:xfrm>
            <a:off x="457200" y="292608"/>
            <a:ext cx="1179576" cy="265176"/>
          </a:xfrm>
          <a:prstGeom prst="rect">
            <a:avLst/>
          </a:prstGeom>
        </p:spPr>
      </p:pic>
      <p:pic>
        <p:nvPicPr>
          <p:cNvPr id="3" name="Image 1" descr="/sessions/happy-eloquent-pascal/mnt/.claude/skills/esd-lab/assets/logos/uofsc-horizontal-garnet.png">    </p:cNvPr>
          <p:cNvPicPr>
            <a:picLocks noChangeAspect="1"/>
          </p:cNvPicPr>
          <p:nvPr/>
        </p:nvPicPr>
        <p:blipFill>
          <a:blip r:embed="rId2"/>
          <a:stretch>
            <a:fillRect/>
          </a:stretch>
        </p:blipFill>
        <p:spPr>
          <a:xfrm>
            <a:off x="1783080" y="292608"/>
            <a:ext cx="987552" cy="265176"/>
          </a:xfrm>
          <a:prstGeom prst="rect">
            <a:avLst/>
          </a:prstGeom>
        </p:spPr>
      </p:pic>
      <p:sp>
        <p:nvSpPr>
          <p:cNvPr id="4" name="Text 0"/>
          <p:cNvSpPr/>
          <p:nvPr/>
        </p:nvSpPr>
        <p:spPr>
          <a:xfrm>
            <a:off x="457200" y="786384"/>
            <a:ext cx="11274552" cy="512064"/>
          </a:xfrm>
          <a:prstGeom prst="rect">
            <a:avLst/>
          </a:prstGeom>
          <a:noFill/>
          <a:ln/>
        </p:spPr>
        <p:txBody>
          <a:bodyPr wrap="square" lIns="0" tIns="0" rIns="0" bIns="0" rtlCol="0" anchor="ctr"/>
          <a:lstStyle/>
          <a:p>
            <a:pPr indent="0" marL="0">
              <a:buNone/>
            </a:pPr>
            <a:r>
              <a:rPr lang="en-US" sz="2900" b="1" spc="-30" kern="0" dirty="0">
                <a:solidFill>
                  <a:srgbClr val="000000"/>
                </a:solidFill>
                <a:latin typeface="Libre Franklin" pitchFamily="34" charset="0"/>
                <a:ea typeface="Libre Franklin" pitchFamily="34" charset="-122"/>
                <a:cs typeface="Libre Franklin" pitchFamily="34" charset="-120"/>
              </a:rPr>
              <a:t>Screening out bad responses</a:t>
            </a:r>
            <a:endParaRPr lang="en-US" sz="2900" dirty="0"/>
          </a:p>
        </p:txBody>
      </p:sp>
      <p:sp>
        <p:nvSpPr>
          <p:cNvPr id="5" name="Text 1"/>
          <p:cNvSpPr/>
          <p:nvPr/>
        </p:nvSpPr>
        <p:spPr>
          <a:xfrm>
            <a:off x="11384280" y="6355080"/>
            <a:ext cx="365760" cy="219456"/>
          </a:xfrm>
          <a:prstGeom prst="rect">
            <a:avLst/>
          </a:prstGeom>
          <a:noFill/>
          <a:ln/>
        </p:spPr>
        <p:txBody>
          <a:bodyPr wrap="square" lIns="0" tIns="0" rIns="0" bIns="0" rtlCol="0" anchor="ctr"/>
          <a:lstStyle/>
          <a:p>
            <a:pPr algn="r" indent="0" marL="0">
              <a:buNone/>
            </a:pPr>
            <a:r>
              <a:rPr lang="en-US" sz="1000" dirty="0">
                <a:solidFill>
                  <a:srgbClr val="91BAF4"/>
                </a:solidFill>
                <a:latin typeface="Libre Franklin Medium" pitchFamily="34" charset="0"/>
                <a:ea typeface="Libre Franklin Medium" pitchFamily="34" charset="-122"/>
                <a:cs typeface="Libre Franklin Medium" pitchFamily="34" charset="-120"/>
              </a:rPr>
              <a:t>4</a:t>
            </a:r>
            <a:endParaRPr lang="en-US" sz="1000" dirty="0"/>
          </a:p>
        </p:txBody>
      </p:sp>
      <p:sp>
        <p:nvSpPr>
          <p:cNvPr id="6" name="Text 2"/>
          <p:cNvSpPr/>
          <p:nvPr/>
        </p:nvSpPr>
        <p:spPr>
          <a:xfrm>
            <a:off x="457200" y="1691640"/>
            <a:ext cx="6858000" cy="219456"/>
          </a:xfrm>
          <a:prstGeom prst="rect">
            <a:avLst/>
          </a:prstGeom>
          <a:noFill/>
          <a:ln/>
        </p:spPr>
        <p:txBody>
          <a:bodyPr wrap="square" lIns="0" tIns="0" rIns="0" bIns="0" rtlCol="0" anchor="ctr"/>
          <a:lstStyle/>
          <a:p>
            <a:pPr indent="0" marL="0">
              <a:buNone/>
            </a:pPr>
            <a:r>
              <a:rPr lang="en-US" sz="1050" b="1" spc="60" kern="0" dirty="0">
                <a:solidFill>
                  <a:srgbClr val="3366FF"/>
                </a:solidFill>
                <a:latin typeface="Libre Franklin" pitchFamily="34" charset="0"/>
                <a:ea typeface="Libre Franklin" pitchFamily="34" charset="-122"/>
                <a:cs typeface="Libre Franklin" pitchFamily="34" charset="-120"/>
              </a:rPr>
              <a:t>NINE RULES, EACH WITH A FIXED THRESHOLD</a:t>
            </a:r>
            <a:endParaRPr lang="en-US" sz="1050" dirty="0"/>
          </a:p>
        </p:txBody>
      </p:sp>
      <p:sp>
        <p:nvSpPr>
          <p:cNvPr id="7" name="Text 3"/>
          <p:cNvSpPr/>
          <p:nvPr/>
        </p:nvSpPr>
        <p:spPr>
          <a:xfrm>
            <a:off x="457200" y="1993392"/>
            <a:ext cx="5486400" cy="201168"/>
          </a:xfrm>
          <a:prstGeom prst="rect">
            <a:avLst/>
          </a:prstGeom>
          <a:noFill/>
          <a:ln/>
        </p:spPr>
        <p:txBody>
          <a:bodyPr wrap="square" lIns="0" tIns="0" rIns="0" bIns="0" rtlCol="0" anchor="ctr"/>
          <a:lstStyle/>
          <a:p>
            <a:pPr indent="0" marL="0">
              <a:buNone/>
            </a:pPr>
            <a:r>
              <a:rPr lang="en-US" sz="950" b="1" spc="50" kern="0" dirty="0">
                <a:solidFill>
                  <a:srgbClr val="71717A"/>
                </a:solidFill>
                <a:latin typeface="Libre Franklin" pitchFamily="34" charset="0"/>
                <a:ea typeface="Libre Franklin" pitchFamily="34" charset="-122"/>
                <a:cs typeface="Libre Franklin" pitchFamily="34" charset="-120"/>
              </a:rPr>
              <a:t>RULE</a:t>
            </a:r>
            <a:endParaRPr lang="en-US" sz="950" dirty="0"/>
          </a:p>
        </p:txBody>
      </p:sp>
      <p:sp>
        <p:nvSpPr>
          <p:cNvPr id="8" name="Text 4"/>
          <p:cNvSpPr/>
          <p:nvPr/>
        </p:nvSpPr>
        <p:spPr>
          <a:xfrm>
            <a:off x="5852160" y="1993392"/>
            <a:ext cx="1463040" cy="201168"/>
          </a:xfrm>
          <a:prstGeom prst="rect">
            <a:avLst/>
          </a:prstGeom>
          <a:noFill/>
          <a:ln/>
        </p:spPr>
        <p:txBody>
          <a:bodyPr wrap="square" lIns="0" tIns="0" rIns="0" bIns="0" rtlCol="0" anchor="ctr"/>
          <a:lstStyle/>
          <a:p>
            <a:pPr algn="r" indent="0" marL="0">
              <a:buNone/>
            </a:pPr>
            <a:r>
              <a:rPr lang="en-US" sz="950" b="1" spc="50" kern="0" dirty="0">
                <a:solidFill>
                  <a:srgbClr val="71717A"/>
                </a:solidFill>
                <a:latin typeface="Libre Franklin" pitchFamily="34" charset="0"/>
                <a:ea typeface="Libre Franklin" pitchFamily="34" charset="-122"/>
                <a:cs typeface="Libre Franklin" pitchFamily="34" charset="-120"/>
              </a:rPr>
              <a:t>WRONGLY FLAGS</a:t>
            </a:r>
            <a:endParaRPr lang="en-US" sz="950" dirty="0"/>
          </a:p>
        </p:txBody>
      </p:sp>
      <p:sp>
        <p:nvSpPr>
          <p:cNvPr id="9" name="Text 5"/>
          <p:cNvSpPr/>
          <p:nvPr/>
        </p:nvSpPr>
        <p:spPr>
          <a:xfrm>
            <a:off x="457200" y="2249424"/>
            <a:ext cx="5303520" cy="256032"/>
          </a:xfrm>
          <a:prstGeom prst="rect">
            <a:avLst/>
          </a:prstGeom>
          <a:noFill/>
          <a:ln/>
        </p:spPr>
        <p:txBody>
          <a:bodyPr wrap="square" lIns="0" tIns="0" rIns="0" bIns="0" rtlCol="0" anchor="ctr"/>
          <a:lstStyle/>
          <a:p>
            <a:pPr indent="0" marL="0">
              <a:buNone/>
            </a:pPr>
            <a:r>
              <a:rPr lang="en-US" sz="1200" dirty="0">
                <a:solidFill>
                  <a:srgbClr val="000000"/>
                </a:solidFill>
                <a:latin typeface="Libre Franklin Medium" pitchFamily="34" charset="0"/>
                <a:ea typeface="Libre Franklin Medium" pitchFamily="34" charset="-122"/>
                <a:cs typeface="Libre Franklin Medium" pitchFamily="34" charset="-120"/>
              </a:rPr>
              <a:t>Finished the whole survey faster than 11.57 min</a:t>
            </a:r>
            <a:endParaRPr lang="en-US" sz="1200" dirty="0"/>
          </a:p>
        </p:txBody>
      </p:sp>
      <p:sp>
        <p:nvSpPr>
          <p:cNvPr id="10" name="Text 6"/>
          <p:cNvSpPr/>
          <p:nvPr/>
        </p:nvSpPr>
        <p:spPr>
          <a:xfrm>
            <a:off x="5852160" y="2249424"/>
            <a:ext cx="1463040" cy="256032"/>
          </a:xfrm>
          <a:prstGeom prst="rect">
            <a:avLst/>
          </a:prstGeom>
          <a:noFill/>
          <a:ln/>
        </p:spPr>
        <p:txBody>
          <a:bodyPr wrap="square" lIns="0" tIns="0" rIns="0" bIns="0" rtlCol="0" anchor="ctr"/>
          <a:lstStyle/>
          <a:p>
            <a:pPr algn="r" indent="0" marL="0">
              <a:buNone/>
            </a:pPr>
            <a:r>
              <a:rPr lang="en-US" sz="1200" b="1" dirty="0">
                <a:solidFill>
                  <a:srgbClr val="3366FF"/>
                </a:solidFill>
                <a:latin typeface="Libre Franklin" pitchFamily="34" charset="0"/>
                <a:ea typeface="Libre Franklin" pitchFamily="34" charset="-122"/>
                <a:cs typeface="Libre Franklin" pitchFamily="34" charset="-120"/>
              </a:rPr>
              <a:t>0.0%</a:t>
            </a:r>
            <a:endParaRPr lang="en-US" sz="1200" dirty="0"/>
          </a:p>
        </p:txBody>
      </p:sp>
      <p:sp>
        <p:nvSpPr>
          <p:cNvPr id="11" name="Shape 7"/>
          <p:cNvSpPr/>
          <p:nvPr/>
        </p:nvSpPr>
        <p:spPr>
          <a:xfrm>
            <a:off x="457200" y="2542032"/>
            <a:ext cx="6858000" cy="10058"/>
          </a:xfrm>
          <a:prstGeom prst="rect">
            <a:avLst/>
          </a:prstGeom>
          <a:solidFill>
            <a:srgbClr val="E6EEFC"/>
          </a:solidFill>
          <a:ln w="12700">
            <a:solidFill>
              <a:srgbClr val="E6EEFC"/>
            </a:solidFill>
            <a:prstDash val="solid"/>
          </a:ln>
        </p:spPr>
      </p:sp>
      <p:sp>
        <p:nvSpPr>
          <p:cNvPr id="12" name="Text 8"/>
          <p:cNvSpPr/>
          <p:nvPr/>
        </p:nvSpPr>
        <p:spPr>
          <a:xfrm>
            <a:off x="457200" y="2670048"/>
            <a:ext cx="5303520" cy="256032"/>
          </a:xfrm>
          <a:prstGeom prst="rect">
            <a:avLst/>
          </a:prstGeom>
          <a:noFill/>
          <a:ln/>
        </p:spPr>
        <p:txBody>
          <a:bodyPr wrap="square" lIns="0" tIns="0" rIns="0" bIns="0" rtlCol="0" anchor="ctr"/>
          <a:lstStyle/>
          <a:p>
            <a:pPr indent="0" marL="0">
              <a:buNone/>
            </a:pPr>
            <a:r>
              <a:rPr lang="en-US" sz="1200" dirty="0">
                <a:solidFill>
                  <a:srgbClr val="000000"/>
                </a:solidFill>
                <a:latin typeface="Libre Franklin Medium" pitchFamily="34" charset="0"/>
                <a:ea typeface="Libre Franklin Medium" pitchFamily="34" charset="-122"/>
                <a:cs typeface="Libre Franklin Medium" pitchFamily="34" charset="-120"/>
              </a:rPr>
              <a:t>Finished the main section faster than 7.85 min</a:t>
            </a:r>
            <a:endParaRPr lang="en-US" sz="1200" dirty="0"/>
          </a:p>
        </p:txBody>
      </p:sp>
      <p:sp>
        <p:nvSpPr>
          <p:cNvPr id="13" name="Text 9"/>
          <p:cNvSpPr/>
          <p:nvPr/>
        </p:nvSpPr>
        <p:spPr>
          <a:xfrm>
            <a:off x="5852160" y="2670048"/>
            <a:ext cx="1463040" cy="256032"/>
          </a:xfrm>
          <a:prstGeom prst="rect">
            <a:avLst/>
          </a:prstGeom>
          <a:noFill/>
          <a:ln/>
        </p:spPr>
        <p:txBody>
          <a:bodyPr wrap="square" lIns="0" tIns="0" rIns="0" bIns="0" rtlCol="0" anchor="ctr"/>
          <a:lstStyle/>
          <a:p>
            <a:pPr algn="r" indent="0" marL="0">
              <a:buNone/>
            </a:pPr>
            <a:r>
              <a:rPr lang="en-US" sz="1200" b="1" dirty="0">
                <a:solidFill>
                  <a:srgbClr val="3366FF"/>
                </a:solidFill>
                <a:latin typeface="Libre Franklin" pitchFamily="34" charset="0"/>
                <a:ea typeface="Libre Franklin" pitchFamily="34" charset="-122"/>
                <a:cs typeface="Libre Franklin" pitchFamily="34" charset="-120"/>
              </a:rPr>
              <a:t>0.0%</a:t>
            </a:r>
            <a:endParaRPr lang="en-US" sz="1200" dirty="0"/>
          </a:p>
        </p:txBody>
      </p:sp>
      <p:sp>
        <p:nvSpPr>
          <p:cNvPr id="14" name="Shape 10"/>
          <p:cNvSpPr/>
          <p:nvPr/>
        </p:nvSpPr>
        <p:spPr>
          <a:xfrm>
            <a:off x="457200" y="2962656"/>
            <a:ext cx="6858000" cy="10058"/>
          </a:xfrm>
          <a:prstGeom prst="rect">
            <a:avLst/>
          </a:prstGeom>
          <a:solidFill>
            <a:srgbClr val="E6EEFC"/>
          </a:solidFill>
          <a:ln w="12700">
            <a:solidFill>
              <a:srgbClr val="E6EEFC"/>
            </a:solidFill>
            <a:prstDash val="solid"/>
          </a:ln>
        </p:spPr>
      </p:sp>
      <p:sp>
        <p:nvSpPr>
          <p:cNvPr id="15" name="Text 11"/>
          <p:cNvSpPr/>
          <p:nvPr/>
        </p:nvSpPr>
        <p:spPr>
          <a:xfrm>
            <a:off x="457200" y="3090672"/>
            <a:ext cx="5303520" cy="256032"/>
          </a:xfrm>
          <a:prstGeom prst="rect">
            <a:avLst/>
          </a:prstGeom>
          <a:noFill/>
          <a:ln/>
        </p:spPr>
        <p:txBody>
          <a:bodyPr wrap="square" lIns="0" tIns="0" rIns="0" bIns="0" rtlCol="0" anchor="ctr"/>
          <a:lstStyle/>
          <a:p>
            <a:pPr indent="0" marL="0">
              <a:buNone/>
            </a:pPr>
            <a:r>
              <a:rPr lang="en-US" sz="1200" dirty="0">
                <a:solidFill>
                  <a:srgbClr val="000000"/>
                </a:solidFill>
                <a:latin typeface="Libre Franklin Medium" pitchFamily="34" charset="0"/>
                <a:ea typeface="Libre Franklin Medium" pitchFamily="34" charset="-122"/>
                <a:cs typeface="Libre Franklin Medium" pitchFamily="34" charset="-120"/>
              </a:rPr>
              <a:t>Any section faster than the slowest 1% of real caregivers</a:t>
            </a:r>
            <a:endParaRPr lang="en-US" sz="1200" dirty="0"/>
          </a:p>
        </p:txBody>
      </p:sp>
      <p:sp>
        <p:nvSpPr>
          <p:cNvPr id="16" name="Text 12"/>
          <p:cNvSpPr/>
          <p:nvPr/>
        </p:nvSpPr>
        <p:spPr>
          <a:xfrm>
            <a:off x="5852160" y="3090672"/>
            <a:ext cx="1463040" cy="256032"/>
          </a:xfrm>
          <a:prstGeom prst="rect">
            <a:avLst/>
          </a:prstGeom>
          <a:noFill/>
          <a:ln/>
        </p:spPr>
        <p:txBody>
          <a:bodyPr wrap="square" lIns="0" tIns="0" rIns="0" bIns="0" rtlCol="0" anchor="ctr"/>
          <a:lstStyle/>
          <a:p>
            <a:pPr algn="r" indent="0" marL="0">
              <a:buNone/>
            </a:pPr>
            <a:r>
              <a:rPr lang="en-US" sz="1200" b="1" dirty="0">
                <a:solidFill>
                  <a:srgbClr val="F57F00"/>
                </a:solidFill>
                <a:latin typeface="Libre Franklin" pitchFamily="34" charset="0"/>
                <a:ea typeface="Libre Franklin" pitchFamily="34" charset="-122"/>
                <a:cs typeface="Libre Franklin" pitchFamily="34" charset="-120"/>
              </a:rPr>
              <a:t>4.6%</a:t>
            </a:r>
            <a:endParaRPr lang="en-US" sz="1200" dirty="0"/>
          </a:p>
        </p:txBody>
      </p:sp>
      <p:sp>
        <p:nvSpPr>
          <p:cNvPr id="17" name="Shape 13"/>
          <p:cNvSpPr/>
          <p:nvPr/>
        </p:nvSpPr>
        <p:spPr>
          <a:xfrm>
            <a:off x="457200" y="3383280"/>
            <a:ext cx="6858000" cy="10058"/>
          </a:xfrm>
          <a:prstGeom prst="rect">
            <a:avLst/>
          </a:prstGeom>
          <a:solidFill>
            <a:srgbClr val="E6EEFC"/>
          </a:solidFill>
          <a:ln w="12700">
            <a:solidFill>
              <a:srgbClr val="E6EEFC"/>
            </a:solidFill>
            <a:prstDash val="solid"/>
          </a:ln>
        </p:spPr>
      </p:sp>
      <p:sp>
        <p:nvSpPr>
          <p:cNvPr id="18" name="Text 14"/>
          <p:cNvSpPr/>
          <p:nvPr/>
        </p:nvSpPr>
        <p:spPr>
          <a:xfrm>
            <a:off x="457200" y="3511296"/>
            <a:ext cx="5303520" cy="256032"/>
          </a:xfrm>
          <a:prstGeom prst="rect">
            <a:avLst/>
          </a:prstGeom>
          <a:noFill/>
          <a:ln/>
        </p:spPr>
        <p:txBody>
          <a:bodyPr wrap="square" lIns="0" tIns="0" rIns="0" bIns="0" rtlCol="0" anchor="ctr"/>
          <a:lstStyle/>
          <a:p>
            <a:pPr indent="0" marL="0">
              <a:buNone/>
            </a:pPr>
            <a:r>
              <a:rPr lang="en-US" sz="1200" dirty="0">
                <a:solidFill>
                  <a:srgbClr val="000000"/>
                </a:solidFill>
                <a:latin typeface="Libre Franklin Medium" pitchFamily="34" charset="0"/>
                <a:ea typeface="Libre Franklin Medium" pitchFamily="34" charset="-122"/>
                <a:cs typeface="Libre Franklin Medium" pitchFamily="34" charset="-120"/>
              </a:rPr>
              <a:t>Gave nearly the same answer to everything</a:t>
            </a:r>
            <a:endParaRPr lang="en-US" sz="1200" dirty="0"/>
          </a:p>
        </p:txBody>
      </p:sp>
      <p:sp>
        <p:nvSpPr>
          <p:cNvPr id="19" name="Text 15"/>
          <p:cNvSpPr/>
          <p:nvPr/>
        </p:nvSpPr>
        <p:spPr>
          <a:xfrm>
            <a:off x="5852160" y="3511296"/>
            <a:ext cx="1463040" cy="256032"/>
          </a:xfrm>
          <a:prstGeom prst="rect">
            <a:avLst/>
          </a:prstGeom>
          <a:noFill/>
          <a:ln/>
        </p:spPr>
        <p:txBody>
          <a:bodyPr wrap="square" lIns="0" tIns="0" rIns="0" bIns="0" rtlCol="0" anchor="ctr"/>
          <a:lstStyle/>
          <a:p>
            <a:pPr algn="r" indent="0" marL="0">
              <a:buNone/>
            </a:pPr>
            <a:r>
              <a:rPr lang="en-US" sz="1200" b="1" dirty="0">
                <a:solidFill>
                  <a:srgbClr val="F57F00"/>
                </a:solidFill>
                <a:latin typeface="Libre Franklin" pitchFamily="34" charset="0"/>
                <a:ea typeface="Libre Franklin" pitchFamily="34" charset="-122"/>
                <a:cs typeface="Libre Franklin" pitchFamily="34" charset="-120"/>
              </a:rPr>
              <a:t>3.8%</a:t>
            </a:r>
            <a:endParaRPr lang="en-US" sz="1200" dirty="0"/>
          </a:p>
        </p:txBody>
      </p:sp>
      <p:sp>
        <p:nvSpPr>
          <p:cNvPr id="20" name="Shape 16"/>
          <p:cNvSpPr/>
          <p:nvPr/>
        </p:nvSpPr>
        <p:spPr>
          <a:xfrm>
            <a:off x="457200" y="3803904"/>
            <a:ext cx="6858000" cy="10058"/>
          </a:xfrm>
          <a:prstGeom prst="rect">
            <a:avLst/>
          </a:prstGeom>
          <a:solidFill>
            <a:srgbClr val="E6EEFC"/>
          </a:solidFill>
          <a:ln w="12700">
            <a:solidFill>
              <a:srgbClr val="E6EEFC"/>
            </a:solidFill>
            <a:prstDash val="solid"/>
          </a:ln>
        </p:spPr>
      </p:sp>
      <p:sp>
        <p:nvSpPr>
          <p:cNvPr id="21" name="Text 17"/>
          <p:cNvSpPr/>
          <p:nvPr/>
        </p:nvSpPr>
        <p:spPr>
          <a:xfrm>
            <a:off x="457200" y="3931920"/>
            <a:ext cx="5303520" cy="256032"/>
          </a:xfrm>
          <a:prstGeom prst="rect">
            <a:avLst/>
          </a:prstGeom>
          <a:noFill/>
          <a:ln/>
        </p:spPr>
        <p:txBody>
          <a:bodyPr wrap="square" lIns="0" tIns="0" rIns="0" bIns="0" rtlCol="0" anchor="ctr"/>
          <a:lstStyle/>
          <a:p>
            <a:pPr indent="0" marL="0">
              <a:buNone/>
            </a:pPr>
            <a:r>
              <a:rPr lang="en-US" sz="1200" dirty="0">
                <a:solidFill>
                  <a:srgbClr val="000000"/>
                </a:solidFill>
                <a:latin typeface="Libre Franklin Medium" pitchFamily="34" charset="0"/>
                <a:ea typeface="Libre Franklin Medium" pitchFamily="34" charset="-122"/>
                <a:cs typeface="Libre Franklin Medium" pitchFamily="34" charset="-120"/>
              </a:rPr>
              <a:t>Answer pattern identical to another person</a:t>
            </a:r>
            <a:endParaRPr lang="en-US" sz="1200" dirty="0"/>
          </a:p>
        </p:txBody>
      </p:sp>
      <p:sp>
        <p:nvSpPr>
          <p:cNvPr id="22" name="Text 18"/>
          <p:cNvSpPr/>
          <p:nvPr/>
        </p:nvSpPr>
        <p:spPr>
          <a:xfrm>
            <a:off x="5852160" y="3931920"/>
            <a:ext cx="1463040" cy="256032"/>
          </a:xfrm>
          <a:prstGeom prst="rect">
            <a:avLst/>
          </a:prstGeom>
          <a:noFill/>
          <a:ln/>
        </p:spPr>
        <p:txBody>
          <a:bodyPr wrap="square" lIns="0" tIns="0" rIns="0" bIns="0" rtlCol="0" anchor="ctr"/>
          <a:lstStyle/>
          <a:p>
            <a:pPr algn="r" indent="0" marL="0">
              <a:buNone/>
            </a:pPr>
            <a:r>
              <a:rPr lang="en-US" sz="1200" b="1" dirty="0">
                <a:solidFill>
                  <a:srgbClr val="3366FF"/>
                </a:solidFill>
                <a:latin typeface="Libre Franklin" pitchFamily="34" charset="0"/>
                <a:ea typeface="Libre Franklin" pitchFamily="34" charset="-122"/>
                <a:cs typeface="Libre Franklin" pitchFamily="34" charset="-120"/>
              </a:rPr>
              <a:t>0.0%</a:t>
            </a:r>
            <a:endParaRPr lang="en-US" sz="1200" dirty="0"/>
          </a:p>
        </p:txBody>
      </p:sp>
      <p:sp>
        <p:nvSpPr>
          <p:cNvPr id="23" name="Shape 19"/>
          <p:cNvSpPr/>
          <p:nvPr/>
        </p:nvSpPr>
        <p:spPr>
          <a:xfrm>
            <a:off x="457200" y="4224528"/>
            <a:ext cx="6858000" cy="10058"/>
          </a:xfrm>
          <a:prstGeom prst="rect">
            <a:avLst/>
          </a:prstGeom>
          <a:solidFill>
            <a:srgbClr val="E6EEFC"/>
          </a:solidFill>
          <a:ln w="12700">
            <a:solidFill>
              <a:srgbClr val="E6EEFC"/>
            </a:solidFill>
            <a:prstDash val="solid"/>
          </a:ln>
        </p:spPr>
      </p:sp>
      <p:sp>
        <p:nvSpPr>
          <p:cNvPr id="24" name="Text 20"/>
          <p:cNvSpPr/>
          <p:nvPr/>
        </p:nvSpPr>
        <p:spPr>
          <a:xfrm>
            <a:off x="457200" y="4352544"/>
            <a:ext cx="5303520" cy="256032"/>
          </a:xfrm>
          <a:prstGeom prst="rect">
            <a:avLst/>
          </a:prstGeom>
          <a:noFill/>
          <a:ln/>
        </p:spPr>
        <p:txBody>
          <a:bodyPr wrap="square" lIns="0" tIns="0" rIns="0" bIns="0" rtlCol="0" anchor="ctr"/>
          <a:lstStyle/>
          <a:p>
            <a:pPr indent="0" marL="0">
              <a:buNone/>
            </a:pPr>
            <a:r>
              <a:rPr lang="en-US" sz="1200" dirty="0">
                <a:solidFill>
                  <a:srgbClr val="000000"/>
                </a:solidFill>
                <a:latin typeface="Libre Franklin Medium" pitchFamily="34" charset="0"/>
                <a:ea typeface="Libre Franklin Medium" pitchFamily="34" charset="-122"/>
                <a:cs typeface="Libre Franklin Medium" pitchFamily="34" charset="-120"/>
              </a:rPr>
              <a:t>Three or more submissions within 60 minutes</a:t>
            </a:r>
            <a:endParaRPr lang="en-US" sz="1200" dirty="0"/>
          </a:p>
        </p:txBody>
      </p:sp>
      <p:sp>
        <p:nvSpPr>
          <p:cNvPr id="25" name="Text 21"/>
          <p:cNvSpPr/>
          <p:nvPr/>
        </p:nvSpPr>
        <p:spPr>
          <a:xfrm>
            <a:off x="5852160" y="4352544"/>
            <a:ext cx="1463040" cy="256032"/>
          </a:xfrm>
          <a:prstGeom prst="rect">
            <a:avLst/>
          </a:prstGeom>
          <a:noFill/>
          <a:ln/>
        </p:spPr>
        <p:txBody>
          <a:bodyPr wrap="square" lIns="0" tIns="0" rIns="0" bIns="0" rtlCol="0" anchor="ctr"/>
          <a:lstStyle/>
          <a:p>
            <a:pPr algn="r" indent="0" marL="0">
              <a:buNone/>
            </a:pPr>
            <a:r>
              <a:rPr lang="en-US" sz="1200" b="1" dirty="0">
                <a:solidFill>
                  <a:srgbClr val="F57F00"/>
                </a:solidFill>
                <a:latin typeface="Libre Franklin" pitchFamily="34" charset="0"/>
                <a:ea typeface="Libre Franklin" pitchFamily="34" charset="-122"/>
                <a:cs typeface="Libre Franklin" pitchFamily="34" charset="-120"/>
              </a:rPr>
              <a:t>2.3%</a:t>
            </a:r>
            <a:endParaRPr lang="en-US" sz="1200" dirty="0"/>
          </a:p>
        </p:txBody>
      </p:sp>
      <p:sp>
        <p:nvSpPr>
          <p:cNvPr id="26" name="Shape 22"/>
          <p:cNvSpPr/>
          <p:nvPr/>
        </p:nvSpPr>
        <p:spPr>
          <a:xfrm>
            <a:off x="457200" y="4645152"/>
            <a:ext cx="6858000" cy="10058"/>
          </a:xfrm>
          <a:prstGeom prst="rect">
            <a:avLst/>
          </a:prstGeom>
          <a:solidFill>
            <a:srgbClr val="E6EEFC"/>
          </a:solidFill>
          <a:ln w="12700">
            <a:solidFill>
              <a:srgbClr val="E6EEFC"/>
            </a:solidFill>
            <a:prstDash val="solid"/>
          </a:ln>
        </p:spPr>
      </p:sp>
      <p:sp>
        <p:nvSpPr>
          <p:cNvPr id="27" name="Text 23"/>
          <p:cNvSpPr/>
          <p:nvPr/>
        </p:nvSpPr>
        <p:spPr>
          <a:xfrm>
            <a:off x="457200" y="4773168"/>
            <a:ext cx="5303520" cy="256032"/>
          </a:xfrm>
          <a:prstGeom prst="rect">
            <a:avLst/>
          </a:prstGeom>
          <a:noFill/>
          <a:ln/>
        </p:spPr>
        <p:txBody>
          <a:bodyPr wrap="square" lIns="0" tIns="0" rIns="0" bIns="0" rtlCol="0" anchor="ctr"/>
          <a:lstStyle/>
          <a:p>
            <a:pPr indent="0" marL="0">
              <a:buNone/>
            </a:pPr>
            <a:r>
              <a:rPr lang="en-US" sz="1200" dirty="0">
                <a:solidFill>
                  <a:srgbClr val="000000"/>
                </a:solidFill>
                <a:latin typeface="Libre Franklin Medium" pitchFamily="34" charset="0"/>
                <a:ea typeface="Libre Franklin Medium" pitchFamily="34" charset="-122"/>
                <a:cs typeface="Libre Franklin Medium" pitchFamily="34" charset="-120"/>
              </a:rPr>
              <a:t>Written answers nearly identical to someone else's</a:t>
            </a:r>
            <a:endParaRPr lang="en-US" sz="1200" dirty="0"/>
          </a:p>
        </p:txBody>
      </p:sp>
      <p:sp>
        <p:nvSpPr>
          <p:cNvPr id="28" name="Text 24"/>
          <p:cNvSpPr/>
          <p:nvPr/>
        </p:nvSpPr>
        <p:spPr>
          <a:xfrm>
            <a:off x="5852160" y="4773168"/>
            <a:ext cx="1463040" cy="256032"/>
          </a:xfrm>
          <a:prstGeom prst="rect">
            <a:avLst/>
          </a:prstGeom>
          <a:noFill/>
          <a:ln/>
        </p:spPr>
        <p:txBody>
          <a:bodyPr wrap="square" lIns="0" tIns="0" rIns="0" bIns="0" rtlCol="0" anchor="ctr"/>
          <a:lstStyle/>
          <a:p>
            <a:pPr algn="r" indent="0" marL="0">
              <a:buNone/>
            </a:pPr>
            <a:r>
              <a:rPr lang="en-US" sz="1200" b="1" dirty="0">
                <a:solidFill>
                  <a:srgbClr val="3366FF"/>
                </a:solidFill>
                <a:latin typeface="Libre Franklin" pitchFamily="34" charset="0"/>
                <a:ea typeface="Libre Franklin" pitchFamily="34" charset="-122"/>
                <a:cs typeface="Libre Franklin" pitchFamily="34" charset="-120"/>
              </a:rPr>
              <a:t>0.0%</a:t>
            </a:r>
            <a:endParaRPr lang="en-US" sz="1200" dirty="0"/>
          </a:p>
        </p:txBody>
      </p:sp>
      <p:sp>
        <p:nvSpPr>
          <p:cNvPr id="29" name="Shape 25"/>
          <p:cNvSpPr/>
          <p:nvPr/>
        </p:nvSpPr>
        <p:spPr>
          <a:xfrm>
            <a:off x="457200" y="5065776"/>
            <a:ext cx="6858000" cy="10058"/>
          </a:xfrm>
          <a:prstGeom prst="rect">
            <a:avLst/>
          </a:prstGeom>
          <a:solidFill>
            <a:srgbClr val="E6EEFC"/>
          </a:solidFill>
          <a:ln w="12700">
            <a:solidFill>
              <a:srgbClr val="E6EEFC"/>
            </a:solidFill>
            <a:prstDash val="solid"/>
          </a:ln>
        </p:spPr>
      </p:sp>
      <p:sp>
        <p:nvSpPr>
          <p:cNvPr id="30" name="Text 26"/>
          <p:cNvSpPr/>
          <p:nvPr/>
        </p:nvSpPr>
        <p:spPr>
          <a:xfrm>
            <a:off x="457200" y="5193792"/>
            <a:ext cx="5303520" cy="256032"/>
          </a:xfrm>
          <a:prstGeom prst="rect">
            <a:avLst/>
          </a:prstGeom>
          <a:noFill/>
          <a:ln/>
        </p:spPr>
        <p:txBody>
          <a:bodyPr wrap="square" lIns="0" tIns="0" rIns="0" bIns="0" rtlCol="0" anchor="ctr"/>
          <a:lstStyle/>
          <a:p>
            <a:pPr indent="0" marL="0">
              <a:buNone/>
            </a:pPr>
            <a:r>
              <a:rPr lang="en-US" sz="1200" dirty="0">
                <a:solidFill>
                  <a:srgbClr val="000000"/>
                </a:solidFill>
                <a:latin typeface="Libre Franklin Medium" pitchFamily="34" charset="0"/>
                <a:ea typeface="Libre Franklin Medium" pitchFamily="34" charset="-122"/>
                <a:cs typeface="Libre Franklin Medium" pitchFamily="34" charset="-120"/>
              </a:rPr>
              <a:t>Family answers contradict each other</a:t>
            </a:r>
            <a:endParaRPr lang="en-US" sz="1200" dirty="0"/>
          </a:p>
        </p:txBody>
      </p:sp>
      <p:sp>
        <p:nvSpPr>
          <p:cNvPr id="31" name="Text 27"/>
          <p:cNvSpPr/>
          <p:nvPr/>
        </p:nvSpPr>
        <p:spPr>
          <a:xfrm>
            <a:off x="5852160" y="5193792"/>
            <a:ext cx="1463040" cy="256032"/>
          </a:xfrm>
          <a:prstGeom prst="rect">
            <a:avLst/>
          </a:prstGeom>
          <a:noFill/>
          <a:ln/>
        </p:spPr>
        <p:txBody>
          <a:bodyPr wrap="square" lIns="0" tIns="0" rIns="0" bIns="0" rtlCol="0" anchor="ctr"/>
          <a:lstStyle/>
          <a:p>
            <a:pPr algn="r" indent="0" marL="0">
              <a:buNone/>
            </a:pPr>
            <a:r>
              <a:rPr lang="en-US" sz="1200" b="1" dirty="0">
                <a:solidFill>
                  <a:srgbClr val="3366FF"/>
                </a:solidFill>
                <a:latin typeface="Libre Franklin" pitchFamily="34" charset="0"/>
                <a:ea typeface="Libre Franklin" pitchFamily="34" charset="-122"/>
                <a:cs typeface="Libre Franklin" pitchFamily="34" charset="-120"/>
              </a:rPr>
              <a:t>0.0%</a:t>
            </a:r>
            <a:endParaRPr lang="en-US" sz="1200" dirty="0"/>
          </a:p>
        </p:txBody>
      </p:sp>
      <p:sp>
        <p:nvSpPr>
          <p:cNvPr id="32" name="Shape 28"/>
          <p:cNvSpPr/>
          <p:nvPr/>
        </p:nvSpPr>
        <p:spPr>
          <a:xfrm>
            <a:off x="457200" y="5486400"/>
            <a:ext cx="6858000" cy="10058"/>
          </a:xfrm>
          <a:prstGeom prst="rect">
            <a:avLst/>
          </a:prstGeom>
          <a:solidFill>
            <a:srgbClr val="E6EEFC"/>
          </a:solidFill>
          <a:ln w="12700">
            <a:solidFill>
              <a:srgbClr val="E6EEFC"/>
            </a:solidFill>
            <a:prstDash val="solid"/>
          </a:ln>
        </p:spPr>
      </p:sp>
      <p:sp>
        <p:nvSpPr>
          <p:cNvPr id="33" name="Text 29"/>
          <p:cNvSpPr/>
          <p:nvPr/>
        </p:nvSpPr>
        <p:spPr>
          <a:xfrm>
            <a:off x="457200" y="5614416"/>
            <a:ext cx="5303520" cy="256032"/>
          </a:xfrm>
          <a:prstGeom prst="rect">
            <a:avLst/>
          </a:prstGeom>
          <a:noFill/>
          <a:ln/>
        </p:spPr>
        <p:txBody>
          <a:bodyPr wrap="square" lIns="0" tIns="0" rIns="0" bIns="0" rtlCol="0" anchor="ctr"/>
          <a:lstStyle/>
          <a:p>
            <a:pPr indent="0" marL="0">
              <a:buNone/>
            </a:pPr>
            <a:r>
              <a:rPr lang="en-US" sz="1200" dirty="0">
                <a:solidFill>
                  <a:srgbClr val="000000"/>
                </a:solidFill>
                <a:latin typeface="Libre Franklin Medium" pitchFamily="34" charset="0"/>
                <a:ea typeface="Libre Franklin Medium" pitchFamily="34" charset="-122"/>
                <a:cs typeface="Libre Franklin Medium" pitchFamily="34" charset="-120"/>
              </a:rPr>
              <a:t>Demographics that cannot be true</a:t>
            </a:r>
            <a:endParaRPr lang="en-US" sz="1200" dirty="0"/>
          </a:p>
        </p:txBody>
      </p:sp>
      <p:sp>
        <p:nvSpPr>
          <p:cNvPr id="34" name="Text 30"/>
          <p:cNvSpPr/>
          <p:nvPr/>
        </p:nvSpPr>
        <p:spPr>
          <a:xfrm>
            <a:off x="5852160" y="5614416"/>
            <a:ext cx="1463040" cy="256032"/>
          </a:xfrm>
          <a:prstGeom prst="rect">
            <a:avLst/>
          </a:prstGeom>
          <a:noFill/>
          <a:ln/>
        </p:spPr>
        <p:txBody>
          <a:bodyPr wrap="square" lIns="0" tIns="0" rIns="0" bIns="0" rtlCol="0" anchor="ctr"/>
          <a:lstStyle/>
          <a:p>
            <a:pPr algn="r" indent="0" marL="0">
              <a:buNone/>
            </a:pPr>
            <a:r>
              <a:rPr lang="en-US" sz="1200" b="1" dirty="0">
                <a:solidFill>
                  <a:srgbClr val="F57F00"/>
                </a:solidFill>
                <a:latin typeface="Libre Franklin" pitchFamily="34" charset="0"/>
                <a:ea typeface="Libre Franklin" pitchFamily="34" charset="-122"/>
                <a:cs typeface="Libre Franklin" pitchFamily="34" charset="-120"/>
              </a:rPr>
              <a:t>1.5%</a:t>
            </a:r>
            <a:endParaRPr lang="en-US" sz="1200" dirty="0"/>
          </a:p>
        </p:txBody>
      </p:sp>
      <p:sp>
        <p:nvSpPr>
          <p:cNvPr id="35" name="Shape 31"/>
          <p:cNvSpPr/>
          <p:nvPr/>
        </p:nvSpPr>
        <p:spPr>
          <a:xfrm>
            <a:off x="457200" y="5907024"/>
            <a:ext cx="6858000" cy="10058"/>
          </a:xfrm>
          <a:prstGeom prst="rect">
            <a:avLst/>
          </a:prstGeom>
          <a:solidFill>
            <a:srgbClr val="E6EEFC"/>
          </a:solidFill>
          <a:ln w="12700">
            <a:solidFill>
              <a:srgbClr val="E6EEFC"/>
            </a:solidFill>
            <a:prstDash val="solid"/>
          </a:ln>
        </p:spPr>
      </p:sp>
      <p:sp>
        <p:nvSpPr>
          <p:cNvPr id="36" name="Text 32"/>
          <p:cNvSpPr/>
          <p:nvPr/>
        </p:nvSpPr>
        <p:spPr>
          <a:xfrm>
            <a:off x="457200" y="6053328"/>
            <a:ext cx="6858000" cy="256032"/>
          </a:xfrm>
          <a:prstGeom prst="rect">
            <a:avLst/>
          </a:prstGeom>
          <a:noFill/>
          <a:ln/>
        </p:spPr>
        <p:txBody>
          <a:bodyPr wrap="square" lIns="0" tIns="0" rIns="0" bIns="0" rtlCol="0" anchor="ctr"/>
          <a:lstStyle/>
          <a:p>
            <a:pPr indent="0" marL="0">
              <a:buNone/>
            </a:pPr>
            <a:r>
              <a:rPr lang="en-US" sz="1050" dirty="0">
                <a:solidFill>
                  <a:srgbClr val="52525B"/>
                </a:solidFill>
                <a:latin typeface="Libre Franklin Medium" pitchFamily="34" charset="0"/>
                <a:ea typeface="Libre Franklin Medium" pitchFamily="34" charset="-122"/>
                <a:cs typeface="Libre Franklin Medium" pitchFamily="34" charset="-120"/>
              </a:rPr>
              <a:t>Rates measured against the 131 caregivers we know are real.</a:t>
            </a:r>
            <a:endParaRPr lang="en-US" sz="1050" dirty="0"/>
          </a:p>
        </p:txBody>
      </p:sp>
      <p:sp>
        <p:nvSpPr>
          <p:cNvPr id="37" name="Text 33"/>
          <p:cNvSpPr/>
          <p:nvPr/>
        </p:nvSpPr>
        <p:spPr>
          <a:xfrm>
            <a:off x="7680960" y="1691640"/>
            <a:ext cx="4023360" cy="219456"/>
          </a:xfrm>
          <a:prstGeom prst="rect">
            <a:avLst/>
          </a:prstGeom>
          <a:noFill/>
          <a:ln/>
        </p:spPr>
        <p:txBody>
          <a:bodyPr wrap="square" lIns="0" tIns="0" rIns="0" bIns="0" rtlCol="0" anchor="ctr"/>
          <a:lstStyle/>
          <a:p>
            <a:pPr indent="0" marL="0">
              <a:buNone/>
            </a:pPr>
            <a:r>
              <a:rPr lang="en-US" sz="1050" b="1" spc="60" kern="0" dirty="0">
                <a:solidFill>
                  <a:srgbClr val="3366FF"/>
                </a:solidFill>
                <a:latin typeface="Libre Franklin" pitchFamily="34" charset="0"/>
                <a:ea typeface="Libre Franklin" pitchFamily="34" charset="-122"/>
                <a:cs typeface="Libre Franklin" pitchFamily="34" charset="-120"/>
              </a:rPr>
              <a:t>WHAT THE RULES FOUND</a:t>
            </a:r>
            <a:endParaRPr lang="en-US" sz="1050" dirty="0"/>
          </a:p>
        </p:txBody>
      </p:sp>
      <p:sp>
        <p:nvSpPr>
          <p:cNvPr id="38" name="Text 34"/>
          <p:cNvSpPr/>
          <p:nvPr/>
        </p:nvSpPr>
        <p:spPr>
          <a:xfrm>
            <a:off x="7680960" y="2011680"/>
            <a:ext cx="4023360" cy="530352"/>
          </a:xfrm>
          <a:prstGeom prst="rect">
            <a:avLst/>
          </a:prstGeom>
          <a:noFill/>
          <a:ln/>
        </p:spPr>
        <p:txBody>
          <a:bodyPr wrap="square" lIns="0" tIns="0" rIns="0" bIns="0" rtlCol="0" anchor="ctr"/>
          <a:lstStyle/>
          <a:p>
            <a:pPr indent="0" marL="0">
              <a:buNone/>
            </a:pPr>
            <a:r>
              <a:rPr lang="en-US" sz="3400" b="1" spc="-50" kern="0" dirty="0">
                <a:solidFill>
                  <a:srgbClr val="3366FF"/>
                </a:solidFill>
                <a:latin typeface="Libre Franklin" pitchFamily="34" charset="0"/>
                <a:ea typeface="Libre Franklin" pitchFamily="34" charset="-122"/>
                <a:cs typeface="Libre Franklin" pitchFamily="34" charset="-120"/>
              </a:rPr>
              <a:t>5 of 177</a:t>
            </a:r>
            <a:endParaRPr lang="en-US" sz="3400" dirty="0"/>
          </a:p>
        </p:txBody>
      </p:sp>
      <p:sp>
        <p:nvSpPr>
          <p:cNvPr id="39" name="Text 35"/>
          <p:cNvSpPr/>
          <p:nvPr/>
        </p:nvSpPr>
        <p:spPr>
          <a:xfrm>
            <a:off x="7680960" y="2560320"/>
            <a:ext cx="4023360" cy="237744"/>
          </a:xfrm>
          <a:prstGeom prst="rect">
            <a:avLst/>
          </a:prstGeom>
          <a:noFill/>
          <a:ln/>
        </p:spPr>
        <p:txBody>
          <a:bodyPr wrap="square" lIns="0" tIns="0" rIns="0" bIns="0" rtlCol="0" anchor="ctr"/>
          <a:lstStyle/>
          <a:p>
            <a:pPr indent="0" marL="0">
              <a:buNone/>
            </a:pPr>
            <a:r>
              <a:rPr lang="en-US" sz="1200" b="1" dirty="0">
                <a:solidFill>
                  <a:srgbClr val="000000"/>
                </a:solidFill>
                <a:latin typeface="Libre Franklin" pitchFamily="34" charset="0"/>
                <a:ea typeface="Libre Franklin" pitchFamily="34" charset="-122"/>
                <a:cs typeface="Libre Franklin" pitchFamily="34" charset="-120"/>
              </a:rPr>
              <a:t>Flagged in project 4797</a:t>
            </a:r>
            <a:endParaRPr lang="en-US" sz="1200" dirty="0"/>
          </a:p>
        </p:txBody>
      </p:sp>
      <p:sp>
        <p:nvSpPr>
          <p:cNvPr id="40" name="Text 36"/>
          <p:cNvSpPr/>
          <p:nvPr/>
        </p:nvSpPr>
        <p:spPr>
          <a:xfrm>
            <a:off x="7680960" y="2788920"/>
            <a:ext cx="4023360" cy="274320"/>
          </a:xfrm>
          <a:prstGeom prst="rect">
            <a:avLst/>
          </a:prstGeom>
          <a:noFill/>
          <a:ln/>
        </p:spPr>
        <p:txBody>
          <a:bodyPr wrap="square" lIns="0" tIns="0" rIns="0" bIns="0" rtlCol="0" anchor="ctr"/>
          <a:lstStyle/>
          <a:p>
            <a:pPr indent="0" marL="0">
              <a:buNone/>
            </a:pPr>
            <a:r>
              <a:rPr lang="en-US" sz="1050" dirty="0">
                <a:solidFill>
                  <a:srgbClr val="52525B"/>
                </a:solidFill>
                <a:latin typeface="Libre Franklin Medium" pitchFamily="34" charset="0"/>
                <a:ea typeface="Libre Franklin Medium" pitchFamily="34" charset="-122"/>
                <a:cs typeface="Libre Franklin Medium" pitchFamily="34" charset="-120"/>
              </a:rPr>
              <a:t>2.8% of the current project</a:t>
            </a:r>
            <a:endParaRPr lang="en-US" sz="1050" dirty="0"/>
          </a:p>
        </p:txBody>
      </p:sp>
      <p:sp>
        <p:nvSpPr>
          <p:cNvPr id="41" name="Text 37"/>
          <p:cNvSpPr/>
          <p:nvPr/>
        </p:nvSpPr>
        <p:spPr>
          <a:xfrm>
            <a:off x="7680960" y="3246120"/>
            <a:ext cx="4023360" cy="530352"/>
          </a:xfrm>
          <a:prstGeom prst="rect">
            <a:avLst/>
          </a:prstGeom>
          <a:noFill/>
          <a:ln/>
        </p:spPr>
        <p:txBody>
          <a:bodyPr wrap="square" lIns="0" tIns="0" rIns="0" bIns="0" rtlCol="0" anchor="ctr"/>
          <a:lstStyle/>
          <a:p>
            <a:pPr indent="0" marL="0">
              <a:buNone/>
            </a:pPr>
            <a:r>
              <a:rPr lang="en-US" sz="3400" b="1" spc="-50" kern="0" dirty="0">
                <a:solidFill>
                  <a:srgbClr val="F57F00"/>
                </a:solidFill>
                <a:latin typeface="Libre Franklin" pitchFamily="34" charset="0"/>
                <a:ea typeface="Libre Franklin" pitchFamily="34" charset="-122"/>
                <a:cs typeface="Libre Franklin" pitchFamily="34" charset="-120"/>
              </a:rPr>
              <a:t>1,043 of 1,779</a:t>
            </a:r>
            <a:endParaRPr lang="en-US" sz="3400" dirty="0"/>
          </a:p>
        </p:txBody>
      </p:sp>
      <p:sp>
        <p:nvSpPr>
          <p:cNvPr id="42" name="Text 38"/>
          <p:cNvSpPr/>
          <p:nvPr/>
        </p:nvSpPr>
        <p:spPr>
          <a:xfrm>
            <a:off x="7680960" y="3794760"/>
            <a:ext cx="4023360" cy="237744"/>
          </a:xfrm>
          <a:prstGeom prst="rect">
            <a:avLst/>
          </a:prstGeom>
          <a:noFill/>
          <a:ln/>
        </p:spPr>
        <p:txBody>
          <a:bodyPr wrap="square" lIns="0" tIns="0" rIns="0" bIns="0" rtlCol="0" anchor="ctr"/>
          <a:lstStyle/>
          <a:p>
            <a:pPr indent="0" marL="0">
              <a:buNone/>
            </a:pPr>
            <a:r>
              <a:rPr lang="en-US" sz="1200" b="1" dirty="0">
                <a:solidFill>
                  <a:srgbClr val="000000"/>
                </a:solidFill>
                <a:latin typeface="Libre Franklin" pitchFamily="34" charset="0"/>
                <a:ea typeface="Libre Franklin" pitchFamily="34" charset="-122"/>
                <a:cs typeface="Libre Franklin" pitchFamily="34" charset="-120"/>
              </a:rPr>
              <a:t>Flagged in project 4581</a:t>
            </a:r>
            <a:endParaRPr lang="en-US" sz="1200" dirty="0"/>
          </a:p>
        </p:txBody>
      </p:sp>
      <p:sp>
        <p:nvSpPr>
          <p:cNvPr id="43" name="Text 39"/>
          <p:cNvSpPr/>
          <p:nvPr/>
        </p:nvSpPr>
        <p:spPr>
          <a:xfrm>
            <a:off x="7680960" y="4023360"/>
            <a:ext cx="4023360" cy="274320"/>
          </a:xfrm>
          <a:prstGeom prst="rect">
            <a:avLst/>
          </a:prstGeom>
          <a:noFill/>
          <a:ln/>
        </p:spPr>
        <p:txBody>
          <a:bodyPr wrap="square" lIns="0" tIns="0" rIns="0" bIns="0" rtlCol="0" anchor="ctr"/>
          <a:lstStyle/>
          <a:p>
            <a:pPr indent="0" marL="0">
              <a:buNone/>
            </a:pPr>
            <a:r>
              <a:rPr lang="en-US" sz="1050" dirty="0">
                <a:solidFill>
                  <a:srgbClr val="52525B"/>
                </a:solidFill>
                <a:latin typeface="Libre Franklin Medium" pitchFamily="34" charset="0"/>
                <a:ea typeface="Libre Franklin Medium" pitchFamily="34" charset="-122"/>
                <a:cs typeface="Libre Franklin Medium" pitchFamily="34" charset="-120"/>
              </a:rPr>
              <a:t>58.6% of the old project</a:t>
            </a:r>
            <a:endParaRPr lang="en-US" sz="1050" dirty="0"/>
          </a:p>
        </p:txBody>
      </p:sp>
      <p:sp>
        <p:nvSpPr>
          <p:cNvPr id="44" name="Shape 40"/>
          <p:cNvSpPr/>
          <p:nvPr/>
        </p:nvSpPr>
        <p:spPr>
          <a:xfrm>
            <a:off x="7680960" y="4526280"/>
            <a:ext cx="4023360" cy="1188720"/>
          </a:xfrm>
          <a:prstGeom prst="roundRect">
            <a:avLst>
              <a:gd name="adj" fmla="val 9231"/>
            </a:avLst>
          </a:prstGeom>
          <a:solidFill>
            <a:srgbClr val="E6EEFC"/>
          </a:solidFill>
          <a:ln w="12700">
            <a:solidFill>
              <a:srgbClr val="E6EEFC"/>
            </a:solidFill>
            <a:prstDash val="solid"/>
          </a:ln>
        </p:spPr>
      </p:sp>
      <p:sp>
        <p:nvSpPr>
          <p:cNvPr id="45" name="Text 41"/>
          <p:cNvSpPr/>
          <p:nvPr/>
        </p:nvSpPr>
        <p:spPr>
          <a:xfrm>
            <a:off x="7882128" y="4663440"/>
            <a:ext cx="3621024" cy="914400"/>
          </a:xfrm>
          <a:prstGeom prst="rect">
            <a:avLst/>
          </a:prstGeom>
          <a:noFill/>
          <a:ln/>
        </p:spPr>
        <p:txBody>
          <a:bodyPr wrap="square" lIns="0" tIns="0" rIns="0" bIns="0" rtlCol="0" anchor="ctr"/>
          <a:lstStyle/>
          <a:p>
            <a:pPr indent="0" marL="0">
              <a:buNone/>
            </a:pPr>
            <a:r>
              <a:rPr lang="en-US" sz="1200" dirty="0">
                <a:solidFill>
                  <a:srgbClr val="000000"/>
                </a:solidFill>
                <a:latin typeface="Libre Franklin Medium" pitchFamily="34" charset="0"/>
                <a:ea typeface="Libre Franklin Medium" pitchFamily="34" charset="-122"/>
                <a:cs typeface="Libre Franklin Medium" pitchFamily="34" charset="-120"/>
              </a:rPr>
              <a:t>Only 3 flagged records fall inside the 135 caregivers we analyse. Two for impossible demographics, one for speed and repetition together.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sessions/happy-eloquent-pascal/mnt/.claude/skills/esd-lab/assets/logos/logo-horizontal-discovery-blue.png">    </p:cNvPr>
          <p:cNvPicPr>
            <a:picLocks noChangeAspect="1"/>
          </p:cNvPicPr>
          <p:nvPr/>
        </p:nvPicPr>
        <p:blipFill>
          <a:blip r:embed="rId1"/>
          <a:stretch>
            <a:fillRect/>
          </a:stretch>
        </p:blipFill>
        <p:spPr>
          <a:xfrm>
            <a:off x="457200" y="292608"/>
            <a:ext cx="1179576" cy="265176"/>
          </a:xfrm>
          <a:prstGeom prst="rect">
            <a:avLst/>
          </a:prstGeom>
        </p:spPr>
      </p:pic>
      <p:pic>
        <p:nvPicPr>
          <p:cNvPr id="3" name="Image 1" descr="/sessions/happy-eloquent-pascal/mnt/.claude/skills/esd-lab/assets/logos/uofsc-horizontal-garnet.png">    </p:cNvPr>
          <p:cNvPicPr>
            <a:picLocks noChangeAspect="1"/>
          </p:cNvPicPr>
          <p:nvPr/>
        </p:nvPicPr>
        <p:blipFill>
          <a:blip r:embed="rId2"/>
          <a:stretch>
            <a:fillRect/>
          </a:stretch>
        </p:blipFill>
        <p:spPr>
          <a:xfrm>
            <a:off x="1783080" y="292608"/>
            <a:ext cx="987552" cy="265176"/>
          </a:xfrm>
          <a:prstGeom prst="rect">
            <a:avLst/>
          </a:prstGeom>
        </p:spPr>
      </p:pic>
      <p:sp>
        <p:nvSpPr>
          <p:cNvPr id="4" name="Text 0"/>
          <p:cNvSpPr/>
          <p:nvPr/>
        </p:nvSpPr>
        <p:spPr>
          <a:xfrm>
            <a:off x="457200" y="786384"/>
            <a:ext cx="11274552" cy="512064"/>
          </a:xfrm>
          <a:prstGeom prst="rect">
            <a:avLst/>
          </a:prstGeom>
          <a:noFill/>
          <a:ln/>
        </p:spPr>
        <p:txBody>
          <a:bodyPr wrap="square" lIns="0" tIns="0" rIns="0" bIns="0" rtlCol="0" anchor="ctr"/>
          <a:lstStyle/>
          <a:p>
            <a:pPr indent="0" marL="0">
              <a:buNone/>
            </a:pPr>
            <a:r>
              <a:rPr lang="en-US" sz="2900" b="1" spc="-30" kern="0" dirty="0">
                <a:solidFill>
                  <a:srgbClr val="000000"/>
                </a:solidFill>
                <a:latin typeface="Libre Franklin" pitchFamily="34" charset="0"/>
                <a:ea typeface="Libre Franklin" pitchFamily="34" charset="-122"/>
                <a:cs typeface="Libre Franklin" pitchFamily="34" charset="-120"/>
              </a:rPr>
              <a:t>Who is in the analysis</a:t>
            </a:r>
            <a:endParaRPr lang="en-US" sz="2900" dirty="0"/>
          </a:p>
        </p:txBody>
      </p:sp>
      <p:sp>
        <p:nvSpPr>
          <p:cNvPr id="5" name="Text 1"/>
          <p:cNvSpPr/>
          <p:nvPr/>
        </p:nvSpPr>
        <p:spPr>
          <a:xfrm>
            <a:off x="11384280" y="6355080"/>
            <a:ext cx="365760" cy="219456"/>
          </a:xfrm>
          <a:prstGeom prst="rect">
            <a:avLst/>
          </a:prstGeom>
          <a:noFill/>
          <a:ln/>
        </p:spPr>
        <p:txBody>
          <a:bodyPr wrap="square" lIns="0" tIns="0" rIns="0" bIns="0" rtlCol="0" anchor="ctr"/>
          <a:lstStyle/>
          <a:p>
            <a:pPr algn="r" indent="0" marL="0">
              <a:buNone/>
            </a:pPr>
            <a:r>
              <a:rPr lang="en-US" sz="1000" dirty="0">
                <a:solidFill>
                  <a:srgbClr val="91BAF4"/>
                </a:solidFill>
                <a:latin typeface="Libre Franklin Medium" pitchFamily="34" charset="0"/>
                <a:ea typeface="Libre Franklin Medium" pitchFamily="34" charset="-122"/>
                <a:cs typeface="Libre Franklin Medium" pitchFamily="34" charset="-120"/>
              </a:rPr>
              <a:t>5</a:t>
            </a:r>
            <a:endParaRPr lang="en-US" sz="1000" dirty="0"/>
          </a:p>
        </p:txBody>
      </p:sp>
      <p:sp>
        <p:nvSpPr>
          <p:cNvPr id="6" name="Shape 2"/>
          <p:cNvSpPr/>
          <p:nvPr/>
        </p:nvSpPr>
        <p:spPr>
          <a:xfrm>
            <a:off x="457200" y="1874520"/>
            <a:ext cx="2578608" cy="1783080"/>
          </a:xfrm>
          <a:prstGeom prst="roundRect">
            <a:avLst>
              <a:gd name="adj" fmla="val 7179"/>
            </a:avLst>
          </a:prstGeom>
          <a:solidFill>
            <a:srgbClr val="E6EEFC"/>
          </a:solidFill>
          <a:ln w="12700">
            <a:solidFill>
              <a:srgbClr val="E6EEFC"/>
            </a:solidFill>
            <a:prstDash val="solid"/>
          </a:ln>
        </p:spPr>
      </p:sp>
      <p:sp>
        <p:nvSpPr>
          <p:cNvPr id="7" name="Text 3"/>
          <p:cNvSpPr/>
          <p:nvPr/>
        </p:nvSpPr>
        <p:spPr>
          <a:xfrm>
            <a:off x="658368" y="2029968"/>
            <a:ext cx="2176272" cy="731520"/>
          </a:xfrm>
          <a:prstGeom prst="rect">
            <a:avLst/>
          </a:prstGeom>
          <a:noFill/>
          <a:ln/>
        </p:spPr>
        <p:txBody>
          <a:bodyPr wrap="square" lIns="0" tIns="0" rIns="0" bIns="0" rtlCol="0" anchor="ctr"/>
          <a:lstStyle/>
          <a:p>
            <a:pPr indent="0" marL="0">
              <a:buNone/>
            </a:pPr>
            <a:r>
              <a:rPr lang="en-US" sz="5200" b="1" spc="-100" kern="0" dirty="0">
                <a:solidFill>
                  <a:srgbClr val="3366FF"/>
                </a:solidFill>
                <a:latin typeface="Libre Franklin" pitchFamily="34" charset="0"/>
                <a:ea typeface="Libre Franklin" pitchFamily="34" charset="-122"/>
                <a:cs typeface="Libre Franklin" pitchFamily="34" charset="-120"/>
              </a:rPr>
              <a:t>177</a:t>
            </a:r>
            <a:endParaRPr lang="en-US" sz="5200" dirty="0"/>
          </a:p>
        </p:txBody>
      </p:sp>
      <p:sp>
        <p:nvSpPr>
          <p:cNvPr id="8" name="Text 4"/>
          <p:cNvSpPr/>
          <p:nvPr/>
        </p:nvSpPr>
        <p:spPr>
          <a:xfrm>
            <a:off x="658368" y="2779776"/>
            <a:ext cx="2176272" cy="438912"/>
          </a:xfrm>
          <a:prstGeom prst="rect">
            <a:avLst/>
          </a:prstGeom>
          <a:noFill/>
          <a:ln/>
        </p:spPr>
        <p:txBody>
          <a:bodyPr wrap="square" lIns="0" tIns="0" rIns="0" bIns="0" rtlCol="0" anchor="ctr"/>
          <a:lstStyle/>
          <a:p>
            <a:pPr indent="0" marL="0">
              <a:buNone/>
            </a:pPr>
            <a:r>
              <a:rPr lang="en-US" sz="1400" b="1" dirty="0">
                <a:solidFill>
                  <a:srgbClr val="000000"/>
                </a:solidFill>
                <a:latin typeface="Libre Franklin" pitchFamily="34" charset="0"/>
                <a:ea typeface="Libre Franklin" pitchFamily="34" charset="-122"/>
                <a:cs typeface="Libre Franklin" pitchFamily="34" charset="-120"/>
              </a:rPr>
              <a:t>In project 4797</a:t>
            </a:r>
            <a:endParaRPr lang="en-US" sz="1400" dirty="0"/>
          </a:p>
        </p:txBody>
      </p:sp>
      <p:sp>
        <p:nvSpPr>
          <p:cNvPr id="9" name="Text 5"/>
          <p:cNvSpPr/>
          <p:nvPr/>
        </p:nvSpPr>
        <p:spPr>
          <a:xfrm>
            <a:off x="658368" y="3200400"/>
            <a:ext cx="2176272" cy="365760"/>
          </a:xfrm>
          <a:prstGeom prst="rect">
            <a:avLst/>
          </a:prstGeom>
          <a:noFill/>
          <a:ln/>
        </p:spPr>
        <p:txBody>
          <a:bodyPr wrap="square" lIns="0" tIns="0" rIns="0" bIns="0" rtlCol="0" anchor="ctr"/>
          <a:lstStyle/>
          <a:p>
            <a:pPr indent="0" marL="0">
              <a:buNone/>
            </a:pPr>
            <a:r>
              <a:rPr lang="en-US" sz="1100" dirty="0">
                <a:solidFill>
                  <a:srgbClr val="52525B"/>
                </a:solidFill>
                <a:latin typeface="Libre Franklin Medium" pitchFamily="34" charset="0"/>
                <a:ea typeface="Libre Franklin Medium" pitchFamily="34" charset="-122"/>
                <a:cs typeface="Libre Franklin Medium" pitchFamily="34" charset="-120"/>
              </a:rPr>
              <a:t>Everyone who started</a:t>
            </a:r>
            <a:endParaRPr lang="en-US" sz="1100" dirty="0"/>
          </a:p>
        </p:txBody>
      </p:sp>
      <p:sp>
        <p:nvSpPr>
          <p:cNvPr id="10" name="Shape 6"/>
          <p:cNvSpPr/>
          <p:nvPr/>
        </p:nvSpPr>
        <p:spPr>
          <a:xfrm>
            <a:off x="3072384" y="2670048"/>
            <a:ext cx="246888" cy="219456"/>
          </a:xfrm>
          <a:prstGeom prst="rightArrow">
            <a:avLst/>
          </a:prstGeom>
          <a:solidFill>
            <a:srgbClr val="91BAF4"/>
          </a:solidFill>
          <a:ln w="12700">
            <a:solidFill>
              <a:srgbClr val="91BAF4"/>
            </a:solidFill>
            <a:prstDash val="solid"/>
          </a:ln>
        </p:spPr>
      </p:sp>
      <p:sp>
        <p:nvSpPr>
          <p:cNvPr id="11" name="Shape 7"/>
          <p:cNvSpPr/>
          <p:nvPr/>
        </p:nvSpPr>
        <p:spPr>
          <a:xfrm>
            <a:off x="3355848" y="1874520"/>
            <a:ext cx="2578608" cy="1783080"/>
          </a:xfrm>
          <a:prstGeom prst="roundRect">
            <a:avLst>
              <a:gd name="adj" fmla="val 7179"/>
            </a:avLst>
          </a:prstGeom>
          <a:solidFill>
            <a:srgbClr val="E6EEFC"/>
          </a:solidFill>
          <a:ln w="12700">
            <a:solidFill>
              <a:srgbClr val="E6EEFC"/>
            </a:solidFill>
            <a:prstDash val="solid"/>
          </a:ln>
        </p:spPr>
      </p:sp>
      <p:sp>
        <p:nvSpPr>
          <p:cNvPr id="12" name="Text 8"/>
          <p:cNvSpPr/>
          <p:nvPr/>
        </p:nvSpPr>
        <p:spPr>
          <a:xfrm>
            <a:off x="3557016" y="2029968"/>
            <a:ext cx="2176272" cy="731520"/>
          </a:xfrm>
          <a:prstGeom prst="rect">
            <a:avLst/>
          </a:prstGeom>
          <a:noFill/>
          <a:ln/>
        </p:spPr>
        <p:txBody>
          <a:bodyPr wrap="square" lIns="0" tIns="0" rIns="0" bIns="0" rtlCol="0" anchor="ctr"/>
          <a:lstStyle/>
          <a:p>
            <a:pPr indent="0" marL="0">
              <a:buNone/>
            </a:pPr>
            <a:r>
              <a:rPr lang="en-US" sz="5200" b="1" spc="-100" kern="0" dirty="0">
                <a:solidFill>
                  <a:srgbClr val="3366FF"/>
                </a:solidFill>
                <a:latin typeface="Libre Franklin" pitchFamily="34" charset="0"/>
                <a:ea typeface="Libre Franklin" pitchFamily="34" charset="-122"/>
                <a:cs typeface="Libre Franklin" pitchFamily="34" charset="-120"/>
              </a:rPr>
              <a:t>135</a:t>
            </a:r>
            <a:endParaRPr lang="en-US" sz="5200" dirty="0"/>
          </a:p>
        </p:txBody>
      </p:sp>
      <p:sp>
        <p:nvSpPr>
          <p:cNvPr id="13" name="Text 9"/>
          <p:cNvSpPr/>
          <p:nvPr/>
        </p:nvSpPr>
        <p:spPr>
          <a:xfrm>
            <a:off x="3557016" y="2779776"/>
            <a:ext cx="2176272" cy="438912"/>
          </a:xfrm>
          <a:prstGeom prst="rect">
            <a:avLst/>
          </a:prstGeom>
          <a:noFill/>
          <a:ln/>
        </p:spPr>
        <p:txBody>
          <a:bodyPr wrap="square" lIns="0" tIns="0" rIns="0" bIns="0" rtlCol="0" anchor="ctr"/>
          <a:lstStyle/>
          <a:p>
            <a:pPr indent="0" marL="0">
              <a:buNone/>
            </a:pPr>
            <a:r>
              <a:rPr lang="en-US" sz="1400" b="1" dirty="0">
                <a:solidFill>
                  <a:srgbClr val="000000"/>
                </a:solidFill>
                <a:latin typeface="Libre Franklin" pitchFamily="34" charset="0"/>
                <a:ea typeface="Libre Franklin" pitchFamily="34" charset="-122"/>
                <a:cs typeface="Libre Franklin" pitchFamily="34" charset="-120"/>
              </a:rPr>
              <a:t>Selected</a:t>
            </a:r>
            <a:endParaRPr lang="en-US" sz="1400" dirty="0"/>
          </a:p>
        </p:txBody>
      </p:sp>
      <p:sp>
        <p:nvSpPr>
          <p:cNvPr id="14" name="Text 10"/>
          <p:cNvSpPr/>
          <p:nvPr/>
        </p:nvSpPr>
        <p:spPr>
          <a:xfrm>
            <a:off x="3557016" y="3200400"/>
            <a:ext cx="2176272" cy="365760"/>
          </a:xfrm>
          <a:prstGeom prst="rect">
            <a:avLst/>
          </a:prstGeom>
          <a:noFill/>
          <a:ln/>
        </p:spPr>
        <p:txBody>
          <a:bodyPr wrap="square" lIns="0" tIns="0" rIns="0" bIns="0" rtlCol="0" anchor="ctr"/>
          <a:lstStyle/>
          <a:p>
            <a:pPr indent="0" marL="0">
              <a:buNone/>
            </a:pPr>
            <a:r>
              <a:rPr lang="en-US" sz="1100" dirty="0">
                <a:solidFill>
                  <a:srgbClr val="52525B"/>
                </a:solidFill>
                <a:latin typeface="Libre Franklin Medium" pitchFamily="34" charset="0"/>
                <a:ea typeface="Libre Franklin Medium" pitchFamily="34" charset="-122"/>
                <a:cs typeface="Libre Franklin Medium" pitchFamily="34" charset="-120"/>
              </a:rPr>
              <a:t>Matched the study's cohort file</a:t>
            </a:r>
            <a:endParaRPr lang="en-US" sz="1100" dirty="0"/>
          </a:p>
        </p:txBody>
      </p:sp>
      <p:sp>
        <p:nvSpPr>
          <p:cNvPr id="15" name="Shape 11"/>
          <p:cNvSpPr/>
          <p:nvPr/>
        </p:nvSpPr>
        <p:spPr>
          <a:xfrm>
            <a:off x="5971032" y="2670048"/>
            <a:ext cx="246888" cy="219456"/>
          </a:xfrm>
          <a:prstGeom prst="rightArrow">
            <a:avLst/>
          </a:prstGeom>
          <a:solidFill>
            <a:srgbClr val="91BAF4"/>
          </a:solidFill>
          <a:ln w="12700">
            <a:solidFill>
              <a:srgbClr val="91BAF4"/>
            </a:solidFill>
            <a:prstDash val="solid"/>
          </a:ln>
        </p:spPr>
      </p:sp>
      <p:sp>
        <p:nvSpPr>
          <p:cNvPr id="16" name="Shape 12"/>
          <p:cNvSpPr/>
          <p:nvPr/>
        </p:nvSpPr>
        <p:spPr>
          <a:xfrm>
            <a:off x="6254496" y="1874520"/>
            <a:ext cx="2578608" cy="1783080"/>
          </a:xfrm>
          <a:prstGeom prst="roundRect">
            <a:avLst>
              <a:gd name="adj" fmla="val 7179"/>
            </a:avLst>
          </a:prstGeom>
          <a:solidFill>
            <a:srgbClr val="E6EEFC"/>
          </a:solidFill>
          <a:ln w="12700">
            <a:solidFill>
              <a:srgbClr val="E6EEFC"/>
            </a:solidFill>
            <a:prstDash val="solid"/>
          </a:ln>
        </p:spPr>
      </p:sp>
      <p:sp>
        <p:nvSpPr>
          <p:cNvPr id="17" name="Text 13"/>
          <p:cNvSpPr/>
          <p:nvPr/>
        </p:nvSpPr>
        <p:spPr>
          <a:xfrm>
            <a:off x="6455664" y="2029968"/>
            <a:ext cx="2176272" cy="731520"/>
          </a:xfrm>
          <a:prstGeom prst="rect">
            <a:avLst/>
          </a:prstGeom>
          <a:noFill/>
          <a:ln/>
        </p:spPr>
        <p:txBody>
          <a:bodyPr wrap="square" lIns="0" tIns="0" rIns="0" bIns="0" rtlCol="0" anchor="ctr"/>
          <a:lstStyle/>
          <a:p>
            <a:pPr indent="0" marL="0">
              <a:buNone/>
            </a:pPr>
            <a:r>
              <a:rPr lang="en-US" sz="5200" b="1" spc="-100" kern="0" dirty="0">
                <a:solidFill>
                  <a:srgbClr val="3366FF"/>
                </a:solidFill>
                <a:latin typeface="Libre Franklin" pitchFamily="34" charset="0"/>
                <a:ea typeface="Libre Franklin" pitchFamily="34" charset="-122"/>
                <a:cs typeface="Libre Franklin" pitchFamily="34" charset="-120"/>
              </a:rPr>
              <a:t>131</a:t>
            </a:r>
            <a:endParaRPr lang="en-US" sz="5200" dirty="0"/>
          </a:p>
        </p:txBody>
      </p:sp>
      <p:sp>
        <p:nvSpPr>
          <p:cNvPr id="18" name="Text 14"/>
          <p:cNvSpPr/>
          <p:nvPr/>
        </p:nvSpPr>
        <p:spPr>
          <a:xfrm>
            <a:off x="6455664" y="2779776"/>
            <a:ext cx="2176272" cy="438912"/>
          </a:xfrm>
          <a:prstGeom prst="rect">
            <a:avLst/>
          </a:prstGeom>
          <a:noFill/>
          <a:ln/>
        </p:spPr>
        <p:txBody>
          <a:bodyPr wrap="square" lIns="0" tIns="0" rIns="0" bIns="0" rtlCol="0" anchor="ctr"/>
          <a:lstStyle/>
          <a:p>
            <a:pPr indent="0" marL="0">
              <a:buNone/>
            </a:pPr>
            <a:r>
              <a:rPr lang="en-US" sz="1400" b="1" dirty="0">
                <a:solidFill>
                  <a:srgbClr val="000000"/>
                </a:solidFill>
                <a:latin typeface="Libre Franklin" pitchFamily="34" charset="0"/>
                <a:ea typeface="Libre Franklin" pitchFamily="34" charset="-122"/>
                <a:cs typeface="Libre Franklin" pitchFamily="34" charset="-120"/>
              </a:rPr>
              <a:t>Grouped</a:t>
            </a:r>
            <a:endParaRPr lang="en-US" sz="1400" dirty="0"/>
          </a:p>
        </p:txBody>
      </p:sp>
      <p:sp>
        <p:nvSpPr>
          <p:cNvPr id="19" name="Text 15"/>
          <p:cNvSpPr/>
          <p:nvPr/>
        </p:nvSpPr>
        <p:spPr>
          <a:xfrm>
            <a:off x="6455664" y="3200400"/>
            <a:ext cx="2176272" cy="365760"/>
          </a:xfrm>
          <a:prstGeom prst="rect">
            <a:avLst/>
          </a:prstGeom>
          <a:noFill/>
          <a:ln/>
        </p:spPr>
        <p:txBody>
          <a:bodyPr wrap="square" lIns="0" tIns="0" rIns="0" bIns="0" rtlCol="0" anchor="ctr"/>
          <a:lstStyle/>
          <a:p>
            <a:pPr indent="0" marL="0">
              <a:buNone/>
            </a:pPr>
            <a:r>
              <a:rPr lang="en-US" sz="1100" dirty="0">
                <a:solidFill>
                  <a:srgbClr val="52525B"/>
                </a:solidFill>
                <a:latin typeface="Libre Franklin Medium" pitchFamily="34" charset="0"/>
                <a:ea typeface="Libre Franklin Medium" pitchFamily="34" charset="-122"/>
                <a:cs typeface="Libre Franklin Medium" pitchFamily="34" charset="-120"/>
              </a:rPr>
              <a:t>Answered 8 of 10 areas  ·  97.0%</a:t>
            </a:r>
            <a:endParaRPr lang="en-US" sz="1100" dirty="0"/>
          </a:p>
        </p:txBody>
      </p:sp>
      <p:sp>
        <p:nvSpPr>
          <p:cNvPr id="20" name="Shape 16"/>
          <p:cNvSpPr/>
          <p:nvPr/>
        </p:nvSpPr>
        <p:spPr>
          <a:xfrm>
            <a:off x="8869680" y="2670048"/>
            <a:ext cx="246888" cy="219456"/>
          </a:xfrm>
          <a:prstGeom prst="rightArrow">
            <a:avLst/>
          </a:prstGeom>
          <a:solidFill>
            <a:srgbClr val="91BAF4"/>
          </a:solidFill>
          <a:ln w="12700">
            <a:solidFill>
              <a:srgbClr val="91BAF4"/>
            </a:solidFill>
            <a:prstDash val="solid"/>
          </a:ln>
        </p:spPr>
      </p:sp>
      <p:sp>
        <p:nvSpPr>
          <p:cNvPr id="21" name="Shape 17"/>
          <p:cNvSpPr/>
          <p:nvPr/>
        </p:nvSpPr>
        <p:spPr>
          <a:xfrm>
            <a:off x="9153144" y="1874520"/>
            <a:ext cx="2578608" cy="1783080"/>
          </a:xfrm>
          <a:prstGeom prst="roundRect">
            <a:avLst>
              <a:gd name="adj" fmla="val 7179"/>
            </a:avLst>
          </a:prstGeom>
          <a:solidFill>
            <a:srgbClr val="FDF0E0"/>
          </a:solidFill>
          <a:ln w="12700">
            <a:solidFill>
              <a:srgbClr val="FDF0E0"/>
            </a:solidFill>
            <a:prstDash val="solid"/>
          </a:ln>
        </p:spPr>
      </p:sp>
      <p:sp>
        <p:nvSpPr>
          <p:cNvPr id="22" name="Text 18"/>
          <p:cNvSpPr/>
          <p:nvPr/>
        </p:nvSpPr>
        <p:spPr>
          <a:xfrm>
            <a:off x="9354312" y="2029968"/>
            <a:ext cx="2176272" cy="731520"/>
          </a:xfrm>
          <a:prstGeom prst="rect">
            <a:avLst/>
          </a:prstGeom>
          <a:noFill/>
          <a:ln/>
        </p:spPr>
        <p:txBody>
          <a:bodyPr wrap="square" lIns="0" tIns="0" rIns="0" bIns="0" rtlCol="0" anchor="ctr"/>
          <a:lstStyle/>
          <a:p>
            <a:pPr indent="0" marL="0">
              <a:buNone/>
            </a:pPr>
            <a:r>
              <a:rPr lang="en-US" sz="5200" b="1" spc="-100" kern="0" dirty="0">
                <a:solidFill>
                  <a:srgbClr val="F57F00"/>
                </a:solidFill>
                <a:latin typeface="Libre Franklin" pitchFamily="34" charset="0"/>
                <a:ea typeface="Libre Franklin" pitchFamily="34" charset="-122"/>
                <a:cs typeface="Libre Franklin" pitchFamily="34" charset="-120"/>
              </a:rPr>
              <a:t>127</a:t>
            </a:r>
            <a:endParaRPr lang="en-US" sz="5200" dirty="0"/>
          </a:p>
        </p:txBody>
      </p:sp>
      <p:sp>
        <p:nvSpPr>
          <p:cNvPr id="23" name="Text 19"/>
          <p:cNvSpPr/>
          <p:nvPr/>
        </p:nvSpPr>
        <p:spPr>
          <a:xfrm>
            <a:off x="9354312" y="2779776"/>
            <a:ext cx="2176272" cy="438912"/>
          </a:xfrm>
          <a:prstGeom prst="rect">
            <a:avLst/>
          </a:prstGeom>
          <a:noFill/>
          <a:ln/>
        </p:spPr>
        <p:txBody>
          <a:bodyPr wrap="square" lIns="0" tIns="0" rIns="0" bIns="0" rtlCol="0" anchor="ctr"/>
          <a:lstStyle/>
          <a:p>
            <a:pPr indent="0" marL="0">
              <a:buNone/>
            </a:pPr>
            <a:r>
              <a:rPr lang="en-US" sz="1400" b="1" dirty="0">
                <a:solidFill>
                  <a:srgbClr val="000000"/>
                </a:solidFill>
                <a:latin typeface="Libre Franklin" pitchFamily="34" charset="0"/>
                <a:ea typeface="Libre Franklin" pitchFamily="34" charset="-122"/>
                <a:cs typeface="Libre Franklin" pitchFamily="34" charset="-120"/>
              </a:rPr>
              <a:t>Answered the screening question</a:t>
            </a:r>
            <a:endParaRPr lang="en-US" sz="1400" dirty="0"/>
          </a:p>
        </p:txBody>
      </p:sp>
      <p:sp>
        <p:nvSpPr>
          <p:cNvPr id="24" name="Text 20"/>
          <p:cNvSpPr/>
          <p:nvPr/>
        </p:nvSpPr>
        <p:spPr>
          <a:xfrm>
            <a:off x="9354312" y="3200400"/>
            <a:ext cx="2176272" cy="365760"/>
          </a:xfrm>
          <a:prstGeom prst="rect">
            <a:avLst/>
          </a:prstGeom>
          <a:noFill/>
          <a:ln/>
        </p:spPr>
        <p:txBody>
          <a:bodyPr wrap="square" lIns="0" tIns="0" rIns="0" bIns="0" rtlCol="0" anchor="ctr"/>
          <a:lstStyle/>
          <a:p>
            <a:pPr indent="0" marL="0">
              <a:buNone/>
            </a:pPr>
            <a:r>
              <a:rPr lang="en-US" sz="1100" dirty="0">
                <a:solidFill>
                  <a:srgbClr val="52525B"/>
                </a:solidFill>
                <a:latin typeface="Libre Franklin Medium" pitchFamily="34" charset="0"/>
                <a:ea typeface="Libre Franklin Medium" pitchFamily="34" charset="-122"/>
                <a:cs typeface="Libre Franklin Medium" pitchFamily="34" charset="-120"/>
              </a:rPr>
              <a:t>Missing stays missing</a:t>
            </a:r>
            <a:endParaRPr lang="en-US" sz="1100" dirty="0"/>
          </a:p>
        </p:txBody>
      </p:sp>
      <p:sp>
        <p:nvSpPr>
          <p:cNvPr id="25" name="Text 21"/>
          <p:cNvSpPr/>
          <p:nvPr/>
        </p:nvSpPr>
        <p:spPr>
          <a:xfrm>
            <a:off x="457200" y="4114800"/>
            <a:ext cx="5669280" cy="274320"/>
          </a:xfrm>
          <a:prstGeom prst="rect">
            <a:avLst/>
          </a:prstGeom>
          <a:noFill/>
          <a:ln/>
        </p:spPr>
        <p:txBody>
          <a:bodyPr wrap="square" lIns="0" tIns="0" rIns="0" bIns="0" rtlCol="0" anchor="ctr"/>
          <a:lstStyle/>
          <a:p>
            <a:pPr indent="0" marL="0">
              <a:buNone/>
            </a:pPr>
            <a:r>
              <a:rPr lang="en-US" sz="1350" b="1" dirty="0">
                <a:solidFill>
                  <a:srgbClr val="000000"/>
                </a:solidFill>
                <a:latin typeface="Libre Franklin Medium" pitchFamily="34" charset="0"/>
                <a:ea typeface="Libre Franklin Medium" pitchFamily="34" charset="-122"/>
                <a:cs typeface="Libre Franklin Medium" pitchFamily="34" charset="-120"/>
              </a:rPr>
              <a:t>42 dropped</a:t>
            </a:r>
            <a:pPr indent="0" marL="0">
              <a:buNone/>
            </a:pPr>
            <a:r>
              <a:rPr lang="en-US" sz="1350" dirty="0">
                <a:solidFill>
                  <a:srgbClr val="52525B"/>
                </a:solidFill>
                <a:latin typeface="Libre Franklin Medium" pitchFamily="34" charset="0"/>
                <a:ea typeface="Libre Franklin Medium" pitchFamily="34" charset="-122"/>
                <a:cs typeface="Libre Franklin Medium" pitchFamily="34" charset="-120"/>
              </a:rPr>
              <a:t>   not in the study's cohort file</a:t>
            </a:r>
            <a:endParaRPr lang="en-US" sz="1350" dirty="0"/>
          </a:p>
        </p:txBody>
      </p:sp>
      <p:sp>
        <p:nvSpPr>
          <p:cNvPr id="26" name="Text 22"/>
          <p:cNvSpPr/>
          <p:nvPr/>
        </p:nvSpPr>
        <p:spPr>
          <a:xfrm>
            <a:off x="457200" y="4498848"/>
            <a:ext cx="5669280" cy="274320"/>
          </a:xfrm>
          <a:prstGeom prst="rect">
            <a:avLst/>
          </a:prstGeom>
          <a:noFill/>
          <a:ln/>
        </p:spPr>
        <p:txBody>
          <a:bodyPr wrap="square" lIns="0" tIns="0" rIns="0" bIns="0" rtlCol="0" anchor="ctr"/>
          <a:lstStyle/>
          <a:p>
            <a:pPr indent="0" marL="0">
              <a:buNone/>
            </a:pPr>
            <a:r>
              <a:rPr lang="en-US" sz="1350" b="1" dirty="0">
                <a:solidFill>
                  <a:srgbClr val="000000"/>
                </a:solidFill>
                <a:latin typeface="Libre Franklin Medium" pitchFamily="34" charset="0"/>
                <a:ea typeface="Libre Franklin Medium" pitchFamily="34" charset="-122"/>
                <a:cs typeface="Libre Franklin Medium" pitchFamily="34" charset="-120"/>
              </a:rPr>
              <a:t>4 dropped</a:t>
            </a:r>
            <a:pPr indent="0" marL="0">
              <a:buNone/>
            </a:pPr>
            <a:r>
              <a:rPr lang="en-US" sz="1350" dirty="0">
                <a:solidFill>
                  <a:srgbClr val="52525B"/>
                </a:solidFill>
                <a:latin typeface="Libre Franklin Medium" pitchFamily="34" charset="0"/>
                <a:ea typeface="Libre Franklin Medium" pitchFamily="34" charset="-122"/>
                <a:cs typeface="Libre Franklin Medium" pitchFamily="34" charset="-120"/>
              </a:rPr>
              <a:t>   answered fewer than 8 of the 10 areas</a:t>
            </a:r>
            <a:endParaRPr lang="en-US" sz="1350" dirty="0"/>
          </a:p>
        </p:txBody>
      </p:sp>
      <p:sp>
        <p:nvSpPr>
          <p:cNvPr id="27" name="Text 23"/>
          <p:cNvSpPr/>
          <p:nvPr/>
        </p:nvSpPr>
        <p:spPr>
          <a:xfrm>
            <a:off x="457200" y="4882896"/>
            <a:ext cx="5669280" cy="274320"/>
          </a:xfrm>
          <a:prstGeom prst="rect">
            <a:avLst/>
          </a:prstGeom>
          <a:noFill/>
          <a:ln/>
        </p:spPr>
        <p:txBody>
          <a:bodyPr wrap="square" lIns="0" tIns="0" rIns="0" bIns="0" rtlCol="0" anchor="ctr"/>
          <a:lstStyle/>
          <a:p>
            <a:pPr indent="0" marL="0">
              <a:buNone/>
            </a:pPr>
            <a:r>
              <a:rPr lang="en-US" sz="1350" b="1" dirty="0">
                <a:solidFill>
                  <a:srgbClr val="000000"/>
                </a:solidFill>
                <a:latin typeface="Libre Franklin Medium" pitchFamily="34" charset="0"/>
                <a:ea typeface="Libre Franklin Medium" pitchFamily="34" charset="-122"/>
                <a:cs typeface="Libre Franklin Medium" pitchFamily="34" charset="-120"/>
              </a:rPr>
              <a:t>4 dropped</a:t>
            </a:r>
            <a:pPr indent="0" marL="0">
              <a:buNone/>
            </a:pPr>
            <a:r>
              <a:rPr lang="en-US" sz="1350" dirty="0">
                <a:solidFill>
                  <a:srgbClr val="52525B"/>
                </a:solidFill>
                <a:latin typeface="Libre Franklin Medium" pitchFamily="34" charset="0"/>
                <a:ea typeface="Libre Franklin Medium" pitchFamily="34" charset="-122"/>
                <a:cs typeface="Libre Franklin Medium" pitchFamily="34" charset="-120"/>
              </a:rPr>
              <a:t>   gave no screening answer</a:t>
            </a:r>
            <a:endParaRPr lang="en-US" sz="1350" dirty="0"/>
          </a:p>
        </p:txBody>
      </p:sp>
      <p:sp>
        <p:nvSpPr>
          <p:cNvPr id="28" name="Shape 24"/>
          <p:cNvSpPr/>
          <p:nvPr/>
        </p:nvSpPr>
        <p:spPr>
          <a:xfrm>
            <a:off x="6492240" y="4041648"/>
            <a:ext cx="5239512" cy="1371600"/>
          </a:xfrm>
          <a:prstGeom prst="roundRect">
            <a:avLst>
              <a:gd name="adj" fmla="val 8000"/>
            </a:avLst>
          </a:prstGeom>
          <a:solidFill>
            <a:srgbClr val="FDF0E0"/>
          </a:solidFill>
          <a:ln w="12700">
            <a:solidFill>
              <a:srgbClr val="FDF0E0"/>
            </a:solidFill>
            <a:prstDash val="solid"/>
          </a:ln>
        </p:spPr>
      </p:sp>
      <p:sp>
        <p:nvSpPr>
          <p:cNvPr id="29" name="Text 25"/>
          <p:cNvSpPr/>
          <p:nvPr/>
        </p:nvSpPr>
        <p:spPr>
          <a:xfrm>
            <a:off x="6720840" y="4169664"/>
            <a:ext cx="4754880" cy="256032"/>
          </a:xfrm>
          <a:prstGeom prst="rect">
            <a:avLst/>
          </a:prstGeom>
          <a:noFill/>
          <a:ln/>
        </p:spPr>
        <p:txBody>
          <a:bodyPr wrap="square" lIns="0" tIns="0" rIns="0" bIns="0" rtlCol="0" anchor="ctr"/>
          <a:lstStyle/>
          <a:p>
            <a:pPr indent="0" marL="0">
              <a:buNone/>
            </a:pPr>
            <a:r>
              <a:rPr lang="en-US" sz="1300" b="1" dirty="0">
                <a:solidFill>
                  <a:srgbClr val="F57F00"/>
                </a:solidFill>
                <a:latin typeface="Libre Franklin" pitchFamily="34" charset="0"/>
                <a:ea typeface="Libre Franklin" pitchFamily="34" charset="-122"/>
                <a:cs typeface="Libre Franklin" pitchFamily="34" charset="-120"/>
              </a:rPr>
              <a:t>Worth saying plainly</a:t>
            </a:r>
            <a:endParaRPr lang="en-US" sz="1300" dirty="0"/>
          </a:p>
        </p:txBody>
      </p:sp>
      <p:sp>
        <p:nvSpPr>
          <p:cNvPr id="30" name="Text 26"/>
          <p:cNvSpPr/>
          <p:nvPr/>
        </p:nvSpPr>
        <p:spPr>
          <a:xfrm>
            <a:off x="6720840" y="4480560"/>
            <a:ext cx="4754880" cy="822960"/>
          </a:xfrm>
          <a:prstGeom prst="rect">
            <a:avLst/>
          </a:prstGeom>
          <a:noFill/>
          <a:ln/>
        </p:spPr>
        <p:txBody>
          <a:bodyPr wrap="square" lIns="0" tIns="0" rIns="0" bIns="0" rtlCol="0" anchor="ctr"/>
          <a:lstStyle/>
          <a:p>
            <a:pPr indent="0" marL="0">
              <a:buNone/>
            </a:pPr>
            <a:r>
              <a:rPr lang="en-US" sz="1200" dirty="0">
                <a:solidFill>
                  <a:srgbClr val="000000"/>
                </a:solidFill>
                <a:latin typeface="Libre Franklin Medium" pitchFamily="34" charset="0"/>
                <a:ea typeface="Libre Franklin Medium" pitchFamily="34" charset="-122"/>
                <a:cs typeface="Libre Franklin Medium" pitchFamily="34" charset="-120"/>
              </a:rPr>
              <a:t>None of those last 4 said Definitely yes. Dropping them is not neutral, so we tested every way of assigning them. The difference stays between 39.0 and 44.5 points.</a:t>
            </a:r>
            <a:endParaRPr lang="en-US" sz="1200" dirty="0"/>
          </a:p>
        </p:txBody>
      </p:sp>
      <p:sp>
        <p:nvSpPr>
          <p:cNvPr id="31" name="Text 27"/>
          <p:cNvSpPr/>
          <p:nvPr/>
        </p:nvSpPr>
        <p:spPr>
          <a:xfrm>
            <a:off x="457200" y="6336792"/>
            <a:ext cx="10698480" cy="256032"/>
          </a:xfrm>
          <a:prstGeom prst="rect">
            <a:avLst/>
          </a:prstGeom>
          <a:noFill/>
          <a:ln/>
        </p:spPr>
        <p:txBody>
          <a:bodyPr wrap="square" lIns="0" tIns="0" rIns="0" bIns="0" rtlCol="0" anchor="ctr"/>
          <a:lstStyle/>
          <a:p>
            <a:pPr indent="0" marL="0">
              <a:buNone/>
            </a:pPr>
            <a:r>
              <a:rPr lang="en-US" sz="1000" dirty="0">
                <a:solidFill>
                  <a:srgbClr val="52525B"/>
                </a:solidFill>
                <a:latin typeface="Libre Franklin Medium" pitchFamily="34" charset="0"/>
                <a:ea typeface="Libre Franklin Medium" pitchFamily="34" charset="-122"/>
                <a:cs typeface="Libre Franklin Medium" pitchFamily="34" charset="-120"/>
              </a:rPr>
              <a:t>Every count here comes from a saved, checksummed copy of the data, so the same numbers come back on a rerun.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sessions/happy-eloquent-pascal/mnt/.claude/skills/esd-lab/assets/logos/logo-horizontal-discovery-blue.png">    </p:cNvPr>
          <p:cNvPicPr>
            <a:picLocks noChangeAspect="1"/>
          </p:cNvPicPr>
          <p:nvPr/>
        </p:nvPicPr>
        <p:blipFill>
          <a:blip r:embed="rId1"/>
          <a:stretch>
            <a:fillRect/>
          </a:stretch>
        </p:blipFill>
        <p:spPr>
          <a:xfrm>
            <a:off x="457200" y="292608"/>
            <a:ext cx="1179576" cy="265176"/>
          </a:xfrm>
          <a:prstGeom prst="rect">
            <a:avLst/>
          </a:prstGeom>
        </p:spPr>
      </p:pic>
      <p:pic>
        <p:nvPicPr>
          <p:cNvPr id="3" name="Image 1" descr="/sessions/happy-eloquent-pascal/mnt/.claude/skills/esd-lab/assets/logos/uofsc-horizontal-garnet.png">    </p:cNvPr>
          <p:cNvPicPr>
            <a:picLocks noChangeAspect="1"/>
          </p:cNvPicPr>
          <p:nvPr/>
        </p:nvPicPr>
        <p:blipFill>
          <a:blip r:embed="rId2"/>
          <a:stretch>
            <a:fillRect/>
          </a:stretch>
        </p:blipFill>
        <p:spPr>
          <a:xfrm>
            <a:off x="1783080" y="292608"/>
            <a:ext cx="987552" cy="265176"/>
          </a:xfrm>
          <a:prstGeom prst="rect">
            <a:avLst/>
          </a:prstGeom>
        </p:spPr>
      </p:pic>
      <p:sp>
        <p:nvSpPr>
          <p:cNvPr id="4" name="Text 0"/>
          <p:cNvSpPr/>
          <p:nvPr/>
        </p:nvSpPr>
        <p:spPr>
          <a:xfrm>
            <a:off x="457200" y="786384"/>
            <a:ext cx="11274552" cy="512064"/>
          </a:xfrm>
          <a:prstGeom prst="rect">
            <a:avLst/>
          </a:prstGeom>
          <a:noFill/>
          <a:ln/>
        </p:spPr>
        <p:txBody>
          <a:bodyPr wrap="square" lIns="0" tIns="0" rIns="0" bIns="0" rtlCol="0" anchor="ctr"/>
          <a:lstStyle/>
          <a:p>
            <a:pPr indent="0" marL="0">
              <a:buNone/>
            </a:pPr>
            <a:r>
              <a:rPr lang="en-US" sz="2900" b="1" spc="-30" kern="0" dirty="0">
                <a:solidFill>
                  <a:srgbClr val="000000"/>
                </a:solidFill>
                <a:latin typeface="Libre Franklin" pitchFamily="34" charset="0"/>
                <a:ea typeface="Libre Franklin" pitchFamily="34" charset="-122"/>
                <a:cs typeface="Libre Franklin" pitchFamily="34" charset="-120"/>
              </a:rPr>
              <a:t>How well the two groups fit</a:t>
            </a:r>
            <a:endParaRPr lang="en-US" sz="2900" dirty="0"/>
          </a:p>
        </p:txBody>
      </p:sp>
      <p:sp>
        <p:nvSpPr>
          <p:cNvPr id="5" name="Text 1"/>
          <p:cNvSpPr/>
          <p:nvPr/>
        </p:nvSpPr>
        <p:spPr>
          <a:xfrm>
            <a:off x="11384280" y="6355080"/>
            <a:ext cx="365760" cy="219456"/>
          </a:xfrm>
          <a:prstGeom prst="rect">
            <a:avLst/>
          </a:prstGeom>
          <a:noFill/>
          <a:ln/>
        </p:spPr>
        <p:txBody>
          <a:bodyPr wrap="square" lIns="0" tIns="0" rIns="0" bIns="0" rtlCol="0" anchor="ctr"/>
          <a:lstStyle/>
          <a:p>
            <a:pPr algn="r" indent="0" marL="0">
              <a:buNone/>
            </a:pPr>
            <a:r>
              <a:rPr lang="en-US" sz="1000" dirty="0">
                <a:solidFill>
                  <a:srgbClr val="91BAF4"/>
                </a:solidFill>
                <a:latin typeface="Libre Franklin Medium" pitchFamily="34" charset="0"/>
                <a:ea typeface="Libre Franklin Medium" pitchFamily="34" charset="-122"/>
                <a:cs typeface="Libre Franklin Medium" pitchFamily="34" charset="-120"/>
              </a:rPr>
              <a:t>6</a:t>
            </a:r>
            <a:endParaRPr lang="en-US" sz="1000" dirty="0"/>
          </a:p>
        </p:txBody>
      </p:sp>
      <p:pic>
        <p:nvPicPr>
          <p:cNvPr id="6" name="Image 2" descr="/sessions/happy-eloquent-pascal/mnt/caregiver-cluster-analysis/Caregiver Outputs/figure_16_case_silhouette.png">    </p:cNvPr>
          <p:cNvPicPr>
            <a:picLocks noChangeAspect="1"/>
          </p:cNvPicPr>
          <p:nvPr/>
        </p:nvPicPr>
        <p:blipFill>
          <a:blip r:embed="rId3"/>
          <a:stretch>
            <a:fillRect/>
          </a:stretch>
        </p:blipFill>
        <p:spPr>
          <a:xfrm>
            <a:off x="6720840" y="1691640"/>
            <a:ext cx="5010912" cy="3794760"/>
          </a:xfrm>
          <a:prstGeom prst="rect">
            <a:avLst/>
          </a:prstGeom>
        </p:spPr>
      </p:pic>
      <p:sp>
        <p:nvSpPr>
          <p:cNvPr id="7" name="Text 2"/>
          <p:cNvSpPr/>
          <p:nvPr/>
        </p:nvSpPr>
        <p:spPr>
          <a:xfrm>
            <a:off x="6720840" y="5522976"/>
            <a:ext cx="5010912" cy="237744"/>
          </a:xfrm>
          <a:prstGeom prst="rect">
            <a:avLst/>
          </a:prstGeom>
          <a:noFill/>
          <a:ln/>
        </p:spPr>
        <p:txBody>
          <a:bodyPr wrap="square" lIns="0" tIns="0" rIns="0" bIns="0" rtlCol="0" anchor="ctr"/>
          <a:lstStyle/>
          <a:p>
            <a:pPr indent="0" marL="0">
              <a:buNone/>
            </a:pPr>
            <a:r>
              <a:rPr lang="en-US" sz="900" dirty="0">
                <a:solidFill>
                  <a:srgbClr val="71717A"/>
                </a:solidFill>
                <a:latin typeface="Libre Franklin Medium" pitchFamily="34" charset="0"/>
                <a:ea typeface="Libre Franklin Medium" pitchFamily="34" charset="-122"/>
                <a:cs typeface="Libre Franklin Medium" pitchFamily="34" charset="-120"/>
              </a:rPr>
              <a:t>Fit for each of the 131 caregivers. Bars below zero sit closer to the other group.</a:t>
            </a:r>
            <a:endParaRPr lang="en-US" sz="900" dirty="0"/>
          </a:p>
        </p:txBody>
      </p:sp>
      <p:sp>
        <p:nvSpPr>
          <p:cNvPr id="8" name="Text 3"/>
          <p:cNvSpPr/>
          <p:nvPr/>
        </p:nvSpPr>
        <p:spPr>
          <a:xfrm>
            <a:off x="457200" y="1737360"/>
            <a:ext cx="2926080" cy="530352"/>
          </a:xfrm>
          <a:prstGeom prst="rect">
            <a:avLst/>
          </a:prstGeom>
          <a:noFill/>
          <a:ln/>
        </p:spPr>
        <p:txBody>
          <a:bodyPr wrap="square" lIns="0" tIns="0" rIns="0" bIns="0" rtlCol="0" anchor="ctr"/>
          <a:lstStyle/>
          <a:p>
            <a:pPr indent="0" marL="0">
              <a:buNone/>
            </a:pPr>
            <a:r>
              <a:rPr lang="en-US" sz="3400" b="1" spc="-50" kern="0" dirty="0">
                <a:solidFill>
                  <a:srgbClr val="3366FF"/>
                </a:solidFill>
                <a:latin typeface="Libre Franklin" pitchFamily="34" charset="0"/>
                <a:ea typeface="Libre Franklin" pitchFamily="34" charset="-122"/>
                <a:cs typeface="Libre Franklin" pitchFamily="34" charset="-120"/>
              </a:rPr>
              <a:t>84 / 47</a:t>
            </a:r>
            <a:endParaRPr lang="en-US" sz="3400" dirty="0"/>
          </a:p>
        </p:txBody>
      </p:sp>
      <p:sp>
        <p:nvSpPr>
          <p:cNvPr id="9" name="Text 4"/>
          <p:cNvSpPr/>
          <p:nvPr/>
        </p:nvSpPr>
        <p:spPr>
          <a:xfrm>
            <a:off x="457200" y="2286000"/>
            <a:ext cx="2926080" cy="237744"/>
          </a:xfrm>
          <a:prstGeom prst="rect">
            <a:avLst/>
          </a:prstGeom>
          <a:noFill/>
          <a:ln/>
        </p:spPr>
        <p:txBody>
          <a:bodyPr wrap="square" lIns="0" tIns="0" rIns="0" bIns="0" rtlCol="0" anchor="ctr"/>
          <a:lstStyle/>
          <a:p>
            <a:pPr indent="0" marL="0">
              <a:buNone/>
            </a:pPr>
            <a:r>
              <a:rPr lang="en-US" sz="1200" b="1" dirty="0">
                <a:solidFill>
                  <a:srgbClr val="000000"/>
                </a:solidFill>
                <a:latin typeface="Libre Franklin" pitchFamily="34" charset="0"/>
                <a:ea typeface="Libre Franklin" pitchFamily="34" charset="-122"/>
                <a:cs typeface="Libre Franklin" pitchFamily="34" charset="-120"/>
              </a:rPr>
              <a:t>Group sizes</a:t>
            </a:r>
            <a:endParaRPr lang="en-US" sz="1200" dirty="0"/>
          </a:p>
        </p:txBody>
      </p:sp>
      <p:sp>
        <p:nvSpPr>
          <p:cNvPr id="10" name="Text 5"/>
          <p:cNvSpPr/>
          <p:nvPr/>
        </p:nvSpPr>
        <p:spPr>
          <a:xfrm>
            <a:off x="457200" y="2514600"/>
            <a:ext cx="2926080" cy="274320"/>
          </a:xfrm>
          <a:prstGeom prst="rect">
            <a:avLst/>
          </a:prstGeom>
          <a:noFill/>
          <a:ln/>
        </p:spPr>
        <p:txBody>
          <a:bodyPr wrap="square" lIns="0" tIns="0" rIns="0" bIns="0" rtlCol="0" anchor="ctr"/>
          <a:lstStyle/>
          <a:p>
            <a:pPr indent="0" marL="0">
              <a:buNone/>
            </a:pPr>
            <a:r>
              <a:rPr lang="en-US" sz="1050" dirty="0">
                <a:solidFill>
                  <a:srgbClr val="52525B"/>
                </a:solidFill>
                <a:latin typeface="Libre Franklin Medium" pitchFamily="34" charset="0"/>
                <a:ea typeface="Libre Franklin Medium" pitchFamily="34" charset="-122"/>
                <a:cs typeface="Libre Franklin Medium" pitchFamily="34" charset="-120"/>
              </a:rPr>
              <a:t>64.1% and 35.9% of 131</a:t>
            </a:r>
            <a:endParaRPr lang="en-US" sz="1050" dirty="0"/>
          </a:p>
        </p:txBody>
      </p:sp>
      <p:sp>
        <p:nvSpPr>
          <p:cNvPr id="11" name="Text 6"/>
          <p:cNvSpPr/>
          <p:nvPr/>
        </p:nvSpPr>
        <p:spPr>
          <a:xfrm>
            <a:off x="3657600" y="1737360"/>
            <a:ext cx="2743200" cy="530352"/>
          </a:xfrm>
          <a:prstGeom prst="rect">
            <a:avLst/>
          </a:prstGeom>
          <a:noFill/>
          <a:ln/>
        </p:spPr>
        <p:txBody>
          <a:bodyPr wrap="square" lIns="0" tIns="0" rIns="0" bIns="0" rtlCol="0" anchor="ctr"/>
          <a:lstStyle/>
          <a:p>
            <a:pPr indent="0" marL="0">
              <a:buNone/>
            </a:pPr>
            <a:r>
              <a:rPr lang="en-US" sz="3400" b="1" spc="-50" kern="0" dirty="0">
                <a:solidFill>
                  <a:srgbClr val="F57F00"/>
                </a:solidFill>
                <a:latin typeface="Libre Franklin" pitchFamily="34" charset="0"/>
                <a:ea typeface="Libre Franklin" pitchFamily="34" charset="-122"/>
                <a:cs typeface="Libre Franklin" pitchFamily="34" charset="-120"/>
              </a:rPr>
              <a:t>0.180</a:t>
            </a:r>
            <a:endParaRPr lang="en-US" sz="3400" dirty="0"/>
          </a:p>
        </p:txBody>
      </p:sp>
      <p:sp>
        <p:nvSpPr>
          <p:cNvPr id="12" name="Text 7"/>
          <p:cNvSpPr/>
          <p:nvPr/>
        </p:nvSpPr>
        <p:spPr>
          <a:xfrm>
            <a:off x="3657600" y="2286000"/>
            <a:ext cx="2743200" cy="237744"/>
          </a:xfrm>
          <a:prstGeom prst="rect">
            <a:avLst/>
          </a:prstGeom>
          <a:noFill/>
          <a:ln/>
        </p:spPr>
        <p:txBody>
          <a:bodyPr wrap="square" lIns="0" tIns="0" rIns="0" bIns="0" rtlCol="0" anchor="ctr"/>
          <a:lstStyle/>
          <a:p>
            <a:pPr indent="0" marL="0">
              <a:buNone/>
            </a:pPr>
            <a:r>
              <a:rPr lang="en-US" sz="1200" b="1" dirty="0">
                <a:solidFill>
                  <a:srgbClr val="000000"/>
                </a:solidFill>
                <a:latin typeface="Libre Franklin" pitchFamily="34" charset="0"/>
                <a:ea typeface="Libre Franklin" pitchFamily="34" charset="-122"/>
                <a:cs typeface="Libre Franklin" pitchFamily="34" charset="-120"/>
              </a:rPr>
              <a:t>Separation score</a:t>
            </a:r>
            <a:endParaRPr lang="en-US" sz="1200" dirty="0"/>
          </a:p>
        </p:txBody>
      </p:sp>
      <p:sp>
        <p:nvSpPr>
          <p:cNvPr id="13" name="Text 8"/>
          <p:cNvSpPr/>
          <p:nvPr/>
        </p:nvSpPr>
        <p:spPr>
          <a:xfrm>
            <a:off x="3657600" y="2514600"/>
            <a:ext cx="2743200" cy="274320"/>
          </a:xfrm>
          <a:prstGeom prst="rect">
            <a:avLst/>
          </a:prstGeom>
          <a:noFill/>
          <a:ln/>
        </p:spPr>
        <p:txBody>
          <a:bodyPr wrap="square" lIns="0" tIns="0" rIns="0" bIns="0" rtlCol="0" anchor="ctr"/>
          <a:lstStyle/>
          <a:p>
            <a:pPr indent="0" marL="0">
              <a:buNone/>
            </a:pPr>
            <a:r>
              <a:rPr lang="en-US" sz="1050" dirty="0">
                <a:solidFill>
                  <a:srgbClr val="52525B"/>
                </a:solidFill>
                <a:latin typeface="Libre Franklin Medium" pitchFamily="34" charset="0"/>
                <a:ea typeface="Libre Franklin Medium" pitchFamily="34" charset="-122"/>
                <a:cs typeface="Libre Franklin Medium" pitchFamily="34" charset="-120"/>
              </a:rPr>
              <a:t>0 means no gap, 1 is perfect</a:t>
            </a:r>
            <a:endParaRPr lang="en-US" sz="1050" dirty="0"/>
          </a:p>
        </p:txBody>
      </p:sp>
      <p:sp>
        <p:nvSpPr>
          <p:cNvPr id="14" name="Text 9"/>
          <p:cNvSpPr/>
          <p:nvPr/>
        </p:nvSpPr>
        <p:spPr>
          <a:xfrm>
            <a:off x="457200" y="3017520"/>
            <a:ext cx="2926080" cy="530352"/>
          </a:xfrm>
          <a:prstGeom prst="rect">
            <a:avLst/>
          </a:prstGeom>
          <a:noFill/>
          <a:ln/>
        </p:spPr>
        <p:txBody>
          <a:bodyPr wrap="square" lIns="0" tIns="0" rIns="0" bIns="0" rtlCol="0" anchor="ctr"/>
          <a:lstStyle/>
          <a:p>
            <a:pPr indent="0" marL="0">
              <a:buNone/>
            </a:pPr>
            <a:r>
              <a:rPr lang="en-US" sz="3400" b="1" spc="-50" kern="0" dirty="0">
                <a:solidFill>
                  <a:srgbClr val="3366FF"/>
                </a:solidFill>
                <a:latin typeface="Libre Franklin" pitchFamily="34" charset="0"/>
                <a:ea typeface="Libre Franklin" pitchFamily="34" charset="-122"/>
                <a:cs typeface="Libre Franklin" pitchFamily="34" charset="-120"/>
              </a:rPr>
              <a:t>0.704</a:t>
            </a:r>
            <a:endParaRPr lang="en-US" sz="3400" dirty="0"/>
          </a:p>
        </p:txBody>
      </p:sp>
      <p:sp>
        <p:nvSpPr>
          <p:cNvPr id="15" name="Text 10"/>
          <p:cNvSpPr/>
          <p:nvPr/>
        </p:nvSpPr>
        <p:spPr>
          <a:xfrm>
            <a:off x="457200" y="3566160"/>
            <a:ext cx="2926080" cy="237744"/>
          </a:xfrm>
          <a:prstGeom prst="rect">
            <a:avLst/>
          </a:prstGeom>
          <a:noFill/>
          <a:ln/>
        </p:spPr>
        <p:txBody>
          <a:bodyPr wrap="square" lIns="0" tIns="0" rIns="0" bIns="0" rtlCol="0" anchor="ctr"/>
          <a:lstStyle/>
          <a:p>
            <a:pPr indent="0" marL="0">
              <a:buNone/>
            </a:pPr>
            <a:r>
              <a:rPr lang="en-US" sz="1200" b="1" dirty="0">
                <a:solidFill>
                  <a:srgbClr val="000000"/>
                </a:solidFill>
                <a:latin typeface="Libre Franklin" pitchFamily="34" charset="0"/>
                <a:ea typeface="Libre Franklin" pitchFamily="34" charset="-122"/>
                <a:cs typeface="Libre Franklin" pitchFamily="34" charset="-120"/>
              </a:rPr>
              <a:t>Repeatability</a:t>
            </a:r>
            <a:endParaRPr lang="en-US" sz="1200" dirty="0"/>
          </a:p>
        </p:txBody>
      </p:sp>
      <p:sp>
        <p:nvSpPr>
          <p:cNvPr id="16" name="Text 11"/>
          <p:cNvSpPr/>
          <p:nvPr/>
        </p:nvSpPr>
        <p:spPr>
          <a:xfrm>
            <a:off x="457200" y="3794760"/>
            <a:ext cx="2926080" cy="274320"/>
          </a:xfrm>
          <a:prstGeom prst="rect">
            <a:avLst/>
          </a:prstGeom>
          <a:noFill/>
          <a:ln/>
        </p:spPr>
        <p:txBody>
          <a:bodyPr wrap="square" lIns="0" tIns="0" rIns="0" bIns="0" rtlCol="0" anchor="ctr"/>
          <a:lstStyle/>
          <a:p>
            <a:pPr indent="0" marL="0">
              <a:buNone/>
            </a:pPr>
            <a:r>
              <a:rPr lang="en-US" sz="1050" dirty="0">
                <a:solidFill>
                  <a:srgbClr val="52525B"/>
                </a:solidFill>
                <a:latin typeface="Libre Franklin Medium" pitchFamily="34" charset="0"/>
                <a:ea typeface="Libre Franklin Medium" pitchFamily="34" charset="-122"/>
                <a:cs typeface="Libre Franklin Medium" pitchFamily="34" charset="-120"/>
              </a:rPr>
              <a:t>Same split found again in 100 reruns</a:t>
            </a:r>
            <a:endParaRPr lang="en-US" sz="1050" dirty="0"/>
          </a:p>
        </p:txBody>
      </p:sp>
      <p:sp>
        <p:nvSpPr>
          <p:cNvPr id="17" name="Text 12"/>
          <p:cNvSpPr/>
          <p:nvPr/>
        </p:nvSpPr>
        <p:spPr>
          <a:xfrm>
            <a:off x="3657600" y="3017520"/>
            <a:ext cx="2743200" cy="530352"/>
          </a:xfrm>
          <a:prstGeom prst="rect">
            <a:avLst/>
          </a:prstGeom>
          <a:noFill/>
          <a:ln/>
        </p:spPr>
        <p:txBody>
          <a:bodyPr wrap="square" lIns="0" tIns="0" rIns="0" bIns="0" rtlCol="0" anchor="ctr"/>
          <a:lstStyle/>
          <a:p>
            <a:pPr indent="0" marL="0">
              <a:buNone/>
            </a:pPr>
            <a:r>
              <a:rPr lang="en-US" sz="3400" b="1" spc="-50" kern="0" dirty="0">
                <a:solidFill>
                  <a:srgbClr val="3366FF"/>
                </a:solidFill>
                <a:latin typeface="Libre Franklin" pitchFamily="34" charset="0"/>
                <a:ea typeface="Libre Franklin" pitchFamily="34" charset="-122"/>
                <a:cs typeface="Libre Franklin" pitchFamily="34" charset="-120"/>
              </a:rPr>
              <a:t>97.0%</a:t>
            </a:r>
            <a:endParaRPr lang="en-US" sz="3400" dirty="0"/>
          </a:p>
        </p:txBody>
      </p:sp>
      <p:sp>
        <p:nvSpPr>
          <p:cNvPr id="18" name="Text 13"/>
          <p:cNvSpPr/>
          <p:nvPr/>
        </p:nvSpPr>
        <p:spPr>
          <a:xfrm>
            <a:off x="3657600" y="3566160"/>
            <a:ext cx="2743200" cy="237744"/>
          </a:xfrm>
          <a:prstGeom prst="rect">
            <a:avLst/>
          </a:prstGeom>
          <a:noFill/>
          <a:ln/>
        </p:spPr>
        <p:txBody>
          <a:bodyPr wrap="square" lIns="0" tIns="0" rIns="0" bIns="0" rtlCol="0" anchor="ctr"/>
          <a:lstStyle/>
          <a:p>
            <a:pPr indent="0" marL="0">
              <a:buNone/>
            </a:pPr>
            <a:r>
              <a:rPr lang="en-US" sz="1200" b="1" dirty="0">
                <a:solidFill>
                  <a:srgbClr val="000000"/>
                </a:solidFill>
                <a:latin typeface="Libre Franklin" pitchFamily="34" charset="0"/>
                <a:ea typeface="Libre Franklin" pitchFamily="34" charset="-122"/>
                <a:cs typeface="Libre Franklin" pitchFamily="34" charset="-120"/>
              </a:rPr>
              <a:t>Had enough data</a:t>
            </a:r>
            <a:endParaRPr lang="en-US" sz="1200" dirty="0"/>
          </a:p>
        </p:txBody>
      </p:sp>
      <p:sp>
        <p:nvSpPr>
          <p:cNvPr id="19" name="Text 14"/>
          <p:cNvSpPr/>
          <p:nvPr/>
        </p:nvSpPr>
        <p:spPr>
          <a:xfrm>
            <a:off x="3657600" y="3794760"/>
            <a:ext cx="2743200" cy="274320"/>
          </a:xfrm>
          <a:prstGeom prst="rect">
            <a:avLst/>
          </a:prstGeom>
          <a:noFill/>
          <a:ln/>
        </p:spPr>
        <p:txBody>
          <a:bodyPr wrap="square" lIns="0" tIns="0" rIns="0" bIns="0" rtlCol="0" anchor="ctr"/>
          <a:lstStyle/>
          <a:p>
            <a:pPr indent="0" marL="0">
              <a:buNone/>
            </a:pPr>
            <a:r>
              <a:rPr lang="en-US" sz="1050" dirty="0">
                <a:solidFill>
                  <a:srgbClr val="52525B"/>
                </a:solidFill>
                <a:latin typeface="Libre Franklin Medium" pitchFamily="34" charset="0"/>
                <a:ea typeface="Libre Franklin Medium" pitchFamily="34" charset="-122"/>
                <a:cs typeface="Libre Franklin Medium" pitchFamily="34" charset="-120"/>
              </a:rPr>
              <a:t>131 of 135</a:t>
            </a:r>
            <a:endParaRPr lang="en-US" sz="1050" dirty="0"/>
          </a:p>
        </p:txBody>
      </p:sp>
      <p:sp>
        <p:nvSpPr>
          <p:cNvPr id="20" name="Shape 15"/>
          <p:cNvSpPr/>
          <p:nvPr/>
        </p:nvSpPr>
        <p:spPr>
          <a:xfrm>
            <a:off x="457200" y="4297680"/>
            <a:ext cx="5943600" cy="1783080"/>
          </a:xfrm>
          <a:prstGeom prst="roundRect">
            <a:avLst>
              <a:gd name="adj" fmla="val 6154"/>
            </a:avLst>
          </a:prstGeom>
          <a:solidFill>
            <a:srgbClr val="FDF0E0"/>
          </a:solidFill>
          <a:ln w="12700">
            <a:solidFill>
              <a:srgbClr val="FDF0E0"/>
            </a:solidFill>
            <a:prstDash val="solid"/>
          </a:ln>
        </p:spPr>
      </p:sp>
      <p:sp>
        <p:nvSpPr>
          <p:cNvPr id="21" name="Text 16"/>
          <p:cNvSpPr/>
          <p:nvPr/>
        </p:nvSpPr>
        <p:spPr>
          <a:xfrm>
            <a:off x="685800" y="4443984"/>
            <a:ext cx="5486400" cy="256032"/>
          </a:xfrm>
          <a:prstGeom prst="rect">
            <a:avLst/>
          </a:prstGeom>
          <a:noFill/>
          <a:ln/>
        </p:spPr>
        <p:txBody>
          <a:bodyPr wrap="square" lIns="0" tIns="0" rIns="0" bIns="0" rtlCol="0" anchor="ctr"/>
          <a:lstStyle/>
          <a:p>
            <a:pPr indent="0" marL="0">
              <a:buNone/>
            </a:pPr>
            <a:r>
              <a:rPr lang="en-US" sz="1350" b="1" dirty="0">
                <a:solidFill>
                  <a:srgbClr val="F57F00"/>
                </a:solidFill>
                <a:latin typeface="Libre Franklin" pitchFamily="34" charset="0"/>
                <a:ea typeface="Libre Franklin" pitchFamily="34" charset="-122"/>
                <a:cs typeface="Libre Franklin" pitchFamily="34" charset="-120"/>
              </a:rPr>
              <a:t>How to read these two together</a:t>
            </a:r>
            <a:endParaRPr lang="en-US" sz="1350" dirty="0"/>
          </a:p>
        </p:txBody>
      </p:sp>
      <p:sp>
        <p:nvSpPr>
          <p:cNvPr id="22" name="Text 17"/>
          <p:cNvSpPr/>
          <p:nvPr/>
        </p:nvSpPr>
        <p:spPr>
          <a:xfrm>
            <a:off x="685800" y="4754880"/>
            <a:ext cx="5486400" cy="1188720"/>
          </a:xfrm>
          <a:prstGeom prst="rect">
            <a:avLst/>
          </a:prstGeom>
          <a:noFill/>
          <a:ln/>
        </p:spPr>
        <p:txBody>
          <a:bodyPr wrap="square" lIns="0" tIns="0" rIns="0" bIns="0" rtlCol="0" anchor="ctr"/>
          <a:lstStyle/>
          <a:p>
            <a:pPr indent="0" marL="0">
              <a:buNone/>
            </a:pPr>
            <a:r>
              <a:rPr lang="en-US" sz="1250" dirty="0">
                <a:solidFill>
                  <a:srgbClr val="000000"/>
                </a:solidFill>
                <a:latin typeface="Libre Franklin Medium" pitchFamily="34" charset="0"/>
                <a:ea typeface="Libre Franklin Medium" pitchFamily="34" charset="-122"/>
                <a:cs typeface="Libre Franklin Medium" pitchFamily="34" charset="-120"/>
              </a:rPr>
              <a:t>Repeatability of 0.704 means we keep finding the same split. Separation of 0.180 means the two groups sit close together.</a:t>
            </a:r>
            <a:endParaRPr lang="en-US" sz="1250" dirty="0"/>
          </a:p>
          <a:p>
            <a:pPr indent="0" marL="0">
              <a:buNone/>
            </a:pPr>
            <a:endParaRPr lang="en-US" sz="1250" dirty="0"/>
          </a:p>
          <a:p>
            <a:pPr indent="0" marL="0">
              <a:buNone/>
            </a:pPr>
            <a:r>
              <a:rPr lang="en-US" sz="1250" dirty="0">
                <a:solidFill>
                  <a:srgbClr val="000000"/>
                </a:solidFill>
                <a:latin typeface="Libre Franklin Medium" pitchFamily="34" charset="0"/>
                <a:ea typeface="Libre Franklin Medium" pitchFamily="34" charset="-122"/>
                <a:cs typeface="Libre Franklin Medium" pitchFamily="34" charset="-120"/>
              </a:rPr>
              <a:t>Both are true. These are useful working groups along a scale, not two different kinds of people.</a:t>
            </a:r>
            <a:endParaRPr lang="en-US" sz="1250" dirty="0"/>
          </a:p>
        </p:txBody>
      </p:sp>
      <p:sp>
        <p:nvSpPr>
          <p:cNvPr id="23" name="Text 18"/>
          <p:cNvSpPr/>
          <p:nvPr/>
        </p:nvSpPr>
        <p:spPr>
          <a:xfrm>
            <a:off x="457200" y="6336792"/>
            <a:ext cx="10698480" cy="256032"/>
          </a:xfrm>
          <a:prstGeom prst="rect">
            <a:avLst/>
          </a:prstGeom>
          <a:noFill/>
          <a:ln/>
        </p:spPr>
        <p:txBody>
          <a:bodyPr wrap="square" lIns="0" tIns="0" rIns="0" bIns="0" rtlCol="0" anchor="ctr"/>
          <a:lstStyle/>
          <a:p>
            <a:pPr indent="0" marL="0">
              <a:buNone/>
            </a:pPr>
            <a:r>
              <a:rPr lang="en-US" sz="1000" dirty="0">
                <a:solidFill>
                  <a:srgbClr val="52525B"/>
                </a:solidFill>
                <a:latin typeface="Libre Franklin Medium" pitchFamily="34" charset="0"/>
                <a:ea typeface="Libre Franklin Medium" pitchFamily="34" charset="-122"/>
                <a:cs typeface="Libre Franklin Medium" pitchFamily="34" charset="-120"/>
              </a:rPr>
              <a:t>Two other fit measures point to three groups rather than two. Slide 10 covers what that means.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sessions/happy-eloquent-pascal/mnt/.claude/skills/esd-lab/assets/logos/logo-horizontal-discovery-blue.png">    </p:cNvPr>
          <p:cNvPicPr>
            <a:picLocks noChangeAspect="1"/>
          </p:cNvPicPr>
          <p:nvPr/>
        </p:nvPicPr>
        <p:blipFill>
          <a:blip r:embed="rId1"/>
          <a:stretch>
            <a:fillRect/>
          </a:stretch>
        </p:blipFill>
        <p:spPr>
          <a:xfrm>
            <a:off x="457200" y="292608"/>
            <a:ext cx="1179576" cy="265176"/>
          </a:xfrm>
          <a:prstGeom prst="rect">
            <a:avLst/>
          </a:prstGeom>
        </p:spPr>
      </p:pic>
      <p:pic>
        <p:nvPicPr>
          <p:cNvPr id="3" name="Image 1" descr="/sessions/happy-eloquent-pascal/mnt/.claude/skills/esd-lab/assets/logos/uofsc-horizontal-garnet.png">    </p:cNvPr>
          <p:cNvPicPr>
            <a:picLocks noChangeAspect="1"/>
          </p:cNvPicPr>
          <p:nvPr/>
        </p:nvPicPr>
        <p:blipFill>
          <a:blip r:embed="rId2"/>
          <a:stretch>
            <a:fillRect/>
          </a:stretch>
        </p:blipFill>
        <p:spPr>
          <a:xfrm>
            <a:off x="1783080" y="292608"/>
            <a:ext cx="987552" cy="265176"/>
          </a:xfrm>
          <a:prstGeom prst="rect">
            <a:avLst/>
          </a:prstGeom>
        </p:spPr>
      </p:pic>
      <p:sp>
        <p:nvSpPr>
          <p:cNvPr id="4" name="Text 0"/>
          <p:cNvSpPr/>
          <p:nvPr/>
        </p:nvSpPr>
        <p:spPr>
          <a:xfrm>
            <a:off x="457200" y="786384"/>
            <a:ext cx="11274552" cy="512064"/>
          </a:xfrm>
          <a:prstGeom prst="rect">
            <a:avLst/>
          </a:prstGeom>
          <a:noFill/>
          <a:ln/>
        </p:spPr>
        <p:txBody>
          <a:bodyPr wrap="square" lIns="0" tIns="0" rIns="0" bIns="0" rtlCol="0" anchor="ctr"/>
          <a:lstStyle/>
          <a:p>
            <a:pPr indent="0" marL="0">
              <a:buNone/>
            </a:pPr>
            <a:r>
              <a:rPr lang="en-US" sz="2900" b="1" spc="-30" kern="0" dirty="0">
                <a:solidFill>
                  <a:srgbClr val="000000"/>
                </a:solidFill>
                <a:latin typeface="Libre Franklin" pitchFamily="34" charset="0"/>
                <a:ea typeface="Libre Franklin" pitchFamily="34" charset="-122"/>
                <a:cs typeface="Libre Franklin" pitchFamily="34" charset="-120"/>
              </a:rPr>
              <a:t>What separates the groups</a:t>
            </a:r>
            <a:endParaRPr lang="en-US" sz="2900" dirty="0"/>
          </a:p>
        </p:txBody>
      </p:sp>
      <p:sp>
        <p:nvSpPr>
          <p:cNvPr id="5" name="Text 1"/>
          <p:cNvSpPr/>
          <p:nvPr/>
        </p:nvSpPr>
        <p:spPr>
          <a:xfrm>
            <a:off x="11384280" y="6355080"/>
            <a:ext cx="365760" cy="219456"/>
          </a:xfrm>
          <a:prstGeom prst="rect">
            <a:avLst/>
          </a:prstGeom>
          <a:noFill/>
          <a:ln/>
        </p:spPr>
        <p:txBody>
          <a:bodyPr wrap="square" lIns="0" tIns="0" rIns="0" bIns="0" rtlCol="0" anchor="ctr"/>
          <a:lstStyle/>
          <a:p>
            <a:pPr algn="r" indent="0" marL="0">
              <a:buNone/>
            </a:pPr>
            <a:r>
              <a:rPr lang="en-US" sz="1000" dirty="0">
                <a:solidFill>
                  <a:srgbClr val="91BAF4"/>
                </a:solidFill>
                <a:latin typeface="Libre Franklin Medium" pitchFamily="34" charset="0"/>
                <a:ea typeface="Libre Franklin Medium" pitchFamily="34" charset="-122"/>
                <a:cs typeface="Libre Franklin Medium" pitchFamily="34" charset="-120"/>
              </a:rPr>
              <a:t>7</a:t>
            </a:r>
            <a:endParaRPr lang="en-US" sz="1000" dirty="0"/>
          </a:p>
        </p:txBody>
      </p:sp>
      <p:sp>
        <p:nvSpPr>
          <p:cNvPr id="6" name="Text 2"/>
          <p:cNvSpPr/>
          <p:nvPr/>
        </p:nvSpPr>
        <p:spPr>
          <a:xfrm>
            <a:off x="457200" y="1673352"/>
            <a:ext cx="4023360" cy="201168"/>
          </a:xfrm>
          <a:prstGeom prst="rect">
            <a:avLst/>
          </a:prstGeom>
          <a:noFill/>
          <a:ln/>
        </p:spPr>
        <p:txBody>
          <a:bodyPr wrap="square" lIns="0" tIns="0" rIns="0" bIns="0" rtlCol="0" anchor="ctr"/>
          <a:lstStyle/>
          <a:p>
            <a:pPr indent="0" marL="0">
              <a:buNone/>
            </a:pPr>
            <a:r>
              <a:rPr lang="en-US" sz="950" b="1" spc="50" kern="0" dirty="0">
                <a:solidFill>
                  <a:srgbClr val="71717A"/>
                </a:solidFill>
                <a:latin typeface="Libre Franklin" pitchFamily="34" charset="0"/>
                <a:ea typeface="Libre Franklin" pitchFamily="34" charset="-122"/>
                <a:cs typeface="Libre Franklin" pitchFamily="34" charset="-120"/>
              </a:rPr>
              <a:t>AREA</a:t>
            </a:r>
            <a:endParaRPr lang="en-US" sz="950" dirty="0"/>
          </a:p>
        </p:txBody>
      </p:sp>
      <p:sp>
        <p:nvSpPr>
          <p:cNvPr id="7" name="Text 3"/>
          <p:cNvSpPr/>
          <p:nvPr/>
        </p:nvSpPr>
        <p:spPr>
          <a:xfrm>
            <a:off x="5120640" y="1673352"/>
            <a:ext cx="1097280" cy="201168"/>
          </a:xfrm>
          <a:prstGeom prst="rect">
            <a:avLst/>
          </a:prstGeom>
          <a:noFill/>
          <a:ln/>
        </p:spPr>
        <p:txBody>
          <a:bodyPr wrap="square" lIns="0" tIns="0" rIns="0" bIns="0" rtlCol="0" anchor="ctr"/>
          <a:lstStyle/>
          <a:p>
            <a:pPr algn="r" indent="0" marL="0">
              <a:buNone/>
            </a:pPr>
            <a:r>
              <a:rPr lang="en-US" sz="950" b="1" spc="50" kern="0" dirty="0">
                <a:solidFill>
                  <a:srgbClr val="3366FF"/>
                </a:solidFill>
                <a:latin typeface="Libre Franklin" pitchFamily="34" charset="0"/>
                <a:ea typeface="Libre Franklin" pitchFamily="34" charset="-122"/>
                <a:cs typeface="Libre Franklin" pitchFamily="34" charset="-120"/>
              </a:rPr>
              <a:t>HIGHER</a:t>
            </a:r>
            <a:endParaRPr lang="en-US" sz="950" dirty="0"/>
          </a:p>
        </p:txBody>
      </p:sp>
      <p:sp>
        <p:nvSpPr>
          <p:cNvPr id="8" name="Text 4"/>
          <p:cNvSpPr/>
          <p:nvPr/>
        </p:nvSpPr>
        <p:spPr>
          <a:xfrm>
            <a:off x="6355080" y="1673352"/>
            <a:ext cx="1371600" cy="201168"/>
          </a:xfrm>
          <a:prstGeom prst="rect">
            <a:avLst/>
          </a:prstGeom>
          <a:noFill/>
          <a:ln/>
        </p:spPr>
        <p:txBody>
          <a:bodyPr wrap="square" lIns="0" tIns="0" rIns="0" bIns="0" rtlCol="0" anchor="ctr"/>
          <a:lstStyle/>
          <a:p>
            <a:pPr algn="r" indent="0" marL="0">
              <a:buNone/>
            </a:pPr>
            <a:r>
              <a:rPr lang="en-US" sz="950" b="1" spc="50" kern="0" dirty="0">
                <a:solidFill>
                  <a:srgbClr val="F57F00"/>
                </a:solidFill>
                <a:latin typeface="Libre Franklin" pitchFamily="34" charset="0"/>
                <a:ea typeface="Libre Franklin" pitchFamily="34" charset="-122"/>
                <a:cs typeface="Libre Franklin" pitchFamily="34" charset="-120"/>
              </a:rPr>
              <a:t>CONDITIONAL</a:t>
            </a:r>
            <a:endParaRPr lang="en-US" sz="950" dirty="0"/>
          </a:p>
        </p:txBody>
      </p:sp>
      <p:sp>
        <p:nvSpPr>
          <p:cNvPr id="9" name="Text 5"/>
          <p:cNvSpPr/>
          <p:nvPr/>
        </p:nvSpPr>
        <p:spPr>
          <a:xfrm>
            <a:off x="7863840" y="1673352"/>
            <a:ext cx="822960" cy="201168"/>
          </a:xfrm>
          <a:prstGeom prst="rect">
            <a:avLst/>
          </a:prstGeom>
          <a:noFill/>
          <a:ln/>
        </p:spPr>
        <p:txBody>
          <a:bodyPr wrap="square" lIns="0" tIns="0" rIns="0" bIns="0" rtlCol="0" anchor="ctr"/>
          <a:lstStyle/>
          <a:p>
            <a:pPr algn="r" indent="0" marL="0">
              <a:buNone/>
            </a:pPr>
            <a:r>
              <a:rPr lang="en-US" sz="950" b="1" spc="50" kern="0" dirty="0">
                <a:solidFill>
                  <a:srgbClr val="71717A"/>
                </a:solidFill>
                <a:latin typeface="Libre Franklin" pitchFamily="34" charset="0"/>
                <a:ea typeface="Libre Franklin" pitchFamily="34" charset="-122"/>
                <a:cs typeface="Libre Franklin" pitchFamily="34" charset="-120"/>
              </a:rPr>
              <a:t>GAP</a:t>
            </a:r>
            <a:endParaRPr lang="en-US" sz="950" dirty="0"/>
          </a:p>
        </p:txBody>
      </p:sp>
      <p:sp>
        <p:nvSpPr>
          <p:cNvPr id="10" name="Text 6"/>
          <p:cNvSpPr/>
          <p:nvPr/>
        </p:nvSpPr>
        <p:spPr>
          <a:xfrm>
            <a:off x="457200" y="1956816"/>
            <a:ext cx="4572000" cy="274320"/>
          </a:xfrm>
          <a:prstGeom prst="rect">
            <a:avLst/>
          </a:prstGeom>
          <a:noFill/>
          <a:ln/>
        </p:spPr>
        <p:txBody>
          <a:bodyPr wrap="square" lIns="0" tIns="0" rIns="0" bIns="0" rtlCol="0" anchor="ctr"/>
          <a:lstStyle/>
          <a:p>
            <a:pPr indent="0" marL="0">
              <a:buNone/>
            </a:pPr>
            <a:r>
              <a:rPr lang="en-US" sz="1300" b="1" dirty="0">
                <a:solidFill>
                  <a:srgbClr val="000000"/>
                </a:solidFill>
                <a:latin typeface="Libre Franklin" pitchFamily="34" charset="0"/>
                <a:ea typeface="Libre Franklin" pitchFamily="34" charset="-122"/>
                <a:cs typeface="Libre Franklin" pitchFamily="34" charset="-120"/>
              </a:rPr>
              <a:t>Positive feelings and trust in the clinician</a:t>
            </a:r>
            <a:endParaRPr lang="en-US" sz="1300" dirty="0"/>
          </a:p>
        </p:txBody>
      </p:sp>
      <p:sp>
        <p:nvSpPr>
          <p:cNvPr id="11" name="Text 7"/>
          <p:cNvSpPr/>
          <p:nvPr/>
        </p:nvSpPr>
        <p:spPr>
          <a:xfrm>
            <a:off x="5120640" y="1956816"/>
            <a:ext cx="1097280" cy="274320"/>
          </a:xfrm>
          <a:prstGeom prst="rect">
            <a:avLst/>
          </a:prstGeom>
          <a:noFill/>
          <a:ln/>
        </p:spPr>
        <p:txBody>
          <a:bodyPr wrap="square" lIns="0" tIns="0" rIns="0" bIns="0" rtlCol="0" anchor="ctr"/>
          <a:lstStyle/>
          <a:p>
            <a:pPr algn="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73.6</a:t>
            </a:r>
            <a:endParaRPr lang="en-US" sz="1300" dirty="0"/>
          </a:p>
        </p:txBody>
      </p:sp>
      <p:sp>
        <p:nvSpPr>
          <p:cNvPr id="12" name="Text 8"/>
          <p:cNvSpPr/>
          <p:nvPr/>
        </p:nvSpPr>
        <p:spPr>
          <a:xfrm>
            <a:off x="6355080" y="1956816"/>
            <a:ext cx="1371600" cy="274320"/>
          </a:xfrm>
          <a:prstGeom prst="rect">
            <a:avLst/>
          </a:prstGeom>
          <a:noFill/>
          <a:ln/>
        </p:spPr>
        <p:txBody>
          <a:bodyPr wrap="square" lIns="0" tIns="0" rIns="0" bIns="0" rtlCol="0" anchor="ctr"/>
          <a:lstStyle/>
          <a:p>
            <a:pPr algn="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47.7</a:t>
            </a:r>
            <a:endParaRPr lang="en-US" sz="1300" dirty="0"/>
          </a:p>
        </p:txBody>
      </p:sp>
      <p:sp>
        <p:nvSpPr>
          <p:cNvPr id="13" name="Text 9"/>
          <p:cNvSpPr/>
          <p:nvPr/>
        </p:nvSpPr>
        <p:spPr>
          <a:xfrm>
            <a:off x="7863840" y="1956816"/>
            <a:ext cx="822960" cy="274320"/>
          </a:xfrm>
          <a:prstGeom prst="rect">
            <a:avLst/>
          </a:prstGeom>
          <a:noFill/>
          <a:ln/>
        </p:spPr>
        <p:txBody>
          <a:bodyPr wrap="square" lIns="0" tIns="0" rIns="0" bIns="0" rtlCol="0" anchor="ctr"/>
          <a:lstStyle/>
          <a:p>
            <a:pPr algn="r" indent="0" marL="0">
              <a:buNone/>
            </a:pPr>
            <a:r>
              <a:rPr lang="en-US" sz="1300" b="1" dirty="0">
                <a:solidFill>
                  <a:srgbClr val="3366FF"/>
                </a:solidFill>
                <a:latin typeface="Libre Franklin" pitchFamily="34" charset="0"/>
                <a:ea typeface="Libre Franklin" pitchFamily="34" charset="-122"/>
                <a:cs typeface="Libre Franklin" pitchFamily="34" charset="-120"/>
              </a:rPr>
              <a:t>25.9</a:t>
            </a:r>
            <a:endParaRPr lang="en-US" sz="1300" dirty="0"/>
          </a:p>
        </p:txBody>
      </p:sp>
      <p:sp>
        <p:nvSpPr>
          <p:cNvPr id="14" name="Shape 10"/>
          <p:cNvSpPr/>
          <p:nvPr/>
        </p:nvSpPr>
        <p:spPr>
          <a:xfrm>
            <a:off x="457200" y="2263140"/>
            <a:ext cx="8229600" cy="10058"/>
          </a:xfrm>
          <a:prstGeom prst="rect">
            <a:avLst/>
          </a:prstGeom>
          <a:solidFill>
            <a:srgbClr val="E6EEFC"/>
          </a:solidFill>
          <a:ln w="12700">
            <a:solidFill>
              <a:srgbClr val="E6EEFC"/>
            </a:solidFill>
            <a:prstDash val="solid"/>
          </a:ln>
        </p:spPr>
      </p:sp>
      <p:sp>
        <p:nvSpPr>
          <p:cNvPr id="15" name="Text 11"/>
          <p:cNvSpPr/>
          <p:nvPr/>
        </p:nvSpPr>
        <p:spPr>
          <a:xfrm>
            <a:off x="457200" y="2386584"/>
            <a:ext cx="4572000" cy="274320"/>
          </a:xfrm>
          <a:prstGeom prst="rect">
            <a:avLst/>
          </a:prstGeom>
          <a:noFill/>
          <a:ln/>
        </p:spPr>
        <p:txBody>
          <a:bodyPr wrap="square" lIns="0" tIns="0" rIns="0" bIns="0" rtlCol="0" anchor="ctr"/>
          <a:lstStyle/>
          <a:p>
            <a:pPr indent="0" marL="0">
              <a:buNone/>
            </a:pPr>
            <a:r>
              <a:rPr lang="en-US" sz="1300" b="1" dirty="0">
                <a:solidFill>
                  <a:srgbClr val="000000"/>
                </a:solidFill>
                <a:latin typeface="Libre Franklin" pitchFamily="34" charset="0"/>
                <a:ea typeface="Libre Franklin" pitchFamily="34" charset="-122"/>
                <a:cs typeface="Libre Franklin" pitchFamily="34" charset="-120"/>
              </a:rPr>
              <a:t>Willing to do a blood draw</a:t>
            </a:r>
            <a:endParaRPr lang="en-US" sz="1300" dirty="0"/>
          </a:p>
        </p:txBody>
      </p:sp>
      <p:sp>
        <p:nvSpPr>
          <p:cNvPr id="16" name="Text 12"/>
          <p:cNvSpPr/>
          <p:nvPr/>
        </p:nvSpPr>
        <p:spPr>
          <a:xfrm>
            <a:off x="5120640" y="2386584"/>
            <a:ext cx="1097280" cy="274320"/>
          </a:xfrm>
          <a:prstGeom prst="rect">
            <a:avLst/>
          </a:prstGeom>
          <a:noFill/>
          <a:ln/>
        </p:spPr>
        <p:txBody>
          <a:bodyPr wrap="square" lIns="0" tIns="0" rIns="0" bIns="0" rtlCol="0" anchor="ctr"/>
          <a:lstStyle/>
          <a:p>
            <a:pPr algn="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70.7</a:t>
            </a:r>
            <a:endParaRPr lang="en-US" sz="1300" dirty="0"/>
          </a:p>
        </p:txBody>
      </p:sp>
      <p:sp>
        <p:nvSpPr>
          <p:cNvPr id="17" name="Text 13"/>
          <p:cNvSpPr/>
          <p:nvPr/>
        </p:nvSpPr>
        <p:spPr>
          <a:xfrm>
            <a:off x="6355080" y="2386584"/>
            <a:ext cx="1371600" cy="274320"/>
          </a:xfrm>
          <a:prstGeom prst="rect">
            <a:avLst/>
          </a:prstGeom>
          <a:noFill/>
          <a:ln/>
        </p:spPr>
        <p:txBody>
          <a:bodyPr wrap="square" lIns="0" tIns="0" rIns="0" bIns="0" rtlCol="0" anchor="ctr"/>
          <a:lstStyle/>
          <a:p>
            <a:pPr algn="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44.9</a:t>
            </a:r>
            <a:endParaRPr lang="en-US" sz="1300" dirty="0"/>
          </a:p>
        </p:txBody>
      </p:sp>
      <p:sp>
        <p:nvSpPr>
          <p:cNvPr id="18" name="Text 14"/>
          <p:cNvSpPr/>
          <p:nvPr/>
        </p:nvSpPr>
        <p:spPr>
          <a:xfrm>
            <a:off x="7863840" y="2386584"/>
            <a:ext cx="822960" cy="274320"/>
          </a:xfrm>
          <a:prstGeom prst="rect">
            <a:avLst/>
          </a:prstGeom>
          <a:noFill/>
          <a:ln/>
        </p:spPr>
        <p:txBody>
          <a:bodyPr wrap="square" lIns="0" tIns="0" rIns="0" bIns="0" rtlCol="0" anchor="ctr"/>
          <a:lstStyle/>
          <a:p>
            <a:pPr algn="r" indent="0" marL="0">
              <a:buNone/>
            </a:pPr>
            <a:r>
              <a:rPr lang="en-US" sz="1300" b="1" dirty="0">
                <a:solidFill>
                  <a:srgbClr val="3366FF"/>
                </a:solidFill>
                <a:latin typeface="Libre Franklin" pitchFamily="34" charset="0"/>
                <a:ea typeface="Libre Franklin" pitchFamily="34" charset="-122"/>
                <a:cs typeface="Libre Franklin" pitchFamily="34" charset="-120"/>
              </a:rPr>
              <a:t>25.7</a:t>
            </a:r>
            <a:endParaRPr lang="en-US" sz="1300" dirty="0"/>
          </a:p>
        </p:txBody>
      </p:sp>
      <p:sp>
        <p:nvSpPr>
          <p:cNvPr id="19" name="Shape 15"/>
          <p:cNvSpPr/>
          <p:nvPr/>
        </p:nvSpPr>
        <p:spPr>
          <a:xfrm>
            <a:off x="457200" y="2692908"/>
            <a:ext cx="8229600" cy="10058"/>
          </a:xfrm>
          <a:prstGeom prst="rect">
            <a:avLst/>
          </a:prstGeom>
          <a:solidFill>
            <a:srgbClr val="E6EEFC"/>
          </a:solidFill>
          <a:ln w="12700">
            <a:solidFill>
              <a:srgbClr val="E6EEFC"/>
            </a:solidFill>
            <a:prstDash val="solid"/>
          </a:ln>
        </p:spPr>
      </p:sp>
      <p:sp>
        <p:nvSpPr>
          <p:cNvPr id="20" name="Text 16"/>
          <p:cNvSpPr/>
          <p:nvPr/>
        </p:nvSpPr>
        <p:spPr>
          <a:xfrm>
            <a:off x="457200" y="2816352"/>
            <a:ext cx="4572000" cy="274320"/>
          </a:xfrm>
          <a:prstGeom prst="rect">
            <a:avLst/>
          </a:prstGeom>
          <a:noFill/>
          <a:ln/>
        </p:spPr>
        <p:txBody>
          <a:bodyPr wrap="square" lIns="0" tIns="0" rIns="0" bIns="0" rtlCol="0" anchor="ctr"/>
          <a:lstStyle/>
          <a:p>
            <a:pPr indent="0" marL="0">
              <a:buNone/>
            </a:pPr>
            <a:r>
              <a:rPr lang="en-US" sz="1300" b="1" dirty="0">
                <a:solidFill>
                  <a:srgbClr val="000000"/>
                </a:solidFill>
                <a:latin typeface="Libre Franklin" pitchFamily="34" charset="0"/>
                <a:ea typeface="Libre Franklin" pitchFamily="34" charset="-122"/>
                <a:cs typeface="Libre Franklin" pitchFamily="34" charset="-120"/>
              </a:rPr>
              <a:t>Feels right to offer it to everyone</a:t>
            </a:r>
            <a:endParaRPr lang="en-US" sz="1300" dirty="0"/>
          </a:p>
        </p:txBody>
      </p:sp>
      <p:sp>
        <p:nvSpPr>
          <p:cNvPr id="21" name="Text 17"/>
          <p:cNvSpPr/>
          <p:nvPr/>
        </p:nvSpPr>
        <p:spPr>
          <a:xfrm>
            <a:off x="5120640" y="2816352"/>
            <a:ext cx="1097280" cy="274320"/>
          </a:xfrm>
          <a:prstGeom prst="rect">
            <a:avLst/>
          </a:prstGeom>
          <a:noFill/>
          <a:ln/>
        </p:spPr>
        <p:txBody>
          <a:bodyPr wrap="square" lIns="0" tIns="0" rIns="0" bIns="0" rtlCol="0" anchor="ctr"/>
          <a:lstStyle/>
          <a:p>
            <a:pPr algn="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87.7</a:t>
            </a:r>
            <a:endParaRPr lang="en-US" sz="1300" dirty="0"/>
          </a:p>
        </p:txBody>
      </p:sp>
      <p:sp>
        <p:nvSpPr>
          <p:cNvPr id="22" name="Text 18"/>
          <p:cNvSpPr/>
          <p:nvPr/>
        </p:nvSpPr>
        <p:spPr>
          <a:xfrm>
            <a:off x="6355080" y="2816352"/>
            <a:ext cx="1371600" cy="274320"/>
          </a:xfrm>
          <a:prstGeom prst="rect">
            <a:avLst/>
          </a:prstGeom>
          <a:noFill/>
          <a:ln/>
        </p:spPr>
        <p:txBody>
          <a:bodyPr wrap="square" lIns="0" tIns="0" rIns="0" bIns="0" rtlCol="0" anchor="ctr"/>
          <a:lstStyle/>
          <a:p>
            <a:pPr algn="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62.3</a:t>
            </a:r>
            <a:endParaRPr lang="en-US" sz="1300" dirty="0"/>
          </a:p>
        </p:txBody>
      </p:sp>
      <p:sp>
        <p:nvSpPr>
          <p:cNvPr id="23" name="Text 19"/>
          <p:cNvSpPr/>
          <p:nvPr/>
        </p:nvSpPr>
        <p:spPr>
          <a:xfrm>
            <a:off x="7863840" y="2816352"/>
            <a:ext cx="822960" cy="274320"/>
          </a:xfrm>
          <a:prstGeom prst="rect">
            <a:avLst/>
          </a:prstGeom>
          <a:noFill/>
          <a:ln/>
        </p:spPr>
        <p:txBody>
          <a:bodyPr wrap="square" lIns="0" tIns="0" rIns="0" bIns="0" rtlCol="0" anchor="ctr"/>
          <a:lstStyle/>
          <a:p>
            <a:pPr algn="r" indent="0" marL="0">
              <a:buNone/>
            </a:pPr>
            <a:r>
              <a:rPr lang="en-US" sz="1300" b="1" dirty="0">
                <a:solidFill>
                  <a:srgbClr val="3366FF"/>
                </a:solidFill>
                <a:latin typeface="Libre Franklin" pitchFamily="34" charset="0"/>
                <a:ea typeface="Libre Franklin" pitchFamily="34" charset="-122"/>
                <a:cs typeface="Libre Franklin" pitchFamily="34" charset="-120"/>
              </a:rPr>
              <a:t>25.3</a:t>
            </a:r>
            <a:endParaRPr lang="en-US" sz="1300" dirty="0"/>
          </a:p>
        </p:txBody>
      </p:sp>
      <p:sp>
        <p:nvSpPr>
          <p:cNvPr id="24" name="Shape 20"/>
          <p:cNvSpPr/>
          <p:nvPr/>
        </p:nvSpPr>
        <p:spPr>
          <a:xfrm>
            <a:off x="457200" y="3122676"/>
            <a:ext cx="8229600" cy="10058"/>
          </a:xfrm>
          <a:prstGeom prst="rect">
            <a:avLst/>
          </a:prstGeom>
          <a:solidFill>
            <a:srgbClr val="E6EEFC"/>
          </a:solidFill>
          <a:ln w="12700">
            <a:solidFill>
              <a:srgbClr val="E6EEFC"/>
            </a:solidFill>
            <a:prstDash val="solid"/>
          </a:ln>
        </p:spPr>
      </p:sp>
      <p:sp>
        <p:nvSpPr>
          <p:cNvPr id="25" name="Text 21"/>
          <p:cNvSpPr/>
          <p:nvPr/>
        </p:nvSpPr>
        <p:spPr>
          <a:xfrm>
            <a:off x="457200" y="3246120"/>
            <a:ext cx="4572000" cy="274320"/>
          </a:xfrm>
          <a:prstGeom prst="rect">
            <a:avLst/>
          </a:prstGeom>
          <a:noFill/>
          <a:ln/>
        </p:spPr>
        <p:txBody>
          <a:bodyPr wrap="square" lIns="0" tIns="0" rIns="0" bIns="0" rtlCol="0" anchor="ctr"/>
          <a:lstStyle/>
          <a:p>
            <a:pP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Low worry or fear</a:t>
            </a:r>
            <a:endParaRPr lang="en-US" sz="1300" dirty="0"/>
          </a:p>
        </p:txBody>
      </p:sp>
      <p:sp>
        <p:nvSpPr>
          <p:cNvPr id="26" name="Text 22"/>
          <p:cNvSpPr/>
          <p:nvPr/>
        </p:nvSpPr>
        <p:spPr>
          <a:xfrm>
            <a:off x="5120640" y="3246120"/>
            <a:ext cx="1097280" cy="274320"/>
          </a:xfrm>
          <a:prstGeom prst="rect">
            <a:avLst/>
          </a:prstGeom>
          <a:noFill/>
          <a:ln/>
        </p:spPr>
        <p:txBody>
          <a:bodyPr wrap="square" lIns="0" tIns="0" rIns="0" bIns="0" rtlCol="0" anchor="ctr"/>
          <a:lstStyle/>
          <a:p>
            <a:pPr algn="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82.9</a:t>
            </a:r>
            <a:endParaRPr lang="en-US" sz="1300" dirty="0"/>
          </a:p>
        </p:txBody>
      </p:sp>
      <p:sp>
        <p:nvSpPr>
          <p:cNvPr id="27" name="Text 23"/>
          <p:cNvSpPr/>
          <p:nvPr/>
        </p:nvSpPr>
        <p:spPr>
          <a:xfrm>
            <a:off x="6355080" y="3246120"/>
            <a:ext cx="1371600" cy="274320"/>
          </a:xfrm>
          <a:prstGeom prst="rect">
            <a:avLst/>
          </a:prstGeom>
          <a:noFill/>
          <a:ln/>
        </p:spPr>
        <p:txBody>
          <a:bodyPr wrap="square" lIns="0" tIns="0" rIns="0" bIns="0" rtlCol="0" anchor="ctr"/>
          <a:lstStyle/>
          <a:p>
            <a:pPr algn="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60.1</a:t>
            </a:r>
            <a:endParaRPr lang="en-US" sz="1300" dirty="0"/>
          </a:p>
        </p:txBody>
      </p:sp>
      <p:sp>
        <p:nvSpPr>
          <p:cNvPr id="28" name="Text 24"/>
          <p:cNvSpPr/>
          <p:nvPr/>
        </p:nvSpPr>
        <p:spPr>
          <a:xfrm>
            <a:off x="7863840" y="3246120"/>
            <a:ext cx="822960" cy="274320"/>
          </a:xfrm>
          <a:prstGeom prst="rect">
            <a:avLst/>
          </a:prstGeom>
          <a:noFill/>
          <a:ln/>
        </p:spPr>
        <p:txBody>
          <a:bodyPr wrap="square" lIns="0" tIns="0" rIns="0" bIns="0" rtlCol="0" anchor="ctr"/>
          <a:lstStyle/>
          <a:p>
            <a:pPr algn="r" indent="0" marL="0">
              <a:buNone/>
            </a:pPr>
            <a:r>
              <a:rPr lang="en-US" sz="1300" b="1" dirty="0">
                <a:solidFill>
                  <a:srgbClr val="52525B"/>
                </a:solidFill>
                <a:latin typeface="Libre Franklin" pitchFamily="34" charset="0"/>
                <a:ea typeface="Libre Franklin" pitchFamily="34" charset="-122"/>
                <a:cs typeface="Libre Franklin" pitchFamily="34" charset="-120"/>
              </a:rPr>
              <a:t>22.8</a:t>
            </a:r>
            <a:endParaRPr lang="en-US" sz="1300" dirty="0"/>
          </a:p>
        </p:txBody>
      </p:sp>
      <p:sp>
        <p:nvSpPr>
          <p:cNvPr id="29" name="Shape 25"/>
          <p:cNvSpPr/>
          <p:nvPr/>
        </p:nvSpPr>
        <p:spPr>
          <a:xfrm>
            <a:off x="457200" y="3552444"/>
            <a:ext cx="8229600" cy="10058"/>
          </a:xfrm>
          <a:prstGeom prst="rect">
            <a:avLst/>
          </a:prstGeom>
          <a:solidFill>
            <a:srgbClr val="E6EEFC"/>
          </a:solidFill>
          <a:ln w="12700">
            <a:solidFill>
              <a:srgbClr val="E6EEFC"/>
            </a:solidFill>
            <a:prstDash val="solid"/>
          </a:ln>
        </p:spPr>
      </p:sp>
      <p:sp>
        <p:nvSpPr>
          <p:cNvPr id="30" name="Text 26"/>
          <p:cNvSpPr/>
          <p:nvPr/>
        </p:nvSpPr>
        <p:spPr>
          <a:xfrm>
            <a:off x="457200" y="3675888"/>
            <a:ext cx="4572000" cy="274320"/>
          </a:xfrm>
          <a:prstGeom prst="rect">
            <a:avLst/>
          </a:prstGeom>
          <a:noFill/>
          <a:ln/>
        </p:spPr>
        <p:txBody>
          <a:bodyPr wrap="square" lIns="0" tIns="0" rIns="0" bIns="0" rtlCol="0" anchor="ctr"/>
          <a:lstStyle/>
          <a:p>
            <a:pP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Thinks screening is useful</a:t>
            </a:r>
            <a:endParaRPr lang="en-US" sz="1300" dirty="0"/>
          </a:p>
        </p:txBody>
      </p:sp>
      <p:sp>
        <p:nvSpPr>
          <p:cNvPr id="31" name="Text 27"/>
          <p:cNvSpPr/>
          <p:nvPr/>
        </p:nvSpPr>
        <p:spPr>
          <a:xfrm>
            <a:off x="5120640" y="3675888"/>
            <a:ext cx="1097280" cy="274320"/>
          </a:xfrm>
          <a:prstGeom prst="rect">
            <a:avLst/>
          </a:prstGeom>
          <a:noFill/>
          <a:ln/>
        </p:spPr>
        <p:txBody>
          <a:bodyPr wrap="square" lIns="0" tIns="0" rIns="0" bIns="0" rtlCol="0" anchor="ctr"/>
          <a:lstStyle/>
          <a:p>
            <a:pPr algn="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83.7</a:t>
            </a:r>
            <a:endParaRPr lang="en-US" sz="1300" dirty="0"/>
          </a:p>
        </p:txBody>
      </p:sp>
      <p:sp>
        <p:nvSpPr>
          <p:cNvPr id="32" name="Text 28"/>
          <p:cNvSpPr/>
          <p:nvPr/>
        </p:nvSpPr>
        <p:spPr>
          <a:xfrm>
            <a:off x="6355080" y="3675888"/>
            <a:ext cx="1371600" cy="274320"/>
          </a:xfrm>
          <a:prstGeom prst="rect">
            <a:avLst/>
          </a:prstGeom>
          <a:noFill/>
          <a:ln/>
        </p:spPr>
        <p:txBody>
          <a:bodyPr wrap="square" lIns="0" tIns="0" rIns="0" bIns="0" rtlCol="0" anchor="ctr"/>
          <a:lstStyle/>
          <a:p>
            <a:pPr algn="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64.5</a:t>
            </a:r>
            <a:endParaRPr lang="en-US" sz="1300" dirty="0"/>
          </a:p>
        </p:txBody>
      </p:sp>
      <p:sp>
        <p:nvSpPr>
          <p:cNvPr id="33" name="Text 29"/>
          <p:cNvSpPr/>
          <p:nvPr/>
        </p:nvSpPr>
        <p:spPr>
          <a:xfrm>
            <a:off x="7863840" y="3675888"/>
            <a:ext cx="822960" cy="274320"/>
          </a:xfrm>
          <a:prstGeom prst="rect">
            <a:avLst/>
          </a:prstGeom>
          <a:noFill/>
          <a:ln/>
        </p:spPr>
        <p:txBody>
          <a:bodyPr wrap="square" lIns="0" tIns="0" rIns="0" bIns="0" rtlCol="0" anchor="ctr"/>
          <a:lstStyle/>
          <a:p>
            <a:pPr algn="r" indent="0" marL="0">
              <a:buNone/>
            </a:pPr>
            <a:r>
              <a:rPr lang="en-US" sz="1300" b="1" dirty="0">
                <a:solidFill>
                  <a:srgbClr val="52525B"/>
                </a:solidFill>
                <a:latin typeface="Libre Franklin" pitchFamily="34" charset="0"/>
                <a:ea typeface="Libre Franklin" pitchFamily="34" charset="-122"/>
                <a:cs typeface="Libre Franklin" pitchFamily="34" charset="-120"/>
              </a:rPr>
              <a:t>19.2</a:t>
            </a:r>
            <a:endParaRPr lang="en-US" sz="1300" dirty="0"/>
          </a:p>
        </p:txBody>
      </p:sp>
      <p:sp>
        <p:nvSpPr>
          <p:cNvPr id="34" name="Shape 30"/>
          <p:cNvSpPr/>
          <p:nvPr/>
        </p:nvSpPr>
        <p:spPr>
          <a:xfrm>
            <a:off x="457200" y="3982212"/>
            <a:ext cx="8229600" cy="10058"/>
          </a:xfrm>
          <a:prstGeom prst="rect">
            <a:avLst/>
          </a:prstGeom>
          <a:solidFill>
            <a:srgbClr val="E6EEFC"/>
          </a:solidFill>
          <a:ln w="12700">
            <a:solidFill>
              <a:srgbClr val="E6EEFC"/>
            </a:solidFill>
            <a:prstDash val="solid"/>
          </a:ln>
        </p:spPr>
      </p:sp>
      <p:sp>
        <p:nvSpPr>
          <p:cNvPr id="35" name="Text 31"/>
          <p:cNvSpPr/>
          <p:nvPr/>
        </p:nvSpPr>
        <p:spPr>
          <a:xfrm>
            <a:off x="457200" y="4105656"/>
            <a:ext cx="4572000" cy="274320"/>
          </a:xfrm>
          <a:prstGeom prst="rect">
            <a:avLst/>
          </a:prstGeom>
          <a:noFill/>
          <a:ln/>
        </p:spPr>
        <p:txBody>
          <a:bodyPr wrap="square" lIns="0" tIns="0" rIns="0" bIns="0" rtlCol="0" anchor="ctr"/>
          <a:lstStyle/>
          <a:p>
            <a:pP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Accepts a less-than-perfect test</a:t>
            </a:r>
            <a:endParaRPr lang="en-US" sz="1300" dirty="0"/>
          </a:p>
        </p:txBody>
      </p:sp>
      <p:sp>
        <p:nvSpPr>
          <p:cNvPr id="36" name="Text 32"/>
          <p:cNvSpPr/>
          <p:nvPr/>
        </p:nvSpPr>
        <p:spPr>
          <a:xfrm>
            <a:off x="5120640" y="4105656"/>
            <a:ext cx="1097280" cy="274320"/>
          </a:xfrm>
          <a:prstGeom prst="rect">
            <a:avLst/>
          </a:prstGeom>
          <a:noFill/>
          <a:ln/>
        </p:spPr>
        <p:txBody>
          <a:bodyPr wrap="square" lIns="0" tIns="0" rIns="0" bIns="0" rtlCol="0" anchor="ctr"/>
          <a:lstStyle/>
          <a:p>
            <a:pPr algn="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44.6</a:t>
            </a:r>
            <a:endParaRPr lang="en-US" sz="1300" dirty="0"/>
          </a:p>
        </p:txBody>
      </p:sp>
      <p:sp>
        <p:nvSpPr>
          <p:cNvPr id="37" name="Text 33"/>
          <p:cNvSpPr/>
          <p:nvPr/>
        </p:nvSpPr>
        <p:spPr>
          <a:xfrm>
            <a:off x="6355080" y="4105656"/>
            <a:ext cx="1371600" cy="274320"/>
          </a:xfrm>
          <a:prstGeom prst="rect">
            <a:avLst/>
          </a:prstGeom>
          <a:noFill/>
          <a:ln/>
        </p:spPr>
        <p:txBody>
          <a:bodyPr wrap="square" lIns="0" tIns="0" rIns="0" bIns="0" rtlCol="0" anchor="ctr"/>
          <a:lstStyle/>
          <a:p>
            <a:pPr algn="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26.6</a:t>
            </a:r>
            <a:endParaRPr lang="en-US" sz="1300" dirty="0"/>
          </a:p>
        </p:txBody>
      </p:sp>
      <p:sp>
        <p:nvSpPr>
          <p:cNvPr id="38" name="Text 34"/>
          <p:cNvSpPr/>
          <p:nvPr/>
        </p:nvSpPr>
        <p:spPr>
          <a:xfrm>
            <a:off x="7863840" y="4105656"/>
            <a:ext cx="822960" cy="274320"/>
          </a:xfrm>
          <a:prstGeom prst="rect">
            <a:avLst/>
          </a:prstGeom>
          <a:noFill/>
          <a:ln/>
        </p:spPr>
        <p:txBody>
          <a:bodyPr wrap="square" lIns="0" tIns="0" rIns="0" bIns="0" rtlCol="0" anchor="ctr"/>
          <a:lstStyle/>
          <a:p>
            <a:pPr algn="r" indent="0" marL="0">
              <a:buNone/>
            </a:pPr>
            <a:r>
              <a:rPr lang="en-US" sz="1300" b="1" dirty="0">
                <a:solidFill>
                  <a:srgbClr val="52525B"/>
                </a:solidFill>
                <a:latin typeface="Libre Franklin" pitchFamily="34" charset="0"/>
                <a:ea typeface="Libre Franklin" pitchFamily="34" charset="-122"/>
                <a:cs typeface="Libre Franklin" pitchFamily="34" charset="-120"/>
              </a:rPr>
              <a:t>18.0</a:t>
            </a:r>
            <a:endParaRPr lang="en-US" sz="1300" dirty="0"/>
          </a:p>
        </p:txBody>
      </p:sp>
      <p:sp>
        <p:nvSpPr>
          <p:cNvPr id="39" name="Shape 35"/>
          <p:cNvSpPr/>
          <p:nvPr/>
        </p:nvSpPr>
        <p:spPr>
          <a:xfrm>
            <a:off x="457200" y="4411980"/>
            <a:ext cx="8229600" cy="10058"/>
          </a:xfrm>
          <a:prstGeom prst="rect">
            <a:avLst/>
          </a:prstGeom>
          <a:solidFill>
            <a:srgbClr val="E6EEFC"/>
          </a:solidFill>
          <a:ln w="12700">
            <a:solidFill>
              <a:srgbClr val="E6EEFC"/>
            </a:solidFill>
            <a:prstDash val="solid"/>
          </a:ln>
        </p:spPr>
      </p:sp>
      <p:sp>
        <p:nvSpPr>
          <p:cNvPr id="40" name="Text 36"/>
          <p:cNvSpPr/>
          <p:nvPr/>
        </p:nvSpPr>
        <p:spPr>
          <a:xfrm>
            <a:off x="457200" y="4535424"/>
            <a:ext cx="4572000" cy="274320"/>
          </a:xfrm>
          <a:prstGeom prst="rect">
            <a:avLst/>
          </a:prstGeom>
          <a:noFill/>
          <a:ln/>
        </p:spPr>
        <p:txBody>
          <a:bodyPr wrap="square" lIns="0" tIns="0" rIns="0" bIns="0" rtlCol="0" anchor="ctr"/>
          <a:lstStyle/>
          <a:p>
            <a:pP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Willing to do a scan</a:t>
            </a:r>
            <a:endParaRPr lang="en-US" sz="1300" dirty="0"/>
          </a:p>
        </p:txBody>
      </p:sp>
      <p:sp>
        <p:nvSpPr>
          <p:cNvPr id="41" name="Text 37"/>
          <p:cNvSpPr/>
          <p:nvPr/>
        </p:nvSpPr>
        <p:spPr>
          <a:xfrm>
            <a:off x="5120640" y="4535424"/>
            <a:ext cx="1097280" cy="274320"/>
          </a:xfrm>
          <a:prstGeom prst="rect">
            <a:avLst/>
          </a:prstGeom>
          <a:noFill/>
          <a:ln/>
        </p:spPr>
        <p:txBody>
          <a:bodyPr wrap="square" lIns="0" tIns="0" rIns="0" bIns="0" rtlCol="0" anchor="ctr"/>
          <a:lstStyle/>
          <a:p>
            <a:pPr algn="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47.4</a:t>
            </a:r>
            <a:endParaRPr lang="en-US" sz="1300" dirty="0"/>
          </a:p>
        </p:txBody>
      </p:sp>
      <p:sp>
        <p:nvSpPr>
          <p:cNvPr id="42" name="Text 38"/>
          <p:cNvSpPr/>
          <p:nvPr/>
        </p:nvSpPr>
        <p:spPr>
          <a:xfrm>
            <a:off x="6355080" y="4535424"/>
            <a:ext cx="1371600" cy="274320"/>
          </a:xfrm>
          <a:prstGeom prst="rect">
            <a:avLst/>
          </a:prstGeom>
          <a:noFill/>
          <a:ln/>
        </p:spPr>
        <p:txBody>
          <a:bodyPr wrap="square" lIns="0" tIns="0" rIns="0" bIns="0" rtlCol="0" anchor="ctr"/>
          <a:lstStyle/>
          <a:p>
            <a:pPr algn="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29.9</a:t>
            </a:r>
            <a:endParaRPr lang="en-US" sz="1300" dirty="0"/>
          </a:p>
        </p:txBody>
      </p:sp>
      <p:sp>
        <p:nvSpPr>
          <p:cNvPr id="43" name="Text 39"/>
          <p:cNvSpPr/>
          <p:nvPr/>
        </p:nvSpPr>
        <p:spPr>
          <a:xfrm>
            <a:off x="7863840" y="4535424"/>
            <a:ext cx="822960" cy="274320"/>
          </a:xfrm>
          <a:prstGeom prst="rect">
            <a:avLst/>
          </a:prstGeom>
          <a:noFill/>
          <a:ln/>
        </p:spPr>
        <p:txBody>
          <a:bodyPr wrap="square" lIns="0" tIns="0" rIns="0" bIns="0" rtlCol="0" anchor="ctr"/>
          <a:lstStyle/>
          <a:p>
            <a:pPr algn="r" indent="0" marL="0">
              <a:buNone/>
            </a:pPr>
            <a:r>
              <a:rPr lang="en-US" sz="1300" b="1" dirty="0">
                <a:solidFill>
                  <a:srgbClr val="52525B"/>
                </a:solidFill>
                <a:latin typeface="Libre Franklin" pitchFamily="34" charset="0"/>
                <a:ea typeface="Libre Franklin" pitchFamily="34" charset="-122"/>
                <a:cs typeface="Libre Franklin" pitchFamily="34" charset="-120"/>
              </a:rPr>
              <a:t>17.5</a:t>
            </a:r>
            <a:endParaRPr lang="en-US" sz="1300" dirty="0"/>
          </a:p>
        </p:txBody>
      </p:sp>
      <p:sp>
        <p:nvSpPr>
          <p:cNvPr id="44" name="Shape 40"/>
          <p:cNvSpPr/>
          <p:nvPr/>
        </p:nvSpPr>
        <p:spPr>
          <a:xfrm>
            <a:off x="457200" y="4841748"/>
            <a:ext cx="8229600" cy="10058"/>
          </a:xfrm>
          <a:prstGeom prst="rect">
            <a:avLst/>
          </a:prstGeom>
          <a:solidFill>
            <a:srgbClr val="E6EEFC"/>
          </a:solidFill>
          <a:ln w="12700">
            <a:solidFill>
              <a:srgbClr val="E6EEFC"/>
            </a:solidFill>
            <a:prstDash val="solid"/>
          </a:ln>
        </p:spPr>
      </p:sp>
      <p:sp>
        <p:nvSpPr>
          <p:cNvPr id="45" name="Text 41"/>
          <p:cNvSpPr/>
          <p:nvPr/>
        </p:nvSpPr>
        <p:spPr>
          <a:xfrm>
            <a:off x="457200" y="4965192"/>
            <a:ext cx="4572000" cy="274320"/>
          </a:xfrm>
          <a:prstGeom prst="rect">
            <a:avLst/>
          </a:prstGeom>
          <a:noFill/>
          <a:ln/>
        </p:spPr>
        <p:txBody>
          <a:bodyPr wrap="square" lIns="0" tIns="0" rIns="0" bIns="0" rtlCol="0" anchor="ctr"/>
          <a:lstStyle/>
          <a:p>
            <a:pP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Finds the visits manageable</a:t>
            </a:r>
            <a:endParaRPr lang="en-US" sz="1300" dirty="0"/>
          </a:p>
        </p:txBody>
      </p:sp>
      <p:sp>
        <p:nvSpPr>
          <p:cNvPr id="46" name="Text 42"/>
          <p:cNvSpPr/>
          <p:nvPr/>
        </p:nvSpPr>
        <p:spPr>
          <a:xfrm>
            <a:off x="5120640" y="4965192"/>
            <a:ext cx="1097280" cy="274320"/>
          </a:xfrm>
          <a:prstGeom prst="rect">
            <a:avLst/>
          </a:prstGeom>
          <a:noFill/>
          <a:ln/>
        </p:spPr>
        <p:txBody>
          <a:bodyPr wrap="square" lIns="0" tIns="0" rIns="0" bIns="0" rtlCol="0" anchor="ctr"/>
          <a:lstStyle/>
          <a:p>
            <a:pPr algn="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73.1</a:t>
            </a:r>
            <a:endParaRPr lang="en-US" sz="1300" dirty="0"/>
          </a:p>
        </p:txBody>
      </p:sp>
      <p:sp>
        <p:nvSpPr>
          <p:cNvPr id="47" name="Text 43"/>
          <p:cNvSpPr/>
          <p:nvPr/>
        </p:nvSpPr>
        <p:spPr>
          <a:xfrm>
            <a:off x="6355080" y="4965192"/>
            <a:ext cx="1371600" cy="274320"/>
          </a:xfrm>
          <a:prstGeom prst="rect">
            <a:avLst/>
          </a:prstGeom>
          <a:noFill/>
          <a:ln/>
        </p:spPr>
        <p:txBody>
          <a:bodyPr wrap="square" lIns="0" tIns="0" rIns="0" bIns="0" rtlCol="0" anchor="ctr"/>
          <a:lstStyle/>
          <a:p>
            <a:pPr algn="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55.8</a:t>
            </a:r>
            <a:endParaRPr lang="en-US" sz="1300" dirty="0"/>
          </a:p>
        </p:txBody>
      </p:sp>
      <p:sp>
        <p:nvSpPr>
          <p:cNvPr id="48" name="Text 44"/>
          <p:cNvSpPr/>
          <p:nvPr/>
        </p:nvSpPr>
        <p:spPr>
          <a:xfrm>
            <a:off x="7863840" y="4965192"/>
            <a:ext cx="822960" cy="274320"/>
          </a:xfrm>
          <a:prstGeom prst="rect">
            <a:avLst/>
          </a:prstGeom>
          <a:noFill/>
          <a:ln/>
        </p:spPr>
        <p:txBody>
          <a:bodyPr wrap="square" lIns="0" tIns="0" rIns="0" bIns="0" rtlCol="0" anchor="ctr"/>
          <a:lstStyle/>
          <a:p>
            <a:pPr algn="r" indent="0" marL="0">
              <a:buNone/>
            </a:pPr>
            <a:r>
              <a:rPr lang="en-US" sz="1300" b="1" dirty="0">
                <a:solidFill>
                  <a:srgbClr val="52525B"/>
                </a:solidFill>
                <a:latin typeface="Libre Franklin" pitchFamily="34" charset="0"/>
                <a:ea typeface="Libre Franklin" pitchFamily="34" charset="-122"/>
                <a:cs typeface="Libre Franklin" pitchFamily="34" charset="-120"/>
              </a:rPr>
              <a:t>17.3</a:t>
            </a:r>
            <a:endParaRPr lang="en-US" sz="1300" dirty="0"/>
          </a:p>
        </p:txBody>
      </p:sp>
      <p:sp>
        <p:nvSpPr>
          <p:cNvPr id="49" name="Shape 45"/>
          <p:cNvSpPr/>
          <p:nvPr/>
        </p:nvSpPr>
        <p:spPr>
          <a:xfrm>
            <a:off x="457200" y="5271516"/>
            <a:ext cx="8229600" cy="10058"/>
          </a:xfrm>
          <a:prstGeom prst="rect">
            <a:avLst/>
          </a:prstGeom>
          <a:solidFill>
            <a:srgbClr val="E6EEFC"/>
          </a:solidFill>
          <a:ln w="12700">
            <a:solidFill>
              <a:srgbClr val="E6EEFC"/>
            </a:solidFill>
            <a:prstDash val="solid"/>
          </a:ln>
        </p:spPr>
      </p:sp>
      <p:sp>
        <p:nvSpPr>
          <p:cNvPr id="50" name="Text 46"/>
          <p:cNvSpPr/>
          <p:nvPr/>
        </p:nvSpPr>
        <p:spPr>
          <a:xfrm>
            <a:off x="457200" y="5394960"/>
            <a:ext cx="4572000" cy="274320"/>
          </a:xfrm>
          <a:prstGeom prst="rect">
            <a:avLst/>
          </a:prstGeom>
          <a:noFill/>
          <a:ln/>
        </p:spPr>
        <p:txBody>
          <a:bodyPr wrap="square" lIns="0" tIns="0" rIns="0" bIns="0" rtlCol="0" anchor="ctr"/>
          <a:lstStyle/>
          <a:p>
            <a:pP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Open to simple options like video or saliva</a:t>
            </a:r>
            <a:endParaRPr lang="en-US" sz="1300" dirty="0"/>
          </a:p>
        </p:txBody>
      </p:sp>
      <p:sp>
        <p:nvSpPr>
          <p:cNvPr id="51" name="Text 47"/>
          <p:cNvSpPr/>
          <p:nvPr/>
        </p:nvSpPr>
        <p:spPr>
          <a:xfrm>
            <a:off x="5120640" y="5394960"/>
            <a:ext cx="1097280" cy="274320"/>
          </a:xfrm>
          <a:prstGeom prst="rect">
            <a:avLst/>
          </a:prstGeom>
          <a:noFill/>
          <a:ln/>
        </p:spPr>
        <p:txBody>
          <a:bodyPr wrap="square" lIns="0" tIns="0" rIns="0" bIns="0" rtlCol="0" anchor="ctr"/>
          <a:lstStyle/>
          <a:p>
            <a:pPr algn="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91.1</a:t>
            </a:r>
            <a:endParaRPr lang="en-US" sz="1300" dirty="0"/>
          </a:p>
        </p:txBody>
      </p:sp>
      <p:sp>
        <p:nvSpPr>
          <p:cNvPr id="52" name="Text 48"/>
          <p:cNvSpPr/>
          <p:nvPr/>
        </p:nvSpPr>
        <p:spPr>
          <a:xfrm>
            <a:off x="6355080" y="5394960"/>
            <a:ext cx="1371600" cy="274320"/>
          </a:xfrm>
          <a:prstGeom prst="rect">
            <a:avLst/>
          </a:prstGeom>
          <a:noFill/>
          <a:ln/>
        </p:spPr>
        <p:txBody>
          <a:bodyPr wrap="square" lIns="0" tIns="0" rIns="0" bIns="0" rtlCol="0" anchor="ctr"/>
          <a:lstStyle/>
          <a:p>
            <a:pPr algn="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74.5</a:t>
            </a:r>
            <a:endParaRPr lang="en-US" sz="1300" dirty="0"/>
          </a:p>
        </p:txBody>
      </p:sp>
      <p:sp>
        <p:nvSpPr>
          <p:cNvPr id="53" name="Text 49"/>
          <p:cNvSpPr/>
          <p:nvPr/>
        </p:nvSpPr>
        <p:spPr>
          <a:xfrm>
            <a:off x="7863840" y="5394960"/>
            <a:ext cx="822960" cy="274320"/>
          </a:xfrm>
          <a:prstGeom prst="rect">
            <a:avLst/>
          </a:prstGeom>
          <a:noFill/>
          <a:ln/>
        </p:spPr>
        <p:txBody>
          <a:bodyPr wrap="square" lIns="0" tIns="0" rIns="0" bIns="0" rtlCol="0" anchor="ctr"/>
          <a:lstStyle/>
          <a:p>
            <a:pPr algn="r" indent="0" marL="0">
              <a:buNone/>
            </a:pPr>
            <a:r>
              <a:rPr lang="en-US" sz="1300" b="1" dirty="0">
                <a:solidFill>
                  <a:srgbClr val="52525B"/>
                </a:solidFill>
                <a:latin typeface="Libre Franklin" pitchFamily="34" charset="0"/>
                <a:ea typeface="Libre Franklin" pitchFamily="34" charset="-122"/>
                <a:cs typeface="Libre Franklin" pitchFamily="34" charset="-120"/>
              </a:rPr>
              <a:t>16.6</a:t>
            </a:r>
            <a:endParaRPr lang="en-US" sz="1300" dirty="0"/>
          </a:p>
        </p:txBody>
      </p:sp>
      <p:sp>
        <p:nvSpPr>
          <p:cNvPr id="54" name="Shape 50"/>
          <p:cNvSpPr/>
          <p:nvPr/>
        </p:nvSpPr>
        <p:spPr>
          <a:xfrm>
            <a:off x="457200" y="5701284"/>
            <a:ext cx="8229600" cy="10058"/>
          </a:xfrm>
          <a:prstGeom prst="rect">
            <a:avLst/>
          </a:prstGeom>
          <a:solidFill>
            <a:srgbClr val="E6EEFC"/>
          </a:solidFill>
          <a:ln w="12700">
            <a:solidFill>
              <a:srgbClr val="E6EEFC"/>
            </a:solidFill>
            <a:prstDash val="solid"/>
          </a:ln>
        </p:spPr>
      </p:sp>
      <p:sp>
        <p:nvSpPr>
          <p:cNvPr id="55" name="Text 51"/>
          <p:cNvSpPr/>
          <p:nvPr/>
        </p:nvSpPr>
        <p:spPr>
          <a:xfrm>
            <a:off x="457200" y="5824728"/>
            <a:ext cx="4572000" cy="274320"/>
          </a:xfrm>
          <a:prstGeom prst="rect">
            <a:avLst/>
          </a:prstGeom>
          <a:noFill/>
          <a:ln/>
        </p:spPr>
        <p:txBody>
          <a:bodyPr wrap="square" lIns="0" tIns="0" rIns="0" bIns="0" rtlCol="0" anchor="ctr"/>
          <a:lstStyle/>
          <a:p>
            <a:pP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Low disgust or anger</a:t>
            </a:r>
            <a:endParaRPr lang="en-US" sz="1300" dirty="0"/>
          </a:p>
        </p:txBody>
      </p:sp>
      <p:sp>
        <p:nvSpPr>
          <p:cNvPr id="56" name="Text 52"/>
          <p:cNvSpPr/>
          <p:nvPr/>
        </p:nvSpPr>
        <p:spPr>
          <a:xfrm>
            <a:off x="5120640" y="5824728"/>
            <a:ext cx="1097280" cy="274320"/>
          </a:xfrm>
          <a:prstGeom prst="rect">
            <a:avLst/>
          </a:prstGeom>
          <a:noFill/>
          <a:ln/>
        </p:spPr>
        <p:txBody>
          <a:bodyPr wrap="square" lIns="0" tIns="0" rIns="0" bIns="0" rtlCol="0" anchor="ctr"/>
          <a:lstStyle/>
          <a:p>
            <a:pPr algn="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97.6</a:t>
            </a:r>
            <a:endParaRPr lang="en-US" sz="1300" dirty="0"/>
          </a:p>
        </p:txBody>
      </p:sp>
      <p:sp>
        <p:nvSpPr>
          <p:cNvPr id="57" name="Text 53"/>
          <p:cNvSpPr/>
          <p:nvPr/>
        </p:nvSpPr>
        <p:spPr>
          <a:xfrm>
            <a:off x="6355080" y="5824728"/>
            <a:ext cx="1371600" cy="274320"/>
          </a:xfrm>
          <a:prstGeom prst="rect">
            <a:avLst/>
          </a:prstGeom>
          <a:noFill/>
          <a:ln/>
        </p:spPr>
        <p:txBody>
          <a:bodyPr wrap="square" lIns="0" tIns="0" rIns="0" bIns="0" rtlCol="0" anchor="ctr"/>
          <a:lstStyle/>
          <a:p>
            <a:pPr algn="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93.4</a:t>
            </a:r>
            <a:endParaRPr lang="en-US" sz="1300" dirty="0"/>
          </a:p>
        </p:txBody>
      </p:sp>
      <p:sp>
        <p:nvSpPr>
          <p:cNvPr id="58" name="Text 54"/>
          <p:cNvSpPr/>
          <p:nvPr/>
        </p:nvSpPr>
        <p:spPr>
          <a:xfrm>
            <a:off x="7863840" y="5824728"/>
            <a:ext cx="822960" cy="274320"/>
          </a:xfrm>
          <a:prstGeom prst="rect">
            <a:avLst/>
          </a:prstGeom>
          <a:noFill/>
          <a:ln/>
        </p:spPr>
        <p:txBody>
          <a:bodyPr wrap="square" lIns="0" tIns="0" rIns="0" bIns="0" rtlCol="0" anchor="ctr"/>
          <a:lstStyle/>
          <a:p>
            <a:pPr algn="r" indent="0" marL="0">
              <a:buNone/>
            </a:pPr>
            <a:r>
              <a:rPr lang="en-US" sz="1300" b="1" dirty="0">
                <a:solidFill>
                  <a:srgbClr val="52525B"/>
                </a:solidFill>
                <a:latin typeface="Libre Franklin" pitchFamily="34" charset="0"/>
                <a:ea typeface="Libre Franklin" pitchFamily="34" charset="-122"/>
                <a:cs typeface="Libre Franklin" pitchFamily="34" charset="-120"/>
              </a:rPr>
              <a:t>4.2</a:t>
            </a:r>
            <a:endParaRPr lang="en-US" sz="1300" dirty="0"/>
          </a:p>
        </p:txBody>
      </p:sp>
      <p:sp>
        <p:nvSpPr>
          <p:cNvPr id="59" name="Shape 55"/>
          <p:cNvSpPr/>
          <p:nvPr/>
        </p:nvSpPr>
        <p:spPr>
          <a:xfrm>
            <a:off x="457200" y="6131052"/>
            <a:ext cx="8229600" cy="10058"/>
          </a:xfrm>
          <a:prstGeom prst="rect">
            <a:avLst/>
          </a:prstGeom>
          <a:solidFill>
            <a:srgbClr val="E6EEFC"/>
          </a:solidFill>
          <a:ln w="12700">
            <a:solidFill>
              <a:srgbClr val="E6EEFC"/>
            </a:solidFill>
            <a:prstDash val="solid"/>
          </a:ln>
        </p:spPr>
      </p:sp>
      <p:sp>
        <p:nvSpPr>
          <p:cNvPr id="60" name="Shape 56"/>
          <p:cNvSpPr/>
          <p:nvPr/>
        </p:nvSpPr>
        <p:spPr>
          <a:xfrm>
            <a:off x="8961120" y="1956816"/>
            <a:ext cx="2770632" cy="1874520"/>
          </a:xfrm>
          <a:prstGeom prst="roundRect">
            <a:avLst>
              <a:gd name="adj" fmla="val 5854"/>
            </a:avLst>
          </a:prstGeom>
          <a:solidFill>
            <a:srgbClr val="E6EEFC"/>
          </a:solidFill>
          <a:ln w="12700">
            <a:solidFill>
              <a:srgbClr val="E6EEFC"/>
            </a:solidFill>
            <a:prstDash val="solid"/>
          </a:ln>
        </p:spPr>
      </p:sp>
      <p:sp>
        <p:nvSpPr>
          <p:cNvPr id="61" name="Text 57"/>
          <p:cNvSpPr/>
          <p:nvPr/>
        </p:nvSpPr>
        <p:spPr>
          <a:xfrm>
            <a:off x="9162288" y="2103120"/>
            <a:ext cx="2377440" cy="548640"/>
          </a:xfrm>
          <a:prstGeom prst="rect">
            <a:avLst/>
          </a:prstGeom>
          <a:noFill/>
          <a:ln/>
        </p:spPr>
        <p:txBody>
          <a:bodyPr wrap="square" lIns="0" tIns="0" rIns="0" bIns="0" rtlCol="0" anchor="ctr"/>
          <a:lstStyle/>
          <a:p>
            <a:pPr indent="0" marL="0">
              <a:buNone/>
            </a:pPr>
            <a:r>
              <a:rPr lang="en-US" sz="1300" b="1" dirty="0">
                <a:solidFill>
                  <a:srgbClr val="3366FF"/>
                </a:solidFill>
                <a:latin typeface="Libre Franklin" pitchFamily="34" charset="0"/>
                <a:ea typeface="Libre Franklin" pitchFamily="34" charset="-122"/>
                <a:cs typeface="Libre Franklin" pitchFamily="34" charset="-120"/>
              </a:rPr>
              <a:t>The three biggest gaps are all about 25 points</a:t>
            </a:r>
            <a:endParaRPr lang="en-US" sz="1300" dirty="0"/>
          </a:p>
        </p:txBody>
      </p:sp>
      <p:sp>
        <p:nvSpPr>
          <p:cNvPr id="62" name="Text 58"/>
          <p:cNvSpPr/>
          <p:nvPr/>
        </p:nvSpPr>
        <p:spPr>
          <a:xfrm>
            <a:off x="9162288" y="2688336"/>
            <a:ext cx="2377440" cy="1005840"/>
          </a:xfrm>
          <a:prstGeom prst="rect">
            <a:avLst/>
          </a:prstGeom>
          <a:noFill/>
          <a:ln/>
        </p:spPr>
        <p:txBody>
          <a:bodyPr wrap="square" lIns="0" tIns="0" rIns="0" bIns="0" rtlCol="0" anchor="ctr"/>
          <a:lstStyle/>
          <a:p>
            <a:pP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Trust in the clinician, willingness to do a blood draw, and whether offering it to everyone feels right.</a:t>
            </a:r>
            <a:endParaRPr lang="en-US" sz="1150" dirty="0"/>
          </a:p>
        </p:txBody>
      </p:sp>
      <p:sp>
        <p:nvSpPr>
          <p:cNvPr id="63" name="Shape 59"/>
          <p:cNvSpPr/>
          <p:nvPr/>
        </p:nvSpPr>
        <p:spPr>
          <a:xfrm>
            <a:off x="8961120" y="4041648"/>
            <a:ext cx="2770632" cy="1874520"/>
          </a:xfrm>
          <a:prstGeom prst="roundRect">
            <a:avLst>
              <a:gd name="adj" fmla="val 5854"/>
            </a:avLst>
          </a:prstGeom>
          <a:solidFill>
            <a:srgbClr val="FDF0E0"/>
          </a:solidFill>
          <a:ln w="12700">
            <a:solidFill>
              <a:srgbClr val="FDF0E0"/>
            </a:solidFill>
            <a:prstDash val="solid"/>
          </a:ln>
        </p:spPr>
      </p:sp>
      <p:sp>
        <p:nvSpPr>
          <p:cNvPr id="64" name="Text 60"/>
          <p:cNvSpPr/>
          <p:nvPr/>
        </p:nvSpPr>
        <p:spPr>
          <a:xfrm>
            <a:off x="9162288" y="4187952"/>
            <a:ext cx="2377440" cy="274320"/>
          </a:xfrm>
          <a:prstGeom prst="rect">
            <a:avLst/>
          </a:prstGeom>
          <a:noFill/>
          <a:ln/>
        </p:spPr>
        <p:txBody>
          <a:bodyPr wrap="square" lIns="0" tIns="0" rIns="0" bIns="0" rtlCol="0" anchor="ctr"/>
          <a:lstStyle/>
          <a:p>
            <a:pPr indent="0" marL="0">
              <a:buNone/>
            </a:pPr>
            <a:r>
              <a:rPr lang="en-US" sz="1300" b="1" dirty="0">
                <a:solidFill>
                  <a:srgbClr val="F57F00"/>
                </a:solidFill>
                <a:latin typeface="Libre Franklin" pitchFamily="34" charset="0"/>
                <a:ea typeface="Libre Franklin" pitchFamily="34" charset="-122"/>
                <a:cs typeface="Libre Franklin" pitchFamily="34" charset="-120"/>
              </a:rPr>
              <a:t>Neither group is refusing</a:t>
            </a:r>
            <a:endParaRPr lang="en-US" sz="1300" dirty="0"/>
          </a:p>
        </p:txBody>
      </p:sp>
      <p:sp>
        <p:nvSpPr>
          <p:cNvPr id="65" name="Text 61"/>
          <p:cNvSpPr/>
          <p:nvPr/>
        </p:nvSpPr>
        <p:spPr>
          <a:xfrm>
            <a:off x="9162288" y="4498848"/>
            <a:ext cx="2377440" cy="1280160"/>
          </a:xfrm>
          <a:prstGeom prst="rect">
            <a:avLst/>
          </a:prstGeom>
          <a:noFill/>
          <a:ln/>
        </p:spPr>
        <p:txBody>
          <a:bodyPr wrap="square" lIns="0" tIns="0" rIns="0" bIns="0" rtlCol="0" anchor="ctr"/>
          <a:lstStyle/>
          <a:p>
            <a:pP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Both score above 74 on the simplest options, and both are near the top on disgust and anger. The split is about effort and trust, not about being against it.</a:t>
            </a:r>
            <a:endParaRPr lang="en-US" sz="1150" dirty="0"/>
          </a:p>
        </p:txBody>
      </p:sp>
      <p:sp>
        <p:nvSpPr>
          <p:cNvPr id="66" name="Text 62"/>
          <p:cNvSpPr/>
          <p:nvPr/>
        </p:nvSpPr>
        <p:spPr>
          <a:xfrm>
            <a:off x="457200" y="6336792"/>
            <a:ext cx="10698480" cy="256032"/>
          </a:xfrm>
          <a:prstGeom prst="rect">
            <a:avLst/>
          </a:prstGeom>
          <a:noFill/>
          <a:ln/>
        </p:spPr>
        <p:txBody>
          <a:bodyPr wrap="square" lIns="0" tIns="0" rIns="0" bIns="0" rtlCol="0" anchor="ctr"/>
          <a:lstStyle/>
          <a:p>
            <a:pPr indent="0" marL="0">
              <a:buNone/>
            </a:pPr>
            <a:r>
              <a:rPr lang="en-US" sz="1000" dirty="0">
                <a:solidFill>
                  <a:srgbClr val="52525B"/>
                </a:solidFill>
                <a:latin typeface="Libre Franklin Medium" pitchFamily="34" charset="0"/>
                <a:ea typeface="Libre Franklin Medium" pitchFamily="34" charset="-122"/>
                <a:cs typeface="Libre Franklin Medium" pitchFamily="34" charset="-120"/>
              </a:rPr>
              <a:t>All scores run 0 to 100, where higher always means more accepting. Averages across 84 and 47 caregivers.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sessions/happy-eloquent-pascal/mnt/.claude/skills/esd-lab/assets/logos/logo-horizontal-discovery-blue.png">    </p:cNvPr>
          <p:cNvPicPr>
            <a:picLocks noChangeAspect="1"/>
          </p:cNvPicPr>
          <p:nvPr/>
        </p:nvPicPr>
        <p:blipFill>
          <a:blip r:embed="rId1"/>
          <a:stretch>
            <a:fillRect/>
          </a:stretch>
        </p:blipFill>
        <p:spPr>
          <a:xfrm>
            <a:off x="457200" y="292608"/>
            <a:ext cx="1179576" cy="265176"/>
          </a:xfrm>
          <a:prstGeom prst="rect">
            <a:avLst/>
          </a:prstGeom>
        </p:spPr>
      </p:pic>
      <p:pic>
        <p:nvPicPr>
          <p:cNvPr id="3" name="Image 1" descr="/sessions/happy-eloquent-pascal/mnt/.claude/skills/esd-lab/assets/logos/uofsc-horizontal-garnet.png">    </p:cNvPr>
          <p:cNvPicPr>
            <a:picLocks noChangeAspect="1"/>
          </p:cNvPicPr>
          <p:nvPr/>
        </p:nvPicPr>
        <p:blipFill>
          <a:blip r:embed="rId2"/>
          <a:stretch>
            <a:fillRect/>
          </a:stretch>
        </p:blipFill>
        <p:spPr>
          <a:xfrm>
            <a:off x="1783080" y="292608"/>
            <a:ext cx="987552" cy="265176"/>
          </a:xfrm>
          <a:prstGeom prst="rect">
            <a:avLst/>
          </a:prstGeom>
        </p:spPr>
      </p:pic>
      <p:sp>
        <p:nvSpPr>
          <p:cNvPr id="4" name="Text 0"/>
          <p:cNvSpPr/>
          <p:nvPr/>
        </p:nvSpPr>
        <p:spPr>
          <a:xfrm>
            <a:off x="457200" y="786384"/>
            <a:ext cx="11274552" cy="512064"/>
          </a:xfrm>
          <a:prstGeom prst="rect">
            <a:avLst/>
          </a:prstGeom>
          <a:noFill/>
          <a:ln/>
        </p:spPr>
        <p:txBody>
          <a:bodyPr wrap="square" lIns="0" tIns="0" rIns="0" bIns="0" rtlCol="0" anchor="ctr"/>
          <a:lstStyle/>
          <a:p>
            <a:pPr indent="0" marL="0">
              <a:buNone/>
            </a:pPr>
            <a:r>
              <a:rPr lang="en-US" sz="2900" b="1" spc="-30" kern="0" dirty="0">
                <a:solidFill>
                  <a:srgbClr val="000000"/>
                </a:solidFill>
                <a:latin typeface="Libre Franklin" pitchFamily="34" charset="0"/>
                <a:ea typeface="Libre Franklin" pitchFamily="34" charset="-122"/>
                <a:cs typeface="Libre Franklin" pitchFamily="34" charset="-120"/>
              </a:rPr>
              <a:t>The screening question</a:t>
            </a:r>
            <a:endParaRPr lang="en-US" sz="2900" dirty="0"/>
          </a:p>
        </p:txBody>
      </p:sp>
      <p:sp>
        <p:nvSpPr>
          <p:cNvPr id="5" name="Text 1"/>
          <p:cNvSpPr/>
          <p:nvPr/>
        </p:nvSpPr>
        <p:spPr>
          <a:xfrm>
            <a:off x="11384280" y="6355080"/>
            <a:ext cx="365760" cy="219456"/>
          </a:xfrm>
          <a:prstGeom prst="rect">
            <a:avLst/>
          </a:prstGeom>
          <a:noFill/>
          <a:ln/>
        </p:spPr>
        <p:txBody>
          <a:bodyPr wrap="square" lIns="0" tIns="0" rIns="0" bIns="0" rtlCol="0" anchor="ctr"/>
          <a:lstStyle/>
          <a:p>
            <a:pPr algn="r" indent="0" marL="0">
              <a:buNone/>
            </a:pPr>
            <a:r>
              <a:rPr lang="en-US" sz="1000" dirty="0">
                <a:solidFill>
                  <a:srgbClr val="91BAF4"/>
                </a:solidFill>
                <a:latin typeface="Libre Franklin Medium" pitchFamily="34" charset="0"/>
                <a:ea typeface="Libre Franklin Medium" pitchFamily="34" charset="-122"/>
                <a:cs typeface="Libre Franklin Medium" pitchFamily="34" charset="-120"/>
              </a:rPr>
              <a:t>8</a:t>
            </a:r>
            <a:endParaRPr lang="en-US" sz="1000" dirty="0"/>
          </a:p>
        </p:txBody>
      </p:sp>
      <p:sp>
        <p:nvSpPr>
          <p:cNvPr id="6" name="Text 2"/>
          <p:cNvSpPr/>
          <p:nvPr/>
        </p:nvSpPr>
        <p:spPr>
          <a:xfrm>
            <a:off x="457200" y="1600200"/>
            <a:ext cx="11274552" cy="292608"/>
          </a:xfrm>
          <a:prstGeom prst="rect">
            <a:avLst/>
          </a:prstGeom>
          <a:noFill/>
          <a:ln/>
        </p:spPr>
        <p:txBody>
          <a:bodyPr wrap="square" lIns="0" tIns="0" rIns="0" bIns="0" rtlCol="0" anchor="ctr"/>
          <a:lstStyle/>
          <a:p>
            <a:pPr indent="0" marL="0">
              <a:buNone/>
            </a:pPr>
            <a:r>
              <a:rPr lang="en-US" sz="1400" i="1" dirty="0">
                <a:solidFill>
                  <a:srgbClr val="52525B"/>
                </a:solidFill>
                <a:latin typeface="Libre Franklin Medium" pitchFamily="34" charset="0"/>
                <a:ea typeface="Libre Franklin Medium" pitchFamily="34" charset="-122"/>
                <a:cs typeface="Libre Franklin Medium" pitchFamily="34" charset="-120"/>
              </a:rPr>
              <a:t>“Would you have your baby screened for autism at their 4-month check-up?”</a:t>
            </a:r>
            <a:endParaRPr lang="en-US" sz="1400" dirty="0"/>
          </a:p>
        </p:txBody>
      </p:sp>
      <p:sp>
        <p:nvSpPr>
          <p:cNvPr id="7" name="Text 3"/>
          <p:cNvSpPr/>
          <p:nvPr/>
        </p:nvSpPr>
        <p:spPr>
          <a:xfrm>
            <a:off x="457200" y="2057400"/>
            <a:ext cx="3566160" cy="530352"/>
          </a:xfrm>
          <a:prstGeom prst="rect">
            <a:avLst/>
          </a:prstGeom>
          <a:noFill/>
          <a:ln/>
        </p:spPr>
        <p:txBody>
          <a:bodyPr wrap="square" lIns="0" tIns="0" rIns="0" bIns="0" rtlCol="0" anchor="ctr"/>
          <a:lstStyle/>
          <a:p>
            <a:pPr indent="0" marL="0">
              <a:buNone/>
            </a:pPr>
            <a:r>
              <a:rPr lang="en-US" sz="3800" b="1" spc="-50" kern="0" dirty="0">
                <a:solidFill>
                  <a:srgbClr val="3366FF"/>
                </a:solidFill>
                <a:latin typeface="Libre Franklin" pitchFamily="34" charset="0"/>
                <a:ea typeface="Libre Franklin" pitchFamily="34" charset="-122"/>
                <a:cs typeface="Libre Franklin" pitchFamily="34" charset="-120"/>
              </a:rPr>
              <a:t>56 / 80</a:t>
            </a:r>
            <a:endParaRPr lang="en-US" sz="3800" dirty="0"/>
          </a:p>
        </p:txBody>
      </p:sp>
      <p:sp>
        <p:nvSpPr>
          <p:cNvPr id="8" name="Text 4"/>
          <p:cNvSpPr/>
          <p:nvPr/>
        </p:nvSpPr>
        <p:spPr>
          <a:xfrm>
            <a:off x="457200" y="2606040"/>
            <a:ext cx="3566160" cy="237744"/>
          </a:xfrm>
          <a:prstGeom prst="rect">
            <a:avLst/>
          </a:prstGeom>
          <a:noFill/>
          <a:ln/>
        </p:spPr>
        <p:txBody>
          <a:bodyPr wrap="square" lIns="0" tIns="0" rIns="0" bIns="0" rtlCol="0" anchor="ctr"/>
          <a:lstStyle/>
          <a:p>
            <a:pPr indent="0" marL="0">
              <a:buNone/>
            </a:pPr>
            <a:r>
              <a:rPr lang="en-US" sz="1200" b="1" dirty="0">
                <a:solidFill>
                  <a:srgbClr val="000000"/>
                </a:solidFill>
                <a:latin typeface="Libre Franklin" pitchFamily="34" charset="0"/>
                <a:ea typeface="Libre Franklin" pitchFamily="34" charset="-122"/>
                <a:cs typeface="Libre Franklin" pitchFamily="34" charset="-120"/>
              </a:rPr>
              <a:t>Higher acceptability</a:t>
            </a:r>
            <a:endParaRPr lang="en-US" sz="1200" dirty="0"/>
          </a:p>
        </p:txBody>
      </p:sp>
      <p:sp>
        <p:nvSpPr>
          <p:cNvPr id="9" name="Text 5"/>
          <p:cNvSpPr/>
          <p:nvPr/>
        </p:nvSpPr>
        <p:spPr>
          <a:xfrm>
            <a:off x="457200" y="2834640"/>
            <a:ext cx="3566160" cy="274320"/>
          </a:xfrm>
          <a:prstGeom prst="rect">
            <a:avLst/>
          </a:prstGeom>
          <a:noFill/>
          <a:ln/>
        </p:spPr>
        <p:txBody>
          <a:bodyPr wrap="square" lIns="0" tIns="0" rIns="0" bIns="0" rtlCol="0" anchor="ctr"/>
          <a:lstStyle/>
          <a:p>
            <a:pPr indent="0" marL="0">
              <a:buNone/>
            </a:pPr>
            <a:r>
              <a:rPr lang="en-US" sz="1050" dirty="0">
                <a:solidFill>
                  <a:srgbClr val="52525B"/>
                </a:solidFill>
                <a:latin typeface="Libre Franklin Medium" pitchFamily="34" charset="0"/>
                <a:ea typeface="Libre Franklin Medium" pitchFamily="34" charset="-122"/>
                <a:cs typeface="Libre Franklin Medium" pitchFamily="34" charset="-120"/>
              </a:rPr>
              <a:t>70.0% said Definitely yes   ·   95% range 59.2 to 78.9</a:t>
            </a:r>
            <a:endParaRPr lang="en-US" sz="1050" dirty="0"/>
          </a:p>
        </p:txBody>
      </p:sp>
      <p:sp>
        <p:nvSpPr>
          <p:cNvPr id="10" name="Text 6"/>
          <p:cNvSpPr/>
          <p:nvPr/>
        </p:nvSpPr>
        <p:spPr>
          <a:xfrm>
            <a:off x="4297680" y="2057400"/>
            <a:ext cx="3566160" cy="530352"/>
          </a:xfrm>
          <a:prstGeom prst="rect">
            <a:avLst/>
          </a:prstGeom>
          <a:noFill/>
          <a:ln/>
        </p:spPr>
        <p:txBody>
          <a:bodyPr wrap="square" lIns="0" tIns="0" rIns="0" bIns="0" rtlCol="0" anchor="ctr"/>
          <a:lstStyle/>
          <a:p>
            <a:pPr indent="0" marL="0">
              <a:buNone/>
            </a:pPr>
            <a:r>
              <a:rPr lang="en-US" sz="3800" b="1" spc="-50" kern="0" dirty="0">
                <a:solidFill>
                  <a:srgbClr val="F57F00"/>
                </a:solidFill>
                <a:latin typeface="Libre Franklin" pitchFamily="34" charset="0"/>
                <a:ea typeface="Libre Franklin" pitchFamily="34" charset="-122"/>
                <a:cs typeface="Libre Franklin" pitchFamily="34" charset="-120"/>
              </a:rPr>
              <a:t>13 / 47</a:t>
            </a:r>
            <a:endParaRPr lang="en-US" sz="3800" dirty="0"/>
          </a:p>
        </p:txBody>
      </p:sp>
      <p:sp>
        <p:nvSpPr>
          <p:cNvPr id="11" name="Text 7"/>
          <p:cNvSpPr/>
          <p:nvPr/>
        </p:nvSpPr>
        <p:spPr>
          <a:xfrm>
            <a:off x="4297680" y="2606040"/>
            <a:ext cx="3566160" cy="237744"/>
          </a:xfrm>
          <a:prstGeom prst="rect">
            <a:avLst/>
          </a:prstGeom>
          <a:noFill/>
          <a:ln/>
        </p:spPr>
        <p:txBody>
          <a:bodyPr wrap="square" lIns="0" tIns="0" rIns="0" bIns="0" rtlCol="0" anchor="ctr"/>
          <a:lstStyle/>
          <a:p>
            <a:pPr indent="0" marL="0">
              <a:buNone/>
            </a:pPr>
            <a:r>
              <a:rPr lang="en-US" sz="1200" b="1" dirty="0">
                <a:solidFill>
                  <a:srgbClr val="000000"/>
                </a:solidFill>
                <a:latin typeface="Libre Franklin" pitchFamily="34" charset="0"/>
                <a:ea typeface="Libre Franklin" pitchFamily="34" charset="-122"/>
                <a:cs typeface="Libre Franklin" pitchFamily="34" charset="-120"/>
              </a:rPr>
              <a:t>Conditional acceptability</a:t>
            </a:r>
            <a:endParaRPr lang="en-US" sz="1200" dirty="0"/>
          </a:p>
        </p:txBody>
      </p:sp>
      <p:sp>
        <p:nvSpPr>
          <p:cNvPr id="12" name="Text 8"/>
          <p:cNvSpPr/>
          <p:nvPr/>
        </p:nvSpPr>
        <p:spPr>
          <a:xfrm>
            <a:off x="4297680" y="2834640"/>
            <a:ext cx="3566160" cy="274320"/>
          </a:xfrm>
          <a:prstGeom prst="rect">
            <a:avLst/>
          </a:prstGeom>
          <a:noFill/>
          <a:ln/>
        </p:spPr>
        <p:txBody>
          <a:bodyPr wrap="square" lIns="0" tIns="0" rIns="0" bIns="0" rtlCol="0" anchor="ctr"/>
          <a:lstStyle/>
          <a:p>
            <a:pPr indent="0" marL="0">
              <a:buNone/>
            </a:pPr>
            <a:r>
              <a:rPr lang="en-US" sz="1050" dirty="0">
                <a:solidFill>
                  <a:srgbClr val="52525B"/>
                </a:solidFill>
                <a:latin typeface="Libre Franklin Medium" pitchFamily="34" charset="0"/>
                <a:ea typeface="Libre Franklin Medium" pitchFamily="34" charset="-122"/>
                <a:cs typeface="Libre Franklin Medium" pitchFamily="34" charset="-120"/>
              </a:rPr>
              <a:t>27.7% said Definitely yes   ·   95% range 16.9 to 41.8</a:t>
            </a:r>
            <a:endParaRPr lang="en-US" sz="1050" dirty="0"/>
          </a:p>
        </p:txBody>
      </p:sp>
      <p:sp>
        <p:nvSpPr>
          <p:cNvPr id="13" name="Text 9"/>
          <p:cNvSpPr/>
          <p:nvPr/>
        </p:nvSpPr>
        <p:spPr>
          <a:xfrm>
            <a:off x="8138160" y="2057400"/>
            <a:ext cx="3566160" cy="530352"/>
          </a:xfrm>
          <a:prstGeom prst="rect">
            <a:avLst/>
          </a:prstGeom>
          <a:noFill/>
          <a:ln/>
        </p:spPr>
        <p:txBody>
          <a:bodyPr wrap="square" lIns="0" tIns="0" rIns="0" bIns="0" rtlCol="0" anchor="ctr"/>
          <a:lstStyle/>
          <a:p>
            <a:pPr indent="0" marL="0">
              <a:buNone/>
            </a:pPr>
            <a:r>
              <a:rPr lang="en-US" sz="3800" b="1" spc="-50" kern="0" dirty="0">
                <a:solidFill>
                  <a:srgbClr val="3366FF"/>
                </a:solidFill>
                <a:latin typeface="Libre Franklin" pitchFamily="34" charset="0"/>
                <a:ea typeface="Libre Franklin" pitchFamily="34" charset="-122"/>
                <a:cs typeface="Libre Franklin" pitchFamily="34" charset="-120"/>
              </a:rPr>
              <a:t>42.3 pts</a:t>
            </a:r>
            <a:endParaRPr lang="en-US" sz="3800" dirty="0"/>
          </a:p>
        </p:txBody>
      </p:sp>
      <p:sp>
        <p:nvSpPr>
          <p:cNvPr id="14" name="Text 10"/>
          <p:cNvSpPr/>
          <p:nvPr/>
        </p:nvSpPr>
        <p:spPr>
          <a:xfrm>
            <a:off x="8138160" y="2606040"/>
            <a:ext cx="3566160" cy="237744"/>
          </a:xfrm>
          <a:prstGeom prst="rect">
            <a:avLst/>
          </a:prstGeom>
          <a:noFill/>
          <a:ln/>
        </p:spPr>
        <p:txBody>
          <a:bodyPr wrap="square" lIns="0" tIns="0" rIns="0" bIns="0" rtlCol="0" anchor="ctr"/>
          <a:lstStyle/>
          <a:p>
            <a:pPr indent="0" marL="0">
              <a:buNone/>
            </a:pPr>
            <a:r>
              <a:rPr lang="en-US" sz="1200" b="1" dirty="0">
                <a:solidFill>
                  <a:srgbClr val="000000"/>
                </a:solidFill>
                <a:latin typeface="Libre Franklin" pitchFamily="34" charset="0"/>
                <a:ea typeface="Libre Franklin" pitchFamily="34" charset="-122"/>
                <a:cs typeface="Libre Franklin" pitchFamily="34" charset="-120"/>
              </a:rPr>
              <a:t>Difference</a:t>
            </a:r>
            <a:endParaRPr lang="en-US" sz="1200" dirty="0"/>
          </a:p>
        </p:txBody>
      </p:sp>
      <p:sp>
        <p:nvSpPr>
          <p:cNvPr id="15" name="Text 11"/>
          <p:cNvSpPr/>
          <p:nvPr/>
        </p:nvSpPr>
        <p:spPr>
          <a:xfrm>
            <a:off x="8138160" y="2834640"/>
            <a:ext cx="3566160" cy="274320"/>
          </a:xfrm>
          <a:prstGeom prst="rect">
            <a:avLst/>
          </a:prstGeom>
          <a:noFill/>
          <a:ln/>
        </p:spPr>
        <p:txBody>
          <a:bodyPr wrap="square" lIns="0" tIns="0" rIns="0" bIns="0" rtlCol="0" anchor="ctr"/>
          <a:lstStyle/>
          <a:p>
            <a:pPr indent="0" marL="0">
              <a:buNone/>
            </a:pPr>
            <a:r>
              <a:rPr lang="en-US" sz="1050" dirty="0">
                <a:solidFill>
                  <a:srgbClr val="52525B"/>
                </a:solidFill>
                <a:latin typeface="Libre Franklin Medium" pitchFamily="34" charset="0"/>
                <a:ea typeface="Libre Franklin Medium" pitchFamily="34" charset="-122"/>
                <a:cs typeface="Libre Franklin Medium" pitchFamily="34" charset="-120"/>
              </a:rPr>
              <a:t>95% range 17.5 to 62.0   ·   odds ratio 8.09</a:t>
            </a:r>
            <a:endParaRPr lang="en-US" sz="1050" dirty="0"/>
          </a:p>
        </p:txBody>
      </p:sp>
      <p:pic>
        <p:nvPicPr>
          <p:cNvPr id="16" name="Image 2" descr="/sessions/happy-eloquent-pascal/mnt/caregiver-cluster-analysis/Caregiver Outputs/figure_3_screening_outcome.png">    </p:cNvPr>
          <p:cNvPicPr>
            <a:picLocks noChangeAspect="1"/>
          </p:cNvPicPr>
          <p:nvPr/>
        </p:nvPicPr>
        <p:blipFill>
          <a:blip r:embed="rId3"/>
          <a:stretch>
            <a:fillRect/>
          </a:stretch>
        </p:blipFill>
        <p:spPr>
          <a:xfrm>
            <a:off x="1234440" y="3520440"/>
            <a:ext cx="9720072" cy="2167128"/>
          </a:xfrm>
          <a:prstGeom prst="rect">
            <a:avLst/>
          </a:prstGeom>
        </p:spPr>
      </p:pic>
      <p:sp>
        <p:nvSpPr>
          <p:cNvPr id="17" name="Text 12"/>
          <p:cNvSpPr/>
          <p:nvPr/>
        </p:nvSpPr>
        <p:spPr>
          <a:xfrm>
            <a:off x="1234440" y="5724144"/>
            <a:ext cx="9720072" cy="237744"/>
          </a:xfrm>
          <a:prstGeom prst="rect">
            <a:avLst/>
          </a:prstGeom>
          <a:noFill/>
          <a:ln/>
        </p:spPr>
        <p:txBody>
          <a:bodyPr wrap="square" lIns="0" tIns="0" rIns="0" bIns="0" rtlCol="0" anchor="ctr"/>
          <a:lstStyle/>
          <a:p>
            <a:pPr indent="0" marL="0">
              <a:buNone/>
            </a:pPr>
            <a:r>
              <a:rPr lang="en-US" sz="900" dirty="0">
                <a:solidFill>
                  <a:srgbClr val="71717A"/>
                </a:solidFill>
                <a:latin typeface="Libre Franklin Medium" pitchFamily="34" charset="0"/>
                <a:ea typeface="Libre Franklin Medium" pitchFamily="34" charset="-122"/>
                <a:cs typeface="Libre Franklin Medium" pitchFamily="34" charset="-120"/>
              </a:rPr>
              <a:t>Definitely-yes rate by group with 95% ranges, and the full answer mix, n = 127.</a:t>
            </a:r>
            <a:endParaRPr lang="en-US" sz="900" dirty="0"/>
          </a:p>
        </p:txBody>
      </p:sp>
      <p:sp>
        <p:nvSpPr>
          <p:cNvPr id="18" name="Text 13"/>
          <p:cNvSpPr/>
          <p:nvPr/>
        </p:nvSpPr>
        <p:spPr>
          <a:xfrm>
            <a:off x="457200" y="6336792"/>
            <a:ext cx="10698480" cy="256032"/>
          </a:xfrm>
          <a:prstGeom prst="rect">
            <a:avLst/>
          </a:prstGeom>
          <a:noFill/>
          <a:ln/>
        </p:spPr>
        <p:txBody>
          <a:bodyPr wrap="square" lIns="0" tIns="0" rIns="0" bIns="0" rtlCol="0" anchor="ctr"/>
          <a:lstStyle/>
          <a:p>
            <a:pPr indent="0" marL="0">
              <a:buNone/>
            </a:pPr>
            <a:r>
              <a:rPr lang="en-US" sz="1000" dirty="0">
                <a:solidFill>
                  <a:srgbClr val="52525B"/>
                </a:solidFill>
                <a:latin typeface="Libre Franklin Medium" pitchFamily="34" charset="0"/>
                <a:ea typeface="Libre Franklin Medium" pitchFamily="34" charset="-122"/>
                <a:cs typeface="Libre Franklin Medium" pitchFamily="34" charset="-120"/>
              </a:rPr>
              <a:t>This is what people said they would do, not what they did. Screening was never used to form the groups.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sessions/happy-eloquent-pascal/mnt/.claude/skills/esd-lab/assets/logos/logo-horizontal-discovery-blue.png">    </p:cNvPr>
          <p:cNvPicPr>
            <a:picLocks noChangeAspect="1"/>
          </p:cNvPicPr>
          <p:nvPr/>
        </p:nvPicPr>
        <p:blipFill>
          <a:blip r:embed="rId1"/>
          <a:stretch>
            <a:fillRect/>
          </a:stretch>
        </p:blipFill>
        <p:spPr>
          <a:xfrm>
            <a:off x="457200" y="292608"/>
            <a:ext cx="1179576" cy="265176"/>
          </a:xfrm>
          <a:prstGeom prst="rect">
            <a:avLst/>
          </a:prstGeom>
        </p:spPr>
      </p:pic>
      <p:pic>
        <p:nvPicPr>
          <p:cNvPr id="3" name="Image 1" descr="/sessions/happy-eloquent-pascal/mnt/.claude/skills/esd-lab/assets/logos/uofsc-horizontal-garnet.png">    </p:cNvPr>
          <p:cNvPicPr>
            <a:picLocks noChangeAspect="1"/>
          </p:cNvPicPr>
          <p:nvPr/>
        </p:nvPicPr>
        <p:blipFill>
          <a:blip r:embed="rId2"/>
          <a:stretch>
            <a:fillRect/>
          </a:stretch>
        </p:blipFill>
        <p:spPr>
          <a:xfrm>
            <a:off x="1783080" y="292608"/>
            <a:ext cx="987552" cy="265176"/>
          </a:xfrm>
          <a:prstGeom prst="rect">
            <a:avLst/>
          </a:prstGeom>
        </p:spPr>
      </p:pic>
      <p:sp>
        <p:nvSpPr>
          <p:cNvPr id="4" name="Text 0"/>
          <p:cNvSpPr/>
          <p:nvPr/>
        </p:nvSpPr>
        <p:spPr>
          <a:xfrm>
            <a:off x="457200" y="786384"/>
            <a:ext cx="11274552" cy="512064"/>
          </a:xfrm>
          <a:prstGeom prst="rect">
            <a:avLst/>
          </a:prstGeom>
          <a:noFill/>
          <a:ln/>
        </p:spPr>
        <p:txBody>
          <a:bodyPr wrap="square" lIns="0" tIns="0" rIns="0" bIns="0" rtlCol="0" anchor="ctr"/>
          <a:lstStyle/>
          <a:p>
            <a:pPr indent="0" marL="0">
              <a:buNone/>
            </a:pPr>
            <a:r>
              <a:rPr lang="en-US" sz="2900" b="1" spc="-30" kern="0" dirty="0">
                <a:solidFill>
                  <a:srgbClr val="000000"/>
                </a:solidFill>
                <a:latin typeface="Libre Franklin" pitchFamily="34" charset="0"/>
                <a:ea typeface="Libre Franklin" pitchFamily="34" charset="-122"/>
                <a:cs typeface="Libre Franklin" pitchFamily="34" charset="-120"/>
              </a:rPr>
              <a:t>Everything else we checked</a:t>
            </a:r>
            <a:endParaRPr lang="en-US" sz="2900" dirty="0"/>
          </a:p>
        </p:txBody>
      </p:sp>
      <p:sp>
        <p:nvSpPr>
          <p:cNvPr id="5" name="Text 1"/>
          <p:cNvSpPr/>
          <p:nvPr/>
        </p:nvSpPr>
        <p:spPr>
          <a:xfrm>
            <a:off x="11384280" y="6355080"/>
            <a:ext cx="365760" cy="219456"/>
          </a:xfrm>
          <a:prstGeom prst="rect">
            <a:avLst/>
          </a:prstGeom>
          <a:noFill/>
          <a:ln/>
        </p:spPr>
        <p:txBody>
          <a:bodyPr wrap="square" lIns="0" tIns="0" rIns="0" bIns="0" rtlCol="0" anchor="ctr"/>
          <a:lstStyle/>
          <a:p>
            <a:pPr algn="r" indent="0" marL="0">
              <a:buNone/>
            </a:pPr>
            <a:r>
              <a:rPr lang="en-US" sz="1000" dirty="0">
                <a:solidFill>
                  <a:srgbClr val="91BAF4"/>
                </a:solidFill>
                <a:latin typeface="Libre Franklin Medium" pitchFamily="34" charset="0"/>
                <a:ea typeface="Libre Franklin Medium" pitchFamily="34" charset="-122"/>
                <a:cs typeface="Libre Franklin Medium" pitchFamily="34" charset="-120"/>
              </a:rPr>
              <a:t>9</a:t>
            </a:r>
            <a:endParaRPr lang="en-US" sz="1000" dirty="0"/>
          </a:p>
        </p:txBody>
      </p:sp>
      <p:sp>
        <p:nvSpPr>
          <p:cNvPr id="6" name="Text 2"/>
          <p:cNvSpPr/>
          <p:nvPr/>
        </p:nvSpPr>
        <p:spPr>
          <a:xfrm>
            <a:off x="457200" y="1673352"/>
            <a:ext cx="5669280" cy="219456"/>
          </a:xfrm>
          <a:prstGeom prst="rect">
            <a:avLst/>
          </a:prstGeom>
          <a:noFill/>
          <a:ln/>
        </p:spPr>
        <p:txBody>
          <a:bodyPr wrap="square" lIns="0" tIns="0" rIns="0" bIns="0" rtlCol="0" anchor="ctr"/>
          <a:lstStyle/>
          <a:p>
            <a:pPr indent="0" marL="0">
              <a:buNone/>
            </a:pPr>
            <a:r>
              <a:rPr lang="en-US" sz="1050" b="1" spc="60" kern="0" dirty="0">
                <a:solidFill>
                  <a:srgbClr val="3366FF"/>
                </a:solidFill>
                <a:latin typeface="Libre Franklin" pitchFamily="34" charset="0"/>
                <a:ea typeface="Libre Franklin" pitchFamily="34" charset="-122"/>
                <a:cs typeface="Libre Franklin" pitchFamily="34" charset="-120"/>
              </a:rPr>
              <a:t>DOES THE RESULT SURVIVE DIFFERENT INCLUSION RULES?</a:t>
            </a:r>
            <a:endParaRPr lang="en-US" sz="1050" dirty="0"/>
          </a:p>
        </p:txBody>
      </p:sp>
      <p:sp>
        <p:nvSpPr>
          <p:cNvPr id="7" name="Text 3"/>
          <p:cNvSpPr/>
          <p:nvPr/>
        </p:nvSpPr>
        <p:spPr>
          <a:xfrm>
            <a:off x="457200" y="1956816"/>
            <a:ext cx="2743200" cy="530352"/>
          </a:xfrm>
          <a:prstGeom prst="rect">
            <a:avLst/>
          </a:prstGeom>
          <a:noFill/>
          <a:ln/>
        </p:spPr>
        <p:txBody>
          <a:bodyPr wrap="square" lIns="0" tIns="0" rIns="0" bIns="0" rtlCol="0" anchor="ctr"/>
          <a:lstStyle/>
          <a:p>
            <a:pPr indent="0" marL="0">
              <a:buNone/>
            </a:pPr>
            <a:r>
              <a:rPr lang="en-US" sz="3000" b="1" spc="-50" kern="0" dirty="0">
                <a:solidFill>
                  <a:srgbClr val="3366FF"/>
                </a:solidFill>
                <a:latin typeface="Libre Franklin" pitchFamily="34" charset="0"/>
                <a:ea typeface="Libre Franklin" pitchFamily="34" charset="-122"/>
                <a:cs typeface="Libre Franklin" pitchFamily="34" charset="-120"/>
              </a:rPr>
              <a:t>42.3 – 48.5</a:t>
            </a:r>
            <a:endParaRPr lang="en-US" sz="3000" dirty="0"/>
          </a:p>
        </p:txBody>
      </p:sp>
      <p:sp>
        <p:nvSpPr>
          <p:cNvPr id="8" name="Text 4"/>
          <p:cNvSpPr/>
          <p:nvPr/>
        </p:nvSpPr>
        <p:spPr>
          <a:xfrm>
            <a:off x="457200" y="2505456"/>
            <a:ext cx="2743200" cy="237744"/>
          </a:xfrm>
          <a:prstGeom prst="rect">
            <a:avLst/>
          </a:prstGeom>
          <a:noFill/>
          <a:ln/>
        </p:spPr>
        <p:txBody>
          <a:bodyPr wrap="square" lIns="0" tIns="0" rIns="0" bIns="0" rtlCol="0" anchor="ctr"/>
          <a:lstStyle/>
          <a:p>
            <a:pPr indent="0" marL="0">
              <a:buNone/>
            </a:pPr>
            <a:r>
              <a:rPr lang="en-US" sz="1200" b="1" dirty="0">
                <a:solidFill>
                  <a:srgbClr val="000000"/>
                </a:solidFill>
                <a:latin typeface="Libre Franklin" pitchFamily="34" charset="0"/>
                <a:ea typeface="Libre Franklin" pitchFamily="34" charset="-122"/>
                <a:cs typeface="Libre Franklin" pitchFamily="34" charset="-120"/>
              </a:rPr>
              <a:t>Difference in points</a:t>
            </a:r>
            <a:endParaRPr lang="en-US" sz="1200" dirty="0"/>
          </a:p>
        </p:txBody>
      </p:sp>
      <p:sp>
        <p:nvSpPr>
          <p:cNvPr id="9" name="Text 5"/>
          <p:cNvSpPr/>
          <p:nvPr/>
        </p:nvSpPr>
        <p:spPr>
          <a:xfrm>
            <a:off x="457200" y="2734056"/>
            <a:ext cx="2743200" cy="274320"/>
          </a:xfrm>
          <a:prstGeom prst="rect">
            <a:avLst/>
          </a:prstGeom>
          <a:noFill/>
          <a:ln/>
        </p:spPr>
        <p:txBody>
          <a:bodyPr wrap="square" lIns="0" tIns="0" rIns="0" bIns="0" rtlCol="0" anchor="ctr"/>
          <a:lstStyle/>
          <a:p>
            <a:pPr indent="0" marL="0">
              <a:buNone/>
            </a:pPr>
            <a:r>
              <a:rPr lang="en-US" sz="1050" dirty="0">
                <a:solidFill>
                  <a:srgbClr val="52525B"/>
                </a:solidFill>
                <a:latin typeface="Libre Franklin Medium" pitchFamily="34" charset="0"/>
                <a:ea typeface="Libre Franklin Medium" pitchFamily="34" charset="-122"/>
                <a:cs typeface="Libre Franklin Medium" pitchFamily="34" charset="-120"/>
              </a:rPr>
              <a:t>Three ways of choosing who is in</a:t>
            </a:r>
            <a:endParaRPr lang="en-US" sz="1050" dirty="0"/>
          </a:p>
        </p:txBody>
      </p:sp>
      <p:sp>
        <p:nvSpPr>
          <p:cNvPr id="10" name="Text 6"/>
          <p:cNvSpPr/>
          <p:nvPr/>
        </p:nvSpPr>
        <p:spPr>
          <a:xfrm>
            <a:off x="3383280" y="1956816"/>
            <a:ext cx="2743200" cy="530352"/>
          </a:xfrm>
          <a:prstGeom prst="rect">
            <a:avLst/>
          </a:prstGeom>
          <a:noFill/>
          <a:ln/>
        </p:spPr>
        <p:txBody>
          <a:bodyPr wrap="square" lIns="0" tIns="0" rIns="0" bIns="0" rtlCol="0" anchor="ctr"/>
          <a:lstStyle/>
          <a:p>
            <a:pPr indent="0" marL="0">
              <a:buNone/>
            </a:pPr>
            <a:r>
              <a:rPr lang="en-US" sz="3000" b="1" spc="-50" kern="0" dirty="0">
                <a:solidFill>
                  <a:srgbClr val="3366FF"/>
                </a:solidFill>
                <a:latin typeface="Libre Franklin" pitchFamily="34" charset="0"/>
                <a:ea typeface="Libre Franklin" pitchFamily="34" charset="-122"/>
                <a:cs typeface="Libre Franklin" pitchFamily="34" charset="-120"/>
              </a:rPr>
              <a:t>7.4 – 11.1</a:t>
            </a:r>
            <a:endParaRPr lang="en-US" sz="3000" dirty="0"/>
          </a:p>
        </p:txBody>
      </p:sp>
      <p:sp>
        <p:nvSpPr>
          <p:cNvPr id="11" name="Text 7"/>
          <p:cNvSpPr/>
          <p:nvPr/>
        </p:nvSpPr>
        <p:spPr>
          <a:xfrm>
            <a:off x="3383280" y="2505456"/>
            <a:ext cx="2743200" cy="237744"/>
          </a:xfrm>
          <a:prstGeom prst="rect">
            <a:avLst/>
          </a:prstGeom>
          <a:noFill/>
          <a:ln/>
        </p:spPr>
        <p:txBody>
          <a:bodyPr wrap="square" lIns="0" tIns="0" rIns="0" bIns="0" rtlCol="0" anchor="ctr"/>
          <a:lstStyle/>
          <a:p>
            <a:pPr indent="0" marL="0">
              <a:buNone/>
            </a:pPr>
            <a:r>
              <a:rPr lang="en-US" sz="1200" b="1" dirty="0">
                <a:solidFill>
                  <a:srgbClr val="000000"/>
                </a:solidFill>
                <a:latin typeface="Libre Franklin" pitchFamily="34" charset="0"/>
                <a:ea typeface="Libre Franklin" pitchFamily="34" charset="-122"/>
                <a:cs typeface="Libre Franklin" pitchFamily="34" charset="-120"/>
              </a:rPr>
              <a:t>Odds ratio</a:t>
            </a:r>
            <a:endParaRPr lang="en-US" sz="1200" dirty="0"/>
          </a:p>
        </p:txBody>
      </p:sp>
      <p:sp>
        <p:nvSpPr>
          <p:cNvPr id="12" name="Text 8"/>
          <p:cNvSpPr/>
          <p:nvPr/>
        </p:nvSpPr>
        <p:spPr>
          <a:xfrm>
            <a:off x="3383280" y="2734056"/>
            <a:ext cx="2743200" cy="274320"/>
          </a:xfrm>
          <a:prstGeom prst="rect">
            <a:avLst/>
          </a:prstGeom>
          <a:noFill/>
          <a:ln/>
        </p:spPr>
        <p:txBody>
          <a:bodyPr wrap="square" lIns="0" tIns="0" rIns="0" bIns="0" rtlCol="0" anchor="ctr"/>
          <a:lstStyle/>
          <a:p>
            <a:pPr indent="0" marL="0">
              <a:buNone/>
            </a:pPr>
            <a:r>
              <a:rPr lang="en-US" sz="1050" dirty="0">
                <a:solidFill>
                  <a:srgbClr val="52525B"/>
                </a:solidFill>
                <a:latin typeface="Libre Franklin Medium" pitchFamily="34" charset="0"/>
                <a:ea typeface="Libre Franklin Medium" pitchFamily="34" charset="-122"/>
                <a:cs typeface="Libre Franklin Medium" pitchFamily="34" charset="-120"/>
              </a:rPr>
              <a:t>Every range stays above 1</a:t>
            </a:r>
            <a:endParaRPr lang="en-US" sz="1050" dirty="0"/>
          </a:p>
        </p:txBody>
      </p:sp>
      <p:sp>
        <p:nvSpPr>
          <p:cNvPr id="13" name="Shape 9"/>
          <p:cNvSpPr/>
          <p:nvPr/>
        </p:nvSpPr>
        <p:spPr>
          <a:xfrm>
            <a:off x="457200" y="3200400"/>
            <a:ext cx="5669280" cy="10058"/>
          </a:xfrm>
          <a:prstGeom prst="rect">
            <a:avLst/>
          </a:prstGeom>
          <a:solidFill>
            <a:srgbClr val="E6EEFC"/>
          </a:solidFill>
          <a:ln w="12700">
            <a:solidFill>
              <a:srgbClr val="E6EEFC"/>
            </a:solidFill>
            <a:prstDash val="solid"/>
          </a:ln>
        </p:spPr>
      </p:sp>
      <p:sp>
        <p:nvSpPr>
          <p:cNvPr id="14" name="Text 10"/>
          <p:cNvSpPr/>
          <p:nvPr/>
        </p:nvSpPr>
        <p:spPr>
          <a:xfrm>
            <a:off x="457200" y="3401568"/>
            <a:ext cx="5669280" cy="219456"/>
          </a:xfrm>
          <a:prstGeom prst="rect">
            <a:avLst/>
          </a:prstGeom>
          <a:noFill/>
          <a:ln/>
        </p:spPr>
        <p:txBody>
          <a:bodyPr wrap="square" lIns="0" tIns="0" rIns="0" bIns="0" rtlCol="0" anchor="ctr"/>
          <a:lstStyle/>
          <a:p>
            <a:pPr indent="0" marL="0">
              <a:buNone/>
            </a:pPr>
            <a:r>
              <a:rPr lang="en-US" sz="1050" b="1" spc="60" kern="0" dirty="0">
                <a:solidFill>
                  <a:srgbClr val="3366FF"/>
                </a:solidFill>
                <a:latin typeface="Libre Franklin" pitchFamily="34" charset="0"/>
                <a:ea typeface="Libre Franklin" pitchFamily="34" charset="-122"/>
                <a:cs typeface="Libre Franklin" pitchFamily="34" charset="-120"/>
              </a:rPr>
              <a:t>OTHER MEASURES</a:t>
            </a:r>
            <a:endParaRPr lang="en-US" sz="1050" dirty="0"/>
          </a:p>
        </p:txBody>
      </p:sp>
      <p:sp>
        <p:nvSpPr>
          <p:cNvPr id="15" name="Text 11"/>
          <p:cNvSpPr/>
          <p:nvPr/>
        </p:nvSpPr>
        <p:spPr>
          <a:xfrm>
            <a:off x="457200" y="3639312"/>
            <a:ext cx="2011680" cy="256032"/>
          </a:xfrm>
          <a:prstGeom prst="rect">
            <a:avLst/>
          </a:prstGeom>
          <a:noFill/>
          <a:ln/>
        </p:spPr>
        <p:txBody>
          <a:bodyPr wrap="square" lIns="0" tIns="0" rIns="0" bIns="0" rtlCol="0" anchor="ctr"/>
          <a:lstStyle/>
          <a:p>
            <a:pPr indent="0" marL="0">
              <a:buNone/>
            </a:pPr>
            <a:r>
              <a:rPr lang="en-US" sz="1250" b="1" dirty="0">
                <a:solidFill>
                  <a:srgbClr val="000000"/>
                </a:solidFill>
                <a:latin typeface="Libre Franklin" pitchFamily="34" charset="0"/>
                <a:ea typeface="Libre Franklin" pitchFamily="34" charset="-122"/>
                <a:cs typeface="Libre Franklin" pitchFamily="34" charset="-120"/>
              </a:rPr>
              <a:t>Autism knowledge</a:t>
            </a:r>
            <a:endParaRPr lang="en-US" sz="1250" dirty="0"/>
          </a:p>
        </p:txBody>
      </p:sp>
      <p:sp>
        <p:nvSpPr>
          <p:cNvPr id="16" name="Text 12"/>
          <p:cNvSpPr/>
          <p:nvPr/>
        </p:nvSpPr>
        <p:spPr>
          <a:xfrm>
            <a:off x="2560320" y="3639312"/>
            <a:ext cx="2331720" cy="256032"/>
          </a:xfrm>
          <a:prstGeom prst="rect">
            <a:avLst/>
          </a:prstGeom>
          <a:noFill/>
          <a:ln/>
        </p:spPr>
        <p:txBody>
          <a:bodyPr wrap="square" lIns="0" tIns="0" rIns="0" bIns="0" rtlCol="0" anchor="ctr"/>
          <a:lstStyle/>
          <a:p>
            <a:pP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3.90 vs 3.41 out of 7</a:t>
            </a:r>
            <a:endParaRPr lang="en-US" sz="1150" dirty="0"/>
          </a:p>
        </p:txBody>
      </p:sp>
      <p:sp>
        <p:nvSpPr>
          <p:cNvPr id="17" name="Text 13"/>
          <p:cNvSpPr/>
          <p:nvPr/>
        </p:nvSpPr>
        <p:spPr>
          <a:xfrm>
            <a:off x="457200" y="3895344"/>
            <a:ext cx="2011680" cy="228600"/>
          </a:xfrm>
          <a:prstGeom prst="rect">
            <a:avLst/>
          </a:prstGeom>
          <a:noFill/>
          <a:ln/>
        </p:spPr>
        <p:txBody>
          <a:bodyPr wrap="square" lIns="0" tIns="0" rIns="0" bIns="0" rtlCol="0" anchor="ctr"/>
          <a:lstStyle/>
          <a:p>
            <a:pPr indent="0" marL="0">
              <a:buNone/>
            </a:pPr>
            <a:r>
              <a:rPr lang="en-US" sz="1050" b="1" dirty="0">
                <a:solidFill>
                  <a:srgbClr val="71717A"/>
                </a:solidFill>
                <a:latin typeface="Libre Franklin Medium" pitchFamily="34" charset="0"/>
                <a:ea typeface="Libre Franklin Medium" pitchFamily="34" charset="-122"/>
                <a:cs typeface="Libre Franklin Medium" pitchFamily="34" charset="-120"/>
              </a:rPr>
              <a:t>No difference</a:t>
            </a:r>
            <a:endParaRPr lang="en-US" sz="1050" dirty="0"/>
          </a:p>
        </p:txBody>
      </p:sp>
      <p:sp>
        <p:nvSpPr>
          <p:cNvPr id="18" name="Text 14"/>
          <p:cNvSpPr/>
          <p:nvPr/>
        </p:nvSpPr>
        <p:spPr>
          <a:xfrm>
            <a:off x="2560320" y="3895344"/>
            <a:ext cx="3566160" cy="228600"/>
          </a:xfrm>
          <a:prstGeom prst="rect">
            <a:avLst/>
          </a:prstGeom>
          <a:noFill/>
          <a:ln/>
        </p:spPr>
        <p:txBody>
          <a:bodyPr wrap="square" lIns="0" tIns="0" rIns="0" bIns="0" rtlCol="0" anchor="ctr"/>
          <a:lstStyle/>
          <a:p>
            <a:pPr indent="0" marL="0">
              <a:buNone/>
            </a:pPr>
            <a:r>
              <a:rPr lang="en-US" sz="1050" dirty="0">
                <a:solidFill>
                  <a:srgbClr val="52525B"/>
                </a:solidFill>
                <a:latin typeface="Libre Franklin Medium" pitchFamily="34" charset="0"/>
                <a:ea typeface="Libre Franklin Medium" pitchFamily="34" charset="-122"/>
                <a:cs typeface="Libre Franklin Medium" pitchFamily="34" charset="-120"/>
              </a:rPr>
              <a:t>p = 0.099</a:t>
            </a:r>
            <a:endParaRPr lang="en-US" sz="1050" dirty="0"/>
          </a:p>
        </p:txBody>
      </p:sp>
      <p:sp>
        <p:nvSpPr>
          <p:cNvPr id="19" name="Shape 15"/>
          <p:cNvSpPr/>
          <p:nvPr/>
        </p:nvSpPr>
        <p:spPr>
          <a:xfrm>
            <a:off x="457200" y="4187952"/>
            <a:ext cx="5669280" cy="10058"/>
          </a:xfrm>
          <a:prstGeom prst="rect">
            <a:avLst/>
          </a:prstGeom>
          <a:solidFill>
            <a:srgbClr val="E6EEFC"/>
          </a:solidFill>
          <a:ln w="12700">
            <a:solidFill>
              <a:srgbClr val="E6EEFC"/>
            </a:solidFill>
            <a:prstDash val="solid"/>
          </a:ln>
        </p:spPr>
      </p:sp>
      <p:sp>
        <p:nvSpPr>
          <p:cNvPr id="20" name="Text 16"/>
          <p:cNvSpPr/>
          <p:nvPr/>
        </p:nvSpPr>
        <p:spPr>
          <a:xfrm>
            <a:off x="457200" y="4297680"/>
            <a:ext cx="2011680" cy="256032"/>
          </a:xfrm>
          <a:prstGeom prst="rect">
            <a:avLst/>
          </a:prstGeom>
          <a:noFill/>
          <a:ln/>
        </p:spPr>
        <p:txBody>
          <a:bodyPr wrap="square" lIns="0" tIns="0" rIns="0" bIns="0" rtlCol="0" anchor="ctr"/>
          <a:lstStyle/>
          <a:p>
            <a:pPr indent="0" marL="0">
              <a:buNone/>
            </a:pPr>
            <a:r>
              <a:rPr lang="en-US" sz="1250" b="1" dirty="0">
                <a:solidFill>
                  <a:srgbClr val="000000"/>
                </a:solidFill>
                <a:latin typeface="Libre Franklin" pitchFamily="34" charset="0"/>
                <a:ea typeface="Libre Franklin" pitchFamily="34" charset="-122"/>
                <a:cs typeface="Libre Franklin" pitchFamily="34" charset="-120"/>
              </a:rPr>
              <a:t>Parental values</a:t>
            </a:r>
            <a:endParaRPr lang="en-US" sz="1250" dirty="0"/>
          </a:p>
        </p:txBody>
      </p:sp>
      <p:sp>
        <p:nvSpPr>
          <p:cNvPr id="21" name="Text 17"/>
          <p:cNvSpPr/>
          <p:nvPr/>
        </p:nvSpPr>
        <p:spPr>
          <a:xfrm>
            <a:off x="2560320" y="4297680"/>
            <a:ext cx="2331720" cy="256032"/>
          </a:xfrm>
          <a:prstGeom prst="rect">
            <a:avLst/>
          </a:prstGeom>
          <a:noFill/>
          <a:ln/>
        </p:spPr>
        <p:txBody>
          <a:bodyPr wrap="square" lIns="0" tIns="0" rIns="0" bIns="0" rtlCol="0" anchor="ctr"/>
          <a:lstStyle/>
          <a:p>
            <a:pP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Biggest gap is self-direction</a:t>
            </a:r>
            <a:endParaRPr lang="en-US" sz="1150" dirty="0"/>
          </a:p>
        </p:txBody>
      </p:sp>
      <p:sp>
        <p:nvSpPr>
          <p:cNvPr id="22" name="Text 18"/>
          <p:cNvSpPr/>
          <p:nvPr/>
        </p:nvSpPr>
        <p:spPr>
          <a:xfrm>
            <a:off x="457200" y="4553712"/>
            <a:ext cx="2011680" cy="228600"/>
          </a:xfrm>
          <a:prstGeom prst="rect">
            <a:avLst/>
          </a:prstGeom>
          <a:noFill/>
          <a:ln/>
        </p:spPr>
        <p:txBody>
          <a:bodyPr wrap="square" lIns="0" tIns="0" rIns="0" bIns="0" rtlCol="0" anchor="ctr"/>
          <a:lstStyle/>
          <a:p>
            <a:pPr indent="0" marL="0">
              <a:buNone/>
            </a:pPr>
            <a:r>
              <a:rPr lang="en-US" sz="1050" b="1" dirty="0">
                <a:solidFill>
                  <a:srgbClr val="71717A"/>
                </a:solidFill>
                <a:latin typeface="Libre Franklin Medium" pitchFamily="34" charset="0"/>
                <a:ea typeface="Libre Franklin Medium" pitchFamily="34" charset="-122"/>
                <a:cs typeface="Libre Franklin Medium" pitchFamily="34" charset="-120"/>
              </a:rPr>
              <a:t>No difference</a:t>
            </a:r>
            <a:endParaRPr lang="en-US" sz="1050" dirty="0"/>
          </a:p>
        </p:txBody>
      </p:sp>
      <p:sp>
        <p:nvSpPr>
          <p:cNvPr id="23" name="Text 19"/>
          <p:cNvSpPr/>
          <p:nvPr/>
        </p:nvSpPr>
        <p:spPr>
          <a:xfrm>
            <a:off x="2560320" y="4553712"/>
            <a:ext cx="3566160" cy="228600"/>
          </a:xfrm>
          <a:prstGeom prst="rect">
            <a:avLst/>
          </a:prstGeom>
          <a:noFill/>
          <a:ln/>
        </p:spPr>
        <p:txBody>
          <a:bodyPr wrap="square" lIns="0" tIns="0" rIns="0" bIns="0" rtlCol="0" anchor="ctr"/>
          <a:lstStyle/>
          <a:p>
            <a:pPr indent="0" marL="0">
              <a:buNone/>
            </a:pPr>
            <a:r>
              <a:rPr lang="en-US" sz="1050" dirty="0">
                <a:solidFill>
                  <a:srgbClr val="52525B"/>
                </a:solidFill>
                <a:latin typeface="Libre Franklin Medium" pitchFamily="34" charset="0"/>
                <a:ea typeface="Libre Franklin Medium" pitchFamily="34" charset="-122"/>
                <a:cs typeface="Libre Franklin Medium" pitchFamily="34" charset="-120"/>
              </a:rPr>
              <a:t>adjusted p = 0.129</a:t>
            </a:r>
            <a:endParaRPr lang="en-US" sz="1050" dirty="0"/>
          </a:p>
        </p:txBody>
      </p:sp>
      <p:sp>
        <p:nvSpPr>
          <p:cNvPr id="24" name="Shape 20"/>
          <p:cNvSpPr/>
          <p:nvPr/>
        </p:nvSpPr>
        <p:spPr>
          <a:xfrm>
            <a:off x="457200" y="4846320"/>
            <a:ext cx="5669280" cy="10058"/>
          </a:xfrm>
          <a:prstGeom prst="rect">
            <a:avLst/>
          </a:prstGeom>
          <a:solidFill>
            <a:srgbClr val="E6EEFC"/>
          </a:solidFill>
          <a:ln w="12700">
            <a:solidFill>
              <a:srgbClr val="E6EEFC"/>
            </a:solidFill>
            <a:prstDash val="solid"/>
          </a:ln>
        </p:spPr>
      </p:sp>
      <p:sp>
        <p:nvSpPr>
          <p:cNvPr id="25" name="Text 21"/>
          <p:cNvSpPr/>
          <p:nvPr/>
        </p:nvSpPr>
        <p:spPr>
          <a:xfrm>
            <a:off x="457200" y="4956048"/>
            <a:ext cx="2011680" cy="256032"/>
          </a:xfrm>
          <a:prstGeom prst="rect">
            <a:avLst/>
          </a:prstGeom>
          <a:noFill/>
          <a:ln/>
        </p:spPr>
        <p:txBody>
          <a:bodyPr wrap="square" lIns="0" tIns="0" rIns="0" bIns="0" rtlCol="0" anchor="ctr"/>
          <a:lstStyle/>
          <a:p>
            <a:pPr indent="0" marL="0">
              <a:buNone/>
            </a:pPr>
            <a:r>
              <a:rPr lang="en-US" sz="1250" b="1" dirty="0">
                <a:solidFill>
                  <a:srgbClr val="000000"/>
                </a:solidFill>
                <a:latin typeface="Libre Franklin" pitchFamily="34" charset="0"/>
                <a:ea typeface="Libre Franklin" pitchFamily="34" charset="-122"/>
                <a:cs typeface="Libre Franklin" pitchFamily="34" charset="-120"/>
              </a:rPr>
              <a:t>Premature birth</a:t>
            </a:r>
            <a:endParaRPr lang="en-US" sz="1250" dirty="0"/>
          </a:p>
        </p:txBody>
      </p:sp>
      <p:sp>
        <p:nvSpPr>
          <p:cNvPr id="26" name="Text 22"/>
          <p:cNvSpPr/>
          <p:nvPr/>
        </p:nvSpPr>
        <p:spPr>
          <a:xfrm>
            <a:off x="2560320" y="4956048"/>
            <a:ext cx="2331720" cy="256032"/>
          </a:xfrm>
          <a:prstGeom prst="rect">
            <a:avLst/>
          </a:prstGeom>
          <a:noFill/>
          <a:ln/>
        </p:spPr>
        <p:txBody>
          <a:bodyPr wrap="square" lIns="0" tIns="0" rIns="0" bIns="0" rtlCol="0" anchor="ctr"/>
          <a:lstStyle/>
          <a:p>
            <a:pP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25/84 (30%) vs 22/47 (47%)</a:t>
            </a:r>
            <a:endParaRPr lang="en-US" sz="1150" dirty="0"/>
          </a:p>
        </p:txBody>
      </p:sp>
      <p:sp>
        <p:nvSpPr>
          <p:cNvPr id="27" name="Text 23"/>
          <p:cNvSpPr/>
          <p:nvPr/>
        </p:nvSpPr>
        <p:spPr>
          <a:xfrm>
            <a:off x="457200" y="5212080"/>
            <a:ext cx="2011680" cy="228600"/>
          </a:xfrm>
          <a:prstGeom prst="rect">
            <a:avLst/>
          </a:prstGeom>
          <a:noFill/>
          <a:ln/>
        </p:spPr>
        <p:txBody>
          <a:bodyPr wrap="square" lIns="0" tIns="0" rIns="0" bIns="0" rtlCol="0" anchor="ctr"/>
          <a:lstStyle/>
          <a:p>
            <a:pPr indent="0" marL="0">
              <a:buNone/>
            </a:pPr>
            <a:r>
              <a:rPr lang="en-US" sz="1050" b="1" dirty="0">
                <a:solidFill>
                  <a:srgbClr val="F57F00"/>
                </a:solidFill>
                <a:latin typeface="Libre Franklin Medium" pitchFamily="34" charset="0"/>
                <a:ea typeface="Libre Franklin Medium" pitchFamily="34" charset="-122"/>
                <a:cs typeface="Libre Franklin Medium" pitchFamily="34" charset="-120"/>
              </a:rPr>
              <a:t>Suggestive only</a:t>
            </a:r>
            <a:endParaRPr lang="en-US" sz="1050" dirty="0"/>
          </a:p>
        </p:txBody>
      </p:sp>
      <p:sp>
        <p:nvSpPr>
          <p:cNvPr id="28" name="Text 24"/>
          <p:cNvSpPr/>
          <p:nvPr/>
        </p:nvSpPr>
        <p:spPr>
          <a:xfrm>
            <a:off x="2560320" y="5212080"/>
            <a:ext cx="3566160" cy="228600"/>
          </a:xfrm>
          <a:prstGeom prst="rect">
            <a:avLst/>
          </a:prstGeom>
          <a:noFill/>
          <a:ln/>
        </p:spPr>
        <p:txBody>
          <a:bodyPr wrap="square" lIns="0" tIns="0" rIns="0" bIns="0" rtlCol="0" anchor="ctr"/>
          <a:lstStyle/>
          <a:p>
            <a:pPr indent="0" marL="0">
              <a:buNone/>
            </a:pPr>
            <a:r>
              <a:rPr lang="en-US" sz="1050" dirty="0">
                <a:solidFill>
                  <a:srgbClr val="52525B"/>
                </a:solidFill>
                <a:latin typeface="Libre Franklin Medium" pitchFamily="34" charset="0"/>
                <a:ea typeface="Libre Franklin Medium" pitchFamily="34" charset="-122"/>
                <a:cs typeface="Libre Franklin Medium" pitchFamily="34" charset="-120"/>
              </a:rPr>
              <a:t>p = 0.051, adjusted p = 0.562</a:t>
            </a:r>
            <a:endParaRPr lang="en-US" sz="1050" dirty="0"/>
          </a:p>
        </p:txBody>
      </p:sp>
      <p:sp>
        <p:nvSpPr>
          <p:cNvPr id="29" name="Shape 25"/>
          <p:cNvSpPr/>
          <p:nvPr/>
        </p:nvSpPr>
        <p:spPr>
          <a:xfrm>
            <a:off x="457200" y="5504688"/>
            <a:ext cx="5669280" cy="10058"/>
          </a:xfrm>
          <a:prstGeom prst="rect">
            <a:avLst/>
          </a:prstGeom>
          <a:solidFill>
            <a:srgbClr val="E6EEFC"/>
          </a:solidFill>
          <a:ln w="12700">
            <a:solidFill>
              <a:srgbClr val="E6EEFC"/>
            </a:solidFill>
            <a:prstDash val="solid"/>
          </a:ln>
        </p:spPr>
      </p:sp>
      <p:sp>
        <p:nvSpPr>
          <p:cNvPr id="30" name="Text 26"/>
          <p:cNvSpPr/>
          <p:nvPr/>
        </p:nvSpPr>
        <p:spPr>
          <a:xfrm>
            <a:off x="457200" y="5614416"/>
            <a:ext cx="2011680" cy="256032"/>
          </a:xfrm>
          <a:prstGeom prst="rect">
            <a:avLst/>
          </a:prstGeom>
          <a:noFill/>
          <a:ln/>
        </p:spPr>
        <p:txBody>
          <a:bodyPr wrap="square" lIns="0" tIns="0" rIns="0" bIns="0" rtlCol="0" anchor="ctr"/>
          <a:lstStyle/>
          <a:p>
            <a:pPr indent="0" marL="0">
              <a:buNone/>
            </a:pPr>
            <a:r>
              <a:rPr lang="en-US" sz="1250" b="1" dirty="0">
                <a:solidFill>
                  <a:srgbClr val="000000"/>
                </a:solidFill>
                <a:latin typeface="Libre Franklin" pitchFamily="34" charset="0"/>
                <a:ea typeface="Libre Franklin" pitchFamily="34" charset="-122"/>
                <a:cs typeface="Libre Franklin" pitchFamily="34" charset="-120"/>
              </a:rPr>
              <a:t>Autistic child at home</a:t>
            </a:r>
            <a:endParaRPr lang="en-US" sz="1250" dirty="0"/>
          </a:p>
        </p:txBody>
      </p:sp>
      <p:sp>
        <p:nvSpPr>
          <p:cNvPr id="31" name="Text 27"/>
          <p:cNvSpPr/>
          <p:nvPr/>
        </p:nvSpPr>
        <p:spPr>
          <a:xfrm>
            <a:off x="2560320" y="5614416"/>
            <a:ext cx="2331720" cy="256032"/>
          </a:xfrm>
          <a:prstGeom prst="rect">
            <a:avLst/>
          </a:prstGeom>
          <a:noFill/>
          <a:ln/>
        </p:spPr>
        <p:txBody>
          <a:bodyPr wrap="square" lIns="0" tIns="0" rIns="0" bIns="0" rtlCol="0" anchor="ctr"/>
          <a:lstStyle/>
          <a:p>
            <a:pP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4.3 times the odds of screening</a:t>
            </a:r>
            <a:endParaRPr lang="en-US" sz="1150" dirty="0"/>
          </a:p>
        </p:txBody>
      </p:sp>
      <p:sp>
        <p:nvSpPr>
          <p:cNvPr id="32" name="Text 28"/>
          <p:cNvSpPr/>
          <p:nvPr/>
        </p:nvSpPr>
        <p:spPr>
          <a:xfrm>
            <a:off x="457200" y="5870448"/>
            <a:ext cx="2011680" cy="228600"/>
          </a:xfrm>
          <a:prstGeom prst="rect">
            <a:avLst/>
          </a:prstGeom>
          <a:noFill/>
          <a:ln/>
        </p:spPr>
        <p:txBody>
          <a:bodyPr wrap="square" lIns="0" tIns="0" rIns="0" bIns="0" rtlCol="0" anchor="ctr"/>
          <a:lstStyle/>
          <a:p>
            <a:pPr indent="0" marL="0">
              <a:buNone/>
            </a:pPr>
            <a:r>
              <a:rPr lang="en-US" sz="1050" b="1" dirty="0">
                <a:solidFill>
                  <a:srgbClr val="3366FF"/>
                </a:solidFill>
                <a:latin typeface="Libre Franklin Medium" pitchFamily="34" charset="0"/>
                <a:ea typeface="Libre Franklin Medium" pitchFamily="34" charset="-122"/>
                <a:cs typeface="Libre Franklin Medium" pitchFamily="34" charset="-120"/>
              </a:rPr>
              <a:t>Real, and separate</a:t>
            </a:r>
            <a:endParaRPr lang="en-US" sz="1050" dirty="0"/>
          </a:p>
        </p:txBody>
      </p:sp>
      <p:sp>
        <p:nvSpPr>
          <p:cNvPr id="33" name="Text 29"/>
          <p:cNvSpPr/>
          <p:nvPr/>
        </p:nvSpPr>
        <p:spPr>
          <a:xfrm>
            <a:off x="2560320" y="5870448"/>
            <a:ext cx="3566160" cy="228600"/>
          </a:xfrm>
          <a:prstGeom prst="rect">
            <a:avLst/>
          </a:prstGeom>
          <a:noFill/>
          <a:ln/>
        </p:spPr>
        <p:txBody>
          <a:bodyPr wrap="square" lIns="0" tIns="0" rIns="0" bIns="0" rtlCol="0" anchor="ctr"/>
          <a:lstStyle/>
          <a:p>
            <a:pPr indent="0" marL="0">
              <a:buNone/>
            </a:pPr>
            <a:r>
              <a:rPr lang="en-US" sz="1050" dirty="0">
                <a:solidFill>
                  <a:srgbClr val="52525B"/>
                </a:solidFill>
                <a:latin typeface="Libre Franklin Medium" pitchFamily="34" charset="0"/>
                <a:ea typeface="Libre Franklin Medium" pitchFamily="34" charset="-122"/>
                <a:cs typeface="Libre Franklin Medium" pitchFamily="34" charset="-120"/>
              </a:rPr>
              <a:t>95% range 1.78 to 10.50, p = 0.0012</a:t>
            </a:r>
            <a:endParaRPr lang="en-US" sz="1050" dirty="0"/>
          </a:p>
        </p:txBody>
      </p:sp>
      <p:sp>
        <p:nvSpPr>
          <p:cNvPr id="34" name="Shape 30"/>
          <p:cNvSpPr/>
          <p:nvPr/>
        </p:nvSpPr>
        <p:spPr>
          <a:xfrm>
            <a:off x="457200" y="6163056"/>
            <a:ext cx="5669280" cy="10058"/>
          </a:xfrm>
          <a:prstGeom prst="rect">
            <a:avLst/>
          </a:prstGeom>
          <a:solidFill>
            <a:srgbClr val="E6EEFC"/>
          </a:solidFill>
          <a:ln w="12700">
            <a:solidFill>
              <a:srgbClr val="E6EEFC"/>
            </a:solidFill>
            <a:prstDash val="solid"/>
          </a:ln>
        </p:spPr>
      </p:sp>
      <p:pic>
        <p:nvPicPr>
          <p:cNvPr id="35" name="Image 2" descr="/sessions/happy-eloquent-pascal/mnt/caregiver-cluster-analysis/Caregiver Outputs/figure_20_tier_sensitivity.png">    </p:cNvPr>
          <p:cNvPicPr>
            <a:picLocks noChangeAspect="1"/>
          </p:cNvPicPr>
          <p:nvPr/>
        </p:nvPicPr>
        <p:blipFill>
          <a:blip r:embed="rId3"/>
          <a:stretch>
            <a:fillRect/>
          </a:stretch>
        </p:blipFill>
        <p:spPr>
          <a:xfrm>
            <a:off x="6492240" y="1783080"/>
            <a:ext cx="5239512" cy="3008376"/>
          </a:xfrm>
          <a:prstGeom prst="rect">
            <a:avLst/>
          </a:prstGeom>
        </p:spPr>
      </p:pic>
      <p:sp>
        <p:nvSpPr>
          <p:cNvPr id="36" name="Text 31"/>
          <p:cNvSpPr/>
          <p:nvPr/>
        </p:nvSpPr>
        <p:spPr>
          <a:xfrm>
            <a:off x="6492240" y="4828032"/>
            <a:ext cx="5239512" cy="237744"/>
          </a:xfrm>
          <a:prstGeom prst="rect">
            <a:avLst/>
          </a:prstGeom>
          <a:noFill/>
          <a:ln/>
        </p:spPr>
        <p:txBody>
          <a:bodyPr wrap="square" lIns="0" tIns="0" rIns="0" bIns="0" rtlCol="0" anchor="ctr"/>
          <a:lstStyle/>
          <a:p>
            <a:pPr indent="0" marL="0">
              <a:buNone/>
            </a:pPr>
            <a:r>
              <a:rPr lang="en-US" sz="900" dirty="0">
                <a:solidFill>
                  <a:srgbClr val="71717A"/>
                </a:solidFill>
                <a:latin typeface="Libre Franklin Medium" pitchFamily="34" charset="0"/>
                <a:ea typeface="Libre Franklin Medium" pitchFamily="34" charset="-122"/>
                <a:cs typeface="Libre Franklin Medium" pitchFamily="34" charset="-120"/>
              </a:rPr>
              <a:t>The difference and its 95% range under five ways of choosing who to include.</a:t>
            </a:r>
            <a:endParaRPr lang="en-US" sz="900" dirty="0"/>
          </a:p>
        </p:txBody>
      </p:sp>
      <p:sp>
        <p:nvSpPr>
          <p:cNvPr id="37" name="Shape 32"/>
          <p:cNvSpPr/>
          <p:nvPr/>
        </p:nvSpPr>
        <p:spPr>
          <a:xfrm>
            <a:off x="6492240" y="5175504"/>
            <a:ext cx="5239512" cy="914400"/>
          </a:xfrm>
          <a:prstGeom prst="roundRect">
            <a:avLst>
              <a:gd name="adj" fmla="val 12000"/>
            </a:avLst>
          </a:prstGeom>
          <a:solidFill>
            <a:srgbClr val="E6EEFC"/>
          </a:solidFill>
          <a:ln w="12700">
            <a:solidFill>
              <a:srgbClr val="E6EEFC"/>
            </a:solidFill>
            <a:prstDash val="solid"/>
          </a:ln>
        </p:spPr>
      </p:sp>
      <p:sp>
        <p:nvSpPr>
          <p:cNvPr id="38" name="Text 33"/>
          <p:cNvSpPr/>
          <p:nvPr/>
        </p:nvSpPr>
        <p:spPr>
          <a:xfrm>
            <a:off x="6693408" y="5285232"/>
            <a:ext cx="4846320" cy="713232"/>
          </a:xfrm>
          <a:prstGeom prst="rect">
            <a:avLst/>
          </a:prstGeom>
          <a:noFill/>
          <a:ln/>
        </p:spPr>
        <p:txBody>
          <a:bodyPr wrap="square" lIns="0" tIns="0" rIns="0" bIns="0" rtlCol="0" anchor="ctr"/>
          <a:lstStyle/>
          <a:p>
            <a:pPr indent="0" marL="0">
              <a:buNone/>
            </a:pPr>
            <a:r>
              <a:rPr lang="en-US" sz="1200" dirty="0">
                <a:solidFill>
                  <a:srgbClr val="000000"/>
                </a:solidFill>
                <a:latin typeface="Libre Franklin Medium" pitchFamily="34" charset="0"/>
                <a:ea typeface="Libre Franklin Medium" pitchFamily="34" charset="-122"/>
                <a:cs typeface="Libre Franklin Medium" pitchFamily="34" charset="-120"/>
              </a:rPr>
              <a:t>What predicts screening is how caregivers feel about it, plus whether they already have an autistic child. Not what they know, and not who they are.</a:t>
            </a:r>
            <a:endParaRPr lang="en-US" sz="1200" dirty="0"/>
          </a:p>
        </p:txBody>
      </p:sp>
      <p:sp>
        <p:nvSpPr>
          <p:cNvPr id="39" name="Text 34"/>
          <p:cNvSpPr/>
          <p:nvPr/>
        </p:nvSpPr>
        <p:spPr>
          <a:xfrm>
            <a:off x="457200" y="6336792"/>
            <a:ext cx="10698480" cy="256032"/>
          </a:xfrm>
          <a:prstGeom prst="rect">
            <a:avLst/>
          </a:prstGeom>
          <a:noFill/>
          <a:ln/>
        </p:spPr>
        <p:txBody>
          <a:bodyPr wrap="square" lIns="0" tIns="0" rIns="0" bIns="0" rtlCol="0" anchor="ctr"/>
          <a:lstStyle/>
          <a:p>
            <a:pPr indent="0" marL="0">
              <a:buNone/>
            </a:pPr>
            <a:r>
              <a:rPr lang="en-US" sz="1000" dirty="0">
                <a:solidFill>
                  <a:srgbClr val="52525B"/>
                </a:solidFill>
                <a:latin typeface="Libre Franklin Medium" pitchFamily="34" charset="0"/>
                <a:ea typeface="Libre Franklin Medium" pitchFamily="34" charset="-122"/>
                <a:cs typeface="Libre Franklin Medium" pitchFamily="34" charset="-120"/>
              </a:rPr>
              <a:t>With 47 people in the smaller group, a difference under about 26 points would be too small for us to detect, so a null here means too little data rather than no difference.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sessions/happy-eloquent-pascal/mnt/.claude/skills/esd-lab/assets/logos/logo-horizontal-discovery-blue.png">    </p:cNvPr>
          <p:cNvPicPr>
            <a:picLocks noChangeAspect="1"/>
          </p:cNvPicPr>
          <p:nvPr/>
        </p:nvPicPr>
        <p:blipFill>
          <a:blip r:embed="rId1"/>
          <a:stretch>
            <a:fillRect/>
          </a:stretch>
        </p:blipFill>
        <p:spPr>
          <a:xfrm>
            <a:off x="457200" y="292608"/>
            <a:ext cx="1179576" cy="265176"/>
          </a:xfrm>
          <a:prstGeom prst="rect">
            <a:avLst/>
          </a:prstGeom>
        </p:spPr>
      </p:pic>
      <p:pic>
        <p:nvPicPr>
          <p:cNvPr id="3" name="Image 1" descr="/sessions/happy-eloquent-pascal/mnt/.claude/skills/esd-lab/assets/logos/uofsc-horizontal-garnet.png">    </p:cNvPr>
          <p:cNvPicPr>
            <a:picLocks noChangeAspect="1"/>
          </p:cNvPicPr>
          <p:nvPr/>
        </p:nvPicPr>
        <p:blipFill>
          <a:blip r:embed="rId2"/>
          <a:stretch>
            <a:fillRect/>
          </a:stretch>
        </p:blipFill>
        <p:spPr>
          <a:xfrm>
            <a:off x="1783080" y="292608"/>
            <a:ext cx="987552" cy="265176"/>
          </a:xfrm>
          <a:prstGeom prst="rect">
            <a:avLst/>
          </a:prstGeom>
        </p:spPr>
      </p:pic>
      <p:sp>
        <p:nvSpPr>
          <p:cNvPr id="4" name="Text 0"/>
          <p:cNvSpPr/>
          <p:nvPr/>
        </p:nvSpPr>
        <p:spPr>
          <a:xfrm>
            <a:off x="457200" y="786384"/>
            <a:ext cx="11274552" cy="512064"/>
          </a:xfrm>
          <a:prstGeom prst="rect">
            <a:avLst/>
          </a:prstGeom>
          <a:noFill/>
          <a:ln/>
        </p:spPr>
        <p:txBody>
          <a:bodyPr wrap="square" lIns="0" tIns="0" rIns="0" bIns="0" rtlCol="0" anchor="ctr"/>
          <a:lstStyle/>
          <a:p>
            <a:pPr indent="0" marL="0">
              <a:buNone/>
            </a:pPr>
            <a:r>
              <a:rPr lang="en-US" sz="2900" b="1" spc="-30" kern="0" dirty="0">
                <a:solidFill>
                  <a:srgbClr val="000000"/>
                </a:solidFill>
                <a:latin typeface="Libre Franklin" pitchFamily="34" charset="0"/>
                <a:ea typeface="Libre Franklin" pitchFamily="34" charset="-122"/>
                <a:cs typeface="Libre Franklin" pitchFamily="34" charset="-120"/>
              </a:rPr>
              <a:t>What holds, what does not</a:t>
            </a:r>
            <a:endParaRPr lang="en-US" sz="2900" dirty="0"/>
          </a:p>
        </p:txBody>
      </p:sp>
      <p:sp>
        <p:nvSpPr>
          <p:cNvPr id="5" name="Text 1"/>
          <p:cNvSpPr/>
          <p:nvPr/>
        </p:nvSpPr>
        <p:spPr>
          <a:xfrm>
            <a:off x="11384280" y="6355080"/>
            <a:ext cx="365760" cy="219456"/>
          </a:xfrm>
          <a:prstGeom prst="rect">
            <a:avLst/>
          </a:prstGeom>
          <a:noFill/>
          <a:ln/>
        </p:spPr>
        <p:txBody>
          <a:bodyPr wrap="square" lIns="0" tIns="0" rIns="0" bIns="0" rtlCol="0" anchor="ctr"/>
          <a:lstStyle/>
          <a:p>
            <a:pPr algn="r" indent="0" marL="0">
              <a:buNone/>
            </a:pPr>
            <a:r>
              <a:rPr lang="en-US" sz="1000" dirty="0">
                <a:solidFill>
                  <a:srgbClr val="91BAF4"/>
                </a:solidFill>
                <a:latin typeface="Libre Franklin Medium" pitchFamily="34" charset="0"/>
                <a:ea typeface="Libre Franklin Medium" pitchFamily="34" charset="-122"/>
                <a:cs typeface="Libre Franklin Medium" pitchFamily="34" charset="-120"/>
              </a:rPr>
              <a:t>10</a:t>
            </a:r>
            <a:endParaRPr lang="en-US" sz="1000" dirty="0"/>
          </a:p>
        </p:txBody>
      </p:sp>
      <p:sp>
        <p:nvSpPr>
          <p:cNvPr id="6" name="Text 2"/>
          <p:cNvSpPr/>
          <p:nvPr/>
        </p:nvSpPr>
        <p:spPr>
          <a:xfrm>
            <a:off x="457200" y="1691640"/>
            <a:ext cx="5486400" cy="219456"/>
          </a:xfrm>
          <a:prstGeom prst="rect">
            <a:avLst/>
          </a:prstGeom>
          <a:noFill/>
          <a:ln/>
        </p:spPr>
        <p:txBody>
          <a:bodyPr wrap="square" lIns="0" tIns="0" rIns="0" bIns="0" rtlCol="0" anchor="ctr"/>
          <a:lstStyle/>
          <a:p>
            <a:pPr indent="0" marL="0">
              <a:buNone/>
            </a:pPr>
            <a:r>
              <a:rPr lang="en-US" sz="1050" b="1" spc="60" kern="0" dirty="0">
                <a:solidFill>
                  <a:srgbClr val="3366FF"/>
                </a:solidFill>
                <a:latin typeface="Libre Franklin" pitchFamily="34" charset="0"/>
                <a:ea typeface="Libre Franklin" pitchFamily="34" charset="-122"/>
                <a:cs typeface="Libre Franklin" pitchFamily="34" charset="-120"/>
              </a:rPr>
              <a:t>HOLDS</a:t>
            </a:r>
            <a:endParaRPr lang="en-US" sz="1050" dirty="0"/>
          </a:p>
        </p:txBody>
      </p:sp>
      <p:sp>
        <p:nvSpPr>
          <p:cNvPr id="7" name="Text 3"/>
          <p:cNvSpPr/>
          <p:nvPr/>
        </p:nvSpPr>
        <p:spPr>
          <a:xfrm>
            <a:off x="457200" y="1975104"/>
            <a:ext cx="5486400" cy="137160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000000"/>
                </a:solidFill>
                <a:latin typeface="Libre Franklin Medium" pitchFamily="34" charset="0"/>
                <a:ea typeface="Libre Franklin Medium" pitchFamily="34" charset="-122"/>
                <a:cs typeface="Libre Franklin Medium" pitchFamily="34" charset="-120"/>
              </a:rPr>
              <a:t>The 42.3 point screening difference, under every inclusion rule we tried.</a:t>
            </a:r>
            <a:endParaRPr lang="en-US" sz="1300" dirty="0"/>
          </a:p>
          <a:p>
            <a:pPr marL="342900" indent="-342900">
              <a:spcAft>
                <a:spcPts val="800"/>
              </a:spcAft>
              <a:buSzPct val="100000"/>
              <a:buChar char="•"/>
            </a:pPr>
            <a:r>
              <a:rPr lang="en-US" sz="1300" dirty="0">
                <a:solidFill>
                  <a:srgbClr val="000000"/>
                </a:solidFill>
                <a:latin typeface="Libre Franklin Medium" pitchFamily="34" charset="0"/>
                <a:ea typeface="Libre Franklin Medium" pitchFamily="34" charset="-122"/>
                <a:cs typeface="Libre Franklin Medium" pitchFamily="34" charset="-120"/>
              </a:rPr>
              <a:t>The current cohort is clean: only 3 flagged records among 135.</a:t>
            </a:r>
            <a:endParaRPr lang="en-US" sz="1300" dirty="0"/>
          </a:p>
          <a:p>
            <a:pPr marL="342900" indent="-342900">
              <a:spcAft>
                <a:spcPts val="800"/>
              </a:spcAft>
              <a:buSzPct val="100000"/>
              <a:buChar char="•"/>
            </a:pPr>
            <a:r>
              <a:rPr lang="en-US" sz="1300" dirty="0">
                <a:solidFill>
                  <a:srgbClr val="000000"/>
                </a:solidFill>
                <a:latin typeface="Libre Franklin Medium" pitchFamily="34" charset="0"/>
                <a:ea typeface="Libre Franklin Medium" pitchFamily="34" charset="-122"/>
                <a:cs typeface="Libre Franklin Medium" pitchFamily="34" charset="-120"/>
              </a:rPr>
              <a:t>The analysis reruns and reproduces all 17 earlier results exactly.</a:t>
            </a:r>
            <a:endParaRPr lang="en-US" sz="1300" dirty="0"/>
          </a:p>
        </p:txBody>
      </p:sp>
      <p:sp>
        <p:nvSpPr>
          <p:cNvPr id="8" name="Text 4"/>
          <p:cNvSpPr/>
          <p:nvPr/>
        </p:nvSpPr>
        <p:spPr>
          <a:xfrm>
            <a:off x="6245352" y="1691640"/>
            <a:ext cx="5486400" cy="219456"/>
          </a:xfrm>
          <a:prstGeom prst="rect">
            <a:avLst/>
          </a:prstGeom>
          <a:noFill/>
          <a:ln/>
        </p:spPr>
        <p:txBody>
          <a:bodyPr wrap="square" lIns="0" tIns="0" rIns="0" bIns="0" rtlCol="0" anchor="ctr"/>
          <a:lstStyle/>
          <a:p>
            <a:pPr indent="0" marL="0">
              <a:buNone/>
            </a:pPr>
            <a:r>
              <a:rPr lang="en-US" sz="1050" b="1" spc="60" kern="0" dirty="0">
                <a:solidFill>
                  <a:srgbClr val="F57F00"/>
                </a:solidFill>
                <a:latin typeface="Libre Franklin" pitchFamily="34" charset="0"/>
                <a:ea typeface="Libre Franklin" pitchFamily="34" charset="-122"/>
                <a:cs typeface="Libre Franklin" pitchFamily="34" charset="-120"/>
              </a:rPr>
              <a:t>DOES NOT</a:t>
            </a:r>
            <a:endParaRPr lang="en-US" sz="1050" dirty="0"/>
          </a:p>
        </p:txBody>
      </p:sp>
      <p:sp>
        <p:nvSpPr>
          <p:cNvPr id="9" name="Text 5"/>
          <p:cNvSpPr/>
          <p:nvPr/>
        </p:nvSpPr>
        <p:spPr>
          <a:xfrm>
            <a:off x="6245352" y="1975104"/>
            <a:ext cx="5486400" cy="137160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000000"/>
                </a:solidFill>
                <a:latin typeface="Libre Franklin Medium" pitchFamily="34" charset="0"/>
                <a:ea typeface="Libre Franklin Medium" pitchFamily="34" charset="-122"/>
                <a:cs typeface="Libre Franklin Medium" pitchFamily="34" charset="-120"/>
              </a:rPr>
              <a:t>Two groups. One fit measure prefers three, and a different method splits 131 into 110 and 21 rather than 84 and 47.</a:t>
            </a:r>
            <a:endParaRPr lang="en-US" sz="1300" dirty="0"/>
          </a:p>
          <a:p>
            <a:pPr marL="342900" indent="-342900">
              <a:spcAft>
                <a:spcPts val="800"/>
              </a:spcAft>
              <a:buSzPct val="100000"/>
              <a:buChar char="•"/>
            </a:pPr>
            <a:r>
              <a:rPr lang="en-US" sz="1300" dirty="0">
                <a:solidFill>
                  <a:srgbClr val="000000"/>
                </a:solidFill>
                <a:latin typeface="Libre Franklin Medium" pitchFamily="34" charset="0"/>
                <a:ea typeface="Libre Franklin Medium" pitchFamily="34" charset="-122"/>
                <a:cs typeface="Libre Franklin Medium" pitchFamily="34" charset="-120"/>
              </a:rPr>
              <a:t>The 4581 comparison. It differs in questionnaire and timing, so we cannot separate bad responses from an ordinary cohort difference.</a:t>
            </a:r>
            <a:endParaRPr lang="en-US" sz="1300" dirty="0"/>
          </a:p>
        </p:txBody>
      </p:sp>
      <p:sp>
        <p:nvSpPr>
          <p:cNvPr id="10" name="Shape 6"/>
          <p:cNvSpPr/>
          <p:nvPr/>
        </p:nvSpPr>
        <p:spPr>
          <a:xfrm>
            <a:off x="457200" y="3584448"/>
            <a:ext cx="11274552" cy="10058"/>
          </a:xfrm>
          <a:prstGeom prst="rect">
            <a:avLst/>
          </a:prstGeom>
          <a:solidFill>
            <a:srgbClr val="E6EEFC"/>
          </a:solidFill>
          <a:ln w="12700">
            <a:solidFill>
              <a:srgbClr val="E6EEFC"/>
            </a:solidFill>
            <a:prstDash val="solid"/>
          </a:ln>
        </p:spPr>
      </p:sp>
      <p:sp>
        <p:nvSpPr>
          <p:cNvPr id="11" name="Text 7"/>
          <p:cNvSpPr/>
          <p:nvPr/>
        </p:nvSpPr>
        <p:spPr>
          <a:xfrm>
            <a:off x="457200" y="3785616"/>
            <a:ext cx="5486400" cy="219456"/>
          </a:xfrm>
          <a:prstGeom prst="rect">
            <a:avLst/>
          </a:prstGeom>
          <a:noFill/>
          <a:ln/>
        </p:spPr>
        <p:txBody>
          <a:bodyPr wrap="square" lIns="0" tIns="0" rIns="0" bIns="0" rtlCol="0" anchor="ctr"/>
          <a:lstStyle/>
          <a:p>
            <a:pPr indent="0" marL="0">
              <a:buNone/>
            </a:pPr>
            <a:r>
              <a:rPr lang="en-US" sz="1050" b="1" spc="60" kern="0" dirty="0">
                <a:solidFill>
                  <a:srgbClr val="3366FF"/>
                </a:solidFill>
                <a:latin typeface="Libre Franklin" pitchFamily="34" charset="0"/>
                <a:ea typeface="Libre Franklin" pitchFamily="34" charset="-122"/>
                <a:cs typeface="Libre Franklin" pitchFamily="34" charset="-120"/>
              </a:rPr>
              <a:t>NEXT</a:t>
            </a:r>
            <a:endParaRPr lang="en-US" sz="1050" dirty="0"/>
          </a:p>
        </p:txBody>
      </p:sp>
      <p:sp>
        <p:nvSpPr>
          <p:cNvPr id="12" name="Text 8"/>
          <p:cNvSpPr/>
          <p:nvPr/>
        </p:nvSpPr>
        <p:spPr>
          <a:xfrm>
            <a:off x="457200" y="4114800"/>
            <a:ext cx="822960" cy="292608"/>
          </a:xfrm>
          <a:prstGeom prst="rect">
            <a:avLst/>
          </a:prstGeom>
          <a:noFill/>
          <a:ln/>
        </p:spPr>
        <p:txBody>
          <a:bodyPr wrap="square" lIns="0" tIns="0" rIns="0" bIns="0" rtlCol="0" anchor="ctr"/>
          <a:lstStyle/>
          <a:p>
            <a:pPr indent="0" marL="0">
              <a:buNone/>
            </a:pPr>
            <a:r>
              <a:rPr lang="en-US" sz="2000" b="1" dirty="0">
                <a:solidFill>
                  <a:srgbClr val="91BAF4"/>
                </a:solidFill>
                <a:latin typeface="Libre Franklin" pitchFamily="34" charset="0"/>
                <a:ea typeface="Libre Franklin" pitchFamily="34" charset="-122"/>
                <a:cs typeface="Libre Franklin" pitchFamily="34" charset="-120"/>
              </a:rPr>
              <a:t>1</a:t>
            </a:r>
            <a:endParaRPr lang="en-US" sz="2000" dirty="0"/>
          </a:p>
        </p:txBody>
      </p:sp>
      <p:sp>
        <p:nvSpPr>
          <p:cNvPr id="13" name="Text 9"/>
          <p:cNvSpPr/>
          <p:nvPr/>
        </p:nvSpPr>
        <p:spPr>
          <a:xfrm>
            <a:off x="457200" y="4462272"/>
            <a:ext cx="2606040" cy="512064"/>
          </a:xfrm>
          <a:prstGeom prst="rect">
            <a:avLst/>
          </a:prstGeom>
          <a:noFill/>
          <a:ln/>
        </p:spPr>
        <p:txBody>
          <a:bodyPr wrap="square" lIns="0" tIns="0" rIns="0" bIns="0" rtlCol="0" anchor="ctr"/>
          <a:lstStyle/>
          <a:p>
            <a:pPr indent="0" marL="0">
              <a:buNone/>
            </a:pPr>
            <a:r>
              <a:rPr lang="en-US" sz="1250" b="1" dirty="0">
                <a:solidFill>
                  <a:srgbClr val="000000"/>
                </a:solidFill>
                <a:latin typeface="Libre Franklin" pitchFamily="34" charset="0"/>
                <a:ea typeface="Libre Franklin" pitchFamily="34" charset="-122"/>
                <a:cs typeface="Libre Franklin" pitchFamily="34" charset="-120"/>
              </a:rPr>
              <a:t>Collect more clean records</a:t>
            </a:r>
            <a:endParaRPr lang="en-US" sz="1250" dirty="0"/>
          </a:p>
        </p:txBody>
      </p:sp>
      <p:sp>
        <p:nvSpPr>
          <p:cNvPr id="14" name="Text 10"/>
          <p:cNvSpPr/>
          <p:nvPr/>
        </p:nvSpPr>
        <p:spPr>
          <a:xfrm>
            <a:off x="457200" y="4992624"/>
            <a:ext cx="2606040" cy="402336"/>
          </a:xfrm>
          <a:prstGeom prst="rect">
            <a:avLst/>
          </a:prstGeom>
          <a:noFill/>
          <a:ln/>
        </p:spPr>
        <p:txBody>
          <a:bodyPr wrap="square" lIns="0" tIns="0" rIns="0" bIns="0" rtlCol="0" anchor="ctr"/>
          <a:lstStyle/>
          <a:p>
            <a:pPr indent="0" marL="0">
              <a:buNone/>
            </a:pPr>
            <a:r>
              <a:rPr lang="en-US" sz="1100" dirty="0">
                <a:solidFill>
                  <a:srgbClr val="52525B"/>
                </a:solidFill>
                <a:latin typeface="Libre Franklin Medium" pitchFamily="34" charset="0"/>
                <a:ea typeface="Libre Franklin Medium" pitchFamily="34" charset="-122"/>
                <a:cs typeface="Libre Franklin Medium" pitchFamily="34" charset="-120"/>
              </a:rPr>
              <a:t>Keep all three checks switched on</a:t>
            </a:r>
            <a:endParaRPr lang="en-US" sz="1100" dirty="0"/>
          </a:p>
        </p:txBody>
      </p:sp>
      <p:sp>
        <p:nvSpPr>
          <p:cNvPr id="15" name="Text 11"/>
          <p:cNvSpPr/>
          <p:nvPr/>
        </p:nvSpPr>
        <p:spPr>
          <a:xfrm>
            <a:off x="3300984" y="4114800"/>
            <a:ext cx="822960" cy="292608"/>
          </a:xfrm>
          <a:prstGeom prst="rect">
            <a:avLst/>
          </a:prstGeom>
          <a:noFill/>
          <a:ln/>
        </p:spPr>
        <p:txBody>
          <a:bodyPr wrap="square" lIns="0" tIns="0" rIns="0" bIns="0" rtlCol="0" anchor="ctr"/>
          <a:lstStyle/>
          <a:p>
            <a:pPr indent="0" marL="0">
              <a:buNone/>
            </a:pPr>
            <a:r>
              <a:rPr lang="en-US" sz="2000" b="1" dirty="0">
                <a:solidFill>
                  <a:srgbClr val="91BAF4"/>
                </a:solidFill>
                <a:latin typeface="Libre Franklin" pitchFamily="34" charset="0"/>
                <a:ea typeface="Libre Franklin" pitchFamily="34" charset="-122"/>
                <a:cs typeface="Libre Franklin" pitchFamily="34" charset="-120"/>
              </a:rPr>
              <a:t>2</a:t>
            </a:r>
            <a:endParaRPr lang="en-US" sz="2000" dirty="0"/>
          </a:p>
        </p:txBody>
      </p:sp>
      <p:sp>
        <p:nvSpPr>
          <p:cNvPr id="16" name="Text 12"/>
          <p:cNvSpPr/>
          <p:nvPr/>
        </p:nvSpPr>
        <p:spPr>
          <a:xfrm>
            <a:off x="3300984" y="4462272"/>
            <a:ext cx="2606040" cy="512064"/>
          </a:xfrm>
          <a:prstGeom prst="rect">
            <a:avLst/>
          </a:prstGeom>
          <a:noFill/>
          <a:ln/>
        </p:spPr>
        <p:txBody>
          <a:bodyPr wrap="square" lIns="0" tIns="0" rIns="0" bIns="0" rtlCol="0" anchor="ctr"/>
          <a:lstStyle/>
          <a:p>
            <a:pPr indent="0" marL="0">
              <a:buNone/>
            </a:pPr>
            <a:r>
              <a:rPr lang="en-US" sz="1250" b="1" dirty="0">
                <a:solidFill>
                  <a:srgbClr val="000000"/>
                </a:solidFill>
                <a:latin typeface="Libre Franklin" pitchFamily="34" charset="0"/>
                <a:ea typeface="Libre Franklin" pitchFamily="34" charset="-122"/>
                <a:cs typeface="Libre Franklin" pitchFamily="34" charset="-120"/>
              </a:rPr>
              <a:t>Document the cohort file and answer key</a:t>
            </a:r>
            <a:endParaRPr lang="en-US" sz="1250" dirty="0"/>
          </a:p>
        </p:txBody>
      </p:sp>
      <p:sp>
        <p:nvSpPr>
          <p:cNvPr id="17" name="Text 13"/>
          <p:cNvSpPr/>
          <p:nvPr/>
        </p:nvSpPr>
        <p:spPr>
          <a:xfrm>
            <a:off x="3300984" y="4992624"/>
            <a:ext cx="2606040" cy="402336"/>
          </a:xfrm>
          <a:prstGeom prst="rect">
            <a:avLst/>
          </a:prstGeom>
          <a:noFill/>
          <a:ln/>
        </p:spPr>
        <p:txBody>
          <a:bodyPr wrap="square" lIns="0" tIns="0" rIns="0" bIns="0" rtlCol="0" anchor="ctr"/>
          <a:lstStyle/>
          <a:p>
            <a:pPr indent="0" marL="0">
              <a:buNone/>
            </a:pPr>
            <a:r>
              <a:rPr lang="en-US" sz="1100" dirty="0">
                <a:solidFill>
                  <a:srgbClr val="52525B"/>
                </a:solidFill>
                <a:latin typeface="Libre Franklin Medium" pitchFamily="34" charset="0"/>
                <a:ea typeface="Libre Franklin Medium" pitchFamily="34" charset="-122"/>
                <a:cs typeface="Libre Franklin Medium" pitchFamily="34" charset="-120"/>
              </a:rPr>
              <a:t>Two open items</a:t>
            </a:r>
            <a:endParaRPr lang="en-US" sz="1100" dirty="0"/>
          </a:p>
        </p:txBody>
      </p:sp>
      <p:sp>
        <p:nvSpPr>
          <p:cNvPr id="18" name="Text 14"/>
          <p:cNvSpPr/>
          <p:nvPr/>
        </p:nvSpPr>
        <p:spPr>
          <a:xfrm>
            <a:off x="6144768" y="4114800"/>
            <a:ext cx="822960" cy="292608"/>
          </a:xfrm>
          <a:prstGeom prst="rect">
            <a:avLst/>
          </a:prstGeom>
          <a:noFill/>
          <a:ln/>
        </p:spPr>
        <p:txBody>
          <a:bodyPr wrap="square" lIns="0" tIns="0" rIns="0" bIns="0" rtlCol="0" anchor="ctr"/>
          <a:lstStyle/>
          <a:p>
            <a:pPr indent="0" marL="0">
              <a:buNone/>
            </a:pPr>
            <a:r>
              <a:rPr lang="en-US" sz="2000" b="1" dirty="0">
                <a:solidFill>
                  <a:srgbClr val="91BAF4"/>
                </a:solidFill>
                <a:latin typeface="Libre Franklin" pitchFamily="34" charset="0"/>
                <a:ea typeface="Libre Franklin" pitchFamily="34" charset="-122"/>
                <a:cs typeface="Libre Franklin" pitchFamily="34" charset="-120"/>
              </a:rPr>
              <a:t>3</a:t>
            </a:r>
            <a:endParaRPr lang="en-US" sz="2000" dirty="0"/>
          </a:p>
        </p:txBody>
      </p:sp>
      <p:sp>
        <p:nvSpPr>
          <p:cNvPr id="19" name="Text 15"/>
          <p:cNvSpPr/>
          <p:nvPr/>
        </p:nvSpPr>
        <p:spPr>
          <a:xfrm>
            <a:off x="6144768" y="4462272"/>
            <a:ext cx="2606040" cy="512064"/>
          </a:xfrm>
          <a:prstGeom prst="rect">
            <a:avLst/>
          </a:prstGeom>
          <a:noFill/>
          <a:ln/>
        </p:spPr>
        <p:txBody>
          <a:bodyPr wrap="square" lIns="0" tIns="0" rIns="0" bIns="0" rtlCol="0" anchor="ctr"/>
          <a:lstStyle/>
          <a:p>
            <a:pPr indent="0" marL="0">
              <a:buNone/>
            </a:pPr>
            <a:r>
              <a:rPr lang="en-US" sz="1250" b="1" dirty="0">
                <a:solidFill>
                  <a:srgbClr val="000000"/>
                </a:solidFill>
                <a:latin typeface="Libre Franklin" pitchFamily="34" charset="0"/>
                <a:ea typeface="Libre Franklin" pitchFamily="34" charset="-122"/>
                <a:cs typeface="Libre Franklin" pitchFamily="34" charset="-120"/>
              </a:rPr>
              <a:t>Rerun the checks as numbers grow</a:t>
            </a:r>
            <a:endParaRPr lang="en-US" sz="1250" dirty="0"/>
          </a:p>
        </p:txBody>
      </p:sp>
      <p:sp>
        <p:nvSpPr>
          <p:cNvPr id="20" name="Text 16"/>
          <p:cNvSpPr/>
          <p:nvPr/>
        </p:nvSpPr>
        <p:spPr>
          <a:xfrm>
            <a:off x="6144768" y="4992624"/>
            <a:ext cx="2606040" cy="402336"/>
          </a:xfrm>
          <a:prstGeom prst="rect">
            <a:avLst/>
          </a:prstGeom>
          <a:noFill/>
          <a:ln/>
        </p:spPr>
        <p:txBody>
          <a:bodyPr wrap="square" lIns="0" tIns="0" rIns="0" bIns="0" rtlCol="0" anchor="ctr"/>
          <a:lstStyle/>
          <a:p>
            <a:pPr indent="0" marL="0">
              <a:buNone/>
            </a:pPr>
            <a:r>
              <a:rPr lang="en-US" sz="1100" dirty="0">
                <a:solidFill>
                  <a:srgbClr val="52525B"/>
                </a:solidFill>
                <a:latin typeface="Libre Franklin Medium" pitchFamily="34" charset="0"/>
                <a:ea typeface="Libre Franklin Medium" pitchFamily="34" charset="-122"/>
                <a:cs typeface="Libre Franklin Medium" pitchFamily="34" charset="-120"/>
              </a:rPr>
              <a:t>Same five inclusion rules</a:t>
            </a:r>
            <a:endParaRPr lang="en-US" sz="1100" dirty="0"/>
          </a:p>
        </p:txBody>
      </p:sp>
      <p:sp>
        <p:nvSpPr>
          <p:cNvPr id="21" name="Text 17"/>
          <p:cNvSpPr/>
          <p:nvPr/>
        </p:nvSpPr>
        <p:spPr>
          <a:xfrm>
            <a:off x="8988552" y="4114800"/>
            <a:ext cx="822960" cy="292608"/>
          </a:xfrm>
          <a:prstGeom prst="rect">
            <a:avLst/>
          </a:prstGeom>
          <a:noFill/>
          <a:ln/>
        </p:spPr>
        <p:txBody>
          <a:bodyPr wrap="square" lIns="0" tIns="0" rIns="0" bIns="0" rtlCol="0" anchor="ctr"/>
          <a:lstStyle/>
          <a:p>
            <a:pPr indent="0" marL="0">
              <a:buNone/>
            </a:pPr>
            <a:r>
              <a:rPr lang="en-US" sz="2000" b="1" dirty="0">
                <a:solidFill>
                  <a:srgbClr val="91BAF4"/>
                </a:solidFill>
                <a:latin typeface="Libre Franklin" pitchFamily="34" charset="0"/>
                <a:ea typeface="Libre Franklin" pitchFamily="34" charset="-122"/>
                <a:cs typeface="Libre Franklin" pitchFamily="34" charset="-120"/>
              </a:rPr>
              <a:t>4</a:t>
            </a:r>
            <a:endParaRPr lang="en-US" sz="2000" dirty="0"/>
          </a:p>
        </p:txBody>
      </p:sp>
      <p:sp>
        <p:nvSpPr>
          <p:cNvPr id="22" name="Text 18"/>
          <p:cNvSpPr/>
          <p:nvPr/>
        </p:nvSpPr>
        <p:spPr>
          <a:xfrm>
            <a:off x="8988552" y="4462272"/>
            <a:ext cx="2606040" cy="512064"/>
          </a:xfrm>
          <a:prstGeom prst="rect">
            <a:avLst/>
          </a:prstGeom>
          <a:noFill/>
          <a:ln/>
        </p:spPr>
        <p:txBody>
          <a:bodyPr wrap="square" lIns="0" tIns="0" rIns="0" bIns="0" rtlCol="0" anchor="ctr"/>
          <a:lstStyle/>
          <a:p>
            <a:pPr indent="0" marL="0">
              <a:buNone/>
            </a:pPr>
            <a:r>
              <a:rPr lang="en-US" sz="1250" b="1" dirty="0">
                <a:solidFill>
                  <a:srgbClr val="000000"/>
                </a:solidFill>
                <a:latin typeface="Libre Franklin" pitchFamily="34" charset="0"/>
                <a:ea typeface="Libre Franklin" pitchFamily="34" charset="-122"/>
                <a:cs typeface="Libre Franklin" pitchFamily="34" charset="-120"/>
              </a:rPr>
              <a:t>Say groups, not types</a:t>
            </a:r>
            <a:endParaRPr lang="en-US" sz="1250" dirty="0"/>
          </a:p>
        </p:txBody>
      </p:sp>
      <p:sp>
        <p:nvSpPr>
          <p:cNvPr id="23" name="Text 19"/>
          <p:cNvSpPr/>
          <p:nvPr/>
        </p:nvSpPr>
        <p:spPr>
          <a:xfrm>
            <a:off x="8988552" y="4992624"/>
            <a:ext cx="2606040" cy="402336"/>
          </a:xfrm>
          <a:prstGeom prst="rect">
            <a:avLst/>
          </a:prstGeom>
          <a:noFill/>
          <a:ln/>
        </p:spPr>
        <p:txBody>
          <a:bodyPr wrap="square" lIns="0" tIns="0" rIns="0" bIns="0" rtlCol="0" anchor="ctr"/>
          <a:lstStyle/>
          <a:p>
            <a:pPr indent="0" marL="0">
              <a:buNone/>
            </a:pPr>
            <a:r>
              <a:rPr lang="en-US" sz="1100" dirty="0">
                <a:solidFill>
                  <a:srgbClr val="52525B"/>
                </a:solidFill>
                <a:latin typeface="Libre Franklin Medium" pitchFamily="34" charset="0"/>
                <a:ea typeface="Libre Franklin Medium" pitchFamily="34" charset="-122"/>
                <a:cs typeface="Libre Franklin Medium" pitchFamily="34" charset="-120"/>
              </a:rPr>
              <a:t>In the write-up</a:t>
            </a:r>
            <a:endParaRPr lang="en-US" sz="1100" dirty="0"/>
          </a:p>
        </p:txBody>
      </p:sp>
      <p:sp>
        <p:nvSpPr>
          <p:cNvPr id="24" name="Shape 20"/>
          <p:cNvSpPr/>
          <p:nvPr/>
        </p:nvSpPr>
        <p:spPr>
          <a:xfrm>
            <a:off x="457200" y="5532120"/>
            <a:ext cx="11274552" cy="713232"/>
          </a:xfrm>
          <a:prstGeom prst="roundRect">
            <a:avLst>
              <a:gd name="adj" fmla="val 15385"/>
            </a:avLst>
          </a:prstGeom>
          <a:solidFill>
            <a:srgbClr val="E6EEFC"/>
          </a:solidFill>
          <a:ln w="12700">
            <a:solidFill>
              <a:srgbClr val="E6EEFC"/>
            </a:solidFill>
            <a:prstDash val="solid"/>
          </a:ln>
        </p:spPr>
      </p:sp>
      <p:sp>
        <p:nvSpPr>
          <p:cNvPr id="25" name="Text 21"/>
          <p:cNvSpPr/>
          <p:nvPr/>
        </p:nvSpPr>
        <p:spPr>
          <a:xfrm>
            <a:off x="731520" y="5632704"/>
            <a:ext cx="10698480" cy="530352"/>
          </a:xfrm>
          <a:prstGeom prst="rect">
            <a:avLst/>
          </a:prstGeom>
          <a:noFill/>
          <a:ln/>
        </p:spPr>
        <p:txBody>
          <a:bodyPr wrap="square" lIns="0" tIns="0" rIns="0" bIns="0" rtlCol="0" anchor="ctr"/>
          <a:lstStyle/>
          <a:p>
            <a:pPr indent="0" marL="0">
              <a:buNone/>
            </a:pPr>
            <a:r>
              <a:rPr lang="en-US" sz="1400" b="1" dirty="0">
                <a:solidFill>
                  <a:srgbClr val="3366FF"/>
                </a:solidFill>
                <a:latin typeface="Libre Franklin" pitchFamily="34" charset="0"/>
                <a:ea typeface="Libre Franklin" pitchFamily="34" charset="-122"/>
                <a:cs typeface="Libre Franklin" pitchFamily="34" charset="-120"/>
              </a:rPr>
              <a:t>For the clinic: keep the option low-effort, and lead with trust and consent rather than with facts about autism.</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University of South Carolina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Caregiver Acceptability and 4-Month Autism Screening</dc:title>
  <dc:subject>PptxGenJS Presentation</dc:subject>
  <dc:creator>Early Social Development Lab</dc:creator>
  <cp:lastModifiedBy>Early Social Development Lab</cp:lastModifiedBy>
  <cp:revision>1</cp:revision>
  <dcterms:created xsi:type="dcterms:W3CDTF">2026-08-10T00:26:45Z</dcterms:created>
  <dcterms:modified xsi:type="dcterms:W3CDTF">2026-08-10T00:26:45Z</dcterms:modified>
</cp:coreProperties>
</file>