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jobs today. First, answer the five questions we sent back on the outside report. Second, show the screen we already run here, and agree how we use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projects behave nothing alike. One is small and verified. The other is large and was flooded during an open recruitment window. Only thirty one records are people we can actually vouch for, and that thinness limits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asymmetry is the root of most of the disagreement. We can prove a record is real. We cannot prove a record is fake. So any model trained on this set is learning a confident human label and an uncertain bot label, and it cannot tell you which of the two it got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where it is due. On a sample this small, with signals this simple, separating the two piles this cleanly is a real result. The model does what it was asked to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detector trades these two against each other. Catch more bots and you catch more real people. That trade is a policy choice about what a wrongly excluded family costs us, and it belongs to the team, not to whoever tuned the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the signals come from decades of survey quality research on people who rush or coast. The other half came from looking at this dataset. The one thing I would change is the order. Choose the signals on one slice of the labels, then grade on another.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quotes the one at a time check. Figure 2 shows what each signal still adds once all twenty one are in the room. They disagree because the pacing signals absorbed the timing information. Say which check each claim comes from and the contradiction disappears.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hard on a first read because it packs three things into one picture. Position, colour and crowding all mean different things. Once you know a dot is a person, sideways is the nudge and colour is that person's score, it reads easily.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looked for a full dataset count and it is not there. I think that was good instinct rather than an oversight. What we can offer instead is a count that does not depend on a cut-off at all, because it comes from rules rather than from a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choice I would defend hardest is who has authority. In the other approach the model decides and the rules explain. Here the rules decide and the model audits. A reviewer can read a rule and disagree with it. Nobody can argue productively with a score.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 detection rule without saying how many real people it catches is like reporting a screening test without its specificity. Top panel is reach, bottom panel is cost, and the cost is measured against people we independently know are real.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could keep one slide it would be this one. Everything else in bot detection is an argument about how unusual is too unusual. This is not that. A record with both mutually exclusive fields filled in is not suspicious, it is impossible. Tightening this cost us no good data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yes or no label forces a decision we do not have the evidence to make. A ladder lets us say what we actually know, which is that this record broke a rule the form cannot break, or that this record is merely fast.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 a reviewer will ask for. If the answer changed when we tightened or loosened the cleaning rules, it was never a finding. It moved between 42 and 52 percentage points and the confidence bars never touched zero.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is the expensive way to solve this. Every hour spent arguing about a cut-off is an hour we would not have spent if the form had made the bad record impossible to submit. The hidden field and the strict gates are close to free. Paying after screening changes the economics completely, because most of this traffic is chasing a payment.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these are already how the pipeline behaves. The one that needs a real conversation is number three, because it is a value judgement about families rather than a technical setting.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came straight out of the last meeting and it has not been acted on. We stripped the emails for a good reason, and that was the right call. But the consequence is that the outside model was asked to find bots with one hand tied, and then we judged the result. Bring the field back inside our own scope and the whole screen gets sharper without touching a single threshold.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d_top.png"/>
          <p:cNvPicPr>
            <a:picLocks noChangeAspect="1"/>
          </p:cNvPicPr>
          <p:nvPr/>
        </p:nvPicPr>
        <p:blipFill>
          <a:blip r:embed="rId2"/>
          <a:stretch>
            <a:fillRect/>
          </a:stretch>
        </p:blipFill>
        <p:spPr>
          <a:xfrm>
            <a:off x="0" y="0"/>
            <a:ext cx="12191695" cy="1297975"/>
          </a:xfrm>
          <a:prstGeom prst="rect">
            <a:avLst/>
          </a:prstGeom>
        </p:spPr>
      </p:pic>
      <p:pic>
        <p:nvPicPr>
          <p:cNvPr id="4" name="Picture 3" descr="band_top.png"/>
          <p:cNvPicPr>
            <a:picLocks noChangeAspect="1"/>
          </p:cNvPicPr>
          <p:nvPr/>
        </p:nvPicPr>
        <p:blipFill>
          <a:blip r:embed="rId2"/>
          <a:stretch>
            <a:fillRect/>
          </a:stretch>
        </p:blipFill>
        <p:spPr>
          <a:xfrm>
            <a:off x="0" y="5560024"/>
            <a:ext cx="12191695" cy="1297975"/>
          </a:xfrm>
          <a:prstGeom prst="rect">
            <a:avLst/>
          </a:prstGeom>
        </p:spPr>
      </p:pic>
      <p:pic>
        <p:nvPicPr>
          <p:cNvPr id="5" name="Picture 4" descr="logo-horizontal-cool-white.png"/>
          <p:cNvPicPr>
            <a:picLocks noChangeAspect="1"/>
          </p:cNvPicPr>
          <p:nvPr/>
        </p:nvPicPr>
        <p:blipFill>
          <a:blip r:embed="rId3"/>
          <a:stretch>
            <a:fillRect/>
          </a:stretch>
        </p:blipFill>
        <p:spPr>
          <a:xfrm>
            <a:off x="548640" y="1700784"/>
            <a:ext cx="900896" cy="420624"/>
          </a:xfrm>
          <a:prstGeom prst="rect">
            <a:avLst/>
          </a:prstGeom>
        </p:spPr>
      </p:pic>
      <p:sp>
        <p:nvSpPr>
          <p:cNvPr id="6" name="TextBox 5"/>
          <p:cNvSpPr txBox="1"/>
          <p:nvPr/>
        </p:nvSpPr>
        <p:spPr>
          <a:xfrm>
            <a:off x="548640" y="2615184"/>
            <a:ext cx="10424160" cy="274320"/>
          </a:xfrm>
          <a:prstGeom prst="rect">
            <a:avLst/>
          </a:prstGeom>
          <a:noFill/>
        </p:spPr>
        <p:txBody>
          <a:bodyPr wrap="square" lIns="0" rIns="0" tIns="0" bIns="0" anchor="t">
            <a:spAutoFit/>
          </a:bodyPr>
          <a:lstStyle/>
          <a:p>
            <a:pPr algn="l">
              <a:spcAft>
                <a:spcPts val="0"/>
              </a:spcAft>
            </a:pPr>
            <a:r>
              <a:rPr sz="1200" b="1" spc="100">
                <a:solidFill>
                  <a:srgbClr val="F4DA26"/>
                </a:solidFill>
                <a:latin typeface="Libre Franklin"/>
              </a:rPr>
              <a:t>DATA INTEGRITY REVIEW</a:t>
            </a:r>
          </a:p>
        </p:txBody>
      </p:sp>
      <p:sp>
        <p:nvSpPr>
          <p:cNvPr id="7" name="TextBox 6"/>
          <p:cNvSpPr txBox="1"/>
          <p:nvPr/>
        </p:nvSpPr>
        <p:spPr>
          <a:xfrm>
            <a:off x="548640" y="2980944"/>
            <a:ext cx="10607040" cy="1737360"/>
          </a:xfrm>
          <a:prstGeom prst="rect">
            <a:avLst/>
          </a:prstGeom>
          <a:noFill/>
        </p:spPr>
        <p:txBody>
          <a:bodyPr wrap="square" lIns="0" rIns="0" tIns="0" bIns="0" anchor="t">
            <a:spAutoFit/>
          </a:bodyPr>
          <a:lstStyle/>
          <a:p>
            <a:pPr algn="l">
              <a:lnSpc>
                <a:spcPct val="94000"/>
              </a:lnSpc>
              <a:spcAft>
                <a:spcPts val="0"/>
              </a:spcAft>
            </a:pPr>
            <a:r>
              <a:rPr sz="4400" b="1" spc="-40">
                <a:solidFill>
                  <a:srgbClr val="F4F4F6"/>
                </a:solidFill>
                <a:latin typeface="Libre Franklin"/>
              </a:rPr>
              <a:t>Finding the bots in the</a:t>
            </a:r>
          </a:p>
          <a:p>
            <a:pPr algn="l">
              <a:lnSpc>
                <a:spcPct val="94000"/>
              </a:lnSpc>
              <a:spcAft>
                <a:spcPts val="0"/>
              </a:spcAft>
            </a:pPr>
            <a:r>
              <a:rPr sz="4400" b="1" spc="-40">
                <a:solidFill>
                  <a:srgbClr val="F4F4F6"/>
                </a:solidFill>
                <a:latin typeface="Libre Franklin"/>
              </a:rPr>
              <a:t>caregiver survey data</a:t>
            </a:r>
          </a:p>
        </p:txBody>
      </p:sp>
      <p:sp>
        <p:nvSpPr>
          <p:cNvPr id="8" name="TextBox 7"/>
          <p:cNvSpPr txBox="1"/>
          <p:nvPr/>
        </p:nvSpPr>
        <p:spPr>
          <a:xfrm>
            <a:off x="548640" y="4498848"/>
            <a:ext cx="9692640" cy="548640"/>
          </a:xfrm>
          <a:prstGeom prst="rect">
            <a:avLst/>
          </a:prstGeom>
          <a:noFill/>
        </p:spPr>
        <p:txBody>
          <a:bodyPr wrap="square" lIns="0" rIns="0" tIns="0" bIns="0" anchor="t">
            <a:spAutoFit/>
          </a:bodyPr>
          <a:lstStyle/>
          <a:p>
            <a:pPr algn="l">
              <a:spcAft>
                <a:spcPts val="0"/>
              </a:spcAft>
            </a:pPr>
            <a:r>
              <a:rPr sz="1500" b="0">
                <a:solidFill>
                  <a:srgbClr val="91BAF4"/>
                </a:solidFill>
                <a:latin typeface="Libre Franklin Medium"/>
              </a:rPr>
              <a:t>What we can prove, what we cannot, and what we do next</a:t>
            </a:r>
          </a:p>
        </p:txBody>
      </p:sp>
      <p:sp>
        <p:nvSpPr>
          <p:cNvPr id="9" name="TextBox 8"/>
          <p:cNvSpPr txBox="1"/>
          <p:nvPr/>
        </p:nvSpPr>
        <p:spPr>
          <a:xfrm>
            <a:off x="548640" y="5285232"/>
            <a:ext cx="10058400" cy="457200"/>
          </a:xfrm>
          <a:prstGeom prst="rect">
            <a:avLst/>
          </a:prstGeom>
          <a:noFill/>
        </p:spPr>
        <p:txBody>
          <a:bodyPr wrap="square" lIns="0" rIns="0" tIns="0" bIns="0" anchor="t">
            <a:spAutoFit/>
          </a:bodyPr>
          <a:lstStyle/>
          <a:p>
            <a:pPr algn="l">
              <a:spcAft>
                <a:spcPts val="0"/>
              </a:spcAft>
            </a:pPr>
            <a:r>
              <a:rPr sz="1100" b="0">
                <a:solidFill>
                  <a:srgbClr val="F4F4F6"/>
                </a:solidFill>
                <a:latin typeface="Libre Franklin Medium"/>
              </a:rPr>
              <a:t>Early Social Development Lab   |   Institute for Mind and Brain   |   19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SITUATION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Where we are</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One survey project is clean. The other was flooded.</a:t>
            </a:r>
          </a:p>
        </p:txBody>
      </p:sp>
      <p:sp>
        <p:nvSpPr>
          <p:cNvPr id="8" name="Rounded Rectangle 7"/>
          <p:cNvSpPr/>
          <p:nvPr/>
        </p:nvSpPr>
        <p:spPr>
          <a:xfrm>
            <a:off x="548640" y="2761488"/>
            <a:ext cx="2595295" cy="2048256"/>
          </a:xfrm>
          <a:prstGeom prst="roundRect">
            <a:avLst>
              <a:gd name="adj" fmla="val 1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108960"/>
            <a:ext cx="2119807" cy="877824"/>
          </a:xfrm>
          <a:prstGeom prst="rect">
            <a:avLst/>
          </a:prstGeom>
          <a:noFill/>
        </p:spPr>
        <p:txBody>
          <a:bodyPr wrap="square" lIns="0" rIns="0" tIns="0" bIns="0" anchor="t">
            <a:spAutoFit/>
          </a:bodyPr>
          <a:lstStyle/>
          <a:p>
            <a:pPr algn="l">
              <a:spcAft>
                <a:spcPts val="0"/>
              </a:spcAft>
            </a:pPr>
            <a:r>
              <a:rPr sz="5000" b="1" spc="-60">
                <a:solidFill>
                  <a:srgbClr val="F4F4F6"/>
                </a:solidFill>
                <a:latin typeface="Libre Franklin"/>
              </a:rPr>
              <a:t>1,956</a:t>
            </a:r>
          </a:p>
        </p:txBody>
      </p:sp>
      <p:sp>
        <p:nvSpPr>
          <p:cNvPr id="10" name="TextBox 9"/>
          <p:cNvSpPr txBox="1"/>
          <p:nvPr/>
        </p:nvSpPr>
        <p:spPr>
          <a:xfrm>
            <a:off x="786384" y="4133087"/>
            <a:ext cx="2119807" cy="512064"/>
          </a:xfrm>
          <a:prstGeom prst="rect">
            <a:avLst/>
          </a:prstGeom>
          <a:noFill/>
        </p:spPr>
        <p:txBody>
          <a:bodyPr wrap="square" lIns="0" rIns="0" tIns="0" bIns="0" anchor="t">
            <a:spAutoFit/>
          </a:bodyPr>
          <a:lstStyle/>
          <a:p>
            <a:pPr algn="l">
              <a:lnSpc>
                <a:spcPct val="120000"/>
              </a:lnSpc>
              <a:spcAft>
                <a:spcPts val="0"/>
              </a:spcAft>
            </a:pPr>
            <a:r>
              <a:rPr sz="1250" b="0">
                <a:solidFill>
                  <a:srgbClr val="91BAF4"/>
                </a:solidFill>
                <a:latin typeface="Libre Franklin Medium"/>
              </a:rPr>
              <a:t>records screened</a:t>
            </a:r>
          </a:p>
        </p:txBody>
      </p:sp>
      <p:sp>
        <p:nvSpPr>
          <p:cNvPr id="11" name="Rounded Rectangle 10"/>
          <p:cNvSpPr/>
          <p:nvPr/>
        </p:nvSpPr>
        <p:spPr>
          <a:xfrm>
            <a:off x="3381679" y="2761488"/>
            <a:ext cx="2595295" cy="2048256"/>
          </a:xfrm>
          <a:prstGeom prst="roundRect">
            <a:avLst>
              <a:gd name="adj" fmla="val 1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9423" y="3108960"/>
            <a:ext cx="2119807" cy="877824"/>
          </a:xfrm>
          <a:prstGeom prst="rect">
            <a:avLst/>
          </a:prstGeom>
          <a:noFill/>
        </p:spPr>
        <p:txBody>
          <a:bodyPr wrap="square" lIns="0" rIns="0" tIns="0" bIns="0" anchor="t">
            <a:spAutoFit/>
          </a:bodyPr>
          <a:lstStyle/>
          <a:p>
            <a:pPr algn="l">
              <a:spcAft>
                <a:spcPts val="0"/>
              </a:spcAft>
            </a:pPr>
            <a:r>
              <a:rPr sz="5000" b="1" spc="-60">
                <a:solidFill>
                  <a:srgbClr val="F4F4F6"/>
                </a:solidFill>
                <a:latin typeface="Libre Franklin"/>
              </a:rPr>
              <a:t>177</a:t>
            </a:r>
          </a:p>
        </p:txBody>
      </p:sp>
      <p:sp>
        <p:nvSpPr>
          <p:cNvPr id="13" name="TextBox 12"/>
          <p:cNvSpPr txBox="1"/>
          <p:nvPr/>
        </p:nvSpPr>
        <p:spPr>
          <a:xfrm>
            <a:off x="3619423" y="4133087"/>
            <a:ext cx="2119807" cy="512064"/>
          </a:xfrm>
          <a:prstGeom prst="rect">
            <a:avLst/>
          </a:prstGeom>
          <a:noFill/>
        </p:spPr>
        <p:txBody>
          <a:bodyPr wrap="square" lIns="0" rIns="0" tIns="0" bIns="0" anchor="t">
            <a:spAutoFit/>
          </a:bodyPr>
          <a:lstStyle/>
          <a:p>
            <a:pPr algn="l">
              <a:lnSpc>
                <a:spcPct val="120000"/>
              </a:lnSpc>
              <a:spcAft>
                <a:spcPts val="0"/>
              </a:spcAft>
            </a:pPr>
            <a:r>
              <a:rPr sz="1250" b="0">
                <a:solidFill>
                  <a:srgbClr val="91BAF4"/>
                </a:solidFill>
                <a:latin typeface="Libre Franklin Medium"/>
              </a:rPr>
              <a:t>in the verified project</a:t>
            </a:r>
          </a:p>
        </p:txBody>
      </p:sp>
      <p:sp>
        <p:nvSpPr>
          <p:cNvPr id="14" name="Rounded Rectangle 13"/>
          <p:cNvSpPr/>
          <p:nvPr/>
        </p:nvSpPr>
        <p:spPr>
          <a:xfrm>
            <a:off x="6214719" y="2761488"/>
            <a:ext cx="2595295" cy="2048256"/>
          </a:xfrm>
          <a:prstGeom prst="roundRect">
            <a:avLst>
              <a:gd name="adj" fmla="val 1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2463" y="3108960"/>
            <a:ext cx="2119807" cy="877824"/>
          </a:xfrm>
          <a:prstGeom prst="rect">
            <a:avLst/>
          </a:prstGeom>
          <a:noFill/>
        </p:spPr>
        <p:txBody>
          <a:bodyPr wrap="square" lIns="0" rIns="0" tIns="0" bIns="0" anchor="t">
            <a:spAutoFit/>
          </a:bodyPr>
          <a:lstStyle/>
          <a:p>
            <a:pPr algn="l">
              <a:spcAft>
                <a:spcPts val="0"/>
              </a:spcAft>
            </a:pPr>
            <a:r>
              <a:rPr sz="5000" b="1" spc="-60">
                <a:solidFill>
                  <a:srgbClr val="F4F4F6"/>
                </a:solidFill>
                <a:latin typeface="Libre Franklin"/>
              </a:rPr>
              <a:t>1,779</a:t>
            </a:r>
          </a:p>
        </p:txBody>
      </p:sp>
      <p:sp>
        <p:nvSpPr>
          <p:cNvPr id="16" name="TextBox 15"/>
          <p:cNvSpPr txBox="1"/>
          <p:nvPr/>
        </p:nvSpPr>
        <p:spPr>
          <a:xfrm>
            <a:off x="6452463" y="4133087"/>
            <a:ext cx="2119807" cy="512064"/>
          </a:xfrm>
          <a:prstGeom prst="rect">
            <a:avLst/>
          </a:prstGeom>
          <a:noFill/>
        </p:spPr>
        <p:txBody>
          <a:bodyPr wrap="square" lIns="0" rIns="0" tIns="0" bIns="0" anchor="t">
            <a:spAutoFit/>
          </a:bodyPr>
          <a:lstStyle/>
          <a:p>
            <a:pPr algn="l">
              <a:lnSpc>
                <a:spcPct val="120000"/>
              </a:lnSpc>
              <a:spcAft>
                <a:spcPts val="0"/>
              </a:spcAft>
            </a:pPr>
            <a:r>
              <a:rPr sz="1250" b="0">
                <a:solidFill>
                  <a:srgbClr val="91BAF4"/>
                </a:solidFill>
                <a:latin typeface="Libre Franklin Medium"/>
              </a:rPr>
              <a:t>in the flooded project</a:t>
            </a:r>
          </a:p>
        </p:txBody>
      </p:sp>
      <p:sp>
        <p:nvSpPr>
          <p:cNvPr id="17" name="Rounded Rectangle 16"/>
          <p:cNvSpPr/>
          <p:nvPr/>
        </p:nvSpPr>
        <p:spPr>
          <a:xfrm>
            <a:off x="9047759" y="2761488"/>
            <a:ext cx="2595295" cy="2048256"/>
          </a:xfrm>
          <a:prstGeom prst="roundRect">
            <a:avLst>
              <a:gd name="adj" fmla="val 1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5503" y="3108960"/>
            <a:ext cx="2119807" cy="877824"/>
          </a:xfrm>
          <a:prstGeom prst="rect">
            <a:avLst/>
          </a:prstGeom>
          <a:noFill/>
        </p:spPr>
        <p:txBody>
          <a:bodyPr wrap="square" lIns="0" rIns="0" tIns="0" bIns="0" anchor="t">
            <a:spAutoFit/>
          </a:bodyPr>
          <a:lstStyle/>
          <a:p>
            <a:pPr algn="l">
              <a:spcAft>
                <a:spcPts val="0"/>
              </a:spcAft>
            </a:pPr>
            <a:r>
              <a:rPr sz="5000" b="1" spc="-60">
                <a:solidFill>
                  <a:srgbClr val="F4F4F6"/>
                </a:solidFill>
                <a:latin typeface="Libre Franklin"/>
              </a:rPr>
              <a:t>31</a:t>
            </a:r>
          </a:p>
        </p:txBody>
      </p:sp>
      <p:sp>
        <p:nvSpPr>
          <p:cNvPr id="19" name="TextBox 18"/>
          <p:cNvSpPr txBox="1"/>
          <p:nvPr/>
        </p:nvSpPr>
        <p:spPr>
          <a:xfrm>
            <a:off x="9285503" y="4133087"/>
            <a:ext cx="2119807" cy="512064"/>
          </a:xfrm>
          <a:prstGeom prst="rect">
            <a:avLst/>
          </a:prstGeom>
          <a:noFill/>
        </p:spPr>
        <p:txBody>
          <a:bodyPr wrap="square" lIns="0" rIns="0" tIns="0" bIns="0" anchor="t">
            <a:spAutoFit/>
          </a:bodyPr>
          <a:lstStyle/>
          <a:p>
            <a:pPr algn="l">
              <a:lnSpc>
                <a:spcPct val="120000"/>
              </a:lnSpc>
              <a:spcAft>
                <a:spcPts val="0"/>
              </a:spcAft>
            </a:pPr>
            <a:r>
              <a:rPr sz="1250" b="0">
                <a:solidFill>
                  <a:srgbClr val="91BAF4"/>
                </a:solidFill>
                <a:latin typeface="Libre Franklin Medium"/>
              </a:rPr>
              <a:t>people we can vouch for</a:t>
            </a:r>
          </a:p>
        </p:txBody>
      </p:sp>
      <p:sp>
        <p:nvSpPr>
          <p:cNvPr id="20" name="TextBox 19"/>
          <p:cNvSpPr txBox="1"/>
          <p:nvPr/>
        </p:nvSpPr>
        <p:spPr>
          <a:xfrm>
            <a:off x="548640" y="5431536"/>
            <a:ext cx="10424160" cy="457200"/>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Everything in this deck comes back to that last number.</a:t>
            </a:r>
          </a:p>
        </p:txBody>
      </p:sp>
      <p:sp>
        <p:nvSpPr>
          <p:cNvPr id="21" name="TextBox 2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config.yaml; table_16_trust_tier_counts.csv; Bot Detection Report section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GROUND TRUTH</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We proved the humans. We only guessed the bots.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Every bot number in the report carries that difference.</a:t>
            </a:r>
          </a:p>
        </p:txBody>
      </p:sp>
      <p:sp>
        <p:nvSpPr>
          <p:cNvPr id="8" name="Rounded Rectangle 7"/>
          <p:cNvSpPr/>
          <p:nvPr/>
        </p:nvSpPr>
        <p:spPr>
          <a:xfrm>
            <a:off x="548640" y="2523744"/>
            <a:ext cx="5391759" cy="2340864"/>
          </a:xfrm>
          <a:prstGeom prst="roundRect">
            <a:avLst>
              <a:gd name="adj" fmla="val 8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871216"/>
            <a:ext cx="4733391" cy="420624"/>
          </a:xfrm>
          <a:prstGeom prst="rect">
            <a:avLst/>
          </a:prstGeom>
          <a:noFill/>
        </p:spPr>
        <p:txBody>
          <a:bodyPr wrap="square" lIns="0" rIns="0" tIns="0" bIns="0" anchor="t">
            <a:spAutoFit/>
          </a:bodyPr>
          <a:lstStyle/>
          <a:p>
            <a:pPr algn="l">
              <a:spcAft>
                <a:spcPts val="0"/>
              </a:spcAft>
            </a:pPr>
            <a:r>
              <a:rPr sz="2500" b="1">
                <a:solidFill>
                  <a:srgbClr val="3366FF"/>
                </a:solidFill>
                <a:latin typeface="Libre Franklin"/>
              </a:rPr>
              <a:t>31 real caregivers</a:t>
            </a:r>
          </a:p>
        </p:txBody>
      </p:sp>
      <p:sp>
        <p:nvSpPr>
          <p:cNvPr id="10" name="TextBox 9"/>
          <p:cNvSpPr txBox="1"/>
          <p:nvPr/>
        </p:nvSpPr>
        <p:spPr>
          <a:xfrm>
            <a:off x="877824" y="3529584"/>
            <a:ext cx="4733391" cy="1005840"/>
          </a:xfrm>
          <a:prstGeom prst="rect">
            <a:avLst/>
          </a:prstGeom>
          <a:noFill/>
        </p:spPr>
        <p:txBody>
          <a:bodyPr wrap="square" lIns="0" rIns="0" tIns="0" bIns="0" anchor="t">
            <a:spAutoFit/>
          </a:bodyPr>
          <a:lstStyle/>
          <a:p>
            <a:pPr algn="l">
              <a:lnSpc>
                <a:spcPct val="135000"/>
              </a:lnSpc>
              <a:spcAft>
                <a:spcPts val="0"/>
              </a:spcAft>
            </a:pPr>
            <a:r>
              <a:rPr sz="1350" b="0">
                <a:solidFill>
                  <a:srgbClr val="000000"/>
                </a:solidFill>
                <a:latin typeface="Libre Franklin Medium"/>
              </a:rPr>
              <a:t>Matched to email addresses we recognise.
This is proof.</a:t>
            </a:r>
          </a:p>
        </p:txBody>
      </p:sp>
      <p:sp>
        <p:nvSpPr>
          <p:cNvPr id="11" name="Rounded Rectangle 10"/>
          <p:cNvSpPr/>
          <p:nvPr/>
        </p:nvSpPr>
        <p:spPr>
          <a:xfrm>
            <a:off x="6251295" y="2523744"/>
            <a:ext cx="5391759" cy="234086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0479" y="2871216"/>
            <a:ext cx="4733391" cy="420624"/>
          </a:xfrm>
          <a:prstGeom prst="rect">
            <a:avLst/>
          </a:prstGeom>
          <a:noFill/>
        </p:spPr>
        <p:txBody>
          <a:bodyPr wrap="square" lIns="0" rIns="0" tIns="0" bIns="0" anchor="t">
            <a:spAutoFit/>
          </a:bodyPr>
          <a:lstStyle/>
          <a:p>
            <a:pPr algn="l">
              <a:spcAft>
                <a:spcPts val="0"/>
              </a:spcAft>
            </a:pPr>
            <a:r>
              <a:rPr sz="2500" b="1">
                <a:solidFill>
                  <a:srgbClr val="F57F00"/>
                </a:solidFill>
                <a:latin typeface="Libre Franklin"/>
              </a:rPr>
              <a:t>111 suspected bots</a:t>
            </a:r>
          </a:p>
        </p:txBody>
      </p:sp>
      <p:sp>
        <p:nvSpPr>
          <p:cNvPr id="13" name="TextBox 12"/>
          <p:cNvSpPr txBox="1"/>
          <p:nvPr/>
        </p:nvSpPr>
        <p:spPr>
          <a:xfrm>
            <a:off x="6580479" y="3529584"/>
            <a:ext cx="4733391" cy="1005840"/>
          </a:xfrm>
          <a:prstGeom prst="rect">
            <a:avLst/>
          </a:prstGeom>
          <a:noFill/>
        </p:spPr>
        <p:txBody>
          <a:bodyPr wrap="square" lIns="0" rIns="0" tIns="0" bIns="0" anchor="t">
            <a:spAutoFit/>
          </a:bodyPr>
          <a:lstStyle/>
          <a:p>
            <a:pPr algn="l">
              <a:lnSpc>
                <a:spcPct val="135000"/>
              </a:lnSpc>
              <a:spcAft>
                <a:spcPts val="0"/>
              </a:spcAft>
            </a:pPr>
            <a:r>
              <a:rPr sz="1350" b="0">
                <a:solidFill>
                  <a:srgbClr val="000000"/>
                </a:solidFill>
                <a:latin typeface="Libre Franklin Medium"/>
              </a:rPr>
              <a:t>Flagged because the behaviour looked wrong.
This is a judgement call.</a:t>
            </a:r>
          </a:p>
        </p:txBody>
      </p:sp>
      <p:sp>
        <p:nvSpPr>
          <p:cNvPr id="14" name="TextBox 13"/>
          <p:cNvSpPr txBox="1"/>
          <p:nvPr/>
        </p:nvSpPr>
        <p:spPr>
          <a:xfrm>
            <a:off x="548640" y="5303520"/>
            <a:ext cx="11094415" cy="1097280"/>
          </a:xfrm>
          <a:prstGeom prst="rect">
            <a:avLst/>
          </a:prstGeom>
          <a:noFill/>
        </p:spPr>
        <p:txBody>
          <a:bodyPr wrap="square" lIns="0" rIns="0" tIns="0" bIns="0">
            <a:spAutoFit/>
          </a:bodyPr>
          <a:lstStyle/>
          <a:p>
            <a:pPr marL="217931" indent="-217931">
              <a:lnSpc>
                <a:spcPct val="98000"/>
              </a:lnSpc>
              <a:spcAft>
                <a:spcPts val="1300"/>
              </a:spcAft>
            </a:pPr>
            <a:r>
              <a:rPr sz="1300" b="1">
                <a:solidFill>
                  <a:srgbClr val="3366FF"/>
                </a:solidFill>
                <a:latin typeface="Libre Franklin Medium"/>
              </a:rPr>
              <a:t>–	</a:t>
            </a:r>
            <a:r>
              <a:rPr sz="1300">
                <a:solidFill>
                  <a:srgbClr val="000000"/>
                </a:solidFill>
                <a:latin typeface="Libre Franklin Medium"/>
              </a:rPr>
              <a:t>Email addresses were removed before the file left the lab. The analyst was not on our protocol.</a:t>
            </a:r>
          </a:p>
          <a:p>
            <a:pPr marL="217931" indent="-217931">
              <a:lnSpc>
                <a:spcPct val="98000"/>
              </a:lnSpc>
              <a:spcAft>
                <a:spcPts val="1300"/>
              </a:spcAft>
            </a:pPr>
            <a:r>
              <a:rPr sz="1300" b="1">
                <a:solidFill>
                  <a:srgbClr val="3366FF"/>
                </a:solidFill>
                <a:latin typeface="Libre Franklin Medium"/>
              </a:rPr>
              <a:t>–	</a:t>
            </a:r>
            <a:r>
              <a:rPr sz="1300">
                <a:solidFill>
                  <a:srgbClr val="000000"/>
                </a:solidFill>
                <a:latin typeface="Libre Franklin Medium"/>
              </a:rPr>
              <a:t>That took away the signal most of us think is the strongest one we have.</a:t>
            </a:r>
          </a:p>
        </p:txBody>
      </p:sp>
      <p:sp>
        <p:nvSpPr>
          <p:cNvPr id="15" name="TextBox 14"/>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section 2; meeting notes, August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unburst-science-blue.png"/>
          <p:cNvPicPr>
            <a:picLocks noChangeAspect="1"/>
          </p:cNvPicPr>
          <p:nvPr/>
        </p:nvPicPr>
        <p:blipFill>
          <a:blip r:embed="rId2"/>
          <a:stretch>
            <a:fillRect/>
          </a:stretch>
        </p:blipFill>
        <p:spPr>
          <a:xfrm>
            <a:off x="8991295" y="3657600"/>
            <a:ext cx="4937760" cy="2777490"/>
          </a:xfrm>
          <a:prstGeom prst="rect">
            <a:avLst/>
          </a:prstGeom>
        </p:spPr>
      </p:pic>
      <p:sp>
        <p:nvSpPr>
          <p:cNvPr id="4" name="TextBox 3"/>
          <p:cNvSpPr txBox="1"/>
          <p:nvPr/>
        </p:nvSpPr>
        <p:spPr>
          <a:xfrm>
            <a:off x="548640" y="2487168"/>
            <a:ext cx="2743200" cy="1097280"/>
          </a:xfrm>
          <a:prstGeom prst="rect">
            <a:avLst/>
          </a:prstGeom>
          <a:noFill/>
        </p:spPr>
        <p:txBody>
          <a:bodyPr wrap="square" lIns="0" rIns="0" tIns="0" bIns="0" anchor="t">
            <a:spAutoFit/>
          </a:bodyPr>
          <a:lstStyle/>
          <a:p>
            <a:pPr algn="l">
              <a:spcAft>
                <a:spcPts val="0"/>
              </a:spcAft>
            </a:pPr>
            <a:r>
              <a:rPr sz="6400" b="1" spc="-100">
                <a:solidFill>
                  <a:srgbClr val="91BAF4"/>
                </a:solidFill>
                <a:latin typeface="Libre Franklin"/>
              </a:rPr>
              <a:t>01</a:t>
            </a:r>
          </a:p>
        </p:txBody>
      </p:sp>
      <p:sp>
        <p:nvSpPr>
          <p:cNvPr id="5" name="TextBox 4"/>
          <p:cNvSpPr txBox="1"/>
          <p:nvPr/>
        </p:nvSpPr>
        <p:spPr>
          <a:xfrm>
            <a:off x="548640" y="3675887"/>
            <a:ext cx="8229600" cy="274320"/>
          </a:xfrm>
          <a:prstGeom prst="rect">
            <a:avLst/>
          </a:prstGeom>
          <a:noFill/>
        </p:spPr>
        <p:txBody>
          <a:bodyPr wrap="square" lIns="0" rIns="0" tIns="0" bIns="0" anchor="t">
            <a:spAutoFit/>
          </a:bodyPr>
          <a:lstStyle/>
          <a:p>
            <a:pPr algn="l">
              <a:spcAft>
                <a:spcPts val="0"/>
              </a:spcAft>
            </a:pPr>
            <a:r>
              <a:rPr sz="1150" b="1" spc="100">
                <a:solidFill>
                  <a:srgbClr val="F4DA26"/>
                </a:solidFill>
                <a:latin typeface="Libre Franklin"/>
              </a:rPr>
              <a:t>PART ONE</a:t>
            </a:r>
          </a:p>
        </p:txBody>
      </p:sp>
      <p:sp>
        <p:nvSpPr>
          <p:cNvPr id="6" name="TextBox 5"/>
          <p:cNvSpPr txBox="1"/>
          <p:nvPr/>
        </p:nvSpPr>
        <p:spPr>
          <a:xfrm>
            <a:off x="548640" y="4023360"/>
            <a:ext cx="8778240" cy="822960"/>
          </a:xfrm>
          <a:prstGeom prst="rect">
            <a:avLst/>
          </a:prstGeom>
          <a:noFill/>
        </p:spPr>
        <p:txBody>
          <a:bodyPr wrap="square" lIns="0" rIns="0" tIns="0" bIns="0" anchor="t">
            <a:spAutoFit/>
          </a:bodyPr>
          <a:lstStyle/>
          <a:p>
            <a:pPr algn="l">
              <a:lnSpc>
                <a:spcPct val="96000"/>
              </a:lnSpc>
              <a:spcAft>
                <a:spcPts val="0"/>
              </a:spcAft>
            </a:pPr>
            <a:r>
              <a:rPr sz="3600" b="1" spc="-30">
                <a:solidFill>
                  <a:srgbClr val="F4F4F6"/>
                </a:solidFill>
                <a:latin typeface="Libre Franklin"/>
              </a:rPr>
              <a:t>The model we were sent</a:t>
            </a:r>
          </a:p>
        </p:txBody>
      </p:sp>
      <p:sp>
        <p:nvSpPr>
          <p:cNvPr id="7" name="TextBox 6"/>
          <p:cNvSpPr txBox="1"/>
          <p:nvPr/>
        </p:nvSpPr>
        <p:spPr>
          <a:xfrm>
            <a:off x="548640" y="4956048"/>
            <a:ext cx="7680960" cy="457200"/>
          </a:xfrm>
          <a:prstGeom prst="rect">
            <a:avLst/>
          </a:prstGeom>
          <a:noFill/>
        </p:spPr>
        <p:txBody>
          <a:bodyPr wrap="square" lIns="0" rIns="0" tIns="0" bIns="0" anchor="t">
            <a:spAutoFit/>
          </a:bodyPr>
          <a:lstStyle/>
          <a:p>
            <a:pPr algn="l">
              <a:spcAft>
                <a:spcPts val="0"/>
              </a:spcAft>
            </a:pPr>
            <a:r>
              <a:rPr sz="1350" b="0">
                <a:solidFill>
                  <a:srgbClr val="91BAF4"/>
                </a:solidFill>
                <a:latin typeface="Libre Franklin Medium"/>
              </a:rPr>
              <a:t>What it does, and what it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MODEL WE WERE SENT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It tells the two piles apart</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Give it one real caregiver and one suspected bot. It puts them in the right order 94 times out of 100.</a:t>
            </a:r>
          </a:p>
        </p:txBody>
      </p:sp>
      <p:sp>
        <p:nvSpPr>
          <p:cNvPr id="8" name="Rounded Rectangle 7"/>
          <p:cNvSpPr/>
          <p:nvPr/>
        </p:nvSpPr>
        <p:spPr>
          <a:xfrm>
            <a:off x="1329527" y="2212848"/>
            <a:ext cx="9532640" cy="320040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confusion.png"/>
          <p:cNvPicPr>
            <a:picLocks noChangeAspect="1"/>
          </p:cNvPicPr>
          <p:nvPr/>
        </p:nvPicPr>
        <p:blipFill>
          <a:blip r:embed="rId3"/>
          <a:stretch>
            <a:fillRect/>
          </a:stretch>
        </p:blipFill>
        <p:spPr>
          <a:xfrm>
            <a:off x="1420967" y="2304288"/>
            <a:ext cx="9349760" cy="3017520"/>
          </a:xfrm>
          <a:prstGeom prst="rect">
            <a:avLst/>
          </a:prstGeom>
        </p:spPr>
      </p:pic>
      <p:sp>
        <p:nvSpPr>
          <p:cNvPr id="10" name="TextBox 9"/>
          <p:cNvSpPr txBox="1"/>
          <p:nvPr/>
        </p:nvSpPr>
        <p:spPr>
          <a:xfrm>
            <a:off x="548640" y="5577840"/>
            <a:ext cx="11094415" cy="822960"/>
          </a:xfrm>
          <a:prstGeom prst="rect">
            <a:avLst/>
          </a:prstGeom>
          <a:noFill/>
        </p:spPr>
        <p:txBody>
          <a:bodyPr wrap="square" lIns="0" rIns="0" tIns="0" bIns="0">
            <a:spAutoFit/>
          </a:bodyPr>
          <a:lstStyle/>
          <a:p>
            <a:pPr marL="201168" indent="-201168">
              <a:lnSpc>
                <a:spcPct val="98000"/>
              </a:lnSpc>
              <a:spcAft>
                <a:spcPts val="800"/>
              </a:spcAft>
            </a:pPr>
            <a:r>
              <a:rPr sz="1200" b="1">
                <a:solidFill>
                  <a:srgbClr val="3366FF"/>
                </a:solidFill>
                <a:latin typeface="Libre Franklin Medium"/>
              </a:rPr>
              <a:t>–	</a:t>
            </a:r>
            <a:r>
              <a:rPr sz="1200">
                <a:solidFill>
                  <a:srgbClr val="000000"/>
                </a:solidFill>
                <a:latin typeface="Libre Franklin Medium"/>
              </a:rPr>
              <a:t>It uses 21 simple signals. Mostly how fast people answered, what they clicked and how much they typed.</a:t>
            </a:r>
          </a:p>
          <a:p>
            <a:pPr marL="201168" indent="-201168">
              <a:lnSpc>
                <a:spcPct val="98000"/>
              </a:lnSpc>
              <a:spcAft>
                <a:spcPts val="800"/>
              </a:spcAft>
            </a:pPr>
            <a:r>
              <a:rPr sz="1200" b="1">
                <a:solidFill>
                  <a:srgbClr val="3366FF"/>
                </a:solidFill>
                <a:latin typeface="Libre Franklin Medium"/>
              </a:rPr>
              <a:t>–	</a:t>
            </a:r>
            <a:r>
              <a:rPr sz="1200">
                <a:solidFill>
                  <a:srgbClr val="000000"/>
                </a:solidFill>
                <a:latin typeface="Libre Franklin Medium"/>
              </a:rPr>
              <a:t>It was graded on records it had never seen, so the score is not just memory.</a:t>
            </a:r>
          </a:p>
        </p:txBody>
      </p:sp>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Figure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COST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Eight of our 31 real caregivers were called bots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This is the number the room should argue about.</a:t>
            </a:r>
          </a:p>
        </p:txBody>
      </p:sp>
      <p:sp>
        <p:nvSpPr>
          <p:cNvPr id="8" name="Rounded Rectangle 7"/>
          <p:cNvSpPr/>
          <p:nvPr/>
        </p:nvSpPr>
        <p:spPr>
          <a:xfrm>
            <a:off x="548640" y="2487168"/>
            <a:ext cx="4206240" cy="3054096"/>
          </a:xfrm>
          <a:prstGeom prst="roundRect">
            <a:avLst>
              <a:gd name="adj" fmla="val 10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62656"/>
            <a:ext cx="3566160" cy="1097280"/>
          </a:xfrm>
          <a:prstGeom prst="rect">
            <a:avLst/>
          </a:prstGeom>
          <a:noFill/>
        </p:spPr>
        <p:txBody>
          <a:bodyPr wrap="square" lIns="0" rIns="0" tIns="0" bIns="0" anchor="t">
            <a:spAutoFit/>
          </a:bodyPr>
          <a:lstStyle/>
          <a:p>
            <a:pPr algn="l">
              <a:spcAft>
                <a:spcPts val="0"/>
              </a:spcAft>
            </a:pPr>
            <a:r>
              <a:rPr sz="6200" b="1" spc="-120">
                <a:solidFill>
                  <a:srgbClr val="F4F4F6"/>
                </a:solidFill>
                <a:latin typeface="Libre Franklin"/>
              </a:rPr>
              <a:t>8 of 31</a:t>
            </a:r>
          </a:p>
        </p:txBody>
      </p:sp>
      <p:sp>
        <p:nvSpPr>
          <p:cNvPr id="10" name="TextBox 9"/>
          <p:cNvSpPr txBox="1"/>
          <p:nvPr/>
        </p:nvSpPr>
        <p:spPr>
          <a:xfrm>
            <a:off x="914400" y="4261104"/>
            <a:ext cx="3566160" cy="877824"/>
          </a:xfrm>
          <a:prstGeom prst="rect">
            <a:avLst/>
          </a:prstGeom>
          <a:noFill/>
        </p:spPr>
        <p:txBody>
          <a:bodyPr wrap="square" lIns="0" rIns="0" tIns="0" bIns="0" anchor="t">
            <a:spAutoFit/>
          </a:bodyPr>
          <a:lstStyle/>
          <a:p>
            <a:pPr algn="l">
              <a:lnSpc>
                <a:spcPct val="130000"/>
              </a:lnSpc>
              <a:spcAft>
                <a:spcPts val="0"/>
              </a:spcAft>
            </a:pPr>
            <a:r>
              <a:rPr sz="1600" b="0">
                <a:solidFill>
                  <a:srgbClr val="F4F4F6"/>
                </a:solidFill>
                <a:latin typeface="Libre Franklin Medium"/>
              </a:rPr>
              <a:t>real caregivers the model
wrongly flagged as bots</a:t>
            </a:r>
          </a:p>
        </p:txBody>
      </p:sp>
      <p:sp>
        <p:nvSpPr>
          <p:cNvPr id="11" name="TextBox 10"/>
          <p:cNvSpPr txBox="1"/>
          <p:nvPr/>
        </p:nvSpPr>
        <p:spPr>
          <a:xfrm>
            <a:off x="5212079" y="2743200"/>
            <a:ext cx="6430975" cy="2834640"/>
          </a:xfrm>
          <a:prstGeom prst="rect">
            <a:avLst/>
          </a:prstGeom>
          <a:noFill/>
        </p:spPr>
        <p:txBody>
          <a:bodyPr wrap="square" lIns="0" rIns="0" tIns="0" bIns="0">
            <a:spAutoFit/>
          </a:bodyPr>
          <a:lstStyle/>
          <a:p>
            <a:pPr marL="243077" indent="-243077">
              <a:lnSpc>
                <a:spcPct val="98000"/>
              </a:lnSpc>
              <a:spcAft>
                <a:spcPts val="2600"/>
              </a:spcAft>
            </a:pPr>
            <a:r>
              <a:rPr sz="1450" b="1">
                <a:solidFill>
                  <a:srgbClr val="3366FF"/>
                </a:solidFill>
                <a:latin typeface="Libre Franklin Medium"/>
              </a:rPr>
              <a:t>–	</a:t>
            </a:r>
            <a:r>
              <a:rPr sz="1450">
                <a:solidFill>
                  <a:srgbClr val="000000"/>
                </a:solidFill>
                <a:latin typeface="Libre Franklin Medium"/>
              </a:rPr>
              <a:t>That is one in four of the people we can actually vouch for.</a:t>
            </a:r>
          </a:p>
          <a:p>
            <a:pPr marL="243077" indent="-243077">
              <a:lnSpc>
                <a:spcPct val="98000"/>
              </a:lnSpc>
              <a:spcAft>
                <a:spcPts val="2600"/>
              </a:spcAft>
            </a:pPr>
            <a:r>
              <a:rPr sz="1450" b="1">
                <a:solidFill>
                  <a:srgbClr val="3366FF"/>
                </a:solidFill>
                <a:latin typeface="Libre Franklin Medium"/>
              </a:rPr>
              <a:t>–	</a:t>
            </a:r>
            <a:r>
              <a:rPr sz="1450">
                <a:solidFill>
                  <a:srgbClr val="000000"/>
                </a:solidFill>
                <a:latin typeface="Libre Franklin Medium"/>
              </a:rPr>
              <a:t>If a flag ever stops a payment, those families pay for our convenience.</a:t>
            </a:r>
          </a:p>
          <a:p>
            <a:pPr marL="243077" indent="-243077">
              <a:lnSpc>
                <a:spcPct val="98000"/>
              </a:lnSpc>
              <a:spcAft>
                <a:spcPts val="2600"/>
              </a:spcAft>
            </a:pPr>
            <a:r>
              <a:rPr sz="1450" b="1">
                <a:solidFill>
                  <a:srgbClr val="3366FF"/>
                </a:solidFill>
                <a:latin typeface="Libre Franklin Medium"/>
              </a:rPr>
              <a:t>–	</a:t>
            </a:r>
            <a:r>
              <a:rPr sz="1450">
                <a:solidFill>
                  <a:srgbClr val="000000"/>
                </a:solidFill>
                <a:latin typeface="Libre Franklin Medium"/>
              </a:rPr>
              <a:t>Move the cut-off and this number moves. The team should pick it, not the model.</a:t>
            </a:r>
          </a:p>
        </p:txBody>
      </p:sp>
      <p:sp>
        <p:nvSpPr>
          <p:cNvPr id="12" name="TextBox 11"/>
          <p:cNvSpPr txBox="1"/>
          <p:nvPr/>
        </p:nvSpPr>
        <p:spPr>
          <a:xfrm>
            <a:off x="548640" y="5852160"/>
            <a:ext cx="10607040" cy="457200"/>
          </a:xfrm>
          <a:prstGeom prst="rect">
            <a:avLst/>
          </a:prstGeom>
          <a:noFill/>
        </p:spPr>
        <p:txBody>
          <a:bodyPr wrap="square" lIns="0" rIns="0" tIns="0" bIns="0" anchor="t">
            <a:spAutoFit/>
          </a:bodyPr>
          <a:lstStyle/>
          <a:p>
            <a:pPr algn="l">
              <a:spcAft>
                <a:spcPts val="0"/>
              </a:spcAft>
            </a:pPr>
            <a:r>
              <a:rPr sz="1300" b="0">
                <a:solidFill>
                  <a:srgbClr val="5A5A64"/>
                </a:solidFill>
                <a:latin typeface="Libre Franklin Medium"/>
              </a:rPr>
              <a:t>The model catches 96 of every 100 suspected bots. Both numbers move together.</a:t>
            </a:r>
          </a:p>
        </p:txBody>
      </p:sp>
      <p:sp>
        <p:nvSpPr>
          <p:cNvPr id="13" name="TextBox 12"/>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Figure 3, at the report's chosen cut-off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unburst-science-blue.png"/>
          <p:cNvPicPr>
            <a:picLocks noChangeAspect="1"/>
          </p:cNvPicPr>
          <p:nvPr/>
        </p:nvPicPr>
        <p:blipFill>
          <a:blip r:embed="rId2"/>
          <a:stretch>
            <a:fillRect/>
          </a:stretch>
        </p:blipFill>
        <p:spPr>
          <a:xfrm>
            <a:off x="8991295" y="3657600"/>
            <a:ext cx="4937760" cy="2777490"/>
          </a:xfrm>
          <a:prstGeom prst="rect">
            <a:avLst/>
          </a:prstGeom>
        </p:spPr>
      </p:pic>
      <p:sp>
        <p:nvSpPr>
          <p:cNvPr id="4" name="TextBox 3"/>
          <p:cNvSpPr txBox="1"/>
          <p:nvPr/>
        </p:nvSpPr>
        <p:spPr>
          <a:xfrm>
            <a:off x="548640" y="2487168"/>
            <a:ext cx="2743200" cy="1097280"/>
          </a:xfrm>
          <a:prstGeom prst="rect">
            <a:avLst/>
          </a:prstGeom>
          <a:noFill/>
        </p:spPr>
        <p:txBody>
          <a:bodyPr wrap="square" lIns="0" rIns="0" tIns="0" bIns="0" anchor="t">
            <a:spAutoFit/>
          </a:bodyPr>
          <a:lstStyle/>
          <a:p>
            <a:pPr algn="l">
              <a:spcAft>
                <a:spcPts val="0"/>
              </a:spcAft>
            </a:pPr>
            <a:r>
              <a:rPr sz="6400" b="1" spc="-100">
                <a:solidFill>
                  <a:srgbClr val="91BAF4"/>
                </a:solidFill>
                <a:latin typeface="Libre Franklin"/>
              </a:rPr>
              <a:t>02</a:t>
            </a:r>
          </a:p>
        </p:txBody>
      </p:sp>
      <p:sp>
        <p:nvSpPr>
          <p:cNvPr id="5" name="TextBox 4"/>
          <p:cNvSpPr txBox="1"/>
          <p:nvPr/>
        </p:nvSpPr>
        <p:spPr>
          <a:xfrm>
            <a:off x="548640" y="3675887"/>
            <a:ext cx="8229600" cy="274320"/>
          </a:xfrm>
          <a:prstGeom prst="rect">
            <a:avLst/>
          </a:prstGeom>
          <a:noFill/>
        </p:spPr>
        <p:txBody>
          <a:bodyPr wrap="square" lIns="0" rIns="0" tIns="0" bIns="0" anchor="t">
            <a:spAutoFit/>
          </a:bodyPr>
          <a:lstStyle/>
          <a:p>
            <a:pPr algn="l">
              <a:spcAft>
                <a:spcPts val="0"/>
              </a:spcAft>
            </a:pPr>
            <a:r>
              <a:rPr sz="1150" b="1" spc="100">
                <a:solidFill>
                  <a:srgbClr val="F4DA26"/>
                </a:solidFill>
                <a:latin typeface="Libre Franklin"/>
              </a:rPr>
              <a:t>PART TWO</a:t>
            </a:r>
          </a:p>
        </p:txBody>
      </p:sp>
      <p:sp>
        <p:nvSpPr>
          <p:cNvPr id="6" name="TextBox 5"/>
          <p:cNvSpPr txBox="1"/>
          <p:nvPr/>
        </p:nvSpPr>
        <p:spPr>
          <a:xfrm>
            <a:off x="548640" y="4023360"/>
            <a:ext cx="8778240" cy="822960"/>
          </a:xfrm>
          <a:prstGeom prst="rect">
            <a:avLst/>
          </a:prstGeom>
          <a:noFill/>
        </p:spPr>
        <p:txBody>
          <a:bodyPr wrap="square" lIns="0" rIns="0" tIns="0" bIns="0" anchor="t">
            <a:spAutoFit/>
          </a:bodyPr>
          <a:lstStyle/>
          <a:p>
            <a:pPr algn="l">
              <a:lnSpc>
                <a:spcPct val="96000"/>
              </a:lnSpc>
              <a:spcAft>
                <a:spcPts val="0"/>
              </a:spcAft>
            </a:pPr>
            <a:r>
              <a:rPr sz="3600" b="1" spc="-30">
                <a:solidFill>
                  <a:srgbClr val="F4F4F6"/>
                </a:solidFill>
                <a:latin typeface="Libre Franklin"/>
              </a:rPr>
              <a:t>Your five questions</a:t>
            </a:r>
          </a:p>
        </p:txBody>
      </p:sp>
      <p:sp>
        <p:nvSpPr>
          <p:cNvPr id="7" name="TextBox 6"/>
          <p:cNvSpPr txBox="1"/>
          <p:nvPr/>
        </p:nvSpPr>
        <p:spPr>
          <a:xfrm>
            <a:off x="548640" y="4956048"/>
            <a:ext cx="7680960" cy="457200"/>
          </a:xfrm>
          <a:prstGeom prst="rect">
            <a:avLst/>
          </a:prstGeom>
          <a:noFill/>
        </p:spPr>
        <p:txBody>
          <a:bodyPr wrap="square" lIns="0" rIns="0" tIns="0" bIns="0" anchor="t">
            <a:spAutoFit/>
          </a:bodyPr>
          <a:lstStyle/>
          <a:p>
            <a:pPr algn="l">
              <a:spcAft>
                <a:spcPts val="0"/>
              </a:spcAft>
            </a:pPr>
            <a:r>
              <a:rPr sz="1350" b="0">
                <a:solidFill>
                  <a:srgbClr val="91BAF4"/>
                </a:solidFill>
                <a:latin typeface="Libre Franklin Medium"/>
              </a:rPr>
              <a:t>Answered one at a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QUESTION 1</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Where the signals came from</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Two sources, and one thing worth fixing.</a:t>
            </a:r>
          </a:p>
        </p:txBody>
      </p:sp>
      <p:sp>
        <p:nvSpPr>
          <p:cNvPr id="8" name="Rounded Rectangle 7"/>
          <p:cNvSpPr/>
          <p:nvPr/>
        </p:nvSpPr>
        <p:spPr>
          <a:xfrm>
            <a:off x="548640"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468880"/>
            <a:ext cx="3515258" cy="62179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From the research</a:t>
            </a:r>
          </a:p>
        </p:txBody>
      </p:sp>
      <p:sp>
        <p:nvSpPr>
          <p:cNvPr id="11" name="TextBox 10"/>
          <p:cNvSpPr txBox="1"/>
          <p:nvPr/>
        </p:nvSpPr>
        <p:spPr>
          <a:xfrm>
            <a:off x="786384" y="3364992"/>
            <a:ext cx="3039770" cy="2286000"/>
          </a:xfrm>
          <a:prstGeom prst="rect">
            <a:avLst/>
          </a:prstGeom>
          <a:noFill/>
        </p:spPr>
        <p:txBody>
          <a:bodyPr wrap="square" lIns="0" rIns="0" tIns="0" bIns="0">
            <a:spAutoFit/>
          </a:bodyPr>
          <a:lstStyle/>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How fast people answer</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Whether they skip questions</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Picking the same answer all the way down a scale</a:t>
            </a:r>
          </a:p>
        </p:txBody>
      </p:sp>
      <p:sp>
        <p:nvSpPr>
          <p:cNvPr id="12" name="Rounded Rectangle 11"/>
          <p:cNvSpPr/>
          <p:nvPr/>
        </p:nvSpPr>
        <p:spPr>
          <a:xfrm>
            <a:off x="4338218"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2468880"/>
            <a:ext cx="3515258" cy="62179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5962"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From this dataset</a:t>
            </a:r>
          </a:p>
        </p:txBody>
      </p:sp>
      <p:sp>
        <p:nvSpPr>
          <p:cNvPr id="15" name="TextBox 14"/>
          <p:cNvSpPr txBox="1"/>
          <p:nvPr/>
        </p:nvSpPr>
        <p:spPr>
          <a:xfrm>
            <a:off x="4575962" y="3364992"/>
            <a:ext cx="3039770" cy="2286000"/>
          </a:xfrm>
          <a:prstGeom prst="rect">
            <a:avLst/>
          </a:prstGeom>
          <a:noFill/>
        </p:spPr>
        <p:txBody>
          <a:bodyPr wrap="square" lIns="0" rIns="0" tIns="0" bIns="0">
            <a:spAutoFit/>
          </a:bodyPr>
          <a:lstStyle/>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Emotion ratings</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The values scale answers</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How much people typed</a:t>
            </a:r>
          </a:p>
        </p:txBody>
      </p:sp>
      <p:sp>
        <p:nvSpPr>
          <p:cNvPr id="16" name="Rounded Rectangle 15"/>
          <p:cNvSpPr/>
          <p:nvPr/>
        </p:nvSpPr>
        <p:spPr>
          <a:xfrm>
            <a:off x="8127796"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7796" y="2468880"/>
            <a:ext cx="3515258" cy="621792"/>
          </a:xfrm>
          <a:prstGeom prst="roundRect">
            <a:avLst>
              <a:gd name="adj" fmla="val 10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5540"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Worth fixing</a:t>
            </a:r>
          </a:p>
        </p:txBody>
      </p:sp>
      <p:sp>
        <p:nvSpPr>
          <p:cNvPr id="19" name="TextBox 18"/>
          <p:cNvSpPr txBox="1"/>
          <p:nvPr/>
        </p:nvSpPr>
        <p:spPr>
          <a:xfrm>
            <a:off x="8365540" y="3364992"/>
            <a:ext cx="3039770" cy="2286000"/>
          </a:xfrm>
          <a:prstGeom prst="rect">
            <a:avLst/>
          </a:prstGeom>
          <a:noFill/>
        </p:spPr>
        <p:txBody>
          <a:bodyPr wrap="square" lIns="0" rIns="0" tIns="0" bIns="0">
            <a:spAutoFit/>
          </a:bodyPr>
          <a:lstStyle/>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The signals were picked using the same 142 records the model was then graded on</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That flatters the grade</a:t>
            </a:r>
          </a:p>
          <a:p>
            <a:pPr marL="209550" indent="-209550">
              <a:lnSpc>
                <a:spcPct val="98000"/>
              </a:lnSpc>
              <a:spcAft>
                <a:spcPts val="1700"/>
              </a:spcAft>
            </a:pPr>
            <a:r>
              <a:rPr sz="1250" b="1">
                <a:solidFill>
                  <a:srgbClr val="3366FF"/>
                </a:solidFill>
                <a:latin typeface="Libre Franklin Medium"/>
              </a:rPr>
              <a:t>–	</a:t>
            </a:r>
            <a:r>
              <a:rPr sz="1250">
                <a:solidFill>
                  <a:srgbClr val="000000"/>
                </a:solidFill>
                <a:latin typeface="Libre Franklin Medium"/>
              </a:rPr>
              <a:t>Split the labels once, before picking</a:t>
            </a:r>
          </a:p>
        </p:txBody>
      </p:sp>
      <p:sp>
        <p:nvSpPr>
          <p:cNvPr id="20" name="TextBox 1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section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QUESTION 2</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Why the same answer down a scale looks small</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Both statements in the report are true. They come from two different checks.</a:t>
            </a:r>
          </a:p>
        </p:txBody>
      </p:sp>
      <p:sp>
        <p:nvSpPr>
          <p:cNvPr id="8" name="TextBox 7"/>
          <p:cNvSpPr txBox="1"/>
          <p:nvPr/>
        </p:nvSpPr>
        <p:spPr>
          <a:xfrm>
            <a:off x="548640" y="2670048"/>
            <a:ext cx="5577840" cy="3474720"/>
          </a:xfrm>
          <a:prstGeom prst="rect">
            <a:avLst/>
          </a:prstGeom>
          <a:noFill/>
        </p:spPr>
        <p:txBody>
          <a:bodyPr wrap="square" lIns="0" rIns="0" tIns="0" bIns="0">
            <a:spAutoFit/>
          </a:bodyPr>
          <a:lstStyle/>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On its own, picking the same answer down a whole scale does separate the two groups.</a:t>
            </a:r>
          </a:p>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Inside the model it barely registers, because the pacing signals already say the same thing.</a:t>
            </a:r>
          </a:p>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It is not a weak signal. It is a repeated one. Report it as backup, not as the headline.</a:t>
            </a:r>
          </a:p>
        </p:txBody>
      </p:sp>
      <p:sp>
        <p:nvSpPr>
          <p:cNvPr id="9" name="Rounded Rectangle 8"/>
          <p:cNvSpPr/>
          <p:nvPr/>
        </p:nvSpPr>
        <p:spPr>
          <a:xfrm>
            <a:off x="6355080" y="2522204"/>
            <a:ext cx="5285232" cy="3624103"/>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ranking.png"/>
          <p:cNvPicPr>
            <a:picLocks noChangeAspect="1"/>
          </p:cNvPicPr>
          <p:nvPr/>
        </p:nvPicPr>
        <p:blipFill>
          <a:blip r:embed="rId3"/>
          <a:stretch>
            <a:fillRect/>
          </a:stretch>
        </p:blipFill>
        <p:spPr>
          <a:xfrm>
            <a:off x="6446520" y="2613644"/>
            <a:ext cx="5102352" cy="3441223"/>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sections 2 and 3, and Figure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QUESTION 3</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How to read the importance chart</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Three things, and the chart opens up.</a:t>
            </a:r>
          </a:p>
        </p:txBody>
      </p:sp>
      <p:sp>
        <p:nvSpPr>
          <p:cNvPr id="8" name="Rounded Rectangle 7"/>
          <p:cNvSpPr/>
          <p:nvPr/>
        </p:nvSpPr>
        <p:spPr>
          <a:xfrm>
            <a:off x="1249470" y="2157984"/>
            <a:ext cx="9692753" cy="411480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shap_guide.png"/>
          <p:cNvPicPr>
            <a:picLocks noChangeAspect="1"/>
          </p:cNvPicPr>
          <p:nvPr/>
        </p:nvPicPr>
        <p:blipFill>
          <a:blip r:embed="rId3"/>
          <a:stretch>
            <a:fillRect/>
          </a:stretch>
        </p:blipFill>
        <p:spPr>
          <a:xfrm>
            <a:off x="1340910" y="2249424"/>
            <a:ext cx="9509873" cy="3931920"/>
          </a:xfrm>
          <a:prstGeom prst="rect">
            <a:avLst/>
          </a:prstGeom>
        </p:spPr>
      </p:pic>
      <p:sp>
        <p:nvSpPr>
          <p:cNvPr id="10" name="TextBox 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Bot Detection Report, Figure 2, annotated for this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QUESTION 4</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What about all the other records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report gives no full count, and that was the right call.</a:t>
            </a:r>
          </a:p>
        </p:txBody>
      </p:sp>
      <p:sp>
        <p:nvSpPr>
          <p:cNvPr id="8" name="TextBox 7"/>
          <p:cNvSpPr txBox="1"/>
          <p:nvPr/>
        </p:nvSpPr>
        <p:spPr>
          <a:xfrm>
            <a:off x="548640" y="2743200"/>
            <a:ext cx="5760720" cy="3474720"/>
          </a:xfrm>
          <a:prstGeom prst="rect">
            <a:avLst/>
          </a:prstGeom>
          <a:noFill/>
        </p:spPr>
        <p:txBody>
          <a:bodyPr wrap="square" lIns="0" rIns="0" tIns="0" bIns="0">
            <a:spAutoFit/>
          </a:bodyPr>
          <a:lstStyle/>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Only 142 of the 1,637 records carry a label. The rest were never scored in the report.</a:t>
            </a:r>
          </a:p>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At a cut-off that misfiles one in four real people, a full count would be a guess.</a:t>
            </a:r>
          </a:p>
          <a:p>
            <a:pPr marL="226314" indent="-226314">
              <a:lnSpc>
                <a:spcPct val="98000"/>
              </a:lnSpc>
              <a:spcAft>
                <a:spcPts val="3000"/>
              </a:spcAft>
            </a:pPr>
            <a:r>
              <a:rPr sz="1350" b="1">
                <a:solidFill>
                  <a:srgbClr val="3366FF"/>
                </a:solidFill>
                <a:latin typeface="Libre Franklin Medium"/>
              </a:rPr>
              <a:t>–	</a:t>
            </a:r>
            <a:r>
              <a:rPr sz="1350">
                <a:solidFill>
                  <a:srgbClr val="000000"/>
                </a:solidFill>
                <a:latin typeface="Libre Franklin Medium"/>
              </a:rPr>
              <a:t>Our own screen covers every record with fixed rules instead.</a:t>
            </a:r>
          </a:p>
        </p:txBody>
      </p:sp>
      <p:sp>
        <p:nvSpPr>
          <p:cNvPr id="9" name="Rounded Rectangle 8"/>
          <p:cNvSpPr/>
          <p:nvPr/>
        </p:nvSpPr>
        <p:spPr>
          <a:xfrm>
            <a:off x="6675120" y="2395728"/>
            <a:ext cx="4965192" cy="3712463"/>
          </a:xfrm>
          <a:prstGeom prst="roundRect">
            <a:avLst>
              <a:gd name="adj" fmla="val 7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04304" y="2724912"/>
            <a:ext cx="4297680" cy="274320"/>
          </a:xfrm>
          <a:prstGeom prst="rect">
            <a:avLst/>
          </a:prstGeom>
          <a:noFill/>
        </p:spPr>
        <p:txBody>
          <a:bodyPr wrap="square" lIns="0" rIns="0" tIns="0" bIns="0" anchor="t">
            <a:spAutoFit/>
          </a:bodyPr>
          <a:lstStyle/>
          <a:p>
            <a:pPr algn="l">
              <a:spcAft>
                <a:spcPts val="0"/>
              </a:spcAft>
            </a:pPr>
            <a:r>
              <a:rPr sz="1100" b="1" spc="80">
                <a:solidFill>
                  <a:srgbClr val="F57F00"/>
                </a:solidFill>
                <a:latin typeface="Libre Franklin"/>
              </a:rPr>
              <a:t>WHAT OUR SCREEN SAYS</a:t>
            </a:r>
          </a:p>
        </p:txBody>
      </p:sp>
      <p:sp>
        <p:nvSpPr>
          <p:cNvPr id="11" name="TextBox 10"/>
          <p:cNvSpPr txBox="1"/>
          <p:nvPr/>
        </p:nvSpPr>
        <p:spPr>
          <a:xfrm>
            <a:off x="7004304" y="3236976"/>
            <a:ext cx="1554480" cy="420624"/>
          </a:xfrm>
          <a:prstGeom prst="rect">
            <a:avLst/>
          </a:prstGeom>
          <a:noFill/>
        </p:spPr>
        <p:txBody>
          <a:bodyPr wrap="square" lIns="0" rIns="0" tIns="0" bIns="0" anchor="t">
            <a:spAutoFit/>
          </a:bodyPr>
          <a:lstStyle/>
          <a:p>
            <a:pPr algn="l">
              <a:spcAft>
                <a:spcPts val="0"/>
              </a:spcAft>
            </a:pPr>
            <a:r>
              <a:rPr sz="2400" b="1" spc="-30">
                <a:solidFill>
                  <a:srgbClr val="3366FF"/>
                </a:solidFill>
                <a:latin typeface="Libre Franklin"/>
              </a:rPr>
              <a:t>1,956</a:t>
            </a:r>
          </a:p>
        </p:txBody>
      </p:sp>
      <p:sp>
        <p:nvSpPr>
          <p:cNvPr id="12" name="TextBox 11"/>
          <p:cNvSpPr txBox="1"/>
          <p:nvPr/>
        </p:nvSpPr>
        <p:spPr>
          <a:xfrm>
            <a:off x="8668512" y="3328416"/>
            <a:ext cx="2834640" cy="384048"/>
          </a:xfrm>
          <a:prstGeom prst="rect">
            <a:avLst/>
          </a:prstGeom>
          <a:noFill/>
        </p:spPr>
        <p:txBody>
          <a:bodyPr wrap="square" lIns="0" rIns="0" tIns="0" bIns="0" anchor="t">
            <a:spAutoFit/>
          </a:bodyPr>
          <a:lstStyle/>
          <a:p>
            <a:pPr algn="l">
              <a:lnSpc>
                <a:spcPct val="114000"/>
              </a:lnSpc>
              <a:spcAft>
                <a:spcPts val="0"/>
              </a:spcAft>
            </a:pPr>
            <a:r>
              <a:rPr sz="1150" b="0">
                <a:solidFill>
                  <a:srgbClr val="000000"/>
                </a:solidFill>
                <a:latin typeface="Libre Franklin Medium"/>
              </a:rPr>
              <a:t>records screened, all of them</a:t>
            </a:r>
          </a:p>
        </p:txBody>
      </p:sp>
      <p:sp>
        <p:nvSpPr>
          <p:cNvPr id="13" name="TextBox 12"/>
          <p:cNvSpPr txBox="1"/>
          <p:nvPr/>
        </p:nvSpPr>
        <p:spPr>
          <a:xfrm>
            <a:off x="7004304" y="3986784"/>
            <a:ext cx="1554480" cy="420624"/>
          </a:xfrm>
          <a:prstGeom prst="rect">
            <a:avLst/>
          </a:prstGeom>
          <a:noFill/>
        </p:spPr>
        <p:txBody>
          <a:bodyPr wrap="square" lIns="0" rIns="0" tIns="0" bIns="0" anchor="t">
            <a:spAutoFit/>
          </a:bodyPr>
          <a:lstStyle/>
          <a:p>
            <a:pPr algn="l">
              <a:spcAft>
                <a:spcPts val="0"/>
              </a:spcAft>
            </a:pPr>
            <a:r>
              <a:rPr sz="2400" b="1" spc="-30">
                <a:solidFill>
                  <a:srgbClr val="3366FF"/>
                </a:solidFill>
                <a:latin typeface="Libre Franklin"/>
              </a:rPr>
              <a:t>223</a:t>
            </a:r>
          </a:p>
        </p:txBody>
      </p:sp>
      <p:sp>
        <p:nvSpPr>
          <p:cNvPr id="14" name="TextBox 13"/>
          <p:cNvSpPr txBox="1"/>
          <p:nvPr/>
        </p:nvSpPr>
        <p:spPr>
          <a:xfrm>
            <a:off x="8668512" y="4078224"/>
            <a:ext cx="2834640" cy="384048"/>
          </a:xfrm>
          <a:prstGeom prst="rect">
            <a:avLst/>
          </a:prstGeom>
          <a:noFill/>
        </p:spPr>
        <p:txBody>
          <a:bodyPr wrap="square" lIns="0" rIns="0" tIns="0" bIns="0" anchor="t">
            <a:spAutoFit/>
          </a:bodyPr>
          <a:lstStyle/>
          <a:p>
            <a:pPr algn="l">
              <a:lnSpc>
                <a:spcPct val="114000"/>
              </a:lnSpc>
              <a:spcAft>
                <a:spcPts val="0"/>
              </a:spcAft>
            </a:pPr>
            <a:r>
              <a:rPr sz="1150" b="0">
                <a:solidFill>
                  <a:srgbClr val="000000"/>
                </a:solidFill>
                <a:latin typeface="Libre Franklin Medium"/>
              </a:rPr>
              <a:t>pass every single rule</a:t>
            </a:r>
          </a:p>
        </p:txBody>
      </p:sp>
      <p:sp>
        <p:nvSpPr>
          <p:cNvPr id="15" name="TextBox 14"/>
          <p:cNvSpPr txBox="1"/>
          <p:nvPr/>
        </p:nvSpPr>
        <p:spPr>
          <a:xfrm>
            <a:off x="7004304" y="4736592"/>
            <a:ext cx="1554480" cy="420624"/>
          </a:xfrm>
          <a:prstGeom prst="rect">
            <a:avLst/>
          </a:prstGeom>
          <a:noFill/>
        </p:spPr>
        <p:txBody>
          <a:bodyPr wrap="square" lIns="0" rIns="0" tIns="0" bIns="0" anchor="t">
            <a:spAutoFit/>
          </a:bodyPr>
          <a:lstStyle/>
          <a:p>
            <a:pPr algn="l">
              <a:spcAft>
                <a:spcPts val="0"/>
              </a:spcAft>
            </a:pPr>
            <a:r>
              <a:rPr sz="2400" b="1" spc="-30">
                <a:solidFill>
                  <a:srgbClr val="3366FF"/>
                </a:solidFill>
                <a:latin typeface="Libre Franklin"/>
              </a:rPr>
              <a:t>86.4%</a:t>
            </a:r>
          </a:p>
        </p:txBody>
      </p:sp>
      <p:sp>
        <p:nvSpPr>
          <p:cNvPr id="16" name="TextBox 15"/>
          <p:cNvSpPr txBox="1"/>
          <p:nvPr/>
        </p:nvSpPr>
        <p:spPr>
          <a:xfrm>
            <a:off x="8668512" y="4828031"/>
            <a:ext cx="2834640" cy="384048"/>
          </a:xfrm>
          <a:prstGeom prst="rect">
            <a:avLst/>
          </a:prstGeom>
          <a:noFill/>
        </p:spPr>
        <p:txBody>
          <a:bodyPr wrap="square" lIns="0" rIns="0" tIns="0" bIns="0" anchor="t">
            <a:spAutoFit/>
          </a:bodyPr>
          <a:lstStyle/>
          <a:p>
            <a:pPr algn="l">
              <a:lnSpc>
                <a:spcPct val="114000"/>
              </a:lnSpc>
              <a:spcAft>
                <a:spcPts val="0"/>
              </a:spcAft>
            </a:pPr>
            <a:r>
              <a:rPr sz="1150" b="0">
                <a:solidFill>
                  <a:srgbClr val="000000"/>
                </a:solidFill>
                <a:latin typeface="Libre Franklin Medium"/>
              </a:rPr>
              <a:t>of the verified project passes</a:t>
            </a:r>
          </a:p>
        </p:txBody>
      </p:sp>
      <p:sp>
        <p:nvSpPr>
          <p:cNvPr id="17" name="TextBox 16"/>
          <p:cNvSpPr txBox="1"/>
          <p:nvPr/>
        </p:nvSpPr>
        <p:spPr>
          <a:xfrm>
            <a:off x="7004304" y="5486400"/>
            <a:ext cx="1554480" cy="420624"/>
          </a:xfrm>
          <a:prstGeom prst="rect">
            <a:avLst/>
          </a:prstGeom>
          <a:noFill/>
        </p:spPr>
        <p:txBody>
          <a:bodyPr wrap="square" lIns="0" rIns="0" tIns="0" bIns="0" anchor="t">
            <a:spAutoFit/>
          </a:bodyPr>
          <a:lstStyle/>
          <a:p>
            <a:pPr algn="l">
              <a:spcAft>
                <a:spcPts val="0"/>
              </a:spcAft>
            </a:pPr>
            <a:r>
              <a:rPr sz="2400" b="1" spc="-30">
                <a:solidFill>
                  <a:srgbClr val="3366FF"/>
                </a:solidFill>
                <a:latin typeface="Libre Franklin"/>
              </a:rPr>
              <a:t>3.9%</a:t>
            </a:r>
          </a:p>
        </p:txBody>
      </p:sp>
      <p:sp>
        <p:nvSpPr>
          <p:cNvPr id="18" name="TextBox 17"/>
          <p:cNvSpPr txBox="1"/>
          <p:nvPr/>
        </p:nvSpPr>
        <p:spPr>
          <a:xfrm>
            <a:off x="8668512" y="5577840"/>
            <a:ext cx="2834640" cy="384048"/>
          </a:xfrm>
          <a:prstGeom prst="rect">
            <a:avLst/>
          </a:prstGeom>
          <a:noFill/>
        </p:spPr>
        <p:txBody>
          <a:bodyPr wrap="square" lIns="0" rIns="0" tIns="0" bIns="0" anchor="t">
            <a:spAutoFit/>
          </a:bodyPr>
          <a:lstStyle/>
          <a:p>
            <a:pPr algn="l">
              <a:lnSpc>
                <a:spcPct val="114000"/>
              </a:lnSpc>
              <a:spcAft>
                <a:spcPts val="0"/>
              </a:spcAft>
            </a:pPr>
            <a:r>
              <a:rPr sz="1150" b="0">
                <a:solidFill>
                  <a:srgbClr val="000000"/>
                </a:solidFill>
                <a:latin typeface="Libre Franklin Medium"/>
              </a:rPr>
              <a:t>of the flooded project passes</a:t>
            </a:r>
          </a:p>
        </p:txBody>
      </p:sp>
      <p:sp>
        <p:nvSpPr>
          <p:cNvPr id="19" name="TextBox 18"/>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 Bot Detection Report section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unburst-science-blue.png"/>
          <p:cNvPicPr>
            <a:picLocks noChangeAspect="1"/>
          </p:cNvPicPr>
          <p:nvPr/>
        </p:nvPicPr>
        <p:blipFill>
          <a:blip r:embed="rId2"/>
          <a:stretch>
            <a:fillRect/>
          </a:stretch>
        </p:blipFill>
        <p:spPr>
          <a:xfrm>
            <a:off x="8991295" y="3657600"/>
            <a:ext cx="4937760" cy="2777490"/>
          </a:xfrm>
          <a:prstGeom prst="rect">
            <a:avLst/>
          </a:prstGeom>
        </p:spPr>
      </p:pic>
      <p:sp>
        <p:nvSpPr>
          <p:cNvPr id="4" name="TextBox 3"/>
          <p:cNvSpPr txBox="1"/>
          <p:nvPr/>
        </p:nvSpPr>
        <p:spPr>
          <a:xfrm>
            <a:off x="548640" y="2487168"/>
            <a:ext cx="2743200" cy="1097280"/>
          </a:xfrm>
          <a:prstGeom prst="rect">
            <a:avLst/>
          </a:prstGeom>
          <a:noFill/>
        </p:spPr>
        <p:txBody>
          <a:bodyPr wrap="square" lIns="0" rIns="0" tIns="0" bIns="0" anchor="t">
            <a:spAutoFit/>
          </a:bodyPr>
          <a:lstStyle/>
          <a:p>
            <a:pPr algn="l">
              <a:spcAft>
                <a:spcPts val="0"/>
              </a:spcAft>
            </a:pPr>
            <a:r>
              <a:rPr sz="6400" b="1" spc="-100">
                <a:solidFill>
                  <a:srgbClr val="91BAF4"/>
                </a:solidFill>
                <a:latin typeface="Libre Franklin"/>
              </a:rPr>
              <a:t>03</a:t>
            </a:r>
          </a:p>
        </p:txBody>
      </p:sp>
      <p:sp>
        <p:nvSpPr>
          <p:cNvPr id="5" name="TextBox 4"/>
          <p:cNvSpPr txBox="1"/>
          <p:nvPr/>
        </p:nvSpPr>
        <p:spPr>
          <a:xfrm>
            <a:off x="548640" y="3675887"/>
            <a:ext cx="8229600" cy="274320"/>
          </a:xfrm>
          <a:prstGeom prst="rect">
            <a:avLst/>
          </a:prstGeom>
          <a:noFill/>
        </p:spPr>
        <p:txBody>
          <a:bodyPr wrap="square" lIns="0" rIns="0" tIns="0" bIns="0" anchor="t">
            <a:spAutoFit/>
          </a:bodyPr>
          <a:lstStyle/>
          <a:p>
            <a:pPr algn="l">
              <a:spcAft>
                <a:spcPts val="0"/>
              </a:spcAft>
            </a:pPr>
            <a:r>
              <a:rPr sz="1150" b="1" spc="100">
                <a:solidFill>
                  <a:srgbClr val="F4DA26"/>
                </a:solidFill>
                <a:latin typeface="Libre Franklin"/>
              </a:rPr>
              <a:t>PART THREE</a:t>
            </a:r>
          </a:p>
        </p:txBody>
      </p:sp>
      <p:sp>
        <p:nvSpPr>
          <p:cNvPr id="6" name="TextBox 5"/>
          <p:cNvSpPr txBox="1"/>
          <p:nvPr/>
        </p:nvSpPr>
        <p:spPr>
          <a:xfrm>
            <a:off x="548640" y="4023360"/>
            <a:ext cx="8778240" cy="822960"/>
          </a:xfrm>
          <a:prstGeom prst="rect">
            <a:avLst/>
          </a:prstGeom>
          <a:noFill/>
        </p:spPr>
        <p:txBody>
          <a:bodyPr wrap="square" lIns="0" rIns="0" tIns="0" bIns="0" anchor="t">
            <a:spAutoFit/>
          </a:bodyPr>
          <a:lstStyle/>
          <a:p>
            <a:pPr algn="l">
              <a:lnSpc>
                <a:spcPct val="96000"/>
              </a:lnSpc>
              <a:spcAft>
                <a:spcPts val="0"/>
              </a:spcAft>
            </a:pPr>
            <a:r>
              <a:rPr sz="3600" b="1" spc="-30">
                <a:solidFill>
                  <a:srgbClr val="F4F4F6"/>
                </a:solidFill>
                <a:latin typeface="Libre Franklin"/>
              </a:rPr>
              <a:t>What we run instead</a:t>
            </a:r>
          </a:p>
        </p:txBody>
      </p:sp>
      <p:sp>
        <p:nvSpPr>
          <p:cNvPr id="7" name="TextBox 6"/>
          <p:cNvSpPr txBox="1"/>
          <p:nvPr/>
        </p:nvSpPr>
        <p:spPr>
          <a:xfrm>
            <a:off x="548640" y="4956048"/>
            <a:ext cx="7680960" cy="457200"/>
          </a:xfrm>
          <a:prstGeom prst="rect">
            <a:avLst/>
          </a:prstGeom>
          <a:noFill/>
        </p:spPr>
        <p:txBody>
          <a:bodyPr wrap="square" lIns="0" rIns="0" tIns="0" bIns="0" anchor="t">
            <a:spAutoFit/>
          </a:bodyPr>
          <a:lstStyle/>
          <a:p>
            <a:pPr algn="l">
              <a:spcAft>
                <a:spcPts val="0"/>
              </a:spcAft>
            </a:pPr>
            <a:r>
              <a:rPr sz="1350" b="0">
                <a:solidFill>
                  <a:srgbClr val="91BAF4"/>
                </a:solidFill>
                <a:latin typeface="Libre Franklin Medium"/>
              </a:rPr>
              <a:t>Rules first, models second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SCREEN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Rules decide. Models only check the rules.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No family is ever removed from a study by a score alone.</a:t>
            </a:r>
          </a:p>
        </p:txBody>
      </p:sp>
      <p:sp>
        <p:nvSpPr>
          <p:cNvPr id="8" name="Rounded Rectangle 7"/>
          <p:cNvSpPr/>
          <p:nvPr/>
        </p:nvSpPr>
        <p:spPr>
          <a:xfrm>
            <a:off x="1216572" y="2194560"/>
            <a:ext cx="9758550" cy="320040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arch.png"/>
          <p:cNvPicPr>
            <a:picLocks noChangeAspect="1"/>
          </p:cNvPicPr>
          <p:nvPr/>
        </p:nvPicPr>
        <p:blipFill>
          <a:blip r:embed="rId3"/>
          <a:stretch>
            <a:fillRect/>
          </a:stretch>
        </p:blipFill>
        <p:spPr>
          <a:xfrm>
            <a:off x="1308012" y="2286000"/>
            <a:ext cx="9575670" cy="3017520"/>
          </a:xfrm>
          <a:prstGeom prst="rect">
            <a:avLst/>
          </a:prstGeom>
        </p:spPr>
      </p:pic>
      <p:sp>
        <p:nvSpPr>
          <p:cNvPr id="10" name="TextBox 9"/>
          <p:cNvSpPr txBox="1"/>
          <p:nvPr/>
        </p:nvSpPr>
        <p:spPr>
          <a:xfrm>
            <a:off x="548640" y="5559552"/>
            <a:ext cx="11094415" cy="822960"/>
          </a:xfrm>
          <a:prstGeom prst="rect">
            <a:avLst/>
          </a:prstGeom>
          <a:noFill/>
        </p:spPr>
        <p:txBody>
          <a:bodyPr wrap="square" lIns="0" rIns="0" tIns="0" bIns="0">
            <a:spAutoFit/>
          </a:bodyPr>
          <a:lstStyle/>
          <a:p>
            <a:pPr marL="201168" indent="-201168">
              <a:lnSpc>
                <a:spcPct val="98000"/>
              </a:lnSpc>
              <a:spcAft>
                <a:spcPts val="800"/>
              </a:spcAft>
            </a:pPr>
            <a:r>
              <a:rPr sz="1200" b="1">
                <a:solidFill>
                  <a:srgbClr val="3366FF"/>
                </a:solidFill>
                <a:latin typeface="Libre Franklin Medium"/>
              </a:rPr>
              <a:t>–	</a:t>
            </a:r>
            <a:r>
              <a:rPr sz="1200">
                <a:solidFill>
                  <a:srgbClr val="000000"/>
                </a:solidFill>
                <a:latin typeface="Libre Franklin Medium"/>
              </a:rPr>
              <a:t>The speed floors come from 131 real caregivers, so they are what real families actually did.</a:t>
            </a:r>
          </a:p>
          <a:p>
            <a:pPr marL="201168" indent="-201168">
              <a:lnSpc>
                <a:spcPct val="98000"/>
              </a:lnSpc>
              <a:spcAft>
                <a:spcPts val="800"/>
              </a:spcAft>
            </a:pPr>
            <a:r>
              <a:rPr sz="1200" b="1">
                <a:solidFill>
                  <a:srgbClr val="3366FF"/>
                </a:solidFill>
                <a:latin typeface="Libre Franklin Medium"/>
              </a:rPr>
              <a:t>–	</a:t>
            </a:r>
            <a:r>
              <a:rPr sz="1200">
                <a:solidFill>
                  <a:srgbClr val="000000"/>
                </a:solidFill>
                <a:latin typeface="Libre Franklin Medium"/>
              </a:rPr>
              <a:t>The rules were fixed before any record was scored, so nobody tuned them to get an answer.</a:t>
            </a:r>
          </a:p>
        </p:txBody>
      </p:sp>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caregiver_analysis_pipeline.py; config.yaml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TEN RULES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Every rule reports how many real people it wrongly catches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Five of the ten catch none of our 131 real caregivers.</a:t>
            </a:r>
          </a:p>
        </p:txBody>
      </p:sp>
      <p:sp>
        <p:nvSpPr>
          <p:cNvPr id="8" name="Rounded Rectangle 7"/>
          <p:cNvSpPr/>
          <p:nvPr/>
        </p:nvSpPr>
        <p:spPr>
          <a:xfrm>
            <a:off x="813120" y="2157984"/>
            <a:ext cx="10565454" cy="334670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rules.png"/>
          <p:cNvPicPr>
            <a:picLocks noChangeAspect="1"/>
          </p:cNvPicPr>
          <p:nvPr/>
        </p:nvPicPr>
        <p:blipFill>
          <a:blip r:embed="rId3"/>
          <a:stretch>
            <a:fillRect/>
          </a:stretch>
        </p:blipFill>
        <p:spPr>
          <a:xfrm>
            <a:off x="904560" y="2249424"/>
            <a:ext cx="10382574" cy="3163824"/>
          </a:xfrm>
          <a:prstGeom prst="rect">
            <a:avLst/>
          </a:prstGeom>
        </p:spPr>
      </p:pic>
      <p:sp>
        <p:nvSpPr>
          <p:cNvPr id="10" name="TextBox 9"/>
          <p:cNvSpPr txBox="1"/>
          <p:nvPr/>
        </p:nvSpPr>
        <p:spPr>
          <a:xfrm>
            <a:off x="548640" y="5687568"/>
            <a:ext cx="10607040" cy="457200"/>
          </a:xfrm>
          <a:prstGeom prst="rect">
            <a:avLst/>
          </a:prstGeom>
          <a:noFill/>
        </p:spPr>
        <p:txBody>
          <a:bodyPr wrap="square" lIns="0" rIns="0" tIns="0" bIns="0" anchor="t">
            <a:spAutoFit/>
          </a:bodyPr>
          <a:lstStyle/>
          <a:p>
            <a:pPr algn="l">
              <a:spcAft>
                <a:spcPts val="0"/>
              </a:spcAft>
            </a:pPr>
            <a:r>
              <a:rPr sz="1350" b="1">
                <a:solidFill>
                  <a:srgbClr val="3366FF"/>
                </a:solidFill>
                <a:latin typeface="Libre Franklin"/>
              </a:rPr>
              <a:t>The rules that cost nothing are the ones built on impossible, not on unusual.</a:t>
            </a:r>
          </a:p>
        </p:txBody>
      </p:sp>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table_15_rule_false_positive_rates.csv; table_15b_rule_counts_by_project.csv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STRONGEST RULE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Answers the form could not have produced</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survey hides questions based on earlier answers. These records answered questions they were never shown.</a:t>
            </a:r>
          </a:p>
        </p:txBody>
      </p:sp>
      <p:sp>
        <p:nvSpPr>
          <p:cNvPr id="8" name="Rounded Rectangle 7"/>
          <p:cNvSpPr/>
          <p:nvPr/>
        </p:nvSpPr>
        <p:spPr>
          <a:xfrm>
            <a:off x="1056437" y="2212848"/>
            <a:ext cx="10078819" cy="314553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branching.png"/>
          <p:cNvPicPr>
            <a:picLocks noChangeAspect="1"/>
          </p:cNvPicPr>
          <p:nvPr/>
        </p:nvPicPr>
        <p:blipFill>
          <a:blip r:embed="rId3"/>
          <a:stretch>
            <a:fillRect/>
          </a:stretch>
        </p:blipFill>
        <p:spPr>
          <a:xfrm>
            <a:off x="1147877" y="2304288"/>
            <a:ext cx="9895939" cy="2962656"/>
          </a:xfrm>
          <a:prstGeom prst="rect">
            <a:avLst/>
          </a:prstGeom>
        </p:spPr>
      </p:pic>
      <p:sp>
        <p:nvSpPr>
          <p:cNvPr id="10" name="TextBox 9"/>
          <p:cNvSpPr txBox="1"/>
          <p:nvPr/>
        </p:nvSpPr>
        <p:spPr>
          <a:xfrm>
            <a:off x="548640" y="5541264"/>
            <a:ext cx="5364327" cy="822960"/>
          </a:xfrm>
          <a:prstGeom prst="rect">
            <a:avLst/>
          </a:prstGeom>
          <a:noFill/>
        </p:spPr>
        <p:txBody>
          <a:bodyPr wrap="square" lIns="0" rIns="0" tIns="0" bIns="0">
            <a:spAutoFit/>
          </a:bodyPr>
          <a:lstStyle/>
          <a:p>
            <a:pPr marL="201168" indent="-201168">
              <a:lnSpc>
                <a:spcPct val="98000"/>
              </a:lnSpc>
              <a:spcAft>
                <a:spcPts val="700"/>
              </a:spcAft>
            </a:pPr>
            <a:r>
              <a:rPr sz="1200" b="1">
                <a:solidFill>
                  <a:srgbClr val="3366FF"/>
                </a:solidFill>
                <a:latin typeface="Libre Franklin Medium"/>
              </a:rPr>
              <a:t>–	</a:t>
            </a:r>
            <a:r>
              <a:rPr sz="1200">
                <a:solidFill>
                  <a:srgbClr val="000000"/>
                </a:solidFill>
                <a:latin typeface="Libre Franklin Medium"/>
              </a:rPr>
              <a:t>44 records break one of these checks. Every one of them is in the flooded project.</a:t>
            </a:r>
          </a:p>
        </p:txBody>
      </p:sp>
      <p:sp>
        <p:nvSpPr>
          <p:cNvPr id="11" name="TextBox 10"/>
          <p:cNvSpPr txBox="1"/>
          <p:nvPr/>
        </p:nvSpPr>
        <p:spPr>
          <a:xfrm>
            <a:off x="6278727" y="5541264"/>
            <a:ext cx="5364327" cy="822960"/>
          </a:xfrm>
          <a:prstGeom prst="rect">
            <a:avLst/>
          </a:prstGeom>
          <a:noFill/>
        </p:spPr>
        <p:txBody>
          <a:bodyPr wrap="square" lIns="0" rIns="0" tIns="0" bIns="0">
            <a:spAutoFit/>
          </a:bodyPr>
          <a:lstStyle/>
          <a:p>
            <a:pPr marL="201168" indent="-201168">
              <a:lnSpc>
                <a:spcPct val="98000"/>
              </a:lnSpc>
              <a:spcAft>
                <a:spcPts val="700"/>
              </a:spcAft>
            </a:pPr>
            <a:r>
              <a:rPr sz="1200" b="1">
                <a:solidFill>
                  <a:srgbClr val="3366FF"/>
                </a:solidFill>
                <a:latin typeface="Libre Franklin Medium"/>
              </a:rPr>
              <a:t>–	</a:t>
            </a:r>
            <a:r>
              <a:rPr sz="1200">
                <a:solidFill>
                  <a:srgbClr val="000000"/>
                </a:solidFill>
                <a:latin typeface="Libre Franklin Medium"/>
              </a:rPr>
              <a:t>None of our 131 real caregivers breaks a single one.</a:t>
            </a:r>
          </a:p>
        </p:txBody>
      </p:sp>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Potential Bot Responses report; table_34_branching_logic_audit.csv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RESULT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A ladder, not a label</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No record is ever called a bot. Each one gets a step, and we say which steps we used.</a:t>
            </a:r>
          </a:p>
        </p:txBody>
      </p:sp>
      <p:sp>
        <p:nvSpPr>
          <p:cNvPr id="8" name="Rounded Rectangle 7"/>
          <p:cNvSpPr/>
          <p:nvPr/>
        </p:nvSpPr>
        <p:spPr>
          <a:xfrm>
            <a:off x="1298292" y="2212848"/>
            <a:ext cx="9595109" cy="301752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tiers.png"/>
          <p:cNvPicPr>
            <a:picLocks noChangeAspect="1"/>
          </p:cNvPicPr>
          <p:nvPr/>
        </p:nvPicPr>
        <p:blipFill>
          <a:blip r:embed="rId3"/>
          <a:stretch>
            <a:fillRect/>
          </a:stretch>
        </p:blipFill>
        <p:spPr>
          <a:xfrm>
            <a:off x="1389732" y="2304288"/>
            <a:ext cx="9412229" cy="2834639"/>
          </a:xfrm>
          <a:prstGeom prst="rect">
            <a:avLst/>
          </a:prstGeom>
        </p:spPr>
      </p:pic>
      <p:sp>
        <p:nvSpPr>
          <p:cNvPr id="10" name="TextBox 9"/>
          <p:cNvSpPr txBox="1"/>
          <p:nvPr/>
        </p:nvSpPr>
        <p:spPr>
          <a:xfrm>
            <a:off x="548640" y="5413248"/>
            <a:ext cx="11094415" cy="1005840"/>
          </a:xfrm>
          <a:prstGeom prst="rect">
            <a:avLst/>
          </a:prstGeom>
          <a:noFill/>
        </p:spPr>
        <p:txBody>
          <a:bodyPr wrap="square" lIns="0" rIns="0" tIns="0" bIns="0">
            <a:spAutoFit/>
          </a:bodyPr>
          <a:lstStyle/>
          <a:p>
            <a:pPr marL="209550" indent="-209550">
              <a:lnSpc>
                <a:spcPct val="98000"/>
              </a:lnSpc>
              <a:spcAft>
                <a:spcPts val="1000"/>
              </a:spcAft>
            </a:pPr>
            <a:r>
              <a:rPr sz="1250" b="1">
                <a:solidFill>
                  <a:srgbClr val="3366FF"/>
                </a:solidFill>
                <a:latin typeface="Libre Franklin Medium"/>
              </a:rPr>
              <a:t>–	</a:t>
            </a:r>
            <a:r>
              <a:rPr sz="1250">
                <a:solidFill>
                  <a:srgbClr val="000000"/>
                </a:solidFill>
                <a:latin typeface="Libre Franklin Medium"/>
              </a:rPr>
              <a:t>Tier 1 broke a hard rule. Tier 4 passed all ten. The middle is where judgement lives.</a:t>
            </a:r>
          </a:p>
          <a:p>
            <a:pPr marL="209550" indent="-209550">
              <a:lnSpc>
                <a:spcPct val="98000"/>
              </a:lnSpc>
              <a:spcAft>
                <a:spcPts val="1000"/>
              </a:spcAft>
            </a:pPr>
            <a:r>
              <a:rPr sz="1250" b="1">
                <a:solidFill>
                  <a:srgbClr val="3366FF"/>
                </a:solidFill>
                <a:latin typeface="Libre Franklin Medium"/>
              </a:rPr>
              <a:t>–	</a:t>
            </a:r>
            <a:r>
              <a:rPr sz="1250">
                <a:solidFill>
                  <a:srgbClr val="000000"/>
                </a:solidFill>
                <a:latin typeface="Libre Franklin Medium"/>
              </a:rPr>
              <a:t>That gap between the two projects is itself the finding.</a:t>
            </a:r>
          </a:p>
        </p:txBody>
      </p:sp>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DOES IT HOLD UP</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We reran the whole study five times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Each run kept a different set of records. The answer never came near zero.</a:t>
            </a:r>
          </a:p>
        </p:txBody>
      </p:sp>
      <p:sp>
        <p:nvSpPr>
          <p:cNvPr id="8" name="Rounded Rectangle 7"/>
          <p:cNvSpPr/>
          <p:nvPr/>
        </p:nvSpPr>
        <p:spPr>
          <a:xfrm>
            <a:off x="548639" y="2258060"/>
            <a:ext cx="11094415" cy="3091687"/>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sensitivity.png"/>
          <p:cNvPicPr>
            <a:picLocks noChangeAspect="1"/>
          </p:cNvPicPr>
          <p:nvPr/>
        </p:nvPicPr>
        <p:blipFill>
          <a:blip r:embed="rId3"/>
          <a:stretch>
            <a:fillRect/>
          </a:stretch>
        </p:blipFill>
        <p:spPr>
          <a:xfrm>
            <a:off x="640079" y="2349500"/>
            <a:ext cx="10911535" cy="2908807"/>
          </a:xfrm>
          <a:prstGeom prst="rect">
            <a:avLst/>
          </a:prstGeom>
        </p:spPr>
      </p:pic>
      <p:sp>
        <p:nvSpPr>
          <p:cNvPr id="10" name="TextBox 9"/>
          <p:cNvSpPr txBox="1"/>
          <p:nvPr/>
        </p:nvSpPr>
        <p:spPr>
          <a:xfrm>
            <a:off x="548640" y="5632704"/>
            <a:ext cx="10607040" cy="457200"/>
          </a:xfrm>
          <a:prstGeom prst="rect">
            <a:avLst/>
          </a:prstGeom>
          <a:noFill/>
        </p:spPr>
        <p:txBody>
          <a:bodyPr wrap="square" lIns="0" rIns="0" tIns="0" bIns="0" anchor="t">
            <a:spAutoFit/>
          </a:bodyPr>
          <a:lstStyle/>
          <a:p>
            <a:pPr algn="l">
              <a:spcAft>
                <a:spcPts val="0"/>
              </a:spcAft>
            </a:pPr>
            <a:r>
              <a:rPr sz="1350" b="1">
                <a:solidFill>
                  <a:srgbClr val="3366FF"/>
                </a:solidFill>
                <a:latin typeface="Libre Franklin"/>
              </a:rPr>
              <a:t>This is what lets us say the finding survives the cleaning choice, rather than depending on it.</a:t>
            </a:r>
          </a:p>
        </p:txBody>
      </p:sp>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table_20_tier_sensitivity.csv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QUESTION 5</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How to build a survey bots find hard to fill in</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Most of this is winnable before a single record arrives.</a:t>
            </a:r>
          </a:p>
        </p:txBody>
      </p:sp>
      <p:sp>
        <p:nvSpPr>
          <p:cNvPr id="8" name="Rounded Rectangle 7"/>
          <p:cNvSpPr/>
          <p:nvPr/>
        </p:nvSpPr>
        <p:spPr>
          <a:xfrm>
            <a:off x="548640"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468880"/>
            <a:ext cx="3515258" cy="62179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When you design it</a:t>
            </a:r>
          </a:p>
        </p:txBody>
      </p:sp>
      <p:sp>
        <p:nvSpPr>
          <p:cNvPr id="11" name="TextBox 10"/>
          <p:cNvSpPr txBox="1"/>
          <p:nvPr/>
        </p:nvSpPr>
        <p:spPr>
          <a:xfrm>
            <a:off x="786384" y="3364992"/>
            <a:ext cx="3039770" cy="2286000"/>
          </a:xfrm>
          <a:prstGeom prst="rect">
            <a:avLst/>
          </a:prstGeom>
          <a:noFill/>
        </p:spPr>
        <p:txBody>
          <a:bodyPr wrap="square" lIns="0" rIns="0" tIns="0" bIns="0">
            <a:spAutoFit/>
          </a:bodyPr>
          <a:lstStyle/>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Add a hidden field. Anything that fills it is a machine.</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Make hidden questions impossible to answer, not just hidden.</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Put two backwards worded items in every scale.</a:t>
            </a:r>
          </a:p>
        </p:txBody>
      </p:sp>
      <p:sp>
        <p:nvSpPr>
          <p:cNvPr id="12" name="Rounded Rectangle 11"/>
          <p:cNvSpPr/>
          <p:nvPr/>
        </p:nvSpPr>
        <p:spPr>
          <a:xfrm>
            <a:off x="4338218"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2468880"/>
            <a:ext cx="3515258" cy="62179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5962"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While it collects</a:t>
            </a:r>
          </a:p>
        </p:txBody>
      </p:sp>
      <p:sp>
        <p:nvSpPr>
          <p:cNvPr id="15" name="TextBox 14"/>
          <p:cNvSpPr txBox="1"/>
          <p:nvPr/>
        </p:nvSpPr>
        <p:spPr>
          <a:xfrm>
            <a:off x="4575962" y="3364992"/>
            <a:ext cx="3039770" cy="2286000"/>
          </a:xfrm>
          <a:prstGeom prst="rect">
            <a:avLst/>
          </a:prstGeom>
          <a:noFill/>
        </p:spPr>
        <p:txBody>
          <a:bodyPr wrap="square" lIns="0" rIns="0" tIns="0" bIns="0">
            <a:spAutoFit/>
          </a:bodyPr>
          <a:lstStyle/>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Timestamp every section, not just the submission.</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Limit how many entries one session can send.</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Pay after screening, not before.</a:t>
            </a:r>
          </a:p>
        </p:txBody>
      </p:sp>
      <p:sp>
        <p:nvSpPr>
          <p:cNvPr id="16" name="Rounded Rectangle 15"/>
          <p:cNvSpPr/>
          <p:nvPr/>
        </p:nvSpPr>
        <p:spPr>
          <a:xfrm>
            <a:off x="8127796" y="2468880"/>
            <a:ext cx="3515258" cy="3401568"/>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7796" y="2468880"/>
            <a:ext cx="3515258" cy="62179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5540" y="2660904"/>
            <a:ext cx="3039770" cy="329184"/>
          </a:xfrm>
          <a:prstGeom prst="rect">
            <a:avLst/>
          </a:prstGeom>
          <a:noFill/>
        </p:spPr>
        <p:txBody>
          <a:bodyPr wrap="square" lIns="0" rIns="0" tIns="0" bIns="0" anchor="t">
            <a:spAutoFit/>
          </a:bodyPr>
          <a:lstStyle/>
          <a:p>
            <a:pPr algn="l">
              <a:spcAft>
                <a:spcPts val="0"/>
              </a:spcAft>
            </a:pPr>
            <a:r>
              <a:rPr sz="1500" b="1">
                <a:solidFill>
                  <a:srgbClr val="F4F4F6"/>
                </a:solidFill>
                <a:latin typeface="Libre Franklin"/>
              </a:rPr>
              <a:t>Before you trust it</a:t>
            </a:r>
          </a:p>
        </p:txBody>
      </p:sp>
      <p:sp>
        <p:nvSpPr>
          <p:cNvPr id="19" name="TextBox 18"/>
          <p:cNvSpPr txBox="1"/>
          <p:nvPr/>
        </p:nvSpPr>
        <p:spPr>
          <a:xfrm>
            <a:off x="8365540" y="3364992"/>
            <a:ext cx="3039770" cy="2286000"/>
          </a:xfrm>
          <a:prstGeom prst="rect">
            <a:avLst/>
          </a:prstGeom>
          <a:noFill/>
        </p:spPr>
        <p:txBody>
          <a:bodyPr wrap="square" lIns="0" rIns="0" tIns="0" bIns="0">
            <a:spAutoFit/>
          </a:bodyPr>
          <a:lstStyle/>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Run the ten rules nightly, not once at the end.</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Report a tier for every record, never a bot label.</a:t>
            </a:r>
          </a:p>
          <a:p>
            <a:pPr marL="209550" indent="-209550">
              <a:lnSpc>
                <a:spcPct val="98000"/>
              </a:lnSpc>
              <a:spcAft>
                <a:spcPts val="1900"/>
              </a:spcAft>
            </a:pPr>
            <a:r>
              <a:rPr sz="1250" b="1">
                <a:solidFill>
                  <a:srgbClr val="3366FF"/>
                </a:solidFill>
                <a:latin typeface="Libre Franklin Medium"/>
              </a:rPr>
              <a:t>–	</a:t>
            </a:r>
            <a:r>
              <a:rPr sz="1250">
                <a:solidFill>
                  <a:srgbClr val="000000"/>
                </a:solidFill>
                <a:latin typeface="Libre Franklin Medium"/>
              </a:rPr>
              <a:t>Publish how many real people each rule catches.</a:t>
            </a:r>
          </a:p>
        </p:txBody>
      </p:sp>
      <p:sp>
        <p:nvSpPr>
          <p:cNvPr id="20" name="TextBox 1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Drawn from the current rule set and the two reports reviewed 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WHAT WE ARE ASKING</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Four decisions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None of these need new modelling. They need the room to agree.</a:t>
            </a:r>
          </a:p>
        </p:txBody>
      </p:sp>
      <p:sp>
        <p:nvSpPr>
          <p:cNvPr id="8" name="Rounded Rectangle 7"/>
          <p:cNvSpPr/>
          <p:nvPr/>
        </p:nvSpPr>
        <p:spPr>
          <a:xfrm>
            <a:off x="548640" y="2468880"/>
            <a:ext cx="566928"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15184"/>
            <a:ext cx="566928" cy="292608"/>
          </a:xfrm>
          <a:prstGeom prst="rect">
            <a:avLst/>
          </a:prstGeom>
          <a:noFill/>
        </p:spPr>
        <p:txBody>
          <a:bodyPr wrap="square" lIns="0" rIns="0" tIns="0" bIns="0" anchor="t">
            <a:spAutoFit/>
          </a:bodyPr>
          <a:lstStyle/>
          <a:p>
            <a:pPr algn="ctr">
              <a:spcAft>
                <a:spcPts val="0"/>
              </a:spcAft>
            </a:pPr>
            <a:r>
              <a:rPr sz="1700" b="1">
                <a:solidFill>
                  <a:srgbClr val="F4F4F6"/>
                </a:solidFill>
                <a:latin typeface="Libre Franklin"/>
              </a:rPr>
              <a:t>1</a:t>
            </a:r>
          </a:p>
        </p:txBody>
      </p:sp>
      <p:sp>
        <p:nvSpPr>
          <p:cNvPr id="10" name="TextBox 9"/>
          <p:cNvSpPr txBox="1"/>
          <p:nvPr/>
        </p:nvSpPr>
        <p:spPr>
          <a:xfrm>
            <a:off x="1371600" y="2487168"/>
            <a:ext cx="9601200" cy="310896"/>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Keep the verified project as primary</a:t>
            </a:r>
          </a:p>
        </p:txBody>
      </p:sp>
      <p:sp>
        <p:nvSpPr>
          <p:cNvPr id="11" name="TextBox 10"/>
          <p:cNvSpPr txBox="1"/>
          <p:nvPr/>
        </p:nvSpPr>
        <p:spPr>
          <a:xfrm>
            <a:off x="1371600" y="2852928"/>
            <a:ext cx="9601200" cy="292608"/>
          </a:xfrm>
          <a:prstGeom prst="rect">
            <a:avLst/>
          </a:prstGeom>
          <a:noFill/>
        </p:spPr>
        <p:txBody>
          <a:bodyPr wrap="square" lIns="0" rIns="0" tIns="0" bIns="0" anchor="t">
            <a:spAutoFit/>
          </a:bodyPr>
          <a:lstStyle/>
          <a:p>
            <a:pPr algn="l">
              <a:spcAft>
                <a:spcPts val="0"/>
              </a:spcAft>
            </a:pPr>
            <a:r>
              <a:rPr sz="1250" b="0">
                <a:solidFill>
                  <a:srgbClr val="000000"/>
                </a:solidFill>
                <a:latin typeface="Libre Franklin Medium"/>
              </a:rPr>
              <a:t>Treat the flooded one as a cautious second opinion.</a:t>
            </a:r>
          </a:p>
        </p:txBody>
      </p:sp>
      <p:sp>
        <p:nvSpPr>
          <p:cNvPr id="12" name="Rounded Rectangle 11"/>
          <p:cNvSpPr/>
          <p:nvPr/>
        </p:nvSpPr>
        <p:spPr>
          <a:xfrm>
            <a:off x="548640" y="3401568"/>
            <a:ext cx="566928"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47872"/>
            <a:ext cx="566928" cy="292608"/>
          </a:xfrm>
          <a:prstGeom prst="rect">
            <a:avLst/>
          </a:prstGeom>
          <a:noFill/>
        </p:spPr>
        <p:txBody>
          <a:bodyPr wrap="square" lIns="0" rIns="0" tIns="0" bIns="0" anchor="t">
            <a:spAutoFit/>
          </a:bodyPr>
          <a:lstStyle/>
          <a:p>
            <a:pPr algn="ctr">
              <a:spcAft>
                <a:spcPts val="0"/>
              </a:spcAft>
            </a:pPr>
            <a:r>
              <a:rPr sz="1700" b="1">
                <a:solidFill>
                  <a:srgbClr val="F4F4F6"/>
                </a:solidFill>
                <a:latin typeface="Libre Franklin"/>
              </a:rPr>
              <a:t>2</a:t>
            </a:r>
          </a:p>
        </p:txBody>
      </p:sp>
      <p:sp>
        <p:nvSpPr>
          <p:cNvPr id="14" name="TextBox 13"/>
          <p:cNvSpPr txBox="1"/>
          <p:nvPr/>
        </p:nvSpPr>
        <p:spPr>
          <a:xfrm>
            <a:off x="1371600" y="3419856"/>
            <a:ext cx="9601200" cy="310896"/>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Report a tier for every record</a:t>
            </a:r>
          </a:p>
        </p:txBody>
      </p:sp>
      <p:sp>
        <p:nvSpPr>
          <p:cNvPr id="15" name="TextBox 14"/>
          <p:cNvSpPr txBox="1"/>
          <p:nvPr/>
        </p:nvSpPr>
        <p:spPr>
          <a:xfrm>
            <a:off x="1371600" y="3785616"/>
            <a:ext cx="9601200" cy="292608"/>
          </a:xfrm>
          <a:prstGeom prst="rect">
            <a:avLst/>
          </a:prstGeom>
          <a:noFill/>
        </p:spPr>
        <p:txBody>
          <a:bodyPr wrap="square" lIns="0" rIns="0" tIns="0" bIns="0" anchor="t">
            <a:spAutoFit/>
          </a:bodyPr>
          <a:lstStyle/>
          <a:p>
            <a:pPr algn="l">
              <a:spcAft>
                <a:spcPts val="0"/>
              </a:spcAft>
            </a:pPr>
            <a:r>
              <a:rPr sz="1250" b="0">
                <a:solidFill>
                  <a:srgbClr val="000000"/>
                </a:solidFill>
                <a:latin typeface="Libre Franklin Medium"/>
              </a:rPr>
              <a:t>Publish no bot count and no bot percentage.</a:t>
            </a:r>
          </a:p>
        </p:txBody>
      </p:sp>
      <p:sp>
        <p:nvSpPr>
          <p:cNvPr id="16" name="Rounded Rectangle 15"/>
          <p:cNvSpPr/>
          <p:nvPr/>
        </p:nvSpPr>
        <p:spPr>
          <a:xfrm>
            <a:off x="548640" y="4334256"/>
            <a:ext cx="566928"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80560"/>
            <a:ext cx="566928" cy="292608"/>
          </a:xfrm>
          <a:prstGeom prst="rect">
            <a:avLst/>
          </a:prstGeom>
          <a:noFill/>
        </p:spPr>
        <p:txBody>
          <a:bodyPr wrap="square" lIns="0" rIns="0" tIns="0" bIns="0" anchor="t">
            <a:spAutoFit/>
          </a:bodyPr>
          <a:lstStyle/>
          <a:p>
            <a:pPr algn="ctr">
              <a:spcAft>
                <a:spcPts val="0"/>
              </a:spcAft>
            </a:pPr>
            <a:r>
              <a:rPr sz="1700" b="1">
                <a:solidFill>
                  <a:srgbClr val="F4F4F6"/>
                </a:solidFill>
                <a:latin typeface="Libre Franklin"/>
              </a:rPr>
              <a:t>3</a:t>
            </a:r>
          </a:p>
        </p:txBody>
      </p:sp>
      <p:sp>
        <p:nvSpPr>
          <p:cNvPr id="18" name="TextBox 17"/>
          <p:cNvSpPr txBox="1"/>
          <p:nvPr/>
        </p:nvSpPr>
        <p:spPr>
          <a:xfrm>
            <a:off x="1371600" y="4352544"/>
            <a:ext cx="9601200" cy="310896"/>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Pick the cut-off together</a:t>
            </a:r>
          </a:p>
        </p:txBody>
      </p:sp>
      <p:sp>
        <p:nvSpPr>
          <p:cNvPr id="19" name="TextBox 18"/>
          <p:cNvSpPr txBox="1"/>
          <p:nvPr/>
        </p:nvSpPr>
        <p:spPr>
          <a:xfrm>
            <a:off x="1371600" y="4718304"/>
            <a:ext cx="9601200" cy="292608"/>
          </a:xfrm>
          <a:prstGeom prst="rect">
            <a:avLst/>
          </a:prstGeom>
          <a:noFill/>
        </p:spPr>
        <p:txBody>
          <a:bodyPr wrap="square" lIns="0" rIns="0" tIns="0" bIns="0" anchor="t">
            <a:spAutoFit/>
          </a:bodyPr>
          <a:lstStyle/>
          <a:p>
            <a:pPr algn="l">
              <a:spcAft>
                <a:spcPts val="0"/>
              </a:spcAft>
            </a:pPr>
            <a:r>
              <a:rPr sz="1250" b="0">
                <a:solidFill>
                  <a:srgbClr val="000000"/>
                </a:solidFill>
                <a:latin typeface="Libre Franklin Medium"/>
              </a:rPr>
              <a:t>Tell us what a wrongly excluded family costs. The rest follows.</a:t>
            </a:r>
          </a:p>
        </p:txBody>
      </p:sp>
      <p:sp>
        <p:nvSpPr>
          <p:cNvPr id="20" name="Rounded Rectangle 19"/>
          <p:cNvSpPr/>
          <p:nvPr/>
        </p:nvSpPr>
        <p:spPr>
          <a:xfrm>
            <a:off x="548640" y="5266944"/>
            <a:ext cx="566928"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413248"/>
            <a:ext cx="566928" cy="292608"/>
          </a:xfrm>
          <a:prstGeom prst="rect">
            <a:avLst/>
          </a:prstGeom>
          <a:noFill/>
        </p:spPr>
        <p:txBody>
          <a:bodyPr wrap="square" lIns="0" rIns="0" tIns="0" bIns="0" anchor="t">
            <a:spAutoFit/>
          </a:bodyPr>
          <a:lstStyle/>
          <a:p>
            <a:pPr algn="ctr">
              <a:spcAft>
                <a:spcPts val="0"/>
              </a:spcAft>
            </a:pPr>
            <a:r>
              <a:rPr sz="1700" b="1">
                <a:solidFill>
                  <a:srgbClr val="F4F4F6"/>
                </a:solidFill>
                <a:latin typeface="Libre Franklin"/>
              </a:rPr>
              <a:t>4</a:t>
            </a:r>
          </a:p>
        </p:txBody>
      </p:sp>
      <p:sp>
        <p:nvSpPr>
          <p:cNvPr id="22" name="TextBox 21"/>
          <p:cNvSpPr txBox="1"/>
          <p:nvPr/>
        </p:nvSpPr>
        <p:spPr>
          <a:xfrm>
            <a:off x="1371600" y="5285231"/>
            <a:ext cx="9601200" cy="310896"/>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Ship the stronger form rule</a:t>
            </a:r>
          </a:p>
        </p:txBody>
      </p:sp>
      <p:sp>
        <p:nvSpPr>
          <p:cNvPr id="23" name="TextBox 22"/>
          <p:cNvSpPr txBox="1"/>
          <p:nvPr/>
        </p:nvSpPr>
        <p:spPr>
          <a:xfrm>
            <a:off x="1371600" y="5650992"/>
            <a:ext cx="9601200" cy="292608"/>
          </a:xfrm>
          <a:prstGeom prst="rect">
            <a:avLst/>
          </a:prstGeom>
          <a:noFill/>
        </p:spPr>
        <p:txBody>
          <a:bodyPr wrap="square" lIns="0" rIns="0" tIns="0" bIns="0" anchor="t">
            <a:spAutoFit/>
          </a:bodyPr>
          <a:lstStyle/>
          <a:p>
            <a:pPr algn="l">
              <a:spcAft>
                <a:spcPts val="0"/>
              </a:spcAft>
            </a:pPr>
            <a:r>
              <a:rPr sz="1250" b="0">
                <a:solidFill>
                  <a:srgbClr val="000000"/>
                </a:solidFill>
                <a:latin typeface="Libre Franklin Medium"/>
              </a:rPr>
              <a:t>Then rerun the screen across both projects.</a:t>
            </a:r>
          </a:p>
        </p:txBody>
      </p:sp>
      <p:sp>
        <p:nvSpPr>
          <p:cNvPr id="24" name="TextBox 23"/>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table_30_decision_summary.csv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d_top.png"/>
          <p:cNvPicPr>
            <a:picLocks noChangeAspect="1"/>
          </p:cNvPicPr>
          <p:nvPr/>
        </p:nvPicPr>
        <p:blipFill>
          <a:blip r:embed="rId2"/>
          <a:stretch>
            <a:fillRect/>
          </a:stretch>
        </p:blipFill>
        <p:spPr>
          <a:xfrm>
            <a:off x="0" y="5560024"/>
            <a:ext cx="12191695" cy="1297975"/>
          </a:xfrm>
          <a:prstGeom prst="rect">
            <a:avLst/>
          </a:prstGeom>
        </p:spPr>
      </p:pic>
      <p:pic>
        <p:nvPicPr>
          <p:cNvPr id="4" name="Picture 3" descr="logo-horizontal-cool-white.png"/>
          <p:cNvPicPr>
            <a:picLocks noChangeAspect="1"/>
          </p:cNvPicPr>
          <p:nvPr/>
        </p:nvPicPr>
        <p:blipFill>
          <a:blip r:embed="rId3"/>
          <a:stretch>
            <a:fillRect/>
          </a:stretch>
        </p:blipFill>
        <p:spPr>
          <a:xfrm>
            <a:off x="548640" y="566928"/>
            <a:ext cx="665879" cy="310896"/>
          </a:xfrm>
          <a:prstGeom prst="rect">
            <a:avLst/>
          </a:prstGeom>
        </p:spPr>
      </p:pic>
      <p:sp>
        <p:nvSpPr>
          <p:cNvPr id="5" name="TextBox 4"/>
          <p:cNvSpPr txBox="1"/>
          <p:nvPr/>
        </p:nvSpPr>
        <p:spPr>
          <a:xfrm>
            <a:off x="548640" y="1444752"/>
            <a:ext cx="8229600" cy="274320"/>
          </a:xfrm>
          <a:prstGeom prst="rect">
            <a:avLst/>
          </a:prstGeom>
          <a:noFill/>
        </p:spPr>
        <p:txBody>
          <a:bodyPr wrap="square" lIns="0" rIns="0" tIns="0" bIns="0" anchor="t">
            <a:spAutoFit/>
          </a:bodyPr>
          <a:lstStyle/>
          <a:p>
            <a:pPr algn="l">
              <a:spcAft>
                <a:spcPts val="0"/>
              </a:spcAft>
            </a:pPr>
            <a:r>
              <a:rPr sz="1200" b="1" spc="100">
                <a:solidFill>
                  <a:srgbClr val="F4DA26"/>
                </a:solidFill>
                <a:latin typeface="Libre Franklin"/>
              </a:rPr>
              <a:t>THE ONE THING WE NEED BACK</a:t>
            </a:r>
          </a:p>
        </p:txBody>
      </p:sp>
      <p:sp>
        <p:nvSpPr>
          <p:cNvPr id="6" name="TextBox 5"/>
          <p:cNvSpPr txBox="1"/>
          <p:nvPr/>
        </p:nvSpPr>
        <p:spPr>
          <a:xfrm>
            <a:off x="548640" y="1847088"/>
            <a:ext cx="10424160" cy="1371600"/>
          </a:xfrm>
          <a:prstGeom prst="rect">
            <a:avLst/>
          </a:prstGeom>
          <a:noFill/>
        </p:spPr>
        <p:txBody>
          <a:bodyPr wrap="square" lIns="0" rIns="0" tIns="0" bIns="0" anchor="t">
            <a:spAutoFit/>
          </a:bodyPr>
          <a:lstStyle/>
          <a:p>
            <a:pPr algn="l">
              <a:lnSpc>
                <a:spcPct val="96000"/>
              </a:lnSpc>
              <a:spcAft>
                <a:spcPts val="0"/>
              </a:spcAft>
            </a:pPr>
            <a:r>
              <a:rPr sz="4000" b="1" spc="-40">
                <a:solidFill>
                  <a:srgbClr val="F4F4F6"/>
                </a:solidFill>
                <a:latin typeface="Libre Franklin"/>
              </a:rPr>
              <a:t>Bring the email address back</a:t>
            </a:r>
          </a:p>
          <a:p>
            <a:pPr algn="l">
              <a:lnSpc>
                <a:spcPct val="96000"/>
              </a:lnSpc>
              <a:spcAft>
                <a:spcPts val="0"/>
              </a:spcAft>
            </a:pPr>
            <a:r>
              <a:rPr sz="4000" b="1" spc="-40">
                <a:solidFill>
                  <a:srgbClr val="F4F4F6"/>
                </a:solidFill>
                <a:latin typeface="Libre Franklin"/>
              </a:rPr>
              <a:t>inside the analysis scope</a:t>
            </a:r>
          </a:p>
        </p:txBody>
      </p:sp>
      <p:sp>
        <p:nvSpPr>
          <p:cNvPr id="7" name="Rounded Rectangle 6"/>
          <p:cNvSpPr/>
          <p:nvPr/>
        </p:nvSpPr>
        <p:spPr>
          <a:xfrm>
            <a:off x="548640" y="3675887"/>
            <a:ext cx="146304" cy="146304"/>
          </a:xfrm>
          <a:prstGeom prst="roundRect">
            <a:avLst>
              <a:gd name="adj" fmla="val 50000"/>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3602736"/>
            <a:ext cx="9875520" cy="402336"/>
          </a:xfrm>
          <a:prstGeom prst="rect">
            <a:avLst/>
          </a:prstGeom>
          <a:noFill/>
        </p:spPr>
        <p:txBody>
          <a:bodyPr wrap="square" lIns="0" rIns="0" tIns="0" bIns="0" anchor="t">
            <a:spAutoFit/>
          </a:bodyPr>
          <a:lstStyle/>
          <a:p>
            <a:pPr algn="l">
              <a:spcAft>
                <a:spcPts val="0"/>
              </a:spcAft>
            </a:pPr>
            <a:r>
              <a:rPr sz="1450" b="0">
                <a:solidFill>
                  <a:srgbClr val="F4F4F6"/>
                </a:solidFill>
                <a:latin typeface="Libre Franklin Medium"/>
              </a:rPr>
              <a:t>Everyone who has looked at this data thinks the email pattern is our strongest signal.</a:t>
            </a:r>
          </a:p>
        </p:txBody>
      </p:sp>
      <p:sp>
        <p:nvSpPr>
          <p:cNvPr id="9" name="Rounded Rectangle 8"/>
          <p:cNvSpPr/>
          <p:nvPr/>
        </p:nvSpPr>
        <p:spPr>
          <a:xfrm>
            <a:off x="548640" y="4242816"/>
            <a:ext cx="146304" cy="146304"/>
          </a:xfrm>
          <a:prstGeom prst="roundRect">
            <a:avLst>
              <a:gd name="adj" fmla="val 50000"/>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4169663"/>
            <a:ext cx="9875520" cy="402336"/>
          </a:xfrm>
          <a:prstGeom prst="rect">
            <a:avLst/>
          </a:prstGeom>
          <a:noFill/>
        </p:spPr>
        <p:txBody>
          <a:bodyPr wrap="square" lIns="0" rIns="0" tIns="0" bIns="0" anchor="t">
            <a:spAutoFit/>
          </a:bodyPr>
          <a:lstStyle/>
          <a:p>
            <a:pPr algn="l">
              <a:spcAft>
                <a:spcPts val="0"/>
              </a:spcAft>
            </a:pPr>
            <a:r>
              <a:rPr sz="1450" b="0">
                <a:solidFill>
                  <a:srgbClr val="F4F4F6"/>
                </a:solidFill>
                <a:latin typeface="Libre Franklin Medium"/>
              </a:rPr>
              <a:t>It is also the one signal the outside analysis was never allowed to use.</a:t>
            </a:r>
          </a:p>
        </p:txBody>
      </p:sp>
      <p:sp>
        <p:nvSpPr>
          <p:cNvPr id="11" name="Rounded Rectangle 10"/>
          <p:cNvSpPr/>
          <p:nvPr/>
        </p:nvSpPr>
        <p:spPr>
          <a:xfrm>
            <a:off x="548640" y="4809744"/>
            <a:ext cx="146304" cy="146304"/>
          </a:xfrm>
          <a:prstGeom prst="roundRect">
            <a:avLst>
              <a:gd name="adj" fmla="val 50000"/>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736592"/>
            <a:ext cx="9875520" cy="402336"/>
          </a:xfrm>
          <a:prstGeom prst="rect">
            <a:avLst/>
          </a:prstGeom>
          <a:noFill/>
        </p:spPr>
        <p:txBody>
          <a:bodyPr wrap="square" lIns="0" rIns="0" tIns="0" bIns="0" anchor="t">
            <a:spAutoFit/>
          </a:bodyPr>
          <a:lstStyle/>
          <a:p>
            <a:pPr algn="l">
              <a:spcAft>
                <a:spcPts val="0"/>
              </a:spcAft>
            </a:pPr>
            <a:r>
              <a:rPr sz="1450" b="0">
                <a:solidFill>
                  <a:srgbClr val="F4F4F6"/>
                </a:solidFill>
                <a:latin typeface="Libre Franklin Medium"/>
              </a:rPr>
              <a:t>Bringing it inside our own protocol costs us nothing scientifically.</a:t>
            </a:r>
          </a:p>
        </p:txBody>
      </p:sp>
      <p:sp>
        <p:nvSpPr>
          <p:cNvPr id="13" name="TextBox 12"/>
          <p:cNvSpPr txBox="1"/>
          <p:nvPr/>
        </p:nvSpPr>
        <p:spPr>
          <a:xfrm>
            <a:off x="548640" y="5266944"/>
            <a:ext cx="10058400" cy="365760"/>
          </a:xfrm>
          <a:prstGeom prst="rect">
            <a:avLst/>
          </a:prstGeom>
          <a:noFill/>
        </p:spPr>
        <p:txBody>
          <a:bodyPr wrap="square" lIns="0" rIns="0" tIns="0" bIns="0" anchor="t">
            <a:spAutoFit/>
          </a:bodyPr>
          <a:lstStyle/>
          <a:p>
            <a:pPr algn="l">
              <a:spcAft>
                <a:spcPts val="0"/>
              </a:spcAft>
            </a:pPr>
            <a:r>
              <a:rPr sz="1050" b="0">
                <a:solidFill>
                  <a:srgbClr val="91BAF4"/>
                </a:solidFill>
                <a:latin typeface="Libre Franklin Medium"/>
              </a:rPr>
              <a:t>Early Social Development Lab   |   19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