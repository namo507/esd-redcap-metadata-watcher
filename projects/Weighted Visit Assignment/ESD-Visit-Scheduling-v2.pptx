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2 reweights the model so family history carries the most weight, corrects the family history formula, and returns a ranked list instead of a single pick.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Fairness and efficiency pull against each other. The weights are where we choose the trade.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change from version 1 is Layer 3. It used to pick one person. It now returns a ranked short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Subscript i is the coordinator, f the family, v the visit.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is new in version 2. Version 1 assumed availability was already conflict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required credential lists with the PI before the pilot. The model does not care what is in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bounded range is only true because the family history term was rewritten. See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inconsistency was in the source document: the prose said more prior visits should raise the score, the formula lowered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Hours per period needs a definition: scheduled contact hours, or contact plus documentation. Decide before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Travel time should come from a routing lookup cached per coordinator and family, not computed live on every scoring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because the question comes up every time someone new reads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no candidate wins on more than two of the five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version 1 weights and the old family term, B would have won this. The reweighting is what moved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review band and the tie tolerance from pilot data, not from intuition.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N_min with the team. Five completed visits is a reasonable starting guess, not a validated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is needed for the pilot. Greedy per visit is fine while the weekly volume is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Microsoft Learn calendar getSchedule reference, and Google Workspace Calendar API freebusy query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is the one that earns trust with the team. Lead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two decisions today: the starting weights, and whether IRB allows reading staff calendars.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gracious-keller/mnt/.claude/skills/esd-lab/assets/logos/logo-horizontal-discovery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57200"/>
            <a:ext cx="1069848" cy="502920"/>
          </a:xfrm>
          <a:prstGeom prst="rect">
            <a:avLst/>
          </a:prstGeom>
        </p:spPr>
      </p:pic>
      <p:pic>
        <p:nvPicPr>
          <p:cNvPr id="3" name="Image 1" descr="/sessions/keen-gracious-keller/mnt/.claude/skills/esd-lab/assets/logos/uofsc-horizontal-gar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457200"/>
            <a:ext cx="3401568" cy="502920"/>
          </a:xfrm>
          <a:prstGeom prst="rect">
            <a:avLst/>
          </a:prstGeom>
        </p:spPr>
      </p:pic>
      <p:pic>
        <p:nvPicPr>
          <p:cNvPr id="4" name="Image 2" descr="/sessions/keen-gracious-keller/mnt/.claude/skills/esd-lab/assets/icons/sunburst-discovery-blue.png">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8732520" y="1417320"/>
            <a:ext cx="3108960" cy="377647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66928" y="20482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VISIT SCHEDULING  •  VERSION 2</a:t>
            </a:r>
            <a:endParaRPr lang="en-US" sz="1300" dirty="0"/>
          </a:p>
        </p:txBody>
      </p:sp>
      <p:sp>
        <p:nvSpPr>
          <p:cNvPr id="6" name="Text 1"/>
          <p:cNvSpPr/>
          <p:nvPr/>
        </p:nvSpPr>
        <p:spPr>
          <a:xfrm>
            <a:off x="566928" y="2359152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spc="-6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Who should we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spc="-6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offer this visit to?</a:t>
            </a:r>
            <a:endParaRPr lang="en-US" sz="4800" dirty="0"/>
          </a:p>
        </p:txBody>
      </p:sp>
      <p:sp>
        <p:nvSpPr>
          <p:cNvPr id="7" name="Text 2"/>
          <p:cNvSpPr/>
          <p:nvPr/>
        </p:nvSpPr>
        <p:spPr>
          <a:xfrm>
            <a:off x="566928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 scoring rule that ranks coordinators for every open home visit</a:t>
            </a:r>
            <a:endParaRPr lang="en-US" sz="1700" dirty="0"/>
          </a:p>
        </p:txBody>
      </p:sp>
      <p:sp>
        <p:nvSpPr>
          <p:cNvPr id="8" name="Shape 3"/>
          <p:cNvSpPr/>
          <p:nvPr/>
        </p:nvSpPr>
        <p:spPr>
          <a:xfrm>
            <a:off x="566928" y="4754880"/>
            <a:ext cx="1371600" cy="41148"/>
          </a:xfrm>
          <a:prstGeom prst="rect">
            <a:avLst/>
          </a:prstGeom>
          <a:solidFill>
            <a:srgbClr val="3366FF"/>
          </a:solidFill>
          <a:ln/>
        </p:spPr>
      </p:sp>
      <p:sp>
        <p:nvSpPr>
          <p:cNvPr id="9" name="Text 4"/>
          <p:cNvSpPr/>
          <p:nvPr/>
        </p:nvSpPr>
        <p:spPr>
          <a:xfrm>
            <a:off x="566928" y="49560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66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Fair rotation, family continuity, and honest workload, in one number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66928" y="53766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For lab team and PI review  •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Fair and efficient, at the same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394960" cy="1481328"/>
          </a:xfrm>
          <a:prstGeom prst="roundRect">
            <a:avLst>
              <a:gd name="adj" fmla="val 8642"/>
            </a:avLst>
          </a:prstGeom>
          <a:solidFill>
            <a:srgbClr val="E6EEFC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Fair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223113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No coordinator carries a heavier share than the rest, once travel and visit length are counted honestly.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6208" y="1645920"/>
            <a:ext cx="5394960" cy="1481328"/>
          </a:xfrm>
          <a:prstGeom prst="roundRect">
            <a:avLst>
              <a:gd name="adj" fmla="val 8642"/>
            </a:avLst>
          </a:prstGeom>
          <a:solidFill>
            <a:srgbClr val="E6EEFC"/>
          </a:solidFill>
          <a:ln/>
        </p:spPr>
      </p:sp>
      <p:sp>
        <p:nvSpPr>
          <p:cNvPr id="10" name="Text 8"/>
          <p:cNvSpPr/>
          <p:nvPr/>
        </p:nvSpPr>
        <p:spPr>
          <a:xfrm>
            <a:off x="6547104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7F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Efficient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47104" y="223113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Visits get filled quickly with someone the family already trusts, without a chain of phone calls.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401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FOUR THINGS THE RULE LOOKS 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749040"/>
            <a:ext cx="2615184" cy="1920240"/>
          </a:xfrm>
          <a:prstGeom prst="roundRect">
            <a:avLst>
              <a:gd name="adj" fmla="val 6667"/>
            </a:avLst>
          </a:prstGeom>
          <a:solidFill>
            <a:srgbClr val="E6EEFC"/>
          </a:solidFill>
          <a:ln/>
        </p:spPr>
      </p:sp>
      <p:pic>
        <p:nvPicPr>
          <p:cNvPr id="14" name="Image 0" descr="/sessions/keen-gracious-keller/mnt/.claude/skills/esd-lab/assets/icons/suite/icon-checklist-science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68496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45902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4937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Open slot inside the date window, and no clash on the calendar.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56432" y="3749040"/>
            <a:ext cx="2615184" cy="1920240"/>
          </a:xfrm>
          <a:prstGeom prst="roundRect">
            <a:avLst>
              <a:gd name="adj" fmla="val 6667"/>
            </a:avLst>
          </a:prstGeom>
          <a:solidFill>
            <a:srgbClr val="E6EEFC"/>
          </a:solidFill>
          <a:ln/>
        </p:spPr>
      </p:sp>
      <p:pic>
        <p:nvPicPr>
          <p:cNvPr id="18" name="Image 1" descr="/sessions/keen-gracious-keller/mnt/.claude/skills/esd-lab/assets/icons/suite/icon-footprints-scienc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3968496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12464" y="45902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Visit history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712464" y="4937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How many times this coordinator has already seen this family.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345936" y="3749040"/>
            <a:ext cx="2615184" cy="1920240"/>
          </a:xfrm>
          <a:prstGeom prst="roundRect">
            <a:avLst>
              <a:gd name="adj" fmla="val 6667"/>
            </a:avLst>
          </a:prstGeom>
          <a:solidFill>
            <a:srgbClr val="E6EEFC"/>
          </a:solidFill>
          <a:ln/>
        </p:spPr>
      </p:sp>
      <p:pic>
        <p:nvPicPr>
          <p:cNvPr id="22" name="Image 2" descr="/sessions/keen-gracious-keller/mnt/.claude/skills/esd-lab/assets/icons/suite/icon-growth-chart-science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968496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01968" y="45902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Workload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601968" y="4937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Scheduled hours this period, plus round trip travel time.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235440" y="3749040"/>
            <a:ext cx="2615184" cy="1920240"/>
          </a:xfrm>
          <a:prstGeom prst="roundRect">
            <a:avLst>
              <a:gd name="adj" fmla="val 6667"/>
            </a:avLst>
          </a:prstGeom>
          <a:solidFill>
            <a:srgbClr val="E6EEFC"/>
          </a:solidFill>
          <a:ln/>
        </p:spPr>
      </p:sp>
      <p:pic>
        <p:nvPicPr>
          <p:cNvPr id="26" name="Image 3" descr="/sessions/keen-gracious-keller/mnt/.claude/skills/esd-lab/assets/icons/suite/icon-hands-pair-science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3968496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91472" y="45902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Family preference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491472" y="49377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Whether the family wants a familiar face or a fresh 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Filter, then score, then rank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246120" cy="2103120"/>
          </a:xfrm>
          <a:prstGeom prst="roundRect">
            <a:avLst>
              <a:gd name="adj" fmla="val 6957"/>
            </a:avLst>
          </a:prstGeom>
          <a:solidFill>
            <a:srgbClr val="3366F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10312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LAYER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2377440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Filter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59536" y="2999232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4F4F6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Drop anyone who cannot take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4F4F6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this visit. Pass or fail.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95928" y="2761488"/>
            <a:ext cx="420624" cy="329184"/>
          </a:xfrm>
          <a:prstGeom prst="rightArrow">
            <a:avLst/>
          </a:prstGeom>
          <a:solidFill>
            <a:srgbClr val="3366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1874520"/>
            <a:ext cx="3246120" cy="2103120"/>
          </a:xfrm>
          <a:prstGeom prst="roundRect">
            <a:avLst>
              <a:gd name="adj" fmla="val 6957"/>
            </a:avLst>
          </a:prstGeom>
          <a:solidFill>
            <a:srgbClr val="91BAF4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10312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LAYER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377440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Score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892040" y="2999232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Give everyone left one number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between 0 and 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28432" y="2761488"/>
            <a:ext cx="420624" cy="329184"/>
          </a:xfrm>
          <a:prstGeom prst="rightArrow">
            <a:avLst/>
          </a:prstGeom>
          <a:solidFill>
            <a:srgbClr val="3366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631936" y="1874520"/>
            <a:ext cx="3246120" cy="2103120"/>
          </a:xfrm>
          <a:prstGeom prst="roundRect">
            <a:avLst>
              <a:gd name="adj" fmla="val 6957"/>
            </a:avLst>
          </a:prstGeom>
          <a:solidFill>
            <a:srgbClr val="E6EEFC"/>
          </a:solidFill>
          <a:ln/>
        </p:spPr>
      </p:sp>
      <p:sp>
        <p:nvSpPr>
          <p:cNvPr id="17" name="Text 15"/>
          <p:cNvSpPr/>
          <p:nvPr/>
        </p:nvSpPr>
        <p:spPr>
          <a:xfrm>
            <a:off x="8924544" y="2103120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LAYER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24544" y="2377440"/>
            <a:ext cx="2660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Rank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924544" y="2999232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66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Return an ordered short list,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66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not a single name.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434840"/>
            <a:ext cx="173736" cy="173736"/>
          </a:xfrm>
          <a:prstGeom prst="ellipse">
            <a:avLst/>
          </a:prstGeom>
          <a:solidFill>
            <a:srgbClr val="F57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" y="437997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Nothing is traded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470001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Eligibility is not a penalty. A missing credential cannot be outscored by a short drive.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99432" y="4434840"/>
            <a:ext cx="173736" cy="173736"/>
          </a:xfrm>
          <a:prstGeom prst="ellipse">
            <a:avLst/>
          </a:prstGeom>
          <a:solidFill>
            <a:srgbClr val="F57F00"/>
          </a:solidFill>
          <a:ln/>
        </p:spPr>
      </p:sp>
      <p:sp>
        <p:nvSpPr>
          <p:cNvPr id="24" name="Text 22"/>
          <p:cNvSpPr/>
          <p:nvPr/>
        </p:nvSpPr>
        <p:spPr>
          <a:xfrm>
            <a:off x="4882896" y="437997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Everything at once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99432" y="470001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Five things we care about are folded into one number so they can be compared directly.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31936" y="4434840"/>
            <a:ext cx="173736" cy="173736"/>
          </a:xfrm>
          <a:prstGeom prst="ellipse">
            <a:avLst/>
          </a:prstGeom>
          <a:solidFill>
            <a:srgbClr val="F57F00"/>
          </a:solidFill>
          <a:ln/>
        </p:spPr>
      </p:sp>
      <p:sp>
        <p:nvSpPr>
          <p:cNvPr id="27" name="Text 25"/>
          <p:cNvSpPr/>
          <p:nvPr/>
        </p:nvSpPr>
        <p:spPr>
          <a:xfrm>
            <a:off x="8915400" y="437997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person still chooses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31936" y="470001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coordinator sees the top few with reasons, and picks. Close calls get flagged.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READING THE SYMBOLS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each symbol stands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7" name="Image 0" descr="/tmp/esd2/math/sym_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745" y="1781175"/>
            <a:ext cx="734895" cy="3604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42032" y="1764792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9" name="Text 6"/>
          <p:cNvSpPr/>
          <p:nvPr/>
        </p:nvSpPr>
        <p:spPr>
          <a:xfrm>
            <a:off x="2706624" y="166420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One coordinator who could take the visit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382012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11" name="Image 1" descr="/tmp/esd2/math/sym_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55" y="2517267"/>
            <a:ext cx="837873" cy="3604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42032" y="2500884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13" name="Text 9"/>
          <p:cNvSpPr/>
          <p:nvPr/>
        </p:nvSpPr>
        <p:spPr>
          <a:xfrm>
            <a:off x="2706624" y="240030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One visit request that needs filling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3118104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15" name="Image 2" descr="/tmp/esd2/math/sym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447" y="3248678"/>
            <a:ext cx="491490" cy="36978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542032" y="3236976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17" name="Text 12"/>
          <p:cNvSpPr/>
          <p:nvPr/>
        </p:nvSpPr>
        <p:spPr>
          <a:xfrm>
            <a:off x="2706624" y="313639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Visits this coordinator has done with this family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6928" y="3854196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19" name="Image 3" descr="/tmp/esd2/math/sym_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383" y="3996472"/>
            <a:ext cx="313617" cy="346383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542032" y="3973068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21" name="Text 15"/>
          <p:cNvSpPr/>
          <p:nvPr/>
        </p:nvSpPr>
        <p:spPr>
          <a:xfrm>
            <a:off x="2706624" y="3872484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How many visits it takes to feel familiar, currently 2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66928" y="4590288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23" name="Image 4" descr="/tmp/esd2/math/sym_sigm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50" y="4688096"/>
            <a:ext cx="1764683" cy="4353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2542032" y="4709160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25" name="Text 18"/>
          <p:cNvSpPr/>
          <p:nvPr/>
        </p:nvSpPr>
        <p:spPr>
          <a:xfrm>
            <a:off x="2706624" y="4608576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Family flag: plus one wants a familiar face, minus one wants a fresh one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66928" y="5326380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27" name="Image 5" descr="/tmp/esd2/math/sym_d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724" y="5445252"/>
            <a:ext cx="528937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2542032" y="5445252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29" name="Text 21"/>
          <p:cNvSpPr/>
          <p:nvPr/>
        </p:nvSpPr>
        <p:spPr>
          <a:xfrm>
            <a:off x="2706624" y="534466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Days since this coordinator's last visit of any kind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281928" y="1645920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31" name="Image 6" descr="/tmp/esd2/math/sym_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3958" y="1767132"/>
            <a:ext cx="374469" cy="388511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8257032" y="1764792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33" name="Text 24"/>
          <p:cNvSpPr/>
          <p:nvPr/>
        </p:nvSpPr>
        <p:spPr>
          <a:xfrm>
            <a:off x="8421624" y="166420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Hours already scheduled this period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281928" y="2382012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35" name="Image 7" descr="/tmp/esd2/math/sym_tau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8426" y="2521948"/>
            <a:ext cx="505533" cy="35106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257032" y="2500884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37" name="Text 27"/>
          <p:cNvSpPr/>
          <p:nvPr/>
        </p:nvSpPr>
        <p:spPr>
          <a:xfrm>
            <a:off x="8421624" y="240030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Round trip travel time in minutes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6281928" y="3118104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39" name="Image 8" descr="/tmp/esd2/math/sym_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5873" y="3236976"/>
            <a:ext cx="430639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8257032" y="3236976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41" name="Text 30"/>
          <p:cNvSpPr/>
          <p:nvPr/>
        </p:nvSpPr>
        <p:spPr>
          <a:xfrm>
            <a:off x="8421624" y="3136392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pool of coordinators who cleared Layer 1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6281928" y="3854196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43" name="Image 9" descr="/tmp/esd2/math/sym_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5021" y="3961366"/>
            <a:ext cx="552341" cy="416596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8257032" y="3973068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45" name="Text 33"/>
          <p:cNvSpPr/>
          <p:nvPr/>
        </p:nvSpPr>
        <p:spPr>
          <a:xfrm>
            <a:off x="8421624" y="3872484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final score, always between 0 and 1</a:t>
            </a:r>
            <a:endParaRPr lang="en-US" sz="1150" dirty="0"/>
          </a:p>
        </p:txBody>
      </p:sp>
      <p:sp>
        <p:nvSpPr>
          <p:cNvPr id="46" name="Shape 34"/>
          <p:cNvSpPr/>
          <p:nvPr/>
        </p:nvSpPr>
        <p:spPr>
          <a:xfrm>
            <a:off x="6281928" y="4590288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47" name="Image 10" descr="/tmp/esd2/math/sym_delt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3745" y="4727883"/>
            <a:ext cx="294894" cy="355745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257032" y="4709160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49" name="Text 36"/>
          <p:cNvSpPr/>
          <p:nvPr/>
        </p:nvSpPr>
        <p:spPr>
          <a:xfrm>
            <a:off x="8421624" y="4608576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Score gap below which the top two get flagged for review</a:t>
            </a:r>
            <a:endParaRPr lang="en-US" sz="1150" dirty="0"/>
          </a:p>
        </p:txBody>
      </p:sp>
      <p:sp>
        <p:nvSpPr>
          <p:cNvPr id="50" name="Shape 37"/>
          <p:cNvSpPr/>
          <p:nvPr/>
        </p:nvSpPr>
        <p:spPr>
          <a:xfrm>
            <a:off x="6281928" y="5326380"/>
            <a:ext cx="5440680" cy="630936"/>
          </a:xfrm>
          <a:prstGeom prst="roundRect">
            <a:avLst>
              <a:gd name="adj" fmla="val 14493"/>
            </a:avLst>
          </a:prstGeom>
          <a:solidFill>
            <a:srgbClr val="E6EEFC"/>
          </a:solidFill>
          <a:ln/>
        </p:spPr>
      </p:sp>
      <p:pic>
        <p:nvPicPr>
          <p:cNvPr id="51" name="Image 11" descr="/tmp/esd2/math/sym_gamm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9702" y="5473337"/>
            <a:ext cx="322979" cy="33702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8257032" y="5445252"/>
            <a:ext cx="12802" cy="39319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53" name="Text 39"/>
          <p:cNvSpPr/>
          <p:nvPr/>
        </p:nvSpPr>
        <p:spPr>
          <a:xfrm>
            <a:off x="8421624" y="534466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small bonus for having done the previous checkpoint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LAYER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Four eligibility checks, all must pass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E6EEFC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88366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3366F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2523744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Open slot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288950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 free block inside the requested date window.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56432" y="164592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E6EE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730752" y="188366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74E2D"/>
          </a:solidFill>
          <a:ln/>
        </p:spPr>
      </p:sp>
      <p:sp>
        <p:nvSpPr>
          <p:cNvPr id="13" name="Text 11"/>
          <p:cNvSpPr/>
          <p:nvPr/>
        </p:nvSpPr>
        <p:spPr>
          <a:xfrm>
            <a:off x="3730752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X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730752" y="2523744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 clash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30752" y="288950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Nothing already booked over that block on their calendar.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45936" y="164592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E6EE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0256" y="188366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F57F00"/>
          </a:solidFill>
          <a:ln/>
        </p:spPr>
      </p:sp>
      <p:sp>
        <p:nvSpPr>
          <p:cNvPr id="18" name="Text 16"/>
          <p:cNvSpPr/>
          <p:nvPr/>
        </p:nvSpPr>
        <p:spPr>
          <a:xfrm>
            <a:off x="6620256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620256" y="2523744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 conflict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0256" y="288950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Not on this family's do not send list.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35440" y="1645920"/>
            <a:ext cx="2615184" cy="2011680"/>
          </a:xfrm>
          <a:prstGeom prst="roundRect">
            <a:avLst>
              <a:gd name="adj" fmla="val 6364"/>
            </a:avLst>
          </a:prstGeom>
          <a:solidFill>
            <a:srgbClr val="E6EE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509760" y="188366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91BAF4"/>
          </a:solidFill>
          <a:ln/>
        </p:spPr>
      </p:sp>
      <p:sp>
        <p:nvSpPr>
          <p:cNvPr id="23" name="Text 21"/>
          <p:cNvSpPr/>
          <p:nvPr/>
        </p:nvSpPr>
        <p:spPr>
          <a:xfrm>
            <a:off x="9509760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K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509760" y="2523744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Credentialed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509760" y="2889504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Holds every credential this study type requires.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3895344"/>
            <a:ext cx="11064240" cy="1207008"/>
          </a:xfrm>
          <a:prstGeom prst="roundRect">
            <a:avLst>
              <a:gd name="adj" fmla="val 10606"/>
            </a:avLst>
          </a:prstGeom>
          <a:solidFill>
            <a:srgbClr val="F4F4F6"/>
          </a:solidFill>
          <a:ln w="12700">
            <a:solidFill>
              <a:srgbClr val="91BAF4"/>
            </a:solidFill>
            <a:prstDash val="solid"/>
          </a:ln>
        </p:spPr>
      </p:sp>
      <p:pic>
        <p:nvPicPr>
          <p:cNvPr id="27" name="Image 0" descr="/tmp/esd2/math/eligi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5259" y="4151376"/>
            <a:ext cx="4541178" cy="365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41248" y="45902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wedge means and. The hooked bar means not. All four have to hold at the same time.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Availability and clash come from the calendar, so both are only as fresh as the last sync.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6928" y="5285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366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If nobody clears all four, the visit goes to the coordinator to reschedule. The score is never used to rescue an ineligible person.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LAYER 1, THE CREDENTIAL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Study type decides what a coordinator needs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64240" cy="1005840"/>
          </a:xfrm>
          <a:prstGeom prst="roundRect">
            <a:avLst>
              <a:gd name="adj" fmla="val 12727"/>
            </a:avLst>
          </a:prstGeom>
          <a:solidFill>
            <a:srgbClr val="E6EEFC"/>
          </a:solidFill>
          <a:ln/>
        </p:spPr>
      </p:sp>
      <p:pic>
        <p:nvPicPr>
          <p:cNvPr id="7" name="Image 0" descr="/tmp/esd2/math/creden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588" y="1883664"/>
            <a:ext cx="3632519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76148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Read it as: the visit type's required credential list has to be a subset of what this coordinator holds.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3246120"/>
            <a:ext cx="5394960" cy="1316736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5875">
            <a:solidFill>
              <a:srgbClr val="336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3438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1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NICO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133088" y="3438144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Study protocol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7824" y="387705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Required list lives in the protocol record. Nothing about it is hard coded.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36208" y="3246120"/>
            <a:ext cx="5394960" cy="1316736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5875">
            <a:solidFill>
              <a:srgbClr val="F57F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47104" y="3438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120" kern="0" dirty="0">
                <a:solidFill>
                  <a:srgbClr val="F57F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NANO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802368" y="3438144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Study protocol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47104" y="387705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Same lookup, different list. Adding a third study means adding a row, not editing code.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" y="4773168"/>
            <a:ext cx="11064240" cy="914400"/>
          </a:xfrm>
          <a:prstGeom prst="roundRect">
            <a:avLst>
              <a:gd name="adj" fmla="val 14000"/>
            </a:avLst>
          </a:prstGeom>
          <a:solidFill>
            <a:srgbClr val="F4F4F6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4901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77824" y="515721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Nico and Nano differ on things like ADOS administration and who can take consent. Keeping that in a lookup table means the two studies never need two versions of the scoring code, and a protocol change is a data edit.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LAYER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score, five parts, new weights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1064240" cy="960120"/>
          </a:xfrm>
          <a:prstGeom prst="roundRect">
            <a:avLst>
              <a:gd name="adj" fmla="val 13333"/>
            </a:avLst>
          </a:prstGeom>
          <a:solidFill>
            <a:srgbClr val="E6EEFC"/>
          </a:solidFill>
          <a:ln/>
        </p:spPr>
      </p:sp>
      <p:pic>
        <p:nvPicPr>
          <p:cNvPr id="7" name="Image 0" descr="/tmp/esd2/math/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4075" y="1828800"/>
            <a:ext cx="6683545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761488"/>
            <a:ext cx="2066544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761488"/>
            <a:ext cx="2066544" cy="457200"/>
          </a:xfrm>
          <a:prstGeom prst="roundRect">
            <a:avLst>
              <a:gd name="adj" fmla="val 24000"/>
            </a:avLst>
          </a:prstGeom>
          <a:solidFill>
            <a:srgbClr val="3366FF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" y="27614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w₁  =  0.30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3310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Family history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31520" y="37856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How well this coordinator already knows the family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852928" y="2761488"/>
            <a:ext cx="2066544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52928" y="2761488"/>
            <a:ext cx="2066544" cy="457200"/>
          </a:xfrm>
          <a:prstGeom prst="roundRect">
            <a:avLst>
              <a:gd name="adj" fmla="val 24000"/>
            </a:avLst>
          </a:prstGeom>
          <a:solidFill>
            <a:srgbClr val="91BAF4"/>
          </a:solidFill>
          <a:ln/>
        </p:spPr>
      </p:sp>
      <p:sp>
        <p:nvSpPr>
          <p:cNvPr id="15" name="Text 12"/>
          <p:cNvSpPr/>
          <p:nvPr/>
        </p:nvSpPr>
        <p:spPr>
          <a:xfrm>
            <a:off x="2980944" y="27614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w₂  =  0.25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017520" y="3310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Recency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017520" y="37856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How long since their last visit of any kind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138928" y="2761488"/>
            <a:ext cx="2066544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38928" y="2761488"/>
            <a:ext cx="2066544" cy="457200"/>
          </a:xfrm>
          <a:prstGeom prst="roundRect">
            <a:avLst>
              <a:gd name="adj" fmla="val 24000"/>
            </a:avLst>
          </a:prstGeom>
          <a:solidFill>
            <a:srgbClr val="91BAF4"/>
          </a:solidFill>
          <a:ln/>
        </p:spPr>
      </p:sp>
      <p:sp>
        <p:nvSpPr>
          <p:cNvPr id="20" name="Text 17"/>
          <p:cNvSpPr/>
          <p:nvPr/>
        </p:nvSpPr>
        <p:spPr>
          <a:xfrm>
            <a:off x="5266944" y="27614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w₃  =  0.20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303520" y="3310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Workload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5303520" y="37856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Hours already booked this period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424928" y="2761488"/>
            <a:ext cx="2066544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24928" y="2761488"/>
            <a:ext cx="2066544" cy="457200"/>
          </a:xfrm>
          <a:prstGeom prst="roundRect">
            <a:avLst>
              <a:gd name="adj" fmla="val 24000"/>
            </a:avLst>
          </a:prstGeom>
          <a:solidFill>
            <a:srgbClr val="91BAF4"/>
          </a:solidFill>
          <a:ln/>
        </p:spPr>
      </p:sp>
      <p:sp>
        <p:nvSpPr>
          <p:cNvPr id="25" name="Text 22"/>
          <p:cNvSpPr/>
          <p:nvPr/>
        </p:nvSpPr>
        <p:spPr>
          <a:xfrm>
            <a:off x="7552944" y="27614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w₄  =  0.15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589520" y="3310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Travel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589520" y="37856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Round trip travel time for this visit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710928" y="2761488"/>
            <a:ext cx="2066544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710928" y="2761488"/>
            <a:ext cx="2066544" cy="457200"/>
          </a:xfrm>
          <a:prstGeom prst="roundRect">
            <a:avLst>
              <a:gd name="adj" fmla="val 24000"/>
            </a:avLst>
          </a:prstGeom>
          <a:solidFill>
            <a:srgbClr val="91BAF4"/>
          </a:solidFill>
          <a:ln/>
        </p:spPr>
      </p:sp>
      <p:sp>
        <p:nvSpPr>
          <p:cNvPr id="30" name="Text 27"/>
          <p:cNvSpPr/>
          <p:nvPr/>
        </p:nvSpPr>
        <p:spPr>
          <a:xfrm>
            <a:off x="9838944" y="27614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w₅  =  0.10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875520" y="3310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Continuity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9875520" y="37856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Bonus for having done the previous checkpoint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66928" y="4754880"/>
            <a:ext cx="5394960" cy="932688"/>
          </a:xfrm>
          <a:prstGeom prst="roundRect">
            <a:avLst>
              <a:gd name="adj" fmla="val 11765"/>
            </a:avLst>
          </a:prstGeom>
          <a:solidFill>
            <a:srgbClr val="F4F4F6"/>
          </a:solidFill>
          <a:ln w="12700">
            <a:solidFill>
              <a:srgbClr val="91BAF4"/>
            </a:solidFill>
            <a:prstDash val="solid"/>
          </a:ln>
        </p:spPr>
      </p:sp>
      <p:pic>
        <p:nvPicPr>
          <p:cNvPr id="34" name="Image 1" descr="/tmp/esd2/math/weigh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444" y="4754880"/>
            <a:ext cx="4357928" cy="56692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6236208" y="4754880"/>
            <a:ext cx="5394960" cy="932688"/>
          </a:xfrm>
          <a:prstGeom prst="roundRect">
            <a:avLst>
              <a:gd name="adj" fmla="val 11765"/>
            </a:avLst>
          </a:prstGeom>
          <a:solidFill>
            <a:srgbClr val="E6EEFC"/>
          </a:solidFill>
          <a:ln/>
        </p:spPr>
      </p:sp>
      <p:pic>
        <p:nvPicPr>
          <p:cNvPr id="36" name="Image 2" descr="/tmp/esd2/math/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896" y="4754880"/>
            <a:ext cx="4331585" cy="3657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66928" y="581558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66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Family history now carries the most weight, and every part is scaled to the same range, so the score itself is always between 0 and 1.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ONE REAL FIX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family history term was backwards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5394960" cy="2212848"/>
          </a:xfrm>
          <a:prstGeom prst="roundRect">
            <a:avLst>
              <a:gd name="adj" fmla="val 6612"/>
            </a:avLst>
          </a:prstGeom>
          <a:solidFill>
            <a:srgbClr val="F4F4F6"/>
          </a:solidFill>
          <a:ln w="15875">
            <a:solidFill>
              <a:srgbClr val="D74E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92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74E2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VERSION 1</a:t>
            </a:r>
            <a:endParaRPr lang="en-US" sz="1100" dirty="0"/>
          </a:p>
        </p:txBody>
      </p:sp>
      <p:pic>
        <p:nvPicPr>
          <p:cNvPr id="8" name="Image 0" descr="/tmp/esd2/math/family_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9888" y="2157984"/>
            <a:ext cx="1489040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287121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With the flag set to plus one, meaning the family wants a familiar face, this score falls as prior visits rise. The sign and the shape disagreed, so the term did the opposite of its label.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36208" y="1627632"/>
            <a:ext cx="5394960" cy="2212848"/>
          </a:xfrm>
          <a:prstGeom prst="roundRect">
            <a:avLst>
              <a:gd name="adj" fmla="val 6612"/>
            </a:avLst>
          </a:prstGeom>
          <a:solidFill>
            <a:srgbClr val="E6EEFC"/>
          </a:solidFill>
          <a:ln/>
        </p:spPr>
      </p:sp>
      <p:sp>
        <p:nvSpPr>
          <p:cNvPr id="11" name="Text 8"/>
          <p:cNvSpPr/>
          <p:nvPr/>
        </p:nvSpPr>
        <p:spPr>
          <a:xfrm>
            <a:off x="6547104" y="1792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VERSION 2</a:t>
            </a:r>
            <a:endParaRPr lang="en-US" sz="1100" dirty="0"/>
          </a:p>
        </p:txBody>
      </p:sp>
      <p:pic>
        <p:nvPicPr>
          <p:cNvPr id="12" name="Image 1" descr="/tmp/esd2/math/familia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103120"/>
            <a:ext cx="1249024" cy="603504"/>
          </a:xfrm>
          <a:prstGeom prst="rect">
            <a:avLst/>
          </a:prstGeom>
        </p:spPr>
      </p:pic>
      <p:pic>
        <p:nvPicPr>
          <p:cNvPr id="13" name="Image 2" descr="/tmp/esd2/math/fami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084832"/>
            <a:ext cx="1862051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47104" y="2871216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Familiarity climbs from 0 toward 1 as visits add up. The flag then picks the direction: keep it for a familiar face, invert it for a fresh one. No negative scores.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66928" y="4041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THE NUMBERS LOOK LIKE, WITH k = 2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52544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316736"/>
                <a:gridCol w="1316736"/>
                <a:gridCol w="1316736"/>
                <a:gridCol w="1316736"/>
                <a:gridCol w="131673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Prior visits with this family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0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2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4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8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Familiarity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0.000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0.333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0.500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0.667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0.800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Score, family wants a familiar face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0.000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0.333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0.500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0.667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0.800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Score, family wants a fresh face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1.000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0.667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0.500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0.333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0.200</a:t>
                      </a:r>
                      <a:endParaRPr lang="en-US" sz="120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566928" y="581558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66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 coordinator who has never met the family now scores 0 on continuity, not 1. That was the bug worth catching before this term became the heaviest one.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PARTS TWO AND THREE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Recency and workload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394960" cy="4114800"/>
          </a:xfrm>
          <a:prstGeom prst="roundRect">
            <a:avLst>
              <a:gd name="adj" fmla="val 3556"/>
            </a:avLst>
          </a:prstGeom>
          <a:solidFill>
            <a:srgbClr val="E6EEF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938528"/>
            <a:ext cx="530352" cy="530352"/>
          </a:xfrm>
          <a:prstGeom prst="ellipse">
            <a:avLst/>
          </a:prstGeom>
          <a:solidFill>
            <a:srgbClr val="3366F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938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72768" y="193852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Recency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07408" y="193852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weight 0.25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" y="2670048"/>
            <a:ext cx="473659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pic>
        <p:nvPicPr>
          <p:cNvPr id="12" name="Image 0" descr="/tmp/esd2/math/rec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980" y="2670048"/>
            <a:ext cx="2032856" cy="6583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6112" y="393192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Days since this coordinator's last visit, capped at a ceiling such as 90 days.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96112" y="4590288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Someone who worked yesterday scores near 0. Someone free for three months scores 1. This is what keeps the rotation moving.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36208" y="1645920"/>
            <a:ext cx="5394960" cy="4114800"/>
          </a:xfrm>
          <a:prstGeom prst="roundRect">
            <a:avLst>
              <a:gd name="adj" fmla="val 3556"/>
            </a:avLst>
          </a:prstGeom>
          <a:solidFill>
            <a:srgbClr val="E6EE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1938528"/>
            <a:ext cx="530352" cy="530352"/>
          </a:xfrm>
          <a:prstGeom prst="ellipse">
            <a:avLst/>
          </a:prstGeom>
          <a:solidFill>
            <a:srgbClr val="F57F00"/>
          </a:solidFill>
          <a:ln/>
        </p:spPr>
      </p:sp>
      <p:sp>
        <p:nvSpPr>
          <p:cNvPr id="17" name="Text 14"/>
          <p:cNvSpPr/>
          <p:nvPr/>
        </p:nvSpPr>
        <p:spPr>
          <a:xfrm>
            <a:off x="6565392" y="1938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242048" y="193852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Workload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076688" y="193852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7F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weight 0.20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65392" y="2670048"/>
            <a:ext cx="473659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pic>
        <p:nvPicPr>
          <p:cNvPr id="21" name="Image 1" descr="/tmp/esd2/math/work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636" y="2670048"/>
            <a:ext cx="1458103" cy="6583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65392" y="393192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Hours already scheduled this period, against the busiest person on the team.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565392" y="4590288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Counting hours instead of visit counts is the change here. A morning of long assessments no longer looks the same as two short check ins.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PARTS FOUR AND FIVE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Travel and continuity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394960" cy="4114800"/>
          </a:xfrm>
          <a:prstGeom prst="roundRect">
            <a:avLst>
              <a:gd name="adj" fmla="val 3556"/>
            </a:avLst>
          </a:prstGeom>
          <a:solidFill>
            <a:srgbClr val="E6EEF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938528"/>
            <a:ext cx="530352" cy="530352"/>
          </a:xfrm>
          <a:prstGeom prst="ellipse">
            <a:avLst/>
          </a:prstGeom>
          <a:solidFill>
            <a:srgbClr val="3366FF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938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72768" y="193852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Travel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07408" y="193852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weight 0.15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" y="2670048"/>
            <a:ext cx="473659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pic>
        <p:nvPicPr>
          <p:cNvPr id="12" name="Image 0" descr="/tmp/esd2/math/tra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1874" y="2670048"/>
            <a:ext cx="1665067" cy="6217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6112" y="393192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Round trip travel time, against the longest trip in the eligible pool.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96112" y="4590288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Minutes replaced miles. Travel time and scheduled hours are now in the same unit, so the two together describe the real burden of a visit.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36208" y="1645920"/>
            <a:ext cx="5394960" cy="4114800"/>
          </a:xfrm>
          <a:prstGeom prst="roundRect">
            <a:avLst>
              <a:gd name="adj" fmla="val 3556"/>
            </a:avLst>
          </a:prstGeom>
          <a:solidFill>
            <a:srgbClr val="E6EE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565392" y="1938528"/>
            <a:ext cx="530352" cy="530352"/>
          </a:xfrm>
          <a:prstGeom prst="ellipse">
            <a:avLst/>
          </a:prstGeom>
          <a:solidFill>
            <a:srgbClr val="F57F00"/>
          </a:solidFill>
          <a:ln/>
        </p:spPr>
      </p:sp>
      <p:sp>
        <p:nvSpPr>
          <p:cNvPr id="17" name="Text 14"/>
          <p:cNvSpPr/>
          <p:nvPr/>
        </p:nvSpPr>
        <p:spPr>
          <a:xfrm>
            <a:off x="6565392" y="1938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242048" y="193852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Continuity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076688" y="193852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7F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weight 0.10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65392" y="2670048"/>
            <a:ext cx="473659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pic>
        <p:nvPicPr>
          <p:cNvPr id="21" name="Image 1" descr="/tmp/esd2/math/continu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694" y="2670048"/>
            <a:ext cx="2223987" cy="7132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65392" y="393192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small fixed bonus, about 0.05, for doing the last checkpoint.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565392" y="4590288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Kept deliberately small. Family history already carries continuity at weight 0.30, so this only breaks near ties in favour of the last familiar face.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COMMON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Where does family preference actually live?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57276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It is not a sixth term. It shows up in three places, each with a different amount of force.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3529584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5875">
            <a:solidFill>
              <a:srgbClr val="D74E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084832"/>
            <a:ext cx="3529584" cy="420624"/>
          </a:xfrm>
          <a:prstGeom prst="roundRect">
            <a:avLst>
              <a:gd name="adj" fmla="val 34783"/>
            </a:avLst>
          </a:prstGeom>
          <a:solidFill>
            <a:srgbClr val="D74E2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084832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STRONGEST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61518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hard override in Layer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529584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 named request or an exclusion removes people from the pool outright. No score can undo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70832" y="2084832"/>
            <a:ext cx="3529584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5875">
            <a:solidFill>
              <a:srgbClr val="336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2084832"/>
            <a:ext cx="3529584" cy="420624"/>
          </a:xfrm>
          <a:prstGeom prst="roundRect">
            <a:avLst>
              <a:gd name="adj" fmla="val 34783"/>
            </a:avLst>
          </a:prstGeom>
          <a:solidFill>
            <a:srgbClr val="33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370832" y="2084832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MIDDLE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5152" y="261518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direction of the family history term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45152" y="3529584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flag decides whether familiarity helps or hurts, at the heaviest weight in the model.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74736" y="2084832"/>
            <a:ext cx="3529584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5875">
            <a:solidFill>
              <a:srgbClr val="F57F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4736" y="2084832"/>
            <a:ext cx="3529584" cy="420624"/>
          </a:xfrm>
          <a:prstGeom prst="roundRect">
            <a:avLst>
              <a:gd name="adj" fmla="val 34783"/>
            </a:avLst>
          </a:prstGeom>
          <a:solidFill>
            <a:srgbClr val="F57F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74736" y="2084832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LIGHTEST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49056" y="261518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tie break in Layer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49056" y="3529584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When the top two are effectively level, prior visits with the family settle it.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937760"/>
            <a:ext cx="11064240" cy="914400"/>
          </a:xfrm>
          <a:prstGeom prst="roundRect">
            <a:avLst>
              <a:gd name="adj" fmla="val 14000"/>
            </a:avLst>
          </a:prstGeom>
          <a:solidFill>
            <a:srgbClr val="E6EEFC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5065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reason for the split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" y="53218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 comfort concern is a stop sign, not a penalty. Folding it into the score would let a short drive and a light caseload quietly outvote it, which is exactly what we do not want to happen.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WORKED EXAMPLE, STEP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Three eligible coordinators, one visit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What we measure</a:t>
                      </a:r>
                      <a:endParaRPr lang="en-US" sz="12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A</a:t>
                      </a:r>
                      <a:endParaRPr lang="en-US" sz="12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B</a:t>
                      </a:r>
                      <a:endParaRPr lang="en-US" sz="12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C</a:t>
                      </a:r>
                      <a:endParaRPr lang="en-US" sz="12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Prior visits with this family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3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1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Familiarity, k = 2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0.600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0.000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0.333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66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Family history score</a:t>
                      </a:r>
                      <a:endParaRPr lang="en-US" sz="11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0.600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0.000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0.333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Days since last visit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5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20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40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66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Recency score</a:t>
                      </a:r>
                      <a:endParaRPr lang="en-US" sz="11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0.056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0.222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0.444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Hours booked this period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18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9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12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66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Workload score</a:t>
                      </a:r>
                      <a:endParaRPr lang="en-US" sz="11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0.000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0.500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0.333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Round trip minutes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30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75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45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66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Travel score</a:t>
                      </a:r>
                      <a:endParaRPr lang="en-US" sz="11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0.600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0.000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0.400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Did the last checkpoint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Yes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No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No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66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Continuity bonus</a:t>
                      </a:r>
                      <a:endParaRPr lang="en-US" sz="11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0.050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0.000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0.000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88900" marR="889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645920"/>
            <a:ext cx="3886200" cy="1737360"/>
          </a:xfrm>
          <a:prstGeom prst="roundRect">
            <a:avLst>
              <a:gd name="adj" fmla="val 7368"/>
            </a:avLst>
          </a:prstGeom>
          <a:solidFill>
            <a:srgbClr val="E6EEFC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setup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01000" y="2139696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This family wants a familiar face, so the flag is plus one. Every score in blue is computed from the raw row directly above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26680" y="3602736"/>
            <a:ext cx="38862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3366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82128" y="3776472"/>
            <a:ext cx="384048" cy="384048"/>
          </a:xfrm>
          <a:prstGeom prst="ellipse">
            <a:avLst/>
          </a:prstGeom>
          <a:solidFill>
            <a:srgbClr val="3366FF"/>
          </a:solidFill>
          <a:ln/>
        </p:spPr>
      </p:sp>
      <p:sp>
        <p:nvSpPr>
          <p:cNvPr id="12" name="Text 9"/>
          <p:cNvSpPr/>
          <p:nvPr/>
        </p:nvSpPr>
        <p:spPr>
          <a:xfrm>
            <a:off x="7882128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412480" y="3657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veteran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412480" y="38953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Knows the family best and lives closest, but is fully booked and worked five days ago.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26680" y="4425696"/>
            <a:ext cx="38862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57F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82128" y="4599432"/>
            <a:ext cx="384048" cy="384048"/>
          </a:xfrm>
          <a:prstGeom prst="ellipse">
            <a:avLst/>
          </a:prstGeom>
          <a:solidFill>
            <a:srgbClr val="F57F00"/>
          </a:solidFill>
          <a:ln/>
        </p:spPr>
      </p:sp>
      <p:sp>
        <p:nvSpPr>
          <p:cNvPr id="17" name="Text 14"/>
          <p:cNvSpPr/>
          <p:nvPr/>
        </p:nvSpPr>
        <p:spPr>
          <a:xfrm>
            <a:off x="7882128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412480" y="4480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newcomer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412480" y="4718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Lightest caseload on the team, but has never met this family and faces the longest drive.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26680" y="5248656"/>
            <a:ext cx="38862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82128" y="5422392"/>
            <a:ext cx="384048" cy="384048"/>
          </a:xfrm>
          <a:prstGeom prst="ellipse">
            <a:avLst/>
          </a:prstGeom>
          <a:solidFill>
            <a:srgbClr val="91BAF4"/>
          </a:solidFill>
          <a:ln/>
        </p:spPr>
      </p:sp>
      <p:sp>
        <p:nvSpPr>
          <p:cNvPr id="22" name="Text 19"/>
          <p:cNvSpPr/>
          <p:nvPr/>
        </p:nvSpPr>
        <p:spPr>
          <a:xfrm>
            <a:off x="7882128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412480" y="5303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middle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412480" y="55412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Nothing outstanding anywhere, nothing weak anywhere.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5870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Illustration only. Real numbers come out of the pilot.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WORKED EXAMPLE, STEP TWO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Multiply, add, then rank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64240" cy="914400"/>
          </a:xfrm>
          <a:prstGeom prst="roundRect">
            <a:avLst>
              <a:gd name="adj" fmla="val 14000"/>
            </a:avLst>
          </a:prstGeom>
          <a:solidFill>
            <a:srgbClr val="F4F4F6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COORDINATOR A</a:t>
            </a:r>
            <a:endParaRPr lang="en-US" sz="1050" dirty="0"/>
          </a:p>
        </p:txBody>
      </p:sp>
      <p:pic>
        <p:nvPicPr>
          <p:cNvPr id="8" name="Image 0" descr="/tmp/esd2/math/ex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48256"/>
            <a:ext cx="6235995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95560" y="1883664"/>
            <a:ext cx="114300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195560" y="1883664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RANK 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2706624"/>
            <a:ext cx="11064240" cy="914400"/>
          </a:xfrm>
          <a:prstGeom prst="roundRect">
            <a:avLst>
              <a:gd name="adj" fmla="val 14000"/>
            </a:avLst>
          </a:prstGeom>
          <a:solidFill>
            <a:srgbClr val="F4F4F6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2816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COORDINATOR B</a:t>
            </a:r>
            <a:endParaRPr lang="en-US" sz="1050" dirty="0"/>
          </a:p>
        </p:txBody>
      </p:sp>
      <p:pic>
        <p:nvPicPr>
          <p:cNvPr id="13" name="Image 1" descr="/tmp/esd2/math/ex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108960"/>
            <a:ext cx="6242375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195560" y="2944368"/>
            <a:ext cx="114300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195560" y="294436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RANK 3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6928" y="3767328"/>
            <a:ext cx="11064240" cy="914400"/>
          </a:xfrm>
          <a:prstGeom prst="roundRect">
            <a:avLst>
              <a:gd name="adj" fmla="val 14000"/>
            </a:avLst>
          </a:prstGeom>
          <a:solidFill>
            <a:srgbClr val="E6EEFC"/>
          </a:solidFill>
          <a:ln w="19050">
            <a:solidFill>
              <a:srgbClr val="3366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77824" y="38770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COORDINATOR C</a:t>
            </a:r>
            <a:endParaRPr lang="en-US" sz="1050" dirty="0"/>
          </a:p>
        </p:txBody>
      </p:sp>
      <p:pic>
        <p:nvPicPr>
          <p:cNvPr id="18" name="Image 2" descr="/tmp/esd2/math/ex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169664"/>
            <a:ext cx="6248754" cy="2743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0195560" y="4005072"/>
            <a:ext cx="1143000" cy="438912"/>
          </a:xfrm>
          <a:prstGeom prst="roundRect">
            <a:avLst>
              <a:gd name="adj" fmla="val 20833"/>
            </a:avLst>
          </a:prstGeom>
          <a:solidFill>
            <a:srgbClr val="3366FF"/>
          </a:solidFill>
          <a:ln/>
        </p:spPr>
      </p:sp>
      <p:sp>
        <p:nvSpPr>
          <p:cNvPr id="20" name="Text 15"/>
          <p:cNvSpPr/>
          <p:nvPr/>
        </p:nvSpPr>
        <p:spPr>
          <a:xfrm>
            <a:off x="10195560" y="400507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RANK 1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66928" y="4937760"/>
            <a:ext cx="1106424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77824" y="5175504"/>
            <a:ext cx="182880" cy="182880"/>
          </a:xfrm>
          <a:prstGeom prst="ellipse">
            <a:avLst/>
          </a:prstGeom>
          <a:solidFill>
            <a:srgbClr val="F57F00"/>
          </a:solidFill>
          <a:ln/>
        </p:spPr>
      </p:sp>
      <p:sp>
        <p:nvSpPr>
          <p:cNvPr id="23" name="Text 18"/>
          <p:cNvSpPr/>
          <p:nvPr/>
        </p:nvSpPr>
        <p:spPr>
          <a:xfrm>
            <a:off x="1170432" y="5120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this shows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170432" y="5449824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 takes the top slot without leading on a single part. A has the deepest history and the shortest drive but is fully booked and worked last week, which zeroes out two terms. The gap between C and A is 0.049, inside the 0.05 review band, so the pair is flagged for a coordinator to look at rather than confirmed silently.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LAYER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ranked short list, not a single name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11064240" cy="749808"/>
          </a:xfrm>
          <a:prstGeom prst="roundRect">
            <a:avLst>
              <a:gd name="adj" fmla="val 17073"/>
            </a:avLst>
          </a:prstGeom>
          <a:solidFill>
            <a:srgbClr val="E6EEFC"/>
          </a:solidFill>
          <a:ln/>
        </p:spPr>
      </p:sp>
      <p:pic>
        <p:nvPicPr>
          <p:cNvPr id="7" name="Image 0" descr="/tmp/esd2/math/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5177" y="1627632"/>
            <a:ext cx="5241341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615184"/>
            <a:ext cx="3529584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5875">
            <a:solidFill>
              <a:srgbClr val="3366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279806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Offer the top 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3163824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coordinator sees the best few with their scores and the reason each one ranked where it did. Currently K is 3.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2615184"/>
            <a:ext cx="3529584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5875">
            <a:solidFill>
              <a:srgbClr val="F57F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279806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Flag a thin margin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645152" y="3163824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If the first and second are closer than the review band, the pair goes to a human before anything is confirmed.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74736" y="2615184"/>
            <a:ext cx="3529584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5875">
            <a:solidFill>
              <a:srgbClr val="91BA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49056" y="279806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Break a true tie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449056" y="3163824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If the gap is smaller still, prior visits with the family settle it in whichever direction the family flag points.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4480560"/>
            <a:ext cx="5394960" cy="731520"/>
          </a:xfrm>
          <a:prstGeom prst="roundRect">
            <a:avLst>
              <a:gd name="adj" fmla="val 15000"/>
            </a:avLst>
          </a:prstGeom>
          <a:solidFill>
            <a:srgbClr val="F4F4F6"/>
          </a:solidFill>
          <a:ln w="12700">
            <a:solidFill>
              <a:srgbClr val="91BAF4"/>
            </a:solidFill>
            <a:prstDash val="solid"/>
          </a:ln>
        </p:spPr>
      </p:sp>
      <p:pic>
        <p:nvPicPr>
          <p:cNvPr id="18" name="Image 1" descr="/tmp/esd2/math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601" y="4480560"/>
            <a:ext cx="3769614" cy="31089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236208" y="4480560"/>
            <a:ext cx="5394960" cy="731520"/>
          </a:xfrm>
          <a:prstGeom prst="roundRect">
            <a:avLst>
              <a:gd name="adj" fmla="val 15000"/>
            </a:avLst>
          </a:prstGeom>
          <a:solidFill>
            <a:srgbClr val="F4F4F6"/>
          </a:solidFill>
          <a:ln w="12700">
            <a:solidFill>
              <a:srgbClr val="91BAF4"/>
            </a:solidFill>
            <a:prstDash val="solid"/>
          </a:ln>
        </p:spPr>
      </p:sp>
      <p:pic>
        <p:nvPicPr>
          <p:cNvPr id="20" name="Image 2" descr="/tmp/esd2/math/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575" y="4480560"/>
            <a:ext cx="1542225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6928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66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Ranking rather than picking is the honest move. The score separates a strong candidate from a weak one reliably, but it cannot tell 0.338 apart from 0.289 in any way a person should trust blindly.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OPEN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brand new coordinator breaks three of the five parts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347472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Part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What a new hire looks like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What the score does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F4F6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Right or wrong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66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Family history</a:t>
                      </a:r>
                      <a:endParaRPr lang="en-US" sz="11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No prior visits anywhere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 for a family wanting continuity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Right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66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Recency</a:t>
                      </a:r>
                      <a:endParaRPr lang="en-US" sz="11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No last visit on record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Undefined, or treated as a very long gap and scored 1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74E2D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Wrong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66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Workload</a:t>
                      </a:r>
                      <a:endParaRPr lang="en-US" sz="11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Nothing booked yet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1, the maximum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74E2D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Wrong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66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Travel</a:t>
                      </a:r>
                      <a:endParaRPr lang="en-US" sz="11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Distance is known from their address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Scores normally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Right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66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Continuity</a:t>
                      </a:r>
                      <a:endParaRPr lang="en-US" sz="115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Did not do the last checkpoint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0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Libre Franklin Medium" pitchFamily="34" charset="0"/>
                          <a:ea typeface="Libre Franklin Medium" pitchFamily="34" charset="-122"/>
                          <a:cs typeface="Libre Franklin Medium" pitchFamily="34" charset="-120"/>
                        </a:rPr>
                        <a:t>Right</a:t>
                      </a:r>
                      <a:endParaRPr lang="en-US" sz="1150" dirty="0">
                        <a:latin typeface="Libre Franklin Medium" charset="0"/>
                        <a:ea typeface="Libre Franklin Medium" charset="0"/>
                        <a:cs typeface="Libre Franklin Medium" charset="0"/>
                      </a:endParaRPr>
                    </a:p>
                  </a:txBody>
                  <a:tcPr marL="101600" marR="101600" marT="25400" marB="25400" anchor="ctr">
                    <a:lnL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91B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224528"/>
            <a:ext cx="11064240" cy="841248"/>
          </a:xfrm>
          <a:prstGeom prst="roundRect">
            <a:avLst>
              <a:gd name="adj" fmla="val 15217"/>
            </a:avLst>
          </a:prstGeom>
          <a:solidFill>
            <a:srgbClr val="E6EEFC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4352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PROPOSED FIX</a:t>
            </a:r>
            <a:endParaRPr lang="en-US" sz="1100" dirty="0"/>
          </a:p>
        </p:txBody>
      </p:sp>
      <p:pic>
        <p:nvPicPr>
          <p:cNvPr id="9" name="Image 0" descr="/tmp/esd2/math/cold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2221" y="4572000"/>
            <a:ext cx="4167252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5248656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Until a coordinator has a handful of visits on record, borrow the team median for recency and workload instead of letting an empty record read as maximum availability. A new hire then starts in the middle of the pack and earns their own numbers, rather than being handed every visit in week one.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OPEN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Filling visits one at a time leaves value on the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Scoring one visit against one pool is greedy. Two harder questions sit behind it, and they are different problems with different tools.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94960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875">
            <a:solidFill>
              <a:srgbClr val="336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011680"/>
            <a:ext cx="5394960" cy="420624"/>
          </a:xfrm>
          <a:prstGeom prst="roundRect">
            <a:avLst>
              <a:gd name="adj" fmla="val 34783"/>
            </a:avLst>
          </a:prstGeom>
          <a:solidFill>
            <a:srgbClr val="3366FF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0116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PERSON, ONE 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Which set of visits fits?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77824" y="3017520"/>
            <a:ext cx="4773168" cy="777240"/>
          </a:xfrm>
          <a:prstGeom prst="roundRect">
            <a:avLst>
              <a:gd name="adj" fmla="val 11765"/>
            </a:avLst>
          </a:prstGeom>
          <a:solidFill>
            <a:srgbClr val="E6EEFC"/>
          </a:solidFill>
          <a:ln/>
        </p:spPr>
      </p:sp>
      <p:pic>
        <p:nvPicPr>
          <p:cNvPr id="12" name="Image 0" descr="/tmp/esd2/math/d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2436" y="3017520"/>
            <a:ext cx="3503943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77824" y="39319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Pick the highest scoring set of non overlapping slots for a single coordinator. This is weighted interval scheduling, and dynamic programming does solve it: sort by end time, and for each visit take either the best answer without it or its score plus the best answer ending before it starts.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77824" y="528523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Runs in about n log n time, dominated by the sort.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36208" y="2011680"/>
            <a:ext cx="5394960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875">
            <a:solidFill>
              <a:srgbClr val="F57F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2011680"/>
            <a:ext cx="5394960" cy="420624"/>
          </a:xfrm>
          <a:prstGeom prst="roundRect">
            <a:avLst>
              <a:gd name="adj" fmla="val 34783"/>
            </a:avLst>
          </a:prstGeom>
          <a:solidFill>
            <a:srgbClr val="F57F00"/>
          </a:solidFill>
          <a:ln/>
        </p:spPr>
      </p:sp>
      <p:sp>
        <p:nvSpPr>
          <p:cNvPr id="17" name="Text 14"/>
          <p:cNvSpPr/>
          <p:nvPr/>
        </p:nvSpPr>
        <p:spPr>
          <a:xfrm>
            <a:off x="6547104" y="20116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WHOLE TEAM, WHOLE WEEK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47104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Who takes which visit?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6547104" y="3017520"/>
            <a:ext cx="4773168" cy="777240"/>
          </a:xfrm>
          <a:prstGeom prst="roundRect">
            <a:avLst>
              <a:gd name="adj" fmla="val 11765"/>
            </a:avLst>
          </a:prstGeom>
          <a:solidFill>
            <a:srgbClr val="E6EEFC"/>
          </a:solidFill>
          <a:ln/>
        </p:spPr>
      </p:sp>
      <p:pic>
        <p:nvPicPr>
          <p:cNvPr id="20" name="Image 1" descr="/tmp/esd2/math/as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239" y="3017520"/>
            <a:ext cx="3102899" cy="475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547104" y="39319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Maximise total score across all open visits while respecting each person's capacity. This is an assignment problem, not a dynamic programming one. The standard tools are the Hungarian algorithm for one visit each, or minimum cost flow once people can take several.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547104" y="528523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I am stating a standard result here. Worth confirming against a reference before implementation.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BLOCKER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Availability has to come from the calendar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Layer 1 cannot run on a spreadsheet of stated availability. Both checks, open slot and no clash, need live free and busy data.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94960" cy="2286000"/>
          </a:xfrm>
          <a:prstGeom prst="roundRect">
            <a:avLst>
              <a:gd name="adj" fmla="val 6400"/>
            </a:avLst>
          </a:prstGeom>
          <a:solidFill>
            <a:srgbClr val="E6EEFC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1945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Outlook, via Microsoft Graph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" y="2596896"/>
            <a:ext cx="4773168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96896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/users/{id}/calendar/getSchedule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3163824"/>
            <a:ext cx="118872" cy="118872"/>
          </a:xfrm>
          <a:prstGeom prst="ellipse">
            <a:avLst/>
          </a:prstGeom>
          <a:solidFill>
            <a:srgbClr val="33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52144" y="3090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Least privileged permission is Calendars.Read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511296"/>
            <a:ext cx="118872" cy="118872"/>
          </a:xfrm>
          <a:prstGeom prst="ellipse">
            <a:avLst/>
          </a:prstGeom>
          <a:solidFill>
            <a:srgbClr val="33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144" y="34381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Works delegated or app only with admin consent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858768"/>
            <a:ext cx="118872" cy="118872"/>
          </a:xfrm>
          <a:prstGeom prst="ellipse">
            <a:avLst/>
          </a:prstGeom>
          <a:solidFill>
            <a:srgbClr val="33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144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Up to 20 calendars per call, window under 62 days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6208" y="2011680"/>
            <a:ext cx="5394960" cy="2286000"/>
          </a:xfrm>
          <a:prstGeom prst="roundRect">
            <a:avLst>
              <a:gd name="adj" fmla="val 6400"/>
            </a:avLst>
          </a:prstGeom>
          <a:solidFill>
            <a:srgbClr val="E6EE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47104" y="21945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F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Google Calendar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47104" y="2596896"/>
            <a:ext cx="4773168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596896"/>
            <a:ext cx="4517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/calendar/v3/freeBusy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3163824"/>
            <a:ext cx="118872" cy="118872"/>
          </a:xfrm>
          <a:prstGeom prst="ellipse">
            <a:avLst/>
          </a:prstGeom>
          <a:solidFill>
            <a:srgbClr val="F57F00"/>
          </a:solidFill>
          <a:ln/>
        </p:spPr>
      </p:sp>
      <p:sp>
        <p:nvSpPr>
          <p:cNvPr id="22" name="Text 20"/>
          <p:cNvSpPr/>
          <p:nvPr/>
        </p:nvSpPr>
        <p:spPr>
          <a:xfrm>
            <a:off x="6821424" y="3090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Scope calendar.readonly is enough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3511296"/>
            <a:ext cx="118872" cy="118872"/>
          </a:xfrm>
          <a:prstGeom prst="ellipse">
            <a:avLst/>
          </a:prstGeom>
          <a:solidFill>
            <a:srgbClr val="F57F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21424" y="34381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Returns busy blocks per calendar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3858768"/>
            <a:ext cx="118872" cy="118872"/>
          </a:xfrm>
          <a:prstGeom prst="ellipse">
            <a:avLst/>
          </a:prstGeom>
          <a:solidFill>
            <a:srgbClr val="F57F00"/>
          </a:solidFill>
          <a:ln/>
        </p:spPr>
      </p:sp>
      <p:sp>
        <p:nvSpPr>
          <p:cNvPr id="26" name="Text 24"/>
          <p:cNvSpPr/>
          <p:nvPr/>
        </p:nvSpPr>
        <p:spPr>
          <a:xfrm>
            <a:off x="6821424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Needs timeMin, timeMax, and a list of calendar ids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517136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we get back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7824" y="497433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Busy blocks, not event details. That is all Layer 1 needs, and it keeps personal calendar content out of the system entirely.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36208" y="4517136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 w="15875">
            <a:solidFill>
              <a:srgbClr val="F57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47104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F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Before anyone builds this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47104" y="497433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Endpoints and scopes were checked in August 2026 and both vendors change them. Confirm against current documentation, and settle the IRB position on reading staff calendars first.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What the pilot has to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Early Social Development Lab at UofSC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4687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BAF4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1064240" cy="932688"/>
          </a:xfrm>
          <a:prstGeom prst="roundRect">
            <a:avLst>
              <a:gd name="adj" fmla="val 13725"/>
            </a:avLst>
          </a:prstGeom>
          <a:solidFill>
            <a:srgbClr val="E6EEFC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892808"/>
            <a:ext cx="438912" cy="438912"/>
          </a:xfrm>
          <a:prstGeom prst="ellipse">
            <a:avLst/>
          </a:prstGeom>
          <a:solidFill>
            <a:srgbClr val="3366F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Wire the calendar read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91456" y="1847088"/>
            <a:ext cx="14630" cy="530352"/>
          </a:xfrm>
          <a:prstGeom prst="rect">
            <a:avLst/>
          </a:prstGeom>
          <a:solidFill>
            <a:srgbClr val="3366FF"/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175564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Get free and busy data flowing for the whole team on a read only scope. Nothing else can be tested until Layer 1 is real.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93808" y="175564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Blocked on IRB and 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734056"/>
            <a:ext cx="11064240" cy="932688"/>
          </a:xfrm>
          <a:prstGeom prst="roundRect">
            <a:avLst>
              <a:gd name="adj" fmla="val 13725"/>
            </a:avLst>
          </a:prstGeom>
          <a:solidFill>
            <a:srgbClr val="F4F4F6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980944"/>
            <a:ext cx="438912" cy="438912"/>
          </a:xfrm>
          <a:prstGeom prst="ellipse">
            <a:avLst/>
          </a:prstGeom>
          <a:solidFill>
            <a:srgbClr val="F57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980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63040" y="284378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Replay past visits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91456" y="2935224"/>
            <a:ext cx="14630" cy="530352"/>
          </a:xfrm>
          <a:prstGeom prst="rect">
            <a:avLst/>
          </a:prstGeom>
          <a:solidFill>
            <a:srgbClr val="F57F00"/>
          </a:solidFill>
          <a:ln/>
        </p:spPr>
      </p:sp>
      <p:sp>
        <p:nvSpPr>
          <p:cNvPr id="18" name="Text 16"/>
          <p:cNvSpPr/>
          <p:nvPr/>
        </p:nvSpPr>
        <p:spPr>
          <a:xfrm>
            <a:off x="5047488" y="284378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Run the model over assignments already made and compare its ranking to what the team actually chose. Disagreements are the interesting cases.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93808" y="284378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7F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Needs six months of history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1064240" cy="932688"/>
          </a:xfrm>
          <a:prstGeom prst="roundRect">
            <a:avLst>
              <a:gd name="adj" fmla="val 13725"/>
            </a:avLst>
          </a:prstGeom>
          <a:solidFill>
            <a:srgbClr val="E6EE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069080"/>
            <a:ext cx="438912" cy="438912"/>
          </a:xfrm>
          <a:prstGeom prst="ellipse">
            <a:avLst/>
          </a:prstGeom>
          <a:solidFill>
            <a:srgbClr val="91BAF4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069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63040" y="39319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Tune the weights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91456" y="4023360"/>
            <a:ext cx="14630" cy="530352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25" name="Text 23"/>
          <p:cNvSpPr/>
          <p:nvPr/>
        </p:nvSpPr>
        <p:spPr>
          <a:xfrm>
            <a:off x="5047488" y="393192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Adjust from the replay, not from opinion. Record the version and effective date so any past decision stays reproducible.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93808" y="39319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afternoon with the PI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910328"/>
            <a:ext cx="11064240" cy="932688"/>
          </a:xfrm>
          <a:prstGeom prst="roundRect">
            <a:avLst>
              <a:gd name="adj" fmla="val 13725"/>
            </a:avLst>
          </a:prstGeom>
          <a:solidFill>
            <a:srgbClr val="F4F4F6"/>
          </a:solidFill>
          <a:ln w="12700">
            <a:solidFill>
              <a:srgbClr val="91BA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157216"/>
            <a:ext cx="438912" cy="438912"/>
          </a:xfrm>
          <a:prstGeom prst="ellipse">
            <a:avLst/>
          </a:prstGeom>
          <a:solidFill>
            <a:srgbClr val="D74E2D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5157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463040" y="502005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66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Debrief the surprises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791456" y="5111496"/>
            <a:ext cx="14630" cy="530352"/>
          </a:xfrm>
          <a:prstGeom prst="rect">
            <a:avLst/>
          </a:prstGeom>
          <a:solidFill>
            <a:srgbClr val="D74E2D"/>
          </a:solidFill>
          <a:ln/>
        </p:spPr>
      </p:sp>
      <p:sp>
        <p:nvSpPr>
          <p:cNvPr id="32" name="Text 30"/>
          <p:cNvSpPr/>
          <p:nvPr/>
        </p:nvSpPr>
        <p:spPr>
          <a:xfrm>
            <a:off x="5047488" y="5020056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Every case where the model and the team disagreed gets read out loud. Some will be model bugs, some will be undocumented rules worth writing down.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93808" y="502005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4E2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Standing item, first month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59893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66F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The pilot is a comparison, not a rollout. Nothing gets assigned automatically until the replay stops surprising us.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3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keen-gracious-keller/mnt/.claude/skills/esd-lab/assets/patterns/pattern-icon-band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rcRect l="0" r="0" t="0" b="0"/>
          <a:stretch/>
        </p:blipFill>
        <p:spPr>
          <a:xfrm>
            <a:off x="0" y="6053328"/>
            <a:ext cx="12191695" cy="804672"/>
          </a:xfrm>
          <a:prstGeom prst="rect">
            <a:avLst/>
          </a:prstGeom>
        </p:spPr>
      </p:pic>
      <p:pic>
        <p:nvPicPr>
          <p:cNvPr id="3" name="Image 1" descr="/sessions/keen-gracious-keller/mnt/.claude/skills/esd-lab/assets/logos/logo-horizontal-coo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1170432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91BAF4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WHERE VERSION 2 LANDS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66928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700" b="1" spc="-20" kern="0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Rank a few good options.</a:t>
            </a:r>
            <a:endParaRPr lang="en-US" sz="27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700" b="1" spc="-20" kern="0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Let a person choose between them.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66928" y="2926080"/>
            <a:ext cx="11064240" cy="1188720"/>
          </a:xfrm>
          <a:prstGeom prst="roundRect">
            <a:avLst>
              <a:gd name="adj" fmla="val 12308"/>
            </a:avLst>
          </a:prstGeom>
          <a:solidFill>
            <a:srgbClr val="F4F4F6"/>
          </a:solidFill>
          <a:ln/>
        </p:spPr>
      </p:sp>
      <p:pic>
        <p:nvPicPr>
          <p:cNvPr id="7" name="Image 2" descr="/tmp/esd2/math/f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961" y="2926080"/>
            <a:ext cx="3883774" cy="7863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6928" y="448056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Reweighted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66928" y="4818888"/>
            <a:ext cx="640080" cy="32004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10" name="Text 5"/>
          <p:cNvSpPr/>
          <p:nvPr/>
        </p:nvSpPr>
        <p:spPr>
          <a:xfrm>
            <a:off x="566928" y="4956048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4F4F6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Family history now leads at 0.30, and the term behind it was rewritten so it finally matches its own label.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370832" y="448056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Honest about burden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370832" y="4818888"/>
            <a:ext cx="640080" cy="32004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13" name="Text 8"/>
          <p:cNvSpPr/>
          <p:nvPr/>
        </p:nvSpPr>
        <p:spPr>
          <a:xfrm>
            <a:off x="4370832" y="4956048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4F4F6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Hours and travel minutes instead of visit counts and miles, so a long assessment day counts as one.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174736" y="448056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Still unfinished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174736" y="4818888"/>
            <a:ext cx="640080" cy="32004"/>
          </a:xfrm>
          <a:prstGeom prst="rect">
            <a:avLst/>
          </a:prstGeom>
          <a:solidFill>
            <a:srgbClr val="91BAF4"/>
          </a:solidFill>
          <a:ln/>
        </p:spPr>
      </p:sp>
      <p:sp>
        <p:nvSpPr>
          <p:cNvPr id="16" name="Text 11"/>
          <p:cNvSpPr/>
          <p:nvPr/>
        </p:nvSpPr>
        <p:spPr>
          <a:xfrm>
            <a:off x="8174736" y="4956048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4F4F6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Calendar access, new hire cold start, and joint scheduling are open. The pilot exists to close them.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Visit Scheduling Scoring System</dc:title>
  <dc:subject>PptxGenJS Presentation</dc:subject>
  <dc:creator>The Early Social Development Lab at UofSC</dc:creator>
  <cp:lastModifiedBy>The Early Social Development Lab at UofSC</cp:lastModifiedBy>
  <cp:revision>1</cp:revision>
  <dcterms:created xsi:type="dcterms:W3CDTF">2026-08-14T20:12:38Z</dcterms:created>
  <dcterms:modified xsi:type="dcterms:W3CDTF">2026-08-14T20:12:38Z</dcterms:modified>
</cp:coreProperties>
</file>