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attern-icon-band-white.png"/>
          <p:cNvPicPr>
            <a:picLocks noChangeAspect="1"/>
          </p:cNvPicPr>
          <p:nvPr/>
        </p:nvPicPr>
        <p:blipFill>
          <a:blip r:embed="rId2"/>
          <a:stretch>
            <a:fillRect/>
          </a:stretch>
        </p:blipFill>
        <p:spPr>
          <a:xfrm>
            <a:off x="0" y="0"/>
            <a:ext cx="12191695" cy="841248"/>
          </a:xfrm>
          <a:prstGeom prst="rect">
            <a:avLst/>
          </a:prstGeom>
        </p:spPr>
      </p:pic>
      <p:pic>
        <p:nvPicPr>
          <p:cNvPr id="4" name="Picture 3" descr="pattern-icon-band-white.png"/>
          <p:cNvPicPr>
            <a:picLocks noChangeAspect="1"/>
          </p:cNvPicPr>
          <p:nvPr/>
        </p:nvPicPr>
        <p:blipFill>
          <a:blip r:embed="rId2"/>
          <a:stretch>
            <a:fillRect/>
          </a:stretch>
        </p:blipFill>
        <p:spPr>
          <a:xfrm>
            <a:off x="0" y="6016752"/>
            <a:ext cx="12191695" cy="841248"/>
          </a:xfrm>
          <a:prstGeom prst="rect">
            <a:avLst/>
          </a:prstGeom>
        </p:spPr>
      </p:pic>
      <p:pic>
        <p:nvPicPr>
          <p:cNvPr id="5" name="Picture 4" descr="logo-horizontal-cool-white.png"/>
          <p:cNvPicPr>
            <a:picLocks noChangeAspect="1"/>
          </p:cNvPicPr>
          <p:nvPr/>
        </p:nvPicPr>
        <p:blipFill>
          <a:blip r:embed="rId3"/>
          <a:stretch>
            <a:fillRect/>
          </a:stretch>
        </p:blipFill>
        <p:spPr>
          <a:xfrm>
            <a:off x="566928" y="1417320"/>
            <a:ext cx="979235" cy="457200"/>
          </a:xfrm>
          <a:prstGeom prst="rect">
            <a:avLst/>
          </a:prstGeom>
        </p:spPr>
      </p:pic>
      <p:pic>
        <p:nvPicPr>
          <p:cNvPr id="6" name="Picture 5" descr="uofsc-horizontal-garnet.png"/>
          <p:cNvPicPr>
            <a:picLocks noChangeAspect="1"/>
          </p:cNvPicPr>
          <p:nvPr/>
        </p:nvPicPr>
        <p:blipFill>
          <a:blip r:embed="rId4"/>
          <a:stretch>
            <a:fillRect/>
          </a:stretch>
        </p:blipFill>
        <p:spPr>
          <a:xfrm>
            <a:off x="1820483" y="1417320"/>
            <a:ext cx="3091248" cy="457200"/>
          </a:xfrm>
          <a:prstGeom prst="rect">
            <a:avLst/>
          </a:prstGeom>
        </p:spPr>
      </p:pic>
      <p:sp>
        <p:nvSpPr>
          <p:cNvPr id="7" name="TextBox 6"/>
          <p:cNvSpPr txBox="1"/>
          <p:nvPr/>
        </p:nvSpPr>
        <p:spPr>
          <a:xfrm>
            <a:off x="566928" y="2240280"/>
            <a:ext cx="8412480" cy="1828800"/>
          </a:xfrm>
          <a:prstGeom prst="rect">
            <a:avLst/>
          </a:prstGeom>
          <a:noFill/>
        </p:spPr>
        <p:txBody>
          <a:bodyPr wrap="square" anchor="t" lIns="0" rIns="0" tIns="0" bIns="0">
            <a:spAutoFit/>
          </a:bodyPr>
          <a:lstStyle/>
          <a:p>
            <a:pPr algn="l">
              <a:lnSpc>
                <a:spcPct val="102000"/>
              </a:lnSpc>
            </a:pPr>
            <a:r>
              <a:rPr sz="5400" b="1" spc="-60">
                <a:solidFill>
                  <a:srgbClr val="F4F4F6"/>
                </a:solidFill>
                <a:latin typeface="Libre Franklin"/>
              </a:rPr>
              <a:t>Visit Scheduling</a:t>
            </a:r>
          </a:p>
          <a:p>
            <a:pPr algn="l">
              <a:lnSpc>
                <a:spcPct val="102000"/>
              </a:lnSpc>
            </a:pPr>
            <a:r>
              <a:rPr sz="5400" b="1" spc="-60">
                <a:solidFill>
                  <a:srgbClr val="F4F4F6"/>
                </a:solidFill>
                <a:latin typeface="Libre Franklin"/>
              </a:rPr>
              <a:t>Scoring System</a:t>
            </a:r>
          </a:p>
        </p:txBody>
      </p:sp>
      <p:sp>
        <p:nvSpPr>
          <p:cNvPr id="8" name="Rectangle 7"/>
          <p:cNvSpPr/>
          <p:nvPr/>
        </p:nvSpPr>
        <p:spPr>
          <a:xfrm>
            <a:off x="566928" y="4315968"/>
            <a:ext cx="1371600" cy="50292"/>
          </a:xfrm>
          <a:prstGeom prst="rect">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72000"/>
            <a:ext cx="8686800" cy="365760"/>
          </a:xfrm>
          <a:prstGeom prst="rect">
            <a:avLst/>
          </a:prstGeom>
          <a:noFill/>
        </p:spPr>
        <p:txBody>
          <a:bodyPr wrap="square" anchor="t" lIns="0" rIns="0" tIns="0" bIns="0">
            <a:spAutoFit/>
          </a:bodyPr>
          <a:lstStyle/>
          <a:p>
            <a:pPr algn="l">
              <a:lnSpc>
                <a:spcPct val="115000"/>
              </a:lnSpc>
            </a:pPr>
            <a:r>
              <a:rPr sz="1700" b="0">
                <a:solidFill>
                  <a:srgbClr val="F4F4F6"/>
                </a:solidFill>
                <a:latin typeface="Libre Franklin Medium"/>
              </a:rPr>
              <a:t>Version 3  ·  fair and efficient coordinator assignment for home visits</a:t>
            </a:r>
          </a:p>
        </p:txBody>
      </p:sp>
      <p:sp>
        <p:nvSpPr>
          <p:cNvPr id="10" name="TextBox 9"/>
          <p:cNvSpPr txBox="1"/>
          <p:nvPr/>
        </p:nvSpPr>
        <p:spPr>
          <a:xfrm>
            <a:off x="566928" y="5074920"/>
            <a:ext cx="8686800" cy="320040"/>
          </a:xfrm>
          <a:prstGeom prst="rect">
            <a:avLst/>
          </a:prstGeom>
          <a:noFill/>
        </p:spPr>
        <p:txBody>
          <a:bodyPr wrap="square" anchor="t" lIns="0" rIns="0" tIns="0" bIns="0">
            <a:spAutoFit/>
          </a:bodyPr>
          <a:lstStyle/>
          <a:p>
            <a:pPr algn="l">
              <a:lnSpc>
                <a:spcPct val="115000"/>
              </a:lnSpc>
            </a:pPr>
            <a:r>
              <a:rPr sz="1300" b="0">
                <a:solidFill>
                  <a:srgbClr val="F4F4F6"/>
                </a:solidFill>
                <a:latin typeface="Libre Franklin Medium"/>
              </a:rPr>
              <a:t>Pilot build  ·  17 August 2026  ·  engine v3.0.0  ·  weights provisional</a:t>
            </a:r>
          </a:p>
        </p:txBody>
      </p:sp>
      <p:pic>
        <p:nvPicPr>
          <p:cNvPr id="11" name="Picture 10" descr="sunburst-cool-white.png"/>
          <p:cNvPicPr>
            <a:picLocks noChangeAspect="1"/>
          </p:cNvPicPr>
          <p:nvPr/>
        </p:nvPicPr>
        <p:blipFill>
          <a:blip r:embed="rId5"/>
          <a:stretch>
            <a:fillRect/>
          </a:stretch>
        </p:blipFill>
        <p:spPr>
          <a:xfrm>
            <a:off x="9887407" y="2377440"/>
            <a:ext cx="1737360" cy="17373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FROM THE MEETING NOTES</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Four next steps, four implementations</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02</a:t>
            </a:r>
          </a:p>
        </p:txBody>
      </p:sp>
      <p:sp>
        <p:nvSpPr>
          <p:cNvPr id="7" name="Rectangle 6"/>
          <p:cNvSpPr/>
          <p:nvPr/>
        </p:nvSpPr>
        <p:spPr>
          <a:xfrm>
            <a:off x="566928" y="1911095"/>
            <a:ext cx="11057839" cy="603504"/>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988819"/>
            <a:ext cx="4023359" cy="603504"/>
          </a:xfrm>
          <a:prstGeom prst="rect">
            <a:avLst/>
          </a:prstGeom>
          <a:noFill/>
        </p:spPr>
        <p:txBody>
          <a:bodyPr wrap="square" anchor="t" lIns="0" rIns="0" tIns="0" bIns="0">
            <a:spAutoFit/>
          </a:bodyPr>
          <a:lstStyle/>
          <a:p>
            <a:pPr algn="l">
              <a:lnSpc>
                <a:spcPct val="115000"/>
              </a:lnSpc>
            </a:pPr>
            <a:r>
              <a:rPr sz="1050" b="1" spc="80">
                <a:solidFill>
                  <a:srgbClr val="FFFFFF"/>
                </a:solidFill>
                <a:latin typeface="Libre Franklin"/>
              </a:rPr>
              <a:t>MEETING NOTE</a:t>
            </a:r>
          </a:p>
        </p:txBody>
      </p:sp>
      <p:sp>
        <p:nvSpPr>
          <p:cNvPr id="9" name="TextBox 8"/>
          <p:cNvSpPr txBox="1"/>
          <p:nvPr/>
        </p:nvSpPr>
        <p:spPr>
          <a:xfrm>
            <a:off x="4901183" y="1988819"/>
            <a:ext cx="6668719" cy="603504"/>
          </a:xfrm>
          <a:prstGeom prst="rect">
            <a:avLst/>
          </a:prstGeom>
          <a:noFill/>
        </p:spPr>
        <p:txBody>
          <a:bodyPr wrap="square" anchor="t" lIns="0" rIns="0" tIns="0" bIns="0">
            <a:spAutoFit/>
          </a:bodyPr>
          <a:lstStyle/>
          <a:p>
            <a:pPr algn="l">
              <a:lnSpc>
                <a:spcPct val="115000"/>
              </a:lnSpc>
            </a:pPr>
            <a:r>
              <a:rPr sz="1050" b="1" spc="80">
                <a:solidFill>
                  <a:srgbClr val="FFFFFF"/>
                </a:solidFill>
                <a:latin typeface="Libre Franklin"/>
              </a:rPr>
              <a:t>WHERE IT LANDED IN V3</a:t>
            </a:r>
          </a:p>
        </p:txBody>
      </p:sp>
      <p:sp>
        <p:nvSpPr>
          <p:cNvPr id="10" name="Rectangle 9"/>
          <p:cNvSpPr/>
          <p:nvPr/>
        </p:nvSpPr>
        <p:spPr>
          <a:xfrm>
            <a:off x="566928" y="2514600"/>
            <a:ext cx="11057839" cy="60350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601468"/>
            <a:ext cx="4023359" cy="60350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Calendar data integration via Graph / API</a:t>
            </a:r>
          </a:p>
        </p:txBody>
      </p:sp>
      <p:sp>
        <p:nvSpPr>
          <p:cNvPr id="12" name="TextBox 11"/>
          <p:cNvSpPr txBox="1"/>
          <p:nvPr/>
        </p:nvSpPr>
        <p:spPr>
          <a:xfrm>
            <a:off x="4901183" y="2601468"/>
            <a:ext cx="6668719" cy="60350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Graph getSchedule + Google freeBusy, staleness policy, write-time recheck</a:t>
            </a:r>
          </a:p>
        </p:txBody>
      </p:sp>
      <p:sp>
        <p:nvSpPr>
          <p:cNvPr id="13" name="TextBox 12"/>
          <p:cNvSpPr txBox="1"/>
          <p:nvPr/>
        </p:nvSpPr>
        <p:spPr>
          <a:xfrm>
            <a:off x="694944" y="3204972"/>
            <a:ext cx="4023359" cy="60350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Travel converted to a workload metric</a:t>
            </a:r>
          </a:p>
        </p:txBody>
      </p:sp>
      <p:sp>
        <p:nvSpPr>
          <p:cNvPr id="14" name="TextBox 13"/>
          <p:cNvSpPr txBox="1"/>
          <p:nvPr/>
        </p:nvSpPr>
        <p:spPr>
          <a:xfrm>
            <a:off x="4901183" y="3204972"/>
            <a:ext cx="6668719" cy="60350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One prospective burden term, with the exchange rate made explicit</a:t>
            </a:r>
          </a:p>
        </p:txBody>
      </p:sp>
      <p:sp>
        <p:nvSpPr>
          <p:cNvPr id="15" name="Rectangle 14"/>
          <p:cNvSpPr/>
          <p:nvPr/>
        </p:nvSpPr>
        <p:spPr>
          <a:xfrm>
            <a:off x="566928" y="3721608"/>
            <a:ext cx="11057839" cy="60350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3808476"/>
            <a:ext cx="4023359" cy="60350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Family history + recency merged for continuity</a:t>
            </a:r>
          </a:p>
        </p:txBody>
      </p:sp>
      <p:sp>
        <p:nvSpPr>
          <p:cNvPr id="17" name="TextBox 16"/>
          <p:cNvSpPr txBox="1"/>
          <p:nvPr/>
        </p:nvSpPr>
        <p:spPr>
          <a:xfrm>
            <a:off x="4901183" y="3808476"/>
            <a:ext cx="6668719" cy="60350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One continuity index, saturating in visits and decaying in days</a:t>
            </a:r>
          </a:p>
        </p:txBody>
      </p:sp>
      <p:sp>
        <p:nvSpPr>
          <p:cNvPr id="18" name="TextBox 17"/>
          <p:cNvSpPr txBox="1"/>
          <p:nvPr/>
        </p:nvSpPr>
        <p:spPr>
          <a:xfrm>
            <a:off x="694944" y="4411980"/>
            <a:ext cx="4023359" cy="60350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Debrief unexpected scoring outcomes</a:t>
            </a:r>
          </a:p>
        </p:txBody>
      </p:sp>
      <p:sp>
        <p:nvSpPr>
          <p:cNvPr id="19" name="TextBox 18"/>
          <p:cNvSpPr txBox="1"/>
          <p:nvPr/>
        </p:nvSpPr>
        <p:spPr>
          <a:xfrm>
            <a:off x="4901183" y="4411980"/>
            <a:ext cx="6668719" cy="60350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Named detector rules, weekly report generated from the audit log</a:t>
            </a:r>
          </a:p>
        </p:txBody>
      </p:sp>
      <p:sp>
        <p:nvSpPr>
          <p:cNvPr id="20" name="TextBox 19"/>
          <p:cNvSpPr txBox="1"/>
          <p:nvPr/>
        </p:nvSpPr>
        <p:spPr>
          <a:xfrm>
            <a:off x="566928" y="4837176"/>
            <a:ext cx="11057839" cy="457200"/>
          </a:xfrm>
          <a:prstGeom prst="rect">
            <a:avLst/>
          </a:prstGeom>
          <a:noFill/>
        </p:spPr>
        <p:txBody>
          <a:bodyPr wrap="square" anchor="t" lIns="0" rIns="0" tIns="0" bIns="0">
            <a:spAutoFit/>
          </a:bodyPr>
          <a:lstStyle/>
          <a:p>
            <a:pPr algn="l">
              <a:lnSpc>
                <a:spcPct val="115000"/>
              </a:lnSpc>
            </a:pPr>
            <a:r>
              <a:rPr sz="1400" b="0">
                <a:solidFill>
                  <a:srgbClr val="4A4A55"/>
                </a:solidFill>
                <a:latin typeface="Libre Franklin Medium"/>
              </a:rPr>
              <a:t>Everything below follows from taking those four seriously, plus three findings that came out of checking the v2 arithmetic.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WHY V3 AND NOT V2.1</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Three findings from checking the arithmetic</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03</a:t>
            </a:r>
          </a:p>
        </p:txBody>
      </p:sp>
      <p:sp>
        <p:nvSpPr>
          <p:cNvPr id="7" name="Rounded Rectangle 6"/>
          <p:cNvSpPr/>
          <p:nvPr/>
        </p:nvSpPr>
        <p:spPr>
          <a:xfrm>
            <a:off x="566928" y="1865376"/>
            <a:ext cx="3503066" cy="3063240"/>
          </a:xfrm>
          <a:prstGeom prst="roundRect">
            <a:avLst>
              <a:gd name="adj" fmla="val 597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65376"/>
            <a:ext cx="82296" cy="3063240"/>
          </a:xfrm>
          <a:prstGeom prst="rect">
            <a:avLst/>
          </a:prstGeom>
          <a:solidFill>
            <a:srgbClr val="D74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121408"/>
            <a:ext cx="914400" cy="548640"/>
          </a:xfrm>
          <a:prstGeom prst="rect">
            <a:avLst/>
          </a:prstGeom>
          <a:noFill/>
        </p:spPr>
        <p:txBody>
          <a:bodyPr wrap="square" anchor="t" lIns="0" rIns="0" tIns="0" bIns="0">
            <a:spAutoFit/>
          </a:bodyPr>
          <a:lstStyle/>
          <a:p>
            <a:pPr algn="l">
              <a:lnSpc>
                <a:spcPct val="115000"/>
              </a:lnSpc>
            </a:pPr>
            <a:r>
              <a:rPr sz="3400" b="1">
                <a:solidFill>
                  <a:srgbClr val="D74E2D"/>
                </a:solidFill>
                <a:latin typeface="Libre Franklin"/>
              </a:rPr>
              <a:t>1</a:t>
            </a:r>
          </a:p>
        </p:txBody>
      </p:sp>
      <p:sp>
        <p:nvSpPr>
          <p:cNvPr id="10" name="TextBox 9"/>
          <p:cNvSpPr txBox="1"/>
          <p:nvPr/>
        </p:nvSpPr>
        <p:spPr>
          <a:xfrm>
            <a:off x="886968" y="2779776"/>
            <a:ext cx="2862986" cy="822960"/>
          </a:xfrm>
          <a:prstGeom prst="rect">
            <a:avLst/>
          </a:prstGeom>
          <a:noFill/>
        </p:spPr>
        <p:txBody>
          <a:bodyPr wrap="square" anchor="t" lIns="0" rIns="0" tIns="0" bIns="0">
            <a:spAutoFit/>
          </a:bodyPr>
          <a:lstStyle/>
          <a:p>
            <a:pPr algn="l">
              <a:lnSpc>
                <a:spcPct val="110000"/>
              </a:lnSpc>
            </a:pPr>
            <a:r>
              <a:rPr sz="1700" b="1">
                <a:solidFill>
                  <a:srgbClr val="3366FF"/>
                </a:solidFill>
                <a:latin typeface="Libre Franklin"/>
              </a:rPr>
              <a:t>Travel was priced at 13x</a:t>
            </a:r>
          </a:p>
        </p:txBody>
      </p:sp>
      <p:sp>
        <p:nvSpPr>
          <p:cNvPr id="11" name="TextBox 10"/>
          <p:cNvSpPr txBox="1"/>
          <p:nvPr/>
        </p:nvSpPr>
        <p:spPr>
          <a:xfrm>
            <a:off x="886968" y="3648456"/>
            <a:ext cx="2862986" cy="1188720"/>
          </a:xfrm>
          <a:prstGeom prst="rect">
            <a:avLst/>
          </a:prstGeom>
          <a:noFill/>
        </p:spPr>
        <p:txBody>
          <a:bodyPr wrap="square" anchor="t" lIns="0" rIns="0" tIns="0" bIns="0">
            <a:spAutoFit/>
          </a:bodyPr>
          <a:lstStyle/>
          <a:p>
            <a:pPr algn="l">
              <a:lnSpc>
                <a:spcPct val="115000"/>
              </a:lnSpc>
            </a:pPr>
            <a:r>
              <a:rPr sz="1250" b="0">
                <a:solidFill>
                  <a:srgbClr val="4A4A55"/>
                </a:solidFill>
                <a:latin typeface="Libre Franklin Medium"/>
              </a:rPr>
              <a:t>Under min-max normalisation the 0.20 / 0.15 split implied one hour of driving was worth about thirteen hours of clinic work. Nobody would defend that out loud.</a:t>
            </a:r>
          </a:p>
        </p:txBody>
      </p:sp>
      <p:sp>
        <p:nvSpPr>
          <p:cNvPr id="12" name="Rounded Rectangle 11"/>
          <p:cNvSpPr/>
          <p:nvPr/>
        </p:nvSpPr>
        <p:spPr>
          <a:xfrm>
            <a:off x="4344314" y="1865376"/>
            <a:ext cx="3503066" cy="3063240"/>
          </a:xfrm>
          <a:prstGeom prst="roundRect">
            <a:avLst>
              <a:gd name="adj" fmla="val 597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4314" y="1865376"/>
            <a:ext cx="82296" cy="3063240"/>
          </a:xfrm>
          <a:prstGeom prst="rect">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4354" y="2121408"/>
            <a:ext cx="914400" cy="548640"/>
          </a:xfrm>
          <a:prstGeom prst="rect">
            <a:avLst/>
          </a:prstGeom>
          <a:noFill/>
        </p:spPr>
        <p:txBody>
          <a:bodyPr wrap="square" anchor="t" lIns="0" rIns="0" tIns="0" bIns="0">
            <a:spAutoFit/>
          </a:bodyPr>
          <a:lstStyle/>
          <a:p>
            <a:pPr algn="l">
              <a:lnSpc>
                <a:spcPct val="115000"/>
              </a:lnSpc>
            </a:pPr>
            <a:r>
              <a:rPr sz="3400" b="1">
                <a:solidFill>
                  <a:srgbClr val="F57F00"/>
                </a:solidFill>
                <a:latin typeface="Libre Franklin"/>
              </a:rPr>
              <a:t>2</a:t>
            </a:r>
          </a:p>
        </p:txBody>
      </p:sp>
      <p:sp>
        <p:nvSpPr>
          <p:cNvPr id="15" name="TextBox 14"/>
          <p:cNvSpPr txBox="1"/>
          <p:nvPr/>
        </p:nvSpPr>
        <p:spPr>
          <a:xfrm>
            <a:off x="4664354" y="2779776"/>
            <a:ext cx="2862986" cy="822960"/>
          </a:xfrm>
          <a:prstGeom prst="rect">
            <a:avLst/>
          </a:prstGeom>
          <a:noFill/>
        </p:spPr>
        <p:txBody>
          <a:bodyPr wrap="square" anchor="t" lIns="0" rIns="0" tIns="0" bIns="0">
            <a:spAutoFit/>
          </a:bodyPr>
          <a:lstStyle/>
          <a:p>
            <a:pPr algn="l">
              <a:lnSpc>
                <a:spcPct val="110000"/>
              </a:lnSpc>
            </a:pPr>
            <a:r>
              <a:rPr sz="1700" b="1">
                <a:solidFill>
                  <a:srgbClr val="3366FF"/>
                </a:solidFill>
                <a:latin typeface="Libre Franklin"/>
              </a:rPr>
              <a:t>Pool-relative scoring caused cold start</a:t>
            </a:r>
          </a:p>
        </p:txBody>
      </p:sp>
      <p:sp>
        <p:nvSpPr>
          <p:cNvPr id="16" name="TextBox 15"/>
          <p:cNvSpPr txBox="1"/>
          <p:nvPr/>
        </p:nvSpPr>
        <p:spPr>
          <a:xfrm>
            <a:off x="4664354" y="3648456"/>
            <a:ext cx="2862986" cy="1188720"/>
          </a:xfrm>
          <a:prstGeom prst="rect">
            <a:avLst/>
          </a:prstGeom>
          <a:noFill/>
        </p:spPr>
        <p:txBody>
          <a:bodyPr wrap="square" anchor="t" lIns="0" rIns="0" tIns="0" bIns="0">
            <a:spAutoFit/>
          </a:bodyPr>
          <a:lstStyle/>
          <a:p>
            <a:pPr algn="l">
              <a:lnSpc>
                <a:spcPct val="115000"/>
              </a:lnSpc>
            </a:pPr>
            <a:r>
              <a:rPr sz="1250" b="0">
                <a:solidFill>
                  <a:srgbClr val="4A4A55"/>
                </a:solidFill>
                <a:latin typeface="Libre Franklin Medium"/>
              </a:rPr>
              <a:t>Normalising to the busiest teammate makes scores non-stationary and hands a brand new coordinator a 1.0. The missing history was never the bug.</a:t>
            </a:r>
          </a:p>
        </p:txBody>
      </p:sp>
      <p:sp>
        <p:nvSpPr>
          <p:cNvPr id="17" name="Rounded Rectangle 16"/>
          <p:cNvSpPr/>
          <p:nvPr/>
        </p:nvSpPr>
        <p:spPr>
          <a:xfrm>
            <a:off x="8121700" y="1865376"/>
            <a:ext cx="3503066" cy="3063240"/>
          </a:xfrm>
          <a:prstGeom prst="roundRect">
            <a:avLst>
              <a:gd name="adj" fmla="val 597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1700" y="1865376"/>
            <a:ext cx="82296" cy="306324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1740" y="2121408"/>
            <a:ext cx="914400" cy="548640"/>
          </a:xfrm>
          <a:prstGeom prst="rect">
            <a:avLst/>
          </a:prstGeom>
          <a:noFill/>
        </p:spPr>
        <p:txBody>
          <a:bodyPr wrap="square" anchor="t" lIns="0" rIns="0" tIns="0" bIns="0">
            <a:spAutoFit/>
          </a:bodyPr>
          <a:lstStyle/>
          <a:p>
            <a:pPr algn="l">
              <a:lnSpc>
                <a:spcPct val="115000"/>
              </a:lnSpc>
            </a:pPr>
            <a:r>
              <a:rPr sz="3400" b="1">
                <a:solidFill>
                  <a:srgbClr val="3366FF"/>
                </a:solidFill>
                <a:latin typeface="Libre Franklin"/>
              </a:rPr>
              <a:t>3</a:t>
            </a:r>
          </a:p>
        </p:txBody>
      </p:sp>
      <p:sp>
        <p:nvSpPr>
          <p:cNvPr id="20" name="TextBox 19"/>
          <p:cNvSpPr txBox="1"/>
          <p:nvPr/>
        </p:nvSpPr>
        <p:spPr>
          <a:xfrm>
            <a:off x="8441740" y="2779776"/>
            <a:ext cx="2862986" cy="822960"/>
          </a:xfrm>
          <a:prstGeom prst="rect">
            <a:avLst/>
          </a:prstGeom>
          <a:noFill/>
        </p:spPr>
        <p:txBody>
          <a:bodyPr wrap="square" anchor="t" lIns="0" rIns="0" tIns="0" bIns="0">
            <a:spAutoFit/>
          </a:bodyPr>
          <a:lstStyle/>
          <a:p>
            <a:pPr algn="l">
              <a:lnSpc>
                <a:spcPct val="110000"/>
              </a:lnSpc>
            </a:pPr>
            <a:r>
              <a:rPr sz="1700" b="1">
                <a:solidFill>
                  <a:srgbClr val="3366FF"/>
                </a:solidFill>
                <a:latin typeface="Libre Franklin"/>
              </a:rPr>
              <a:t>0.65 of the weight sat on one construct</a:t>
            </a:r>
          </a:p>
        </p:txBody>
      </p:sp>
      <p:sp>
        <p:nvSpPr>
          <p:cNvPr id="21" name="TextBox 20"/>
          <p:cNvSpPr txBox="1"/>
          <p:nvPr/>
        </p:nvSpPr>
        <p:spPr>
          <a:xfrm>
            <a:off x="8441740" y="3648456"/>
            <a:ext cx="2862986" cy="1188720"/>
          </a:xfrm>
          <a:prstGeom prst="rect">
            <a:avLst/>
          </a:prstGeom>
          <a:noFill/>
        </p:spPr>
        <p:txBody>
          <a:bodyPr wrap="square" anchor="t" lIns="0" rIns="0" tIns="0" bIns="0">
            <a:spAutoFit/>
          </a:bodyPr>
          <a:lstStyle/>
          <a:p>
            <a:pPr algn="l">
              <a:lnSpc>
                <a:spcPct val="115000"/>
              </a:lnSpc>
            </a:pPr>
            <a:r>
              <a:rPr sz="1250" b="0">
                <a:solidFill>
                  <a:srgbClr val="4A4A55"/>
                </a:solidFill>
                <a:latin typeface="Libre Franklin Medium"/>
              </a:rPr>
              <a:t>Family history, recency and the continuity bonus are three slots measuring relationship state once. Splitting a construct inflates its total.</a:t>
            </a:r>
          </a:p>
        </p:txBody>
      </p:sp>
      <p:pic>
        <p:nvPicPr>
          <p:cNvPr id="22" name="Picture 21" descr="gamma_implied.png"/>
          <p:cNvPicPr>
            <a:picLocks noChangeAspect="1"/>
          </p:cNvPicPr>
          <p:nvPr/>
        </p:nvPicPr>
        <p:blipFill>
          <a:blip r:embed="rId4"/>
          <a:stretch>
            <a:fillRect/>
          </a:stretch>
        </p:blipFill>
        <p:spPr>
          <a:xfrm>
            <a:off x="3948870" y="5175504"/>
            <a:ext cx="4293954" cy="5669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END TO END</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Four layers, and nothing skips a layer</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04</a:t>
            </a:r>
          </a:p>
        </p:txBody>
      </p:sp>
      <p:sp>
        <p:nvSpPr>
          <p:cNvPr id="7" name="Rounded Rectangle 6"/>
          <p:cNvSpPr/>
          <p:nvPr/>
        </p:nvSpPr>
        <p:spPr>
          <a:xfrm>
            <a:off x="566928" y="1865376"/>
            <a:ext cx="2593009" cy="2331720"/>
          </a:xfrm>
          <a:prstGeom prst="roundRect">
            <a:avLst>
              <a:gd name="adj" fmla="val 7843"/>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con-checklist-cool-white.png"/>
          <p:cNvPicPr>
            <a:picLocks noChangeAspect="1"/>
          </p:cNvPicPr>
          <p:nvPr/>
        </p:nvPicPr>
        <p:blipFill>
          <a:blip r:embed="rId4"/>
          <a:stretch>
            <a:fillRect/>
          </a:stretch>
        </p:blipFill>
        <p:spPr>
          <a:xfrm>
            <a:off x="841247" y="2121408"/>
            <a:ext cx="566928" cy="566928"/>
          </a:xfrm>
          <a:prstGeom prst="rect">
            <a:avLst/>
          </a:prstGeom>
        </p:spPr>
      </p:pic>
      <p:sp>
        <p:nvSpPr>
          <p:cNvPr id="9" name="TextBox 8"/>
          <p:cNvSpPr txBox="1"/>
          <p:nvPr/>
        </p:nvSpPr>
        <p:spPr>
          <a:xfrm>
            <a:off x="841247" y="2798064"/>
            <a:ext cx="2044369" cy="256032"/>
          </a:xfrm>
          <a:prstGeom prst="rect">
            <a:avLst/>
          </a:prstGeom>
          <a:noFill/>
        </p:spPr>
        <p:txBody>
          <a:bodyPr wrap="square" anchor="t" lIns="0" rIns="0" tIns="0" bIns="0">
            <a:spAutoFit/>
          </a:bodyPr>
          <a:lstStyle/>
          <a:p>
            <a:pPr algn="l">
              <a:lnSpc>
                <a:spcPct val="115000"/>
              </a:lnSpc>
            </a:pPr>
            <a:r>
              <a:rPr sz="1100" b="1" spc="100">
                <a:solidFill>
                  <a:srgbClr val="F4F4F6"/>
                </a:solidFill>
                <a:latin typeface="Libre Franklin"/>
              </a:rPr>
              <a:t>LAYER 0</a:t>
            </a:r>
          </a:p>
        </p:txBody>
      </p:sp>
      <p:sp>
        <p:nvSpPr>
          <p:cNvPr id="10" name="TextBox 9"/>
          <p:cNvSpPr txBox="1"/>
          <p:nvPr/>
        </p:nvSpPr>
        <p:spPr>
          <a:xfrm>
            <a:off x="841247" y="3072384"/>
            <a:ext cx="204436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Libre Franklin"/>
              </a:rPr>
              <a:t>Freshness gate</a:t>
            </a:r>
          </a:p>
        </p:txBody>
      </p:sp>
      <p:sp>
        <p:nvSpPr>
          <p:cNvPr id="11" name="TextBox 10"/>
          <p:cNvSpPr txBox="1"/>
          <p:nvPr/>
        </p:nvSpPr>
        <p:spPr>
          <a:xfrm>
            <a:off x="841247" y="3493008"/>
            <a:ext cx="2044369" cy="640080"/>
          </a:xfrm>
          <a:prstGeom prst="rect">
            <a:avLst/>
          </a:prstGeom>
          <a:noFill/>
        </p:spPr>
        <p:txBody>
          <a:bodyPr wrap="square" anchor="t" lIns="0" rIns="0" tIns="0" bIns="0">
            <a:spAutoFit/>
          </a:bodyPr>
          <a:lstStyle/>
          <a:p>
            <a:pPr algn="l">
              <a:lnSpc>
                <a:spcPct val="120000"/>
              </a:lnSpc>
            </a:pPr>
            <a:r>
              <a:rPr sz="1150" b="0">
                <a:solidFill>
                  <a:srgbClr val="F4F4F6"/>
                </a:solidFill>
                <a:latin typeface="Libre Franklin Medium"/>
              </a:rPr>
              <a:t>How old is the calendar? fresh / stale / expired</a:t>
            </a:r>
          </a:p>
        </p:txBody>
      </p:sp>
      <p:sp>
        <p:nvSpPr>
          <p:cNvPr id="12" name="TextBox 11"/>
          <p:cNvSpPr txBox="1"/>
          <p:nvPr/>
        </p:nvSpPr>
        <p:spPr>
          <a:xfrm>
            <a:off x="3178225" y="2825496"/>
            <a:ext cx="228600" cy="365760"/>
          </a:xfrm>
          <a:prstGeom prst="rect">
            <a:avLst/>
          </a:prstGeom>
          <a:noFill/>
        </p:spPr>
        <p:txBody>
          <a:bodyPr wrap="square" anchor="t" lIns="0" rIns="0" tIns="0" bIns="0">
            <a:spAutoFit/>
          </a:bodyPr>
          <a:lstStyle/>
          <a:p>
            <a:pPr algn="ctr">
              <a:lnSpc>
                <a:spcPct val="115000"/>
              </a:lnSpc>
            </a:pPr>
            <a:r>
              <a:rPr sz="2400" b="1">
                <a:solidFill>
                  <a:srgbClr val="3366FF"/>
                </a:solidFill>
                <a:latin typeface="Libre Franklin"/>
              </a:rPr>
              <a:t>›</a:t>
            </a:r>
          </a:p>
        </p:txBody>
      </p:sp>
      <p:sp>
        <p:nvSpPr>
          <p:cNvPr id="13" name="Rounded Rectangle 12"/>
          <p:cNvSpPr/>
          <p:nvPr/>
        </p:nvSpPr>
        <p:spPr>
          <a:xfrm>
            <a:off x="3388537" y="1865376"/>
            <a:ext cx="2593009" cy="2331720"/>
          </a:xfrm>
          <a:prstGeom prst="roundRect">
            <a:avLst>
              <a:gd name="adj" fmla="val 7843"/>
            </a:avLst>
          </a:prstGeom>
          <a:solidFill>
            <a:srgbClr val="91B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on-hands-pair-discovery-blue.png"/>
          <p:cNvPicPr>
            <a:picLocks noChangeAspect="1"/>
          </p:cNvPicPr>
          <p:nvPr/>
        </p:nvPicPr>
        <p:blipFill>
          <a:blip r:embed="rId5"/>
          <a:stretch>
            <a:fillRect/>
          </a:stretch>
        </p:blipFill>
        <p:spPr>
          <a:xfrm>
            <a:off x="3662857" y="2121408"/>
            <a:ext cx="566928" cy="566928"/>
          </a:xfrm>
          <a:prstGeom prst="rect">
            <a:avLst/>
          </a:prstGeom>
        </p:spPr>
      </p:pic>
      <p:sp>
        <p:nvSpPr>
          <p:cNvPr id="15" name="TextBox 14"/>
          <p:cNvSpPr txBox="1"/>
          <p:nvPr/>
        </p:nvSpPr>
        <p:spPr>
          <a:xfrm>
            <a:off x="3662857" y="2798064"/>
            <a:ext cx="2044369" cy="256032"/>
          </a:xfrm>
          <a:prstGeom prst="rect">
            <a:avLst/>
          </a:prstGeom>
          <a:noFill/>
        </p:spPr>
        <p:txBody>
          <a:bodyPr wrap="square" anchor="t" lIns="0" rIns="0" tIns="0" bIns="0">
            <a:spAutoFit/>
          </a:bodyPr>
          <a:lstStyle/>
          <a:p>
            <a:pPr algn="l">
              <a:lnSpc>
                <a:spcPct val="115000"/>
              </a:lnSpc>
            </a:pPr>
            <a:r>
              <a:rPr sz="1100" b="1" spc="100">
                <a:solidFill>
                  <a:srgbClr val="1A1A1F"/>
                </a:solidFill>
                <a:latin typeface="Libre Franklin"/>
              </a:rPr>
              <a:t>LAYER 1</a:t>
            </a:r>
          </a:p>
        </p:txBody>
      </p:sp>
      <p:sp>
        <p:nvSpPr>
          <p:cNvPr id="16" name="TextBox 15"/>
          <p:cNvSpPr txBox="1"/>
          <p:nvPr/>
        </p:nvSpPr>
        <p:spPr>
          <a:xfrm>
            <a:off x="3662857" y="3072384"/>
            <a:ext cx="2044369" cy="365760"/>
          </a:xfrm>
          <a:prstGeom prst="rect">
            <a:avLst/>
          </a:prstGeom>
          <a:noFill/>
        </p:spPr>
        <p:txBody>
          <a:bodyPr wrap="square" anchor="t" lIns="0" rIns="0" tIns="0" bIns="0">
            <a:spAutoFit/>
          </a:bodyPr>
          <a:lstStyle/>
          <a:p>
            <a:pPr algn="l">
              <a:lnSpc>
                <a:spcPct val="115000"/>
              </a:lnSpc>
            </a:pPr>
            <a:r>
              <a:rPr sz="1700" b="1">
                <a:solidFill>
                  <a:srgbClr val="1A1A1F"/>
                </a:solidFill>
                <a:latin typeface="Libre Franklin"/>
              </a:rPr>
              <a:t>Hard eligibility</a:t>
            </a:r>
          </a:p>
        </p:txBody>
      </p:sp>
      <p:sp>
        <p:nvSpPr>
          <p:cNvPr id="17" name="TextBox 16"/>
          <p:cNvSpPr txBox="1"/>
          <p:nvPr/>
        </p:nvSpPr>
        <p:spPr>
          <a:xfrm>
            <a:off x="3662857" y="3493008"/>
            <a:ext cx="2044369" cy="640080"/>
          </a:xfrm>
          <a:prstGeom prst="rect">
            <a:avLst/>
          </a:prstGeom>
          <a:noFill/>
        </p:spPr>
        <p:txBody>
          <a:bodyPr wrap="square" anchor="t" lIns="0" rIns="0" tIns="0" bIns="0">
            <a:spAutoFit/>
          </a:bodyPr>
          <a:lstStyle/>
          <a:p>
            <a:pPr algn="l">
              <a:lnSpc>
                <a:spcPct val="120000"/>
              </a:lnSpc>
            </a:pPr>
            <a:r>
              <a:rPr sz="1150" b="0">
                <a:solidFill>
                  <a:srgbClr val="4A4A55"/>
                </a:solidFill>
                <a:latin typeface="Libre Franklin Medium"/>
              </a:rPr>
              <a:t>Seven predicates, ANDed. No score can rescue a failure</a:t>
            </a:r>
          </a:p>
        </p:txBody>
      </p:sp>
      <p:sp>
        <p:nvSpPr>
          <p:cNvPr id="18" name="TextBox 17"/>
          <p:cNvSpPr txBox="1"/>
          <p:nvPr/>
        </p:nvSpPr>
        <p:spPr>
          <a:xfrm>
            <a:off x="5999835" y="2825496"/>
            <a:ext cx="228600" cy="365760"/>
          </a:xfrm>
          <a:prstGeom prst="rect">
            <a:avLst/>
          </a:prstGeom>
          <a:noFill/>
        </p:spPr>
        <p:txBody>
          <a:bodyPr wrap="square" anchor="t" lIns="0" rIns="0" tIns="0" bIns="0">
            <a:spAutoFit/>
          </a:bodyPr>
          <a:lstStyle/>
          <a:p>
            <a:pPr algn="ctr">
              <a:lnSpc>
                <a:spcPct val="115000"/>
              </a:lnSpc>
            </a:pPr>
            <a:r>
              <a:rPr sz="2400" b="1">
                <a:solidFill>
                  <a:srgbClr val="3366FF"/>
                </a:solidFill>
                <a:latin typeface="Libre Franklin"/>
              </a:rPr>
              <a:t>›</a:t>
            </a:r>
          </a:p>
        </p:txBody>
      </p:sp>
      <p:sp>
        <p:nvSpPr>
          <p:cNvPr id="19" name="Rounded Rectangle 18"/>
          <p:cNvSpPr/>
          <p:nvPr/>
        </p:nvSpPr>
        <p:spPr>
          <a:xfrm>
            <a:off x="6210147" y="1865376"/>
            <a:ext cx="2593009" cy="2331720"/>
          </a:xfrm>
          <a:prstGeom prst="roundRect">
            <a:avLst>
              <a:gd name="adj" fmla="val 7843"/>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on-growth-chart-cool-white.png"/>
          <p:cNvPicPr>
            <a:picLocks noChangeAspect="1"/>
          </p:cNvPicPr>
          <p:nvPr/>
        </p:nvPicPr>
        <p:blipFill>
          <a:blip r:embed="rId6"/>
          <a:stretch>
            <a:fillRect/>
          </a:stretch>
        </p:blipFill>
        <p:spPr>
          <a:xfrm>
            <a:off x="6484467" y="2121408"/>
            <a:ext cx="566928" cy="566928"/>
          </a:xfrm>
          <a:prstGeom prst="rect">
            <a:avLst/>
          </a:prstGeom>
        </p:spPr>
      </p:pic>
      <p:sp>
        <p:nvSpPr>
          <p:cNvPr id="21" name="TextBox 20"/>
          <p:cNvSpPr txBox="1"/>
          <p:nvPr/>
        </p:nvSpPr>
        <p:spPr>
          <a:xfrm>
            <a:off x="6484467" y="2798064"/>
            <a:ext cx="2044369" cy="256032"/>
          </a:xfrm>
          <a:prstGeom prst="rect">
            <a:avLst/>
          </a:prstGeom>
          <a:noFill/>
        </p:spPr>
        <p:txBody>
          <a:bodyPr wrap="square" anchor="t" lIns="0" rIns="0" tIns="0" bIns="0">
            <a:spAutoFit/>
          </a:bodyPr>
          <a:lstStyle/>
          <a:p>
            <a:pPr algn="l">
              <a:lnSpc>
                <a:spcPct val="115000"/>
              </a:lnSpc>
            </a:pPr>
            <a:r>
              <a:rPr sz="1100" b="1" spc="100">
                <a:solidFill>
                  <a:srgbClr val="F4F4F6"/>
                </a:solidFill>
                <a:latin typeface="Libre Franklin"/>
              </a:rPr>
              <a:t>LAYER 2</a:t>
            </a:r>
          </a:p>
        </p:txBody>
      </p:sp>
      <p:sp>
        <p:nvSpPr>
          <p:cNvPr id="22" name="TextBox 21"/>
          <p:cNvSpPr txBox="1"/>
          <p:nvPr/>
        </p:nvSpPr>
        <p:spPr>
          <a:xfrm>
            <a:off x="6484467" y="3072384"/>
            <a:ext cx="204436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Libre Franklin"/>
              </a:rPr>
              <a:t>Weighted score</a:t>
            </a:r>
          </a:p>
        </p:txBody>
      </p:sp>
      <p:sp>
        <p:nvSpPr>
          <p:cNvPr id="23" name="TextBox 22"/>
          <p:cNvSpPr txBox="1"/>
          <p:nvPr/>
        </p:nvSpPr>
        <p:spPr>
          <a:xfrm>
            <a:off x="6484467" y="3493008"/>
            <a:ext cx="2044369" cy="640080"/>
          </a:xfrm>
          <a:prstGeom prst="rect">
            <a:avLst/>
          </a:prstGeom>
          <a:noFill/>
        </p:spPr>
        <p:txBody>
          <a:bodyPr wrap="square" anchor="t" lIns="0" rIns="0" tIns="0" bIns="0">
            <a:spAutoFit/>
          </a:bodyPr>
          <a:lstStyle/>
          <a:p>
            <a:pPr algn="l">
              <a:lnSpc>
                <a:spcPct val="120000"/>
              </a:lnSpc>
            </a:pPr>
            <a:r>
              <a:rPr sz="1150" b="0">
                <a:solidFill>
                  <a:srgbClr val="F4F4F6"/>
                </a:solidFill>
                <a:latin typeface="Libre Franklin Medium"/>
              </a:rPr>
              <a:t>Four non-redundant criteria, each in [0, 1]</a:t>
            </a:r>
          </a:p>
        </p:txBody>
      </p:sp>
      <p:sp>
        <p:nvSpPr>
          <p:cNvPr id="24" name="TextBox 23"/>
          <p:cNvSpPr txBox="1"/>
          <p:nvPr/>
        </p:nvSpPr>
        <p:spPr>
          <a:xfrm>
            <a:off x="8821445" y="2825496"/>
            <a:ext cx="228600" cy="365760"/>
          </a:xfrm>
          <a:prstGeom prst="rect">
            <a:avLst/>
          </a:prstGeom>
          <a:noFill/>
        </p:spPr>
        <p:txBody>
          <a:bodyPr wrap="square" anchor="t" lIns="0" rIns="0" tIns="0" bIns="0">
            <a:spAutoFit/>
          </a:bodyPr>
          <a:lstStyle/>
          <a:p>
            <a:pPr algn="ctr">
              <a:lnSpc>
                <a:spcPct val="115000"/>
              </a:lnSpc>
            </a:pPr>
            <a:r>
              <a:rPr sz="2400" b="1">
                <a:solidFill>
                  <a:srgbClr val="3366FF"/>
                </a:solidFill>
                <a:latin typeface="Libre Franklin"/>
              </a:rPr>
              <a:t>›</a:t>
            </a:r>
          </a:p>
        </p:txBody>
      </p:sp>
      <p:sp>
        <p:nvSpPr>
          <p:cNvPr id="25" name="Rounded Rectangle 24"/>
          <p:cNvSpPr/>
          <p:nvPr/>
        </p:nvSpPr>
        <p:spPr>
          <a:xfrm>
            <a:off x="9031757" y="1865376"/>
            <a:ext cx="2593009" cy="2331720"/>
          </a:xfrm>
          <a:prstGeom prst="roundRect">
            <a:avLst>
              <a:gd name="adj" fmla="val 7843"/>
            </a:avLst>
          </a:prstGeom>
          <a:solidFill>
            <a:srgbClr val="91B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con-eye-discovery-blue.png"/>
          <p:cNvPicPr>
            <a:picLocks noChangeAspect="1"/>
          </p:cNvPicPr>
          <p:nvPr/>
        </p:nvPicPr>
        <p:blipFill>
          <a:blip r:embed="rId7"/>
          <a:stretch>
            <a:fillRect/>
          </a:stretch>
        </p:blipFill>
        <p:spPr>
          <a:xfrm>
            <a:off x="9306077" y="2121408"/>
            <a:ext cx="566928" cy="566928"/>
          </a:xfrm>
          <a:prstGeom prst="rect">
            <a:avLst/>
          </a:prstGeom>
        </p:spPr>
      </p:pic>
      <p:sp>
        <p:nvSpPr>
          <p:cNvPr id="27" name="TextBox 26"/>
          <p:cNvSpPr txBox="1"/>
          <p:nvPr/>
        </p:nvSpPr>
        <p:spPr>
          <a:xfrm>
            <a:off x="9306077" y="2798064"/>
            <a:ext cx="2044369" cy="256032"/>
          </a:xfrm>
          <a:prstGeom prst="rect">
            <a:avLst/>
          </a:prstGeom>
          <a:noFill/>
        </p:spPr>
        <p:txBody>
          <a:bodyPr wrap="square" anchor="t" lIns="0" rIns="0" tIns="0" bIns="0">
            <a:spAutoFit/>
          </a:bodyPr>
          <a:lstStyle/>
          <a:p>
            <a:pPr algn="l">
              <a:lnSpc>
                <a:spcPct val="115000"/>
              </a:lnSpc>
            </a:pPr>
            <a:r>
              <a:rPr sz="1100" b="1" spc="100">
                <a:solidFill>
                  <a:srgbClr val="1A1A1F"/>
                </a:solidFill>
                <a:latin typeface="Libre Franklin"/>
              </a:rPr>
              <a:t>LAYER 3</a:t>
            </a:r>
          </a:p>
        </p:txBody>
      </p:sp>
      <p:sp>
        <p:nvSpPr>
          <p:cNvPr id="28" name="TextBox 27"/>
          <p:cNvSpPr txBox="1"/>
          <p:nvPr/>
        </p:nvSpPr>
        <p:spPr>
          <a:xfrm>
            <a:off x="9306077" y="3072384"/>
            <a:ext cx="2044369" cy="365760"/>
          </a:xfrm>
          <a:prstGeom prst="rect">
            <a:avLst/>
          </a:prstGeom>
          <a:noFill/>
        </p:spPr>
        <p:txBody>
          <a:bodyPr wrap="square" anchor="t" lIns="0" rIns="0" tIns="0" bIns="0">
            <a:spAutoFit/>
          </a:bodyPr>
          <a:lstStyle/>
          <a:p>
            <a:pPr algn="l">
              <a:lnSpc>
                <a:spcPct val="115000"/>
              </a:lnSpc>
            </a:pPr>
            <a:r>
              <a:rPr sz="1700" b="1">
                <a:solidFill>
                  <a:srgbClr val="1A1A1F"/>
                </a:solidFill>
                <a:latin typeface="Libre Franklin"/>
              </a:rPr>
              <a:t>Rank + review</a:t>
            </a:r>
          </a:p>
        </p:txBody>
      </p:sp>
      <p:sp>
        <p:nvSpPr>
          <p:cNvPr id="29" name="TextBox 28"/>
          <p:cNvSpPr txBox="1"/>
          <p:nvPr/>
        </p:nvSpPr>
        <p:spPr>
          <a:xfrm>
            <a:off x="9306077" y="3493008"/>
            <a:ext cx="2044369" cy="640080"/>
          </a:xfrm>
          <a:prstGeom prst="rect">
            <a:avLst/>
          </a:prstGeom>
          <a:noFill/>
        </p:spPr>
        <p:txBody>
          <a:bodyPr wrap="square" anchor="t" lIns="0" rIns="0" tIns="0" bIns="0">
            <a:spAutoFit/>
          </a:bodyPr>
          <a:lstStyle/>
          <a:p>
            <a:pPr algn="l">
              <a:lnSpc>
                <a:spcPct val="120000"/>
              </a:lnSpc>
            </a:pPr>
            <a:r>
              <a:rPr sz="1150" b="0">
                <a:solidFill>
                  <a:srgbClr val="4A4A55"/>
                </a:solidFill>
                <a:latin typeface="Libre Franklin Medium"/>
              </a:rPr>
              <a:t>Top 3, calibrated band, stability, logged ties</a:t>
            </a:r>
          </a:p>
        </p:txBody>
      </p:sp>
      <p:pic>
        <p:nvPicPr>
          <p:cNvPr id="30" name="Picture 29" descr="composite.png"/>
          <p:cNvPicPr>
            <a:picLocks noChangeAspect="1"/>
          </p:cNvPicPr>
          <p:nvPr/>
        </p:nvPicPr>
        <p:blipFill>
          <a:blip r:embed="rId8"/>
          <a:stretch>
            <a:fillRect/>
          </a:stretch>
        </p:blipFill>
        <p:spPr>
          <a:xfrm>
            <a:off x="1500334" y="4562856"/>
            <a:ext cx="9191026" cy="457200"/>
          </a:xfrm>
          <a:prstGeom prst="rect">
            <a:avLst/>
          </a:prstGeom>
        </p:spPr>
      </p:pic>
      <p:sp>
        <p:nvSpPr>
          <p:cNvPr id="31" name="TextBox 30"/>
          <p:cNvSpPr txBox="1"/>
          <p:nvPr/>
        </p:nvSpPr>
        <p:spPr>
          <a:xfrm>
            <a:off x="566928" y="5266944"/>
            <a:ext cx="11057839" cy="457200"/>
          </a:xfrm>
          <a:prstGeom prst="rect">
            <a:avLst/>
          </a:prstGeom>
          <a:noFill/>
        </p:spPr>
        <p:txBody>
          <a:bodyPr wrap="square" anchor="t" lIns="0" rIns="0" tIns="0" bIns="0">
            <a:spAutoFit/>
          </a:bodyPr>
          <a:lstStyle/>
          <a:p>
            <a:pPr algn="ctr">
              <a:lnSpc>
                <a:spcPct val="115000"/>
              </a:lnSpc>
            </a:pPr>
            <a:r>
              <a:rPr sz="1300" b="0">
                <a:solidFill>
                  <a:srgbClr val="4A4A55"/>
                </a:solidFill>
                <a:latin typeface="Libre Franklin Medium"/>
              </a:rPr>
              <a:t>Feasible pool empty? The visit is returned for manual scheduling with the reason each coordinator failed. It is never rescued by a high score.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LAYER 0</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Calendar staleness is a status, never a score penalty</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05</a:t>
            </a:r>
          </a:p>
        </p:txBody>
      </p:sp>
      <p:pic>
        <p:nvPicPr>
          <p:cNvPr id="7" name="Picture 6" descr="layer1.png"/>
          <p:cNvPicPr>
            <a:picLocks noChangeAspect="1"/>
          </p:cNvPicPr>
          <p:nvPr/>
        </p:nvPicPr>
        <p:blipFill>
          <a:blip r:embed="rId4"/>
          <a:stretch>
            <a:fillRect/>
          </a:stretch>
        </p:blipFill>
        <p:spPr>
          <a:xfrm>
            <a:off x="566928" y="1810512"/>
            <a:ext cx="8130979" cy="384048"/>
          </a:xfrm>
          <a:prstGeom prst="rect">
            <a:avLst/>
          </a:prstGeom>
        </p:spPr>
      </p:pic>
      <p:sp>
        <p:nvSpPr>
          <p:cNvPr id="8" name="Rectangle 7"/>
          <p:cNvSpPr/>
          <p:nvPr/>
        </p:nvSpPr>
        <p:spPr>
          <a:xfrm>
            <a:off x="566928" y="2523744"/>
            <a:ext cx="5577840" cy="402336"/>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601468"/>
            <a:ext cx="2560320" cy="402336"/>
          </a:xfrm>
          <a:prstGeom prst="rect">
            <a:avLst/>
          </a:prstGeom>
          <a:noFill/>
        </p:spPr>
        <p:txBody>
          <a:bodyPr wrap="square" anchor="t" lIns="0" rIns="0" tIns="0" bIns="0">
            <a:spAutoFit/>
          </a:bodyPr>
          <a:lstStyle/>
          <a:p>
            <a:pPr algn="l">
              <a:lnSpc>
                <a:spcPct val="115000"/>
              </a:lnSpc>
            </a:pPr>
            <a:r>
              <a:rPr sz="950" b="1" spc="80">
                <a:solidFill>
                  <a:srgbClr val="FFFFFF"/>
                </a:solidFill>
                <a:latin typeface="Libre Franklin"/>
              </a:rPr>
              <a:t>VISIT HORIZON</a:t>
            </a:r>
          </a:p>
        </p:txBody>
      </p:sp>
      <p:sp>
        <p:nvSpPr>
          <p:cNvPr id="10" name="TextBox 9"/>
          <p:cNvSpPr txBox="1"/>
          <p:nvPr/>
        </p:nvSpPr>
        <p:spPr>
          <a:xfrm>
            <a:off x="3438144" y="2601468"/>
            <a:ext cx="1234440" cy="402336"/>
          </a:xfrm>
          <a:prstGeom prst="rect">
            <a:avLst/>
          </a:prstGeom>
          <a:noFill/>
        </p:spPr>
        <p:txBody>
          <a:bodyPr wrap="square" anchor="t" lIns="0" rIns="0" tIns="0" bIns="0">
            <a:spAutoFit/>
          </a:bodyPr>
          <a:lstStyle/>
          <a:p>
            <a:pPr algn="r">
              <a:lnSpc>
                <a:spcPct val="115000"/>
              </a:lnSpc>
            </a:pPr>
            <a:r>
              <a:rPr sz="950" b="1" spc="80">
                <a:solidFill>
                  <a:srgbClr val="FFFFFF"/>
                </a:solidFill>
                <a:latin typeface="Libre Franklin"/>
              </a:rPr>
              <a:t>HARD: BLOCK</a:t>
            </a:r>
          </a:p>
        </p:txBody>
      </p:sp>
      <p:sp>
        <p:nvSpPr>
          <p:cNvPr id="11" name="TextBox 10"/>
          <p:cNvSpPr txBox="1"/>
          <p:nvPr/>
        </p:nvSpPr>
        <p:spPr>
          <a:xfrm>
            <a:off x="4855464" y="2601468"/>
            <a:ext cx="1234440" cy="402336"/>
          </a:xfrm>
          <a:prstGeom prst="rect">
            <a:avLst/>
          </a:prstGeom>
          <a:noFill/>
        </p:spPr>
        <p:txBody>
          <a:bodyPr wrap="square" anchor="t" lIns="0" rIns="0" tIns="0" bIns="0">
            <a:spAutoFit/>
          </a:bodyPr>
          <a:lstStyle/>
          <a:p>
            <a:pPr algn="r">
              <a:lnSpc>
                <a:spcPct val="115000"/>
              </a:lnSpc>
            </a:pPr>
            <a:r>
              <a:rPr sz="950" b="1" spc="80">
                <a:solidFill>
                  <a:srgbClr val="FFFFFF"/>
                </a:solidFill>
                <a:latin typeface="Libre Franklin"/>
              </a:rPr>
              <a:t>SOFT: FLAG</a:t>
            </a:r>
          </a:p>
        </p:txBody>
      </p:sp>
      <p:sp>
        <p:nvSpPr>
          <p:cNvPr id="12" name="Rectangle 11"/>
          <p:cNvSpPr/>
          <p:nvPr/>
        </p:nvSpPr>
        <p:spPr>
          <a:xfrm>
            <a:off x="566928" y="2926079"/>
            <a:ext cx="5577840" cy="402336"/>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3012948"/>
            <a:ext cx="2560320" cy="402336"/>
          </a:xfrm>
          <a:prstGeom prst="rect">
            <a:avLst/>
          </a:prstGeom>
          <a:noFill/>
        </p:spPr>
        <p:txBody>
          <a:bodyPr wrap="square" anchor="t" lIns="0" rIns="0" tIns="0" bIns="0">
            <a:spAutoFit/>
          </a:bodyPr>
          <a:lstStyle/>
          <a:p>
            <a:pPr algn="l">
              <a:lnSpc>
                <a:spcPct val="115000"/>
              </a:lnSpc>
            </a:pPr>
            <a:r>
              <a:rPr sz="1200" b="0">
                <a:solidFill>
                  <a:srgbClr val="1A1A1F"/>
                </a:solidFill>
                <a:latin typeface="Libre Franklin Medium"/>
              </a:rPr>
              <a:t>Visit within 72 hours</a:t>
            </a:r>
          </a:p>
        </p:txBody>
      </p:sp>
      <p:sp>
        <p:nvSpPr>
          <p:cNvPr id="14" name="TextBox 13"/>
          <p:cNvSpPr txBox="1"/>
          <p:nvPr/>
        </p:nvSpPr>
        <p:spPr>
          <a:xfrm>
            <a:off x="3438144" y="3012948"/>
            <a:ext cx="1234440" cy="402336"/>
          </a:xfrm>
          <a:prstGeom prst="rect">
            <a:avLst/>
          </a:prstGeom>
          <a:noFill/>
        </p:spPr>
        <p:txBody>
          <a:bodyPr wrap="square" anchor="t" lIns="0" rIns="0" tIns="0" bIns="0">
            <a:spAutoFit/>
          </a:bodyPr>
          <a:lstStyle/>
          <a:p>
            <a:pPr algn="r">
              <a:lnSpc>
                <a:spcPct val="115000"/>
              </a:lnSpc>
            </a:pPr>
            <a:r>
              <a:rPr sz="1200" b="0">
                <a:solidFill>
                  <a:srgbClr val="1A1A1F"/>
                </a:solidFill>
                <a:latin typeface="Libre Franklin Medium"/>
              </a:rPr>
              <a:t>15 min</a:t>
            </a:r>
          </a:p>
        </p:txBody>
      </p:sp>
      <p:sp>
        <p:nvSpPr>
          <p:cNvPr id="15" name="TextBox 14"/>
          <p:cNvSpPr txBox="1"/>
          <p:nvPr/>
        </p:nvSpPr>
        <p:spPr>
          <a:xfrm>
            <a:off x="4855464" y="3012948"/>
            <a:ext cx="1234440" cy="402336"/>
          </a:xfrm>
          <a:prstGeom prst="rect">
            <a:avLst/>
          </a:prstGeom>
          <a:noFill/>
        </p:spPr>
        <p:txBody>
          <a:bodyPr wrap="square" anchor="t" lIns="0" rIns="0" tIns="0" bIns="0">
            <a:spAutoFit/>
          </a:bodyPr>
          <a:lstStyle/>
          <a:p>
            <a:pPr algn="r">
              <a:lnSpc>
                <a:spcPct val="115000"/>
              </a:lnSpc>
            </a:pPr>
            <a:r>
              <a:rPr sz="1200" b="0">
                <a:solidFill>
                  <a:srgbClr val="1A1A1F"/>
                </a:solidFill>
                <a:latin typeface="Libre Franklin Medium"/>
              </a:rPr>
              <a:t>60 min</a:t>
            </a:r>
          </a:p>
        </p:txBody>
      </p:sp>
      <p:sp>
        <p:nvSpPr>
          <p:cNvPr id="16" name="TextBox 15"/>
          <p:cNvSpPr txBox="1"/>
          <p:nvPr/>
        </p:nvSpPr>
        <p:spPr>
          <a:xfrm>
            <a:off x="694944" y="3415284"/>
            <a:ext cx="2560320" cy="402336"/>
          </a:xfrm>
          <a:prstGeom prst="rect">
            <a:avLst/>
          </a:prstGeom>
          <a:noFill/>
        </p:spPr>
        <p:txBody>
          <a:bodyPr wrap="square" anchor="t" lIns="0" rIns="0" tIns="0" bIns="0">
            <a:spAutoFit/>
          </a:bodyPr>
          <a:lstStyle/>
          <a:p>
            <a:pPr algn="l">
              <a:lnSpc>
                <a:spcPct val="115000"/>
              </a:lnSpc>
            </a:pPr>
            <a:r>
              <a:rPr sz="1200" b="0">
                <a:solidFill>
                  <a:srgbClr val="1A1A1F"/>
                </a:solidFill>
                <a:latin typeface="Libre Franklin Medium"/>
              </a:rPr>
              <a:t>3 to 14 days out</a:t>
            </a:r>
          </a:p>
        </p:txBody>
      </p:sp>
      <p:sp>
        <p:nvSpPr>
          <p:cNvPr id="17" name="TextBox 16"/>
          <p:cNvSpPr txBox="1"/>
          <p:nvPr/>
        </p:nvSpPr>
        <p:spPr>
          <a:xfrm>
            <a:off x="3438144" y="3415284"/>
            <a:ext cx="1234440" cy="402336"/>
          </a:xfrm>
          <a:prstGeom prst="rect">
            <a:avLst/>
          </a:prstGeom>
          <a:noFill/>
        </p:spPr>
        <p:txBody>
          <a:bodyPr wrap="square" anchor="t" lIns="0" rIns="0" tIns="0" bIns="0">
            <a:spAutoFit/>
          </a:bodyPr>
          <a:lstStyle/>
          <a:p>
            <a:pPr algn="r">
              <a:lnSpc>
                <a:spcPct val="115000"/>
              </a:lnSpc>
            </a:pPr>
            <a:r>
              <a:rPr sz="1200" b="0">
                <a:solidFill>
                  <a:srgbClr val="1A1A1F"/>
                </a:solidFill>
                <a:latin typeface="Libre Franklin Medium"/>
              </a:rPr>
              <a:t>4 hours</a:t>
            </a:r>
          </a:p>
        </p:txBody>
      </p:sp>
      <p:sp>
        <p:nvSpPr>
          <p:cNvPr id="18" name="TextBox 17"/>
          <p:cNvSpPr txBox="1"/>
          <p:nvPr/>
        </p:nvSpPr>
        <p:spPr>
          <a:xfrm>
            <a:off x="4855464" y="3415284"/>
            <a:ext cx="1234440" cy="402336"/>
          </a:xfrm>
          <a:prstGeom prst="rect">
            <a:avLst/>
          </a:prstGeom>
          <a:noFill/>
        </p:spPr>
        <p:txBody>
          <a:bodyPr wrap="square" anchor="t" lIns="0" rIns="0" tIns="0" bIns="0">
            <a:spAutoFit/>
          </a:bodyPr>
          <a:lstStyle/>
          <a:p>
            <a:pPr algn="r">
              <a:lnSpc>
                <a:spcPct val="115000"/>
              </a:lnSpc>
            </a:pPr>
            <a:r>
              <a:rPr sz="1200" b="0">
                <a:solidFill>
                  <a:srgbClr val="1A1A1F"/>
                </a:solidFill>
                <a:latin typeface="Libre Franklin Medium"/>
              </a:rPr>
              <a:t>24 hours</a:t>
            </a:r>
          </a:p>
        </p:txBody>
      </p:sp>
      <p:sp>
        <p:nvSpPr>
          <p:cNvPr id="19" name="Rectangle 18"/>
          <p:cNvSpPr/>
          <p:nvPr/>
        </p:nvSpPr>
        <p:spPr>
          <a:xfrm>
            <a:off x="566928" y="3730752"/>
            <a:ext cx="5577840" cy="402336"/>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3817620"/>
            <a:ext cx="2560320" cy="402336"/>
          </a:xfrm>
          <a:prstGeom prst="rect">
            <a:avLst/>
          </a:prstGeom>
          <a:noFill/>
        </p:spPr>
        <p:txBody>
          <a:bodyPr wrap="square" anchor="t" lIns="0" rIns="0" tIns="0" bIns="0">
            <a:spAutoFit/>
          </a:bodyPr>
          <a:lstStyle/>
          <a:p>
            <a:pPr algn="l">
              <a:lnSpc>
                <a:spcPct val="115000"/>
              </a:lnSpc>
            </a:pPr>
            <a:r>
              <a:rPr sz="1200" b="0">
                <a:solidFill>
                  <a:srgbClr val="1A1A1F"/>
                </a:solidFill>
                <a:latin typeface="Libre Franklin Medium"/>
              </a:rPr>
              <a:t>More than 14 days out</a:t>
            </a:r>
          </a:p>
        </p:txBody>
      </p:sp>
      <p:sp>
        <p:nvSpPr>
          <p:cNvPr id="21" name="TextBox 20"/>
          <p:cNvSpPr txBox="1"/>
          <p:nvPr/>
        </p:nvSpPr>
        <p:spPr>
          <a:xfrm>
            <a:off x="3438144" y="3817620"/>
            <a:ext cx="1234440" cy="402336"/>
          </a:xfrm>
          <a:prstGeom prst="rect">
            <a:avLst/>
          </a:prstGeom>
          <a:noFill/>
        </p:spPr>
        <p:txBody>
          <a:bodyPr wrap="square" anchor="t" lIns="0" rIns="0" tIns="0" bIns="0">
            <a:spAutoFit/>
          </a:bodyPr>
          <a:lstStyle/>
          <a:p>
            <a:pPr algn="r">
              <a:lnSpc>
                <a:spcPct val="115000"/>
              </a:lnSpc>
            </a:pPr>
            <a:r>
              <a:rPr sz="1200" b="0">
                <a:solidFill>
                  <a:srgbClr val="1A1A1F"/>
                </a:solidFill>
                <a:latin typeface="Libre Franklin Medium"/>
              </a:rPr>
              <a:t>24 hours</a:t>
            </a:r>
          </a:p>
        </p:txBody>
      </p:sp>
      <p:sp>
        <p:nvSpPr>
          <p:cNvPr id="22" name="TextBox 21"/>
          <p:cNvSpPr txBox="1"/>
          <p:nvPr/>
        </p:nvSpPr>
        <p:spPr>
          <a:xfrm>
            <a:off x="4855464" y="3817620"/>
            <a:ext cx="1234440" cy="402336"/>
          </a:xfrm>
          <a:prstGeom prst="rect">
            <a:avLst/>
          </a:prstGeom>
          <a:noFill/>
        </p:spPr>
        <p:txBody>
          <a:bodyPr wrap="square" anchor="t" lIns="0" rIns="0" tIns="0" bIns="0">
            <a:spAutoFit/>
          </a:bodyPr>
          <a:lstStyle/>
          <a:p>
            <a:pPr algn="r">
              <a:lnSpc>
                <a:spcPct val="115000"/>
              </a:lnSpc>
            </a:pPr>
            <a:r>
              <a:rPr sz="1200" b="0">
                <a:solidFill>
                  <a:srgbClr val="1A1A1F"/>
                </a:solidFill>
                <a:latin typeface="Libre Franklin Medium"/>
              </a:rPr>
              <a:t>72 hours</a:t>
            </a:r>
          </a:p>
        </p:txBody>
      </p:sp>
      <p:sp>
        <p:nvSpPr>
          <p:cNvPr id="23" name="Rounded Rectangle 22"/>
          <p:cNvSpPr/>
          <p:nvPr/>
        </p:nvSpPr>
        <p:spPr>
          <a:xfrm>
            <a:off x="6309360" y="260146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2523744"/>
            <a:ext cx="5041087"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fresh: score and auto-commit</a:t>
            </a:r>
          </a:p>
        </p:txBody>
      </p:sp>
      <p:sp>
        <p:nvSpPr>
          <p:cNvPr id="25" name="Rounded Rectangle 24"/>
          <p:cNvSpPr/>
          <p:nvPr/>
        </p:nvSpPr>
        <p:spPr>
          <a:xfrm>
            <a:off x="6309360" y="2967227"/>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2889503"/>
            <a:ext cx="5041087"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stale: score normally, mark the assignment PROVISIONAL, hold the family notification until a human confirms</a:t>
            </a:r>
          </a:p>
        </p:txBody>
      </p:sp>
      <p:sp>
        <p:nvSpPr>
          <p:cNvPr id="27" name="Rounded Rectangle 26"/>
          <p:cNvSpPr/>
          <p:nvPr/>
        </p:nvSpPr>
        <p:spPr>
          <a:xfrm>
            <a:off x="6309360" y="351586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3438144"/>
            <a:ext cx="5041087"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expired or sync failed: Layer 1 failure</a:t>
            </a:r>
          </a:p>
        </p:txBody>
      </p:sp>
      <p:sp>
        <p:nvSpPr>
          <p:cNvPr id="29" name="Rounded Rectangle 28"/>
          <p:cNvSpPr/>
          <p:nvPr/>
        </p:nvSpPr>
        <p:spPr>
          <a:xfrm>
            <a:off x="6309360" y="388162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3803904"/>
            <a:ext cx="5041087"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Write-time recheck of the winning pair before commit. One API call, and it closes the fifteen minute race that double-books someone</a:t>
            </a:r>
          </a:p>
        </p:txBody>
      </p:sp>
      <p:sp>
        <p:nvSpPr>
          <p:cNvPr id="31" name="Rounded Rectangle 30"/>
          <p:cNvSpPr/>
          <p:nvPr/>
        </p:nvSpPr>
        <p:spPr>
          <a:xfrm>
            <a:off x="6309360" y="443026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4352544"/>
            <a:ext cx="5041087"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Circuit breaker: halt the run if more than 20% of the team is unverifiable</a:t>
            </a:r>
          </a:p>
        </p:txBody>
      </p:sp>
      <p:sp>
        <p:nvSpPr>
          <p:cNvPr id="33" name="Rounded Rectangle 32"/>
          <p:cNvSpPr/>
          <p:nvPr/>
        </p:nvSpPr>
        <p:spPr>
          <a:xfrm>
            <a:off x="566928" y="4197096"/>
            <a:ext cx="5577840" cy="1051560"/>
          </a:xfrm>
          <a:prstGeom prst="roundRect">
            <a:avLst>
              <a:gd name="adj" fmla="val 13043"/>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7" y="4379976"/>
            <a:ext cx="5029200" cy="731520"/>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A penalty would make a stale but ideal candidate lose for a reason that has nothing to do with fit, and quietly corrupt the metric every other diagnostic is built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LAYER 1</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Seven predicates. A failure is never outscored</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06</a:t>
            </a:r>
          </a:p>
        </p:txBody>
      </p:sp>
      <p:sp>
        <p:nvSpPr>
          <p:cNvPr id="7" name="Rectangle 6"/>
          <p:cNvSpPr/>
          <p:nvPr/>
        </p:nvSpPr>
        <p:spPr>
          <a:xfrm>
            <a:off x="566928" y="1865376"/>
            <a:ext cx="11057839" cy="384048"/>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943100"/>
            <a:ext cx="548640" cy="384048"/>
          </a:xfrm>
          <a:prstGeom prst="rect">
            <a:avLst/>
          </a:prstGeom>
          <a:noFill/>
        </p:spPr>
        <p:txBody>
          <a:bodyPr wrap="square" anchor="t" lIns="0" rIns="0" tIns="0" bIns="0">
            <a:spAutoFit/>
          </a:bodyPr>
          <a:lstStyle/>
          <a:p>
            <a:pPr algn="l">
              <a:lnSpc>
                <a:spcPct val="115000"/>
              </a:lnSpc>
            </a:pPr>
            <a:r>
              <a:rPr sz="1050" b="1" spc="80">
                <a:solidFill>
                  <a:srgbClr val="FFFFFF"/>
                </a:solidFill>
                <a:latin typeface="Libre Franklin"/>
              </a:rPr>
              <a:t/>
            </a:r>
          </a:p>
        </p:txBody>
      </p:sp>
      <p:sp>
        <p:nvSpPr>
          <p:cNvPr id="9" name="TextBox 8"/>
          <p:cNvSpPr txBox="1"/>
          <p:nvPr/>
        </p:nvSpPr>
        <p:spPr>
          <a:xfrm>
            <a:off x="1426464" y="1943100"/>
            <a:ext cx="2468879" cy="384048"/>
          </a:xfrm>
          <a:prstGeom prst="rect">
            <a:avLst/>
          </a:prstGeom>
          <a:noFill/>
        </p:spPr>
        <p:txBody>
          <a:bodyPr wrap="square" anchor="t" lIns="0" rIns="0" tIns="0" bIns="0">
            <a:spAutoFit/>
          </a:bodyPr>
          <a:lstStyle/>
          <a:p>
            <a:pPr algn="l">
              <a:lnSpc>
                <a:spcPct val="115000"/>
              </a:lnSpc>
            </a:pPr>
            <a:r>
              <a:rPr sz="1050" b="1" spc="80">
                <a:solidFill>
                  <a:srgbClr val="FFFFFF"/>
                </a:solidFill>
                <a:latin typeface="Libre Franklin"/>
              </a:rPr>
              <a:t>PREDICATE</a:t>
            </a:r>
          </a:p>
        </p:txBody>
      </p:sp>
      <p:sp>
        <p:nvSpPr>
          <p:cNvPr id="10" name="TextBox 9"/>
          <p:cNvSpPr txBox="1"/>
          <p:nvPr/>
        </p:nvSpPr>
        <p:spPr>
          <a:xfrm>
            <a:off x="4078224" y="1943100"/>
            <a:ext cx="7491679" cy="384048"/>
          </a:xfrm>
          <a:prstGeom prst="rect">
            <a:avLst/>
          </a:prstGeom>
          <a:noFill/>
        </p:spPr>
        <p:txBody>
          <a:bodyPr wrap="square" anchor="t" lIns="0" rIns="0" tIns="0" bIns="0">
            <a:spAutoFit/>
          </a:bodyPr>
          <a:lstStyle/>
          <a:p>
            <a:pPr algn="l">
              <a:lnSpc>
                <a:spcPct val="115000"/>
              </a:lnSpc>
            </a:pPr>
            <a:r>
              <a:rPr sz="1050" b="1" spc="80">
                <a:solidFill>
                  <a:srgbClr val="FFFFFF"/>
                </a:solidFill>
                <a:latin typeface="Libre Franklin"/>
              </a:rPr>
              <a:t>WHAT IT CHECKS</a:t>
            </a:r>
          </a:p>
        </p:txBody>
      </p:sp>
      <p:sp>
        <p:nvSpPr>
          <p:cNvPr id="11" name="Rectangle 10"/>
          <p:cNvSpPr/>
          <p:nvPr/>
        </p:nvSpPr>
        <p:spPr>
          <a:xfrm>
            <a:off x="566928" y="2249424"/>
            <a:ext cx="11057839" cy="38404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2336292"/>
            <a:ext cx="548640"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W</a:t>
            </a:r>
          </a:p>
        </p:txBody>
      </p:sp>
      <p:sp>
        <p:nvSpPr>
          <p:cNvPr id="13" name="TextBox 12"/>
          <p:cNvSpPr txBox="1"/>
          <p:nvPr/>
        </p:nvSpPr>
        <p:spPr>
          <a:xfrm>
            <a:off x="1426464" y="2336292"/>
            <a:ext cx="24688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Date window match</a:t>
            </a:r>
          </a:p>
        </p:txBody>
      </p:sp>
      <p:sp>
        <p:nvSpPr>
          <p:cNvPr id="14" name="TextBox 13"/>
          <p:cNvSpPr txBox="1"/>
          <p:nvPr/>
        </p:nvSpPr>
        <p:spPr>
          <a:xfrm>
            <a:off x="4078224" y="2336292"/>
            <a:ext cx="74916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Visit window overlaps declared working hours</a:t>
            </a:r>
          </a:p>
        </p:txBody>
      </p:sp>
      <p:sp>
        <p:nvSpPr>
          <p:cNvPr id="15" name="TextBox 14"/>
          <p:cNvSpPr txBox="1"/>
          <p:nvPr/>
        </p:nvSpPr>
        <p:spPr>
          <a:xfrm>
            <a:off x="694944" y="2720340"/>
            <a:ext cx="548640"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A</a:t>
            </a:r>
          </a:p>
        </p:txBody>
      </p:sp>
      <p:sp>
        <p:nvSpPr>
          <p:cNvPr id="16" name="TextBox 15"/>
          <p:cNvSpPr txBox="1"/>
          <p:nvPr/>
        </p:nvSpPr>
        <p:spPr>
          <a:xfrm>
            <a:off x="1426464" y="2720340"/>
            <a:ext cx="24688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Open slot</a:t>
            </a:r>
          </a:p>
        </p:txBody>
      </p:sp>
      <p:sp>
        <p:nvSpPr>
          <p:cNvPr id="17" name="TextBox 16"/>
          <p:cNvSpPr txBox="1"/>
          <p:nvPr/>
        </p:nvSpPr>
        <p:spPr>
          <a:xfrm>
            <a:off x="4078224" y="2720340"/>
            <a:ext cx="74916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Free block of duration PLUS round-trip travel</a:t>
            </a:r>
          </a:p>
        </p:txBody>
      </p:sp>
      <p:sp>
        <p:nvSpPr>
          <p:cNvPr id="18" name="Rectangle 17"/>
          <p:cNvSpPr/>
          <p:nvPr/>
        </p:nvSpPr>
        <p:spPr>
          <a:xfrm>
            <a:off x="566928" y="3017520"/>
            <a:ext cx="11057839" cy="38404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3104388"/>
            <a:ext cx="548640"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X</a:t>
            </a:r>
          </a:p>
        </p:txBody>
      </p:sp>
      <p:sp>
        <p:nvSpPr>
          <p:cNvPr id="20" name="TextBox 19"/>
          <p:cNvSpPr txBox="1"/>
          <p:nvPr/>
        </p:nvSpPr>
        <p:spPr>
          <a:xfrm>
            <a:off x="1426464" y="3104388"/>
            <a:ext cx="24688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No calendar clash</a:t>
            </a:r>
          </a:p>
        </p:txBody>
      </p:sp>
      <p:sp>
        <p:nvSpPr>
          <p:cNvPr id="21" name="TextBox 20"/>
          <p:cNvSpPr txBox="1"/>
          <p:nvPr/>
        </p:nvSpPr>
        <p:spPr>
          <a:xfrm>
            <a:off x="4078224" y="3104388"/>
            <a:ext cx="74916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Nothing hard-booked over it: busy, out of office</a:t>
            </a:r>
          </a:p>
        </p:txBody>
      </p:sp>
      <p:sp>
        <p:nvSpPr>
          <p:cNvPr id="22" name="TextBox 21"/>
          <p:cNvSpPr txBox="1"/>
          <p:nvPr/>
        </p:nvSpPr>
        <p:spPr>
          <a:xfrm>
            <a:off x="694944" y="3488436"/>
            <a:ext cx="548640"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E</a:t>
            </a:r>
          </a:p>
        </p:txBody>
      </p:sp>
      <p:sp>
        <p:nvSpPr>
          <p:cNvPr id="23" name="TextBox 22"/>
          <p:cNvSpPr txBox="1"/>
          <p:nvPr/>
        </p:nvSpPr>
        <p:spPr>
          <a:xfrm>
            <a:off x="1426464" y="3488436"/>
            <a:ext cx="24688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No family conflict</a:t>
            </a:r>
          </a:p>
        </p:txBody>
      </p:sp>
      <p:sp>
        <p:nvSpPr>
          <p:cNvPr id="24" name="TextBox 23"/>
          <p:cNvSpPr txBox="1"/>
          <p:nvPr/>
        </p:nvSpPr>
        <p:spPr>
          <a:xfrm>
            <a:off x="4078224" y="3488436"/>
            <a:ext cx="74916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Hard exclusion list. Checked first, most sensitive</a:t>
            </a:r>
          </a:p>
        </p:txBody>
      </p:sp>
      <p:sp>
        <p:nvSpPr>
          <p:cNvPr id="25" name="Rectangle 24"/>
          <p:cNvSpPr/>
          <p:nvPr/>
        </p:nvSpPr>
        <p:spPr>
          <a:xfrm>
            <a:off x="566928" y="3785615"/>
            <a:ext cx="11057839" cy="38404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3872483"/>
            <a:ext cx="548640"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K</a:t>
            </a:r>
          </a:p>
        </p:txBody>
      </p:sp>
      <p:sp>
        <p:nvSpPr>
          <p:cNvPr id="27" name="TextBox 26"/>
          <p:cNvSpPr txBox="1"/>
          <p:nvPr/>
        </p:nvSpPr>
        <p:spPr>
          <a:xfrm>
            <a:off x="1426464" y="3872483"/>
            <a:ext cx="24688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Credential match</a:t>
            </a:r>
          </a:p>
        </p:txBody>
      </p:sp>
      <p:sp>
        <p:nvSpPr>
          <p:cNvPr id="28" name="TextBox 27"/>
          <p:cNvSpPr txBox="1"/>
          <p:nvPr/>
        </p:nvSpPr>
        <p:spPr>
          <a:xfrm>
            <a:off x="4078224" y="3872483"/>
            <a:ext cx="74916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Req(protocol) is a subset of Cred(coordinator)</a:t>
            </a:r>
          </a:p>
        </p:txBody>
      </p:sp>
      <p:sp>
        <p:nvSpPr>
          <p:cNvPr id="29" name="TextBox 28"/>
          <p:cNvSpPr txBox="1"/>
          <p:nvPr/>
        </p:nvSpPr>
        <p:spPr>
          <a:xfrm>
            <a:off x="694944" y="4256531"/>
            <a:ext cx="548640"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Cal</a:t>
            </a:r>
          </a:p>
        </p:txBody>
      </p:sp>
      <p:sp>
        <p:nvSpPr>
          <p:cNvPr id="30" name="TextBox 29"/>
          <p:cNvSpPr txBox="1"/>
          <p:nvPr/>
        </p:nvSpPr>
        <p:spPr>
          <a:xfrm>
            <a:off x="1426464" y="4256531"/>
            <a:ext cx="24688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Calendar fresh</a:t>
            </a:r>
          </a:p>
        </p:txBody>
      </p:sp>
      <p:sp>
        <p:nvSpPr>
          <p:cNvPr id="31" name="TextBox 30"/>
          <p:cNvSpPr txBox="1"/>
          <p:nvPr/>
        </p:nvSpPr>
        <p:spPr>
          <a:xfrm>
            <a:off x="4078224" y="4256531"/>
            <a:ext cx="74916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Layer 0 gate</a:t>
            </a:r>
          </a:p>
        </p:txBody>
      </p:sp>
      <p:sp>
        <p:nvSpPr>
          <p:cNvPr id="32" name="Rectangle 31"/>
          <p:cNvSpPr/>
          <p:nvPr/>
        </p:nvSpPr>
        <p:spPr>
          <a:xfrm>
            <a:off x="566928" y="4553712"/>
            <a:ext cx="11057839" cy="38404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 y="4640579"/>
            <a:ext cx="548640"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Ramp</a:t>
            </a:r>
          </a:p>
        </p:txBody>
      </p:sp>
      <p:sp>
        <p:nvSpPr>
          <p:cNvPr id="34" name="TextBox 33"/>
          <p:cNvSpPr txBox="1"/>
          <p:nvPr/>
        </p:nvSpPr>
        <p:spPr>
          <a:xfrm>
            <a:off x="1426464" y="4640579"/>
            <a:ext cx="24688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Onboarding cap</a:t>
            </a:r>
          </a:p>
        </p:txBody>
      </p:sp>
      <p:sp>
        <p:nvSpPr>
          <p:cNvPr id="35" name="TextBox 34"/>
          <p:cNvSpPr txBox="1"/>
          <p:nvPr/>
        </p:nvSpPr>
        <p:spPr>
          <a:xfrm>
            <a:off x="4078224" y="4640579"/>
            <a:ext cx="7491679" cy="38404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New hires capped at q visits per week</a:t>
            </a:r>
          </a:p>
        </p:txBody>
      </p:sp>
      <p:sp>
        <p:nvSpPr>
          <p:cNvPr id="36" name="TextBox 35"/>
          <p:cNvSpPr txBox="1"/>
          <p:nvPr/>
        </p:nvSpPr>
        <p:spPr>
          <a:xfrm>
            <a:off x="566928" y="4919472"/>
            <a:ext cx="11057839" cy="365760"/>
          </a:xfrm>
          <a:prstGeom prst="rect">
            <a:avLst/>
          </a:prstGeom>
          <a:noFill/>
        </p:spPr>
        <p:txBody>
          <a:bodyPr wrap="square" anchor="t" lIns="0" rIns="0" tIns="0" bIns="0">
            <a:spAutoFit/>
          </a:bodyPr>
          <a:lstStyle/>
          <a:p>
            <a:pPr algn="l">
              <a:lnSpc>
                <a:spcPct val="115000"/>
              </a:lnSpc>
            </a:pPr>
            <a:r>
              <a:rPr sz="1300" b="0">
                <a:solidFill>
                  <a:srgbClr val="4A4A55"/>
                </a:solidFill>
                <a:latin typeface="Libre Franklin Medium"/>
              </a:rPr>
              <a:t>Slots are travel-inflated. Without that the engine happily schedules two visits forty minutes apart across town.</a:t>
            </a:r>
          </a:p>
        </p:txBody>
      </p:sp>
      <p:sp>
        <p:nvSpPr>
          <p:cNvPr id="37" name="Rounded Rectangle 36"/>
          <p:cNvSpPr/>
          <p:nvPr/>
        </p:nvSpPr>
        <p:spPr>
          <a:xfrm>
            <a:off x="566928" y="5385816"/>
            <a:ext cx="11057839" cy="777240"/>
          </a:xfrm>
          <a:prstGeom prst="roundRect">
            <a:avLst>
              <a:gd name="adj" fmla="val 17647"/>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7" y="5541264"/>
            <a:ext cx="10509199" cy="548640"/>
          </a:xfrm>
          <a:prstGeom prst="rect">
            <a:avLst/>
          </a:prstGeom>
          <a:noFill/>
        </p:spPr>
        <p:txBody>
          <a:bodyPr wrap="square" anchor="t" lIns="0" rIns="0" tIns="0" bIns="0">
            <a:spAutoFit/>
          </a:bodyPr>
          <a:lstStyle/>
          <a:p>
            <a:pPr algn="l">
              <a:lnSpc>
                <a:spcPct val="115000"/>
              </a:lnSpc>
            </a:pPr>
            <a:r>
              <a:rPr sz="1300" b="1">
                <a:solidFill>
                  <a:srgbClr val="3366FF"/>
                </a:solidFill>
                <a:latin typeface="Libre Franklin"/>
              </a:rPr>
              <a:t>Ramp is a constraint, not a score adjustment. “Do not overload a new hire in week one” is a policy, and policies belong where they cannot be traded away against a good continuity score.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LAYER 2</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Five terms became four criteria</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07</a:t>
            </a:r>
          </a:p>
        </p:txBody>
      </p:sp>
      <p:sp>
        <p:nvSpPr>
          <p:cNvPr id="7" name="Rectangle 6"/>
          <p:cNvSpPr/>
          <p:nvPr/>
        </p:nvSpPr>
        <p:spPr>
          <a:xfrm>
            <a:off x="566928" y="1865376"/>
            <a:ext cx="6675120" cy="36576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943100"/>
            <a:ext cx="2926079" cy="365760"/>
          </a:xfrm>
          <a:prstGeom prst="rect">
            <a:avLst/>
          </a:prstGeom>
          <a:noFill/>
        </p:spPr>
        <p:txBody>
          <a:bodyPr wrap="square" anchor="t" lIns="0" rIns="0" tIns="0" bIns="0">
            <a:spAutoFit/>
          </a:bodyPr>
          <a:lstStyle/>
          <a:p>
            <a:pPr algn="l">
              <a:lnSpc>
                <a:spcPct val="115000"/>
              </a:lnSpc>
            </a:pPr>
            <a:r>
              <a:rPr sz="1000" b="1" spc="80">
                <a:solidFill>
                  <a:srgbClr val="FFFFFF"/>
                </a:solidFill>
                <a:latin typeface="Libre Franklin"/>
              </a:rPr>
              <a:t>V2 TERM</a:t>
            </a:r>
          </a:p>
        </p:txBody>
      </p:sp>
      <p:sp>
        <p:nvSpPr>
          <p:cNvPr id="9" name="TextBox 8"/>
          <p:cNvSpPr txBox="1"/>
          <p:nvPr/>
        </p:nvSpPr>
        <p:spPr>
          <a:xfrm>
            <a:off x="3803903" y="1943100"/>
            <a:ext cx="365759" cy="365760"/>
          </a:xfrm>
          <a:prstGeom prst="rect">
            <a:avLst/>
          </a:prstGeom>
          <a:noFill/>
        </p:spPr>
        <p:txBody>
          <a:bodyPr wrap="square" anchor="t" lIns="0" rIns="0" tIns="0" bIns="0">
            <a:spAutoFit/>
          </a:bodyPr>
          <a:lstStyle/>
          <a:p>
            <a:pPr algn="ctr">
              <a:lnSpc>
                <a:spcPct val="115000"/>
              </a:lnSpc>
            </a:pPr>
            <a:r>
              <a:rPr sz="1000" b="1" spc="80">
                <a:solidFill>
                  <a:srgbClr val="FFFFFF"/>
                </a:solidFill>
                <a:latin typeface="Libre Franklin"/>
              </a:rPr>
              <a:t/>
            </a:r>
          </a:p>
        </p:txBody>
      </p:sp>
      <p:sp>
        <p:nvSpPr>
          <p:cNvPr id="10" name="TextBox 9"/>
          <p:cNvSpPr txBox="1"/>
          <p:nvPr/>
        </p:nvSpPr>
        <p:spPr>
          <a:xfrm>
            <a:off x="4352543" y="1943100"/>
            <a:ext cx="2834639" cy="365760"/>
          </a:xfrm>
          <a:prstGeom prst="rect">
            <a:avLst/>
          </a:prstGeom>
          <a:noFill/>
        </p:spPr>
        <p:txBody>
          <a:bodyPr wrap="square" anchor="t" lIns="0" rIns="0" tIns="0" bIns="0">
            <a:spAutoFit/>
          </a:bodyPr>
          <a:lstStyle/>
          <a:p>
            <a:pPr algn="l">
              <a:lnSpc>
                <a:spcPct val="115000"/>
              </a:lnSpc>
            </a:pPr>
            <a:r>
              <a:rPr sz="1000" b="1" spc="80">
                <a:solidFill>
                  <a:srgbClr val="FFFFFF"/>
                </a:solidFill>
                <a:latin typeface="Libre Franklin"/>
              </a:rPr>
              <a:t>V3 CRITERION</a:t>
            </a:r>
          </a:p>
        </p:txBody>
      </p:sp>
      <p:sp>
        <p:nvSpPr>
          <p:cNvPr id="11" name="Rectangle 10"/>
          <p:cNvSpPr/>
          <p:nvPr/>
        </p:nvSpPr>
        <p:spPr>
          <a:xfrm>
            <a:off x="566928" y="2231136"/>
            <a:ext cx="6675120" cy="365760"/>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2318004"/>
            <a:ext cx="2926079"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v2: family history 0.30</a:t>
            </a:r>
          </a:p>
        </p:txBody>
      </p:sp>
      <p:sp>
        <p:nvSpPr>
          <p:cNvPr id="13" name="TextBox 12"/>
          <p:cNvSpPr txBox="1"/>
          <p:nvPr/>
        </p:nvSpPr>
        <p:spPr>
          <a:xfrm>
            <a:off x="3803903" y="2318004"/>
            <a:ext cx="365759"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--&gt;</a:t>
            </a:r>
          </a:p>
        </p:txBody>
      </p:sp>
      <p:sp>
        <p:nvSpPr>
          <p:cNvPr id="14" name="TextBox 13"/>
          <p:cNvSpPr txBox="1"/>
          <p:nvPr/>
        </p:nvSpPr>
        <p:spPr>
          <a:xfrm>
            <a:off x="4352543" y="2318004"/>
            <a:ext cx="2834639" cy="365760"/>
          </a:xfrm>
          <a:prstGeom prst="rect">
            <a:avLst/>
          </a:prstGeom>
          <a:noFill/>
        </p:spPr>
        <p:txBody>
          <a:bodyPr wrap="square" anchor="t" lIns="0" rIns="0" tIns="0" bIns="0">
            <a:spAutoFit/>
          </a:bodyPr>
          <a:lstStyle/>
          <a:p>
            <a:pPr algn="l">
              <a:lnSpc>
                <a:spcPct val="115000"/>
              </a:lnSpc>
            </a:pPr>
            <a:r>
              <a:rPr sz="1250" b="1">
                <a:solidFill>
                  <a:srgbClr val="3366FF"/>
                </a:solidFill>
                <a:latin typeface="Libre Franklin"/>
              </a:rPr>
              <a:t>Phi  continuity  0.45</a:t>
            </a:r>
          </a:p>
        </p:txBody>
      </p:sp>
      <p:sp>
        <p:nvSpPr>
          <p:cNvPr id="15" name="TextBox 14"/>
          <p:cNvSpPr txBox="1"/>
          <p:nvPr/>
        </p:nvSpPr>
        <p:spPr>
          <a:xfrm>
            <a:off x="694944" y="2683764"/>
            <a:ext cx="2926079"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v2: recency 0.25</a:t>
            </a:r>
          </a:p>
        </p:txBody>
      </p:sp>
      <p:sp>
        <p:nvSpPr>
          <p:cNvPr id="16" name="TextBox 15"/>
          <p:cNvSpPr txBox="1"/>
          <p:nvPr/>
        </p:nvSpPr>
        <p:spPr>
          <a:xfrm>
            <a:off x="3803903" y="2683764"/>
            <a:ext cx="365759"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--&gt;</a:t>
            </a:r>
          </a:p>
        </p:txBody>
      </p:sp>
      <p:sp>
        <p:nvSpPr>
          <p:cNvPr id="17" name="TextBox 16"/>
          <p:cNvSpPr txBox="1"/>
          <p:nvPr/>
        </p:nvSpPr>
        <p:spPr>
          <a:xfrm>
            <a:off x="4352543" y="2683764"/>
            <a:ext cx="2834639"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
            </a:r>
          </a:p>
        </p:txBody>
      </p:sp>
      <p:sp>
        <p:nvSpPr>
          <p:cNvPr id="18" name="Rectangle 17"/>
          <p:cNvSpPr/>
          <p:nvPr/>
        </p:nvSpPr>
        <p:spPr>
          <a:xfrm>
            <a:off x="566928" y="2962656"/>
            <a:ext cx="6675120" cy="365760"/>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3049524"/>
            <a:ext cx="2926079"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v2: continuity bonus 0.10</a:t>
            </a:r>
          </a:p>
        </p:txBody>
      </p:sp>
      <p:sp>
        <p:nvSpPr>
          <p:cNvPr id="20" name="TextBox 19"/>
          <p:cNvSpPr txBox="1"/>
          <p:nvPr/>
        </p:nvSpPr>
        <p:spPr>
          <a:xfrm>
            <a:off x="3803903" y="3049524"/>
            <a:ext cx="365759"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--&gt;</a:t>
            </a:r>
          </a:p>
        </p:txBody>
      </p:sp>
      <p:sp>
        <p:nvSpPr>
          <p:cNvPr id="21" name="TextBox 20"/>
          <p:cNvSpPr txBox="1"/>
          <p:nvPr/>
        </p:nvSpPr>
        <p:spPr>
          <a:xfrm>
            <a:off x="4352543" y="3049524"/>
            <a:ext cx="2834639" cy="365760"/>
          </a:xfrm>
          <a:prstGeom prst="rect">
            <a:avLst/>
          </a:prstGeom>
          <a:noFill/>
        </p:spPr>
        <p:txBody>
          <a:bodyPr wrap="square" anchor="t" lIns="0" rIns="0" tIns="0" bIns="0">
            <a:spAutoFit/>
          </a:bodyPr>
          <a:lstStyle/>
          <a:p>
            <a:pPr algn="l">
              <a:lnSpc>
                <a:spcPct val="115000"/>
              </a:lnSpc>
            </a:pPr>
            <a:r>
              <a:rPr sz="1250" b="1">
                <a:solidFill>
                  <a:srgbClr val="3366FF"/>
                </a:solidFill>
                <a:latin typeface="Libre Franklin"/>
              </a:rPr>
              <a:t>P  protocol continuity  0.10</a:t>
            </a:r>
          </a:p>
        </p:txBody>
      </p:sp>
      <p:sp>
        <p:nvSpPr>
          <p:cNvPr id="22" name="TextBox 21"/>
          <p:cNvSpPr txBox="1"/>
          <p:nvPr/>
        </p:nvSpPr>
        <p:spPr>
          <a:xfrm>
            <a:off x="694944" y="3415284"/>
            <a:ext cx="2926079"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v2: workload 0.20</a:t>
            </a:r>
          </a:p>
        </p:txBody>
      </p:sp>
      <p:sp>
        <p:nvSpPr>
          <p:cNvPr id="23" name="TextBox 22"/>
          <p:cNvSpPr txBox="1"/>
          <p:nvPr/>
        </p:nvSpPr>
        <p:spPr>
          <a:xfrm>
            <a:off x="3803903" y="3415284"/>
            <a:ext cx="365759"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--&gt;</a:t>
            </a:r>
          </a:p>
        </p:txBody>
      </p:sp>
      <p:sp>
        <p:nvSpPr>
          <p:cNvPr id="24" name="TextBox 23"/>
          <p:cNvSpPr txBox="1"/>
          <p:nvPr/>
        </p:nvSpPr>
        <p:spPr>
          <a:xfrm>
            <a:off x="4352543" y="3415284"/>
            <a:ext cx="2834639" cy="365760"/>
          </a:xfrm>
          <a:prstGeom prst="rect">
            <a:avLst/>
          </a:prstGeom>
          <a:noFill/>
        </p:spPr>
        <p:txBody>
          <a:bodyPr wrap="square" anchor="t" lIns="0" rIns="0" tIns="0" bIns="0">
            <a:spAutoFit/>
          </a:bodyPr>
          <a:lstStyle/>
          <a:p>
            <a:pPr algn="l">
              <a:lnSpc>
                <a:spcPct val="115000"/>
              </a:lnSpc>
            </a:pPr>
            <a:r>
              <a:rPr sz="1250" b="1">
                <a:solidFill>
                  <a:srgbClr val="3366FF"/>
                </a:solidFill>
                <a:latin typeface="Libre Franklin"/>
              </a:rPr>
              <a:t>Psi  burden relief  0.30</a:t>
            </a:r>
          </a:p>
        </p:txBody>
      </p:sp>
      <p:sp>
        <p:nvSpPr>
          <p:cNvPr id="25" name="Rectangle 24"/>
          <p:cNvSpPr/>
          <p:nvPr/>
        </p:nvSpPr>
        <p:spPr>
          <a:xfrm>
            <a:off x="566928" y="3694176"/>
            <a:ext cx="6675120" cy="365760"/>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3781044"/>
            <a:ext cx="2926079"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v2: travel 0.15</a:t>
            </a:r>
          </a:p>
        </p:txBody>
      </p:sp>
      <p:sp>
        <p:nvSpPr>
          <p:cNvPr id="27" name="TextBox 26"/>
          <p:cNvSpPr txBox="1"/>
          <p:nvPr/>
        </p:nvSpPr>
        <p:spPr>
          <a:xfrm>
            <a:off x="3803903" y="3781044"/>
            <a:ext cx="365759"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--&gt;</a:t>
            </a:r>
          </a:p>
        </p:txBody>
      </p:sp>
      <p:sp>
        <p:nvSpPr>
          <p:cNvPr id="28" name="TextBox 27"/>
          <p:cNvSpPr txBox="1"/>
          <p:nvPr/>
        </p:nvSpPr>
        <p:spPr>
          <a:xfrm>
            <a:off x="4352543" y="3781044"/>
            <a:ext cx="2834639"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
            </a:r>
          </a:p>
        </p:txBody>
      </p:sp>
      <p:sp>
        <p:nvSpPr>
          <p:cNvPr id="29" name="TextBox 28"/>
          <p:cNvSpPr txBox="1"/>
          <p:nvPr/>
        </p:nvSpPr>
        <p:spPr>
          <a:xfrm>
            <a:off x="694944" y="4146804"/>
            <a:ext cx="2926079"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(not in v2 as a term)</a:t>
            </a:r>
          </a:p>
        </p:txBody>
      </p:sp>
      <p:sp>
        <p:nvSpPr>
          <p:cNvPr id="30" name="TextBox 29"/>
          <p:cNvSpPr txBox="1"/>
          <p:nvPr/>
        </p:nvSpPr>
        <p:spPr>
          <a:xfrm>
            <a:off x="3803903" y="4146804"/>
            <a:ext cx="365759"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--&gt;</a:t>
            </a:r>
          </a:p>
        </p:txBody>
      </p:sp>
      <p:sp>
        <p:nvSpPr>
          <p:cNvPr id="31" name="TextBox 30"/>
          <p:cNvSpPr txBox="1"/>
          <p:nvPr/>
        </p:nvSpPr>
        <p:spPr>
          <a:xfrm>
            <a:off x="4352543" y="4146804"/>
            <a:ext cx="2834639" cy="365760"/>
          </a:xfrm>
          <a:prstGeom prst="rect">
            <a:avLst/>
          </a:prstGeom>
          <a:noFill/>
        </p:spPr>
        <p:txBody>
          <a:bodyPr wrap="square" anchor="t" lIns="0" rIns="0" tIns="0" bIns="0">
            <a:spAutoFit/>
          </a:bodyPr>
          <a:lstStyle/>
          <a:p>
            <a:pPr algn="l">
              <a:lnSpc>
                <a:spcPct val="115000"/>
              </a:lnSpc>
            </a:pPr>
            <a:r>
              <a:rPr sz="1250" b="1">
                <a:solidFill>
                  <a:srgbClr val="3366FF"/>
                </a:solidFill>
                <a:latin typeface="Libre Franklin"/>
              </a:rPr>
              <a:t>Omega  family preference  0.15</a:t>
            </a:r>
          </a:p>
        </p:txBody>
      </p:sp>
      <p:sp>
        <p:nvSpPr>
          <p:cNvPr id="32" name="Rounded Rectangle 31"/>
          <p:cNvSpPr/>
          <p:nvPr/>
        </p:nvSpPr>
        <p:spPr>
          <a:xfrm>
            <a:off x="7315200" y="205282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0" y="1975104"/>
            <a:ext cx="4035247"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Family history keeps the highest weight, per the notes</a:t>
            </a:r>
          </a:p>
        </p:txBody>
      </p:sp>
      <p:sp>
        <p:nvSpPr>
          <p:cNvPr id="34" name="Rounded Rectangle 33"/>
          <p:cNvSpPr/>
          <p:nvPr/>
        </p:nvSpPr>
        <p:spPr>
          <a:xfrm>
            <a:off x="7315200" y="2564892"/>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0" y="2487168"/>
            <a:ext cx="4035247"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Family preference becomes its own criterion, per the notes</a:t>
            </a:r>
          </a:p>
        </p:txBody>
      </p:sp>
      <p:sp>
        <p:nvSpPr>
          <p:cNvPr id="36" name="Rounded Rectangle 35"/>
          <p:cNvSpPr/>
          <p:nvPr/>
        </p:nvSpPr>
        <p:spPr>
          <a:xfrm>
            <a:off x="7315200" y="3076956"/>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0" y="2999232"/>
            <a:ext cx="4035247"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Four criteria need six pairwise comparisons, not ten. That is a twenty minute elicitation meeting instead of an afternoon</a:t>
            </a:r>
          </a:p>
        </p:txBody>
      </p:sp>
      <p:sp>
        <p:nvSpPr>
          <p:cNvPr id="38" name="Rounded Rectangle 37"/>
          <p:cNvSpPr/>
          <p:nvPr/>
        </p:nvSpPr>
        <p:spPr>
          <a:xfrm>
            <a:off x="7315200" y="377190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20" y="3694176"/>
            <a:ext cx="4035247"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These weights are analyst-assigned and must not survive the pilot unvalidated</a:t>
            </a:r>
          </a:p>
        </p:txBody>
      </p:sp>
      <p:pic>
        <p:nvPicPr>
          <p:cNvPr id="40" name="Picture 39" descr="composite.png"/>
          <p:cNvPicPr>
            <a:picLocks noChangeAspect="1"/>
          </p:cNvPicPr>
          <p:nvPr/>
        </p:nvPicPr>
        <p:blipFill>
          <a:blip r:embed="rId4"/>
          <a:stretch>
            <a:fillRect/>
          </a:stretch>
        </p:blipFill>
        <p:spPr>
          <a:xfrm>
            <a:off x="1040783" y="4791456"/>
            <a:ext cx="1011012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CRITERION PHI</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Continuity: saturating in visits, decaying in days</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08</a:t>
            </a:r>
          </a:p>
        </p:txBody>
      </p:sp>
      <p:pic>
        <p:nvPicPr>
          <p:cNvPr id="7" name="Picture 6" descr="phi_raw.png"/>
          <p:cNvPicPr>
            <a:picLocks noChangeAspect="1"/>
          </p:cNvPicPr>
          <p:nvPr/>
        </p:nvPicPr>
        <p:blipFill>
          <a:blip r:embed="rId4"/>
          <a:stretch>
            <a:fillRect/>
          </a:stretch>
        </p:blipFill>
        <p:spPr>
          <a:xfrm>
            <a:off x="566928" y="1865376"/>
            <a:ext cx="7223760" cy="566928"/>
          </a:xfrm>
          <a:prstGeom prst="rect">
            <a:avLst/>
          </a:prstGeom>
        </p:spPr>
      </p:pic>
      <p:pic>
        <p:nvPicPr>
          <p:cNvPr id="8" name="Picture 7" descr="phi_flip.png"/>
          <p:cNvPicPr>
            <a:picLocks noChangeAspect="1"/>
          </p:cNvPicPr>
          <p:nvPr/>
        </p:nvPicPr>
        <p:blipFill>
          <a:blip r:embed="rId5"/>
          <a:stretch>
            <a:fillRect/>
          </a:stretch>
        </p:blipFill>
        <p:spPr>
          <a:xfrm>
            <a:off x="566928" y="2734056"/>
            <a:ext cx="5462071" cy="777240"/>
          </a:xfrm>
          <a:prstGeom prst="rect">
            <a:avLst/>
          </a:prstGeom>
        </p:spPr>
      </p:pic>
      <p:sp>
        <p:nvSpPr>
          <p:cNvPr id="9" name="Rectangle 8"/>
          <p:cNvSpPr/>
          <p:nvPr/>
        </p:nvSpPr>
        <p:spPr>
          <a:xfrm>
            <a:off x="6949440" y="1865376"/>
            <a:ext cx="4675327" cy="36576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77455" y="1943100"/>
            <a:ext cx="1554480" cy="365760"/>
          </a:xfrm>
          <a:prstGeom prst="rect">
            <a:avLst/>
          </a:prstGeom>
          <a:noFill/>
        </p:spPr>
        <p:txBody>
          <a:bodyPr wrap="square" anchor="t" lIns="0" rIns="0" tIns="0" bIns="0">
            <a:spAutoFit/>
          </a:bodyPr>
          <a:lstStyle/>
          <a:p>
            <a:pPr algn="ctr">
              <a:lnSpc>
                <a:spcPct val="115000"/>
              </a:lnSpc>
            </a:pPr>
            <a:r>
              <a:rPr sz="1000" b="1" spc="80">
                <a:solidFill>
                  <a:srgbClr val="FFFFFF"/>
                </a:solidFill>
                <a:latin typeface="Libre Franklin"/>
              </a:rPr>
              <a:t>K PRIOR VISITS</a:t>
            </a:r>
          </a:p>
        </p:txBody>
      </p:sp>
      <p:sp>
        <p:nvSpPr>
          <p:cNvPr id="11" name="TextBox 10"/>
          <p:cNvSpPr txBox="1"/>
          <p:nvPr/>
        </p:nvSpPr>
        <p:spPr>
          <a:xfrm>
            <a:off x="8814816" y="1943100"/>
            <a:ext cx="1188720" cy="365760"/>
          </a:xfrm>
          <a:prstGeom prst="rect">
            <a:avLst/>
          </a:prstGeom>
          <a:noFill/>
        </p:spPr>
        <p:txBody>
          <a:bodyPr wrap="square" anchor="t" lIns="0" rIns="0" tIns="0" bIns="0">
            <a:spAutoFit/>
          </a:bodyPr>
          <a:lstStyle/>
          <a:p>
            <a:pPr algn="r">
              <a:lnSpc>
                <a:spcPct val="115000"/>
              </a:lnSpc>
            </a:pPr>
            <a:r>
              <a:rPr sz="1000" b="1" spc="80">
                <a:solidFill>
                  <a:srgbClr val="FFFFFF"/>
                </a:solidFill>
                <a:latin typeface="Libre Franklin"/>
              </a:rPr>
              <a:t>FAMILIARITY</a:t>
            </a:r>
          </a:p>
        </p:txBody>
      </p:sp>
      <p:sp>
        <p:nvSpPr>
          <p:cNvPr id="12" name="TextBox 11"/>
          <p:cNvSpPr txBox="1"/>
          <p:nvPr/>
        </p:nvSpPr>
        <p:spPr>
          <a:xfrm>
            <a:off x="10186416" y="1943100"/>
            <a:ext cx="1383487" cy="365760"/>
          </a:xfrm>
          <a:prstGeom prst="rect">
            <a:avLst/>
          </a:prstGeom>
          <a:noFill/>
        </p:spPr>
        <p:txBody>
          <a:bodyPr wrap="square" anchor="t" lIns="0" rIns="0" tIns="0" bIns="0">
            <a:spAutoFit/>
          </a:bodyPr>
          <a:lstStyle/>
          <a:p>
            <a:pPr algn="l">
              <a:lnSpc>
                <a:spcPct val="115000"/>
              </a:lnSpc>
            </a:pPr>
            <a:r>
              <a:rPr sz="1000" b="1" spc="80">
                <a:solidFill>
                  <a:srgbClr val="FFFFFF"/>
                </a:solidFill>
                <a:latin typeface="Libre Franklin"/>
              </a:rPr>
              <a:t/>
            </a:r>
          </a:p>
        </p:txBody>
      </p:sp>
      <p:sp>
        <p:nvSpPr>
          <p:cNvPr id="13" name="Rectangle 12"/>
          <p:cNvSpPr/>
          <p:nvPr/>
        </p:nvSpPr>
        <p:spPr>
          <a:xfrm>
            <a:off x="6949440" y="2231136"/>
            <a:ext cx="4675327" cy="365760"/>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77455" y="2318004"/>
            <a:ext cx="1554480"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0</a:t>
            </a:r>
          </a:p>
        </p:txBody>
      </p:sp>
      <p:sp>
        <p:nvSpPr>
          <p:cNvPr id="15" name="TextBox 14"/>
          <p:cNvSpPr txBox="1"/>
          <p:nvPr/>
        </p:nvSpPr>
        <p:spPr>
          <a:xfrm>
            <a:off x="8814816" y="2318004"/>
            <a:ext cx="1188720" cy="365760"/>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0.00</a:t>
            </a:r>
          </a:p>
        </p:txBody>
      </p:sp>
      <p:sp>
        <p:nvSpPr>
          <p:cNvPr id="16" name="TextBox 15"/>
          <p:cNvSpPr txBox="1"/>
          <p:nvPr/>
        </p:nvSpPr>
        <p:spPr>
          <a:xfrm>
            <a:off x="10186416" y="2318004"/>
            <a:ext cx="1383487"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never met</a:t>
            </a:r>
          </a:p>
        </p:txBody>
      </p:sp>
      <p:sp>
        <p:nvSpPr>
          <p:cNvPr id="17" name="TextBox 16"/>
          <p:cNvSpPr txBox="1"/>
          <p:nvPr/>
        </p:nvSpPr>
        <p:spPr>
          <a:xfrm>
            <a:off x="7077455" y="2683764"/>
            <a:ext cx="1554480"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1</a:t>
            </a:r>
          </a:p>
        </p:txBody>
      </p:sp>
      <p:sp>
        <p:nvSpPr>
          <p:cNvPr id="18" name="TextBox 17"/>
          <p:cNvSpPr txBox="1"/>
          <p:nvPr/>
        </p:nvSpPr>
        <p:spPr>
          <a:xfrm>
            <a:off x="8814816" y="2683764"/>
            <a:ext cx="1188720" cy="365760"/>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0.39</a:t>
            </a:r>
          </a:p>
        </p:txBody>
      </p:sp>
      <p:sp>
        <p:nvSpPr>
          <p:cNvPr id="19" name="TextBox 18"/>
          <p:cNvSpPr txBox="1"/>
          <p:nvPr/>
        </p:nvSpPr>
        <p:spPr>
          <a:xfrm>
            <a:off x="10186416" y="2683764"/>
            <a:ext cx="1383487"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one visit</a:t>
            </a:r>
          </a:p>
        </p:txBody>
      </p:sp>
      <p:sp>
        <p:nvSpPr>
          <p:cNvPr id="20" name="Rectangle 19"/>
          <p:cNvSpPr/>
          <p:nvPr/>
        </p:nvSpPr>
        <p:spPr>
          <a:xfrm>
            <a:off x="6949440" y="2962656"/>
            <a:ext cx="4675327" cy="365760"/>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77455" y="3049524"/>
            <a:ext cx="1554480"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3</a:t>
            </a:r>
          </a:p>
        </p:txBody>
      </p:sp>
      <p:sp>
        <p:nvSpPr>
          <p:cNvPr id="22" name="TextBox 21"/>
          <p:cNvSpPr txBox="1"/>
          <p:nvPr/>
        </p:nvSpPr>
        <p:spPr>
          <a:xfrm>
            <a:off x="8814816" y="3049524"/>
            <a:ext cx="1188720" cy="365760"/>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0.78</a:t>
            </a:r>
          </a:p>
        </p:txBody>
      </p:sp>
      <p:sp>
        <p:nvSpPr>
          <p:cNvPr id="23" name="TextBox 22"/>
          <p:cNvSpPr txBox="1"/>
          <p:nvPr/>
        </p:nvSpPr>
        <p:spPr>
          <a:xfrm>
            <a:off x="10186416" y="3049524"/>
            <a:ext cx="1383487"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familiar</a:t>
            </a:r>
          </a:p>
        </p:txBody>
      </p:sp>
      <p:sp>
        <p:nvSpPr>
          <p:cNvPr id="24" name="TextBox 23"/>
          <p:cNvSpPr txBox="1"/>
          <p:nvPr/>
        </p:nvSpPr>
        <p:spPr>
          <a:xfrm>
            <a:off x="7077455" y="3415284"/>
            <a:ext cx="1554480" cy="365760"/>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5</a:t>
            </a:r>
          </a:p>
        </p:txBody>
      </p:sp>
      <p:sp>
        <p:nvSpPr>
          <p:cNvPr id="25" name="TextBox 24"/>
          <p:cNvSpPr txBox="1"/>
          <p:nvPr/>
        </p:nvSpPr>
        <p:spPr>
          <a:xfrm>
            <a:off x="8814816" y="3415284"/>
            <a:ext cx="1188720" cy="365760"/>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0.92</a:t>
            </a:r>
          </a:p>
        </p:txBody>
      </p:sp>
      <p:sp>
        <p:nvSpPr>
          <p:cNvPr id="26" name="TextBox 25"/>
          <p:cNvSpPr txBox="1"/>
          <p:nvPr/>
        </p:nvSpPr>
        <p:spPr>
          <a:xfrm>
            <a:off x="10186416" y="3415284"/>
            <a:ext cx="1383487" cy="365760"/>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saturated</a:t>
            </a:r>
          </a:p>
        </p:txBody>
      </p:sp>
      <p:sp>
        <p:nvSpPr>
          <p:cNvPr id="27" name="TextBox 26"/>
          <p:cNvSpPr txBox="1"/>
          <p:nvPr/>
        </p:nvSpPr>
        <p:spPr>
          <a:xfrm>
            <a:off x="6949440" y="3739896"/>
            <a:ext cx="4675327" cy="548640"/>
          </a:xfrm>
          <a:prstGeom prst="rect">
            <a:avLst/>
          </a:prstGeom>
          <a:noFill/>
        </p:spPr>
        <p:txBody>
          <a:bodyPr wrap="square" anchor="t" lIns="0" rIns="0" tIns="0" bIns="0">
            <a:spAutoFit/>
          </a:bodyPr>
          <a:lstStyle/>
          <a:p>
            <a:pPr algn="l">
              <a:lnSpc>
                <a:spcPct val="115000"/>
              </a:lnSpc>
            </a:pPr>
            <a:r>
              <a:rPr sz="1250" b="0">
                <a:solidFill>
                  <a:srgbClr val="4A4A55"/>
                </a:solidFill>
                <a:latin typeface="Libre Franklin Medium"/>
              </a:rPr>
              <a:t>kappa = 2, tau = 75 days.   sigma = +1 the family wants a familiar face, −1 a fresh one.</a:t>
            </a:r>
          </a:p>
        </p:txBody>
      </p:sp>
      <p:sp>
        <p:nvSpPr>
          <p:cNvPr id="28" name="Rounded Rectangle 27"/>
          <p:cNvSpPr/>
          <p:nvPr/>
        </p:nvSpPr>
        <p:spPr>
          <a:xfrm>
            <a:off x="566928" y="4014216"/>
            <a:ext cx="11057839" cy="1371600"/>
          </a:xfrm>
          <a:prstGeom prst="roundRect">
            <a:avLst>
              <a:gd name="adj" fmla="val 12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phi_zero.png"/>
          <p:cNvPicPr>
            <a:picLocks noChangeAspect="1"/>
          </p:cNvPicPr>
          <p:nvPr/>
        </p:nvPicPr>
        <p:blipFill>
          <a:blip r:embed="rId6"/>
          <a:stretch>
            <a:fillRect/>
          </a:stretch>
        </p:blipFill>
        <p:spPr>
          <a:xfrm>
            <a:off x="932688" y="4224528"/>
            <a:ext cx="3587060" cy="384048"/>
          </a:xfrm>
          <a:prstGeom prst="rect">
            <a:avLst/>
          </a:prstGeom>
        </p:spPr>
      </p:pic>
      <p:sp>
        <p:nvSpPr>
          <p:cNvPr id="30" name="TextBox 29"/>
          <p:cNvSpPr txBox="1"/>
          <p:nvPr/>
        </p:nvSpPr>
        <p:spPr>
          <a:xfrm>
            <a:off x="932688" y="4718304"/>
            <a:ext cx="10326319" cy="640080"/>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Cold start dies by construction, not by imputation. Days-since-contact is UNDEFINED when they have never met, and it is never evaluated, because the product has already zeroed. The v2 bug was treating undefined as extreme.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CRITERION PSI</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Burden relief, and the price of merging travel in</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09</a:t>
            </a:r>
          </a:p>
        </p:txBody>
      </p:sp>
      <p:pic>
        <p:nvPicPr>
          <p:cNvPr id="7" name="Picture 6" descr="psi_burden.png"/>
          <p:cNvPicPr>
            <a:picLocks noChangeAspect="1"/>
          </p:cNvPicPr>
          <p:nvPr/>
        </p:nvPicPr>
        <p:blipFill>
          <a:blip r:embed="rId4"/>
          <a:stretch>
            <a:fillRect/>
          </a:stretch>
        </p:blipFill>
        <p:spPr>
          <a:xfrm>
            <a:off x="566928" y="1865376"/>
            <a:ext cx="4409556" cy="621792"/>
          </a:xfrm>
          <a:prstGeom prst="rect">
            <a:avLst/>
          </a:prstGeom>
        </p:spPr>
      </p:pic>
      <p:pic>
        <p:nvPicPr>
          <p:cNvPr id="8" name="Picture 7" descr="psi_relief.png"/>
          <p:cNvPicPr>
            <a:picLocks noChangeAspect="1"/>
          </p:cNvPicPr>
          <p:nvPr/>
        </p:nvPicPr>
        <p:blipFill>
          <a:blip r:embed="rId5"/>
          <a:stretch>
            <a:fillRect/>
          </a:stretch>
        </p:blipFill>
        <p:spPr>
          <a:xfrm>
            <a:off x="566928" y="2779776"/>
            <a:ext cx="3863628" cy="658368"/>
          </a:xfrm>
          <a:prstGeom prst="rect">
            <a:avLst/>
          </a:prstGeom>
        </p:spPr>
      </p:pic>
      <p:sp>
        <p:nvSpPr>
          <p:cNvPr id="9" name="Rounded Rectangle 8"/>
          <p:cNvSpPr/>
          <p:nvPr/>
        </p:nvSpPr>
        <p:spPr>
          <a:xfrm>
            <a:off x="566928" y="377190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3694176"/>
            <a:ext cx="5394960"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Prospective: this visit's own duration and trip are in the number</a:t>
            </a:r>
          </a:p>
        </p:txBody>
      </p:sp>
      <p:sp>
        <p:nvSpPr>
          <p:cNvPr id="11" name="Rounded Rectangle 10"/>
          <p:cNvSpPr/>
          <p:nvPr/>
        </p:nvSpPr>
        <p:spPr>
          <a:xfrm>
            <a:off x="566928" y="415594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078224"/>
            <a:ext cx="5394960"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Capacity-referenced, so part-time coordinators work natively</a:t>
            </a:r>
          </a:p>
        </p:txBody>
      </p:sp>
      <p:sp>
        <p:nvSpPr>
          <p:cNvPr id="13" name="Rounded Rectangle 12"/>
          <p:cNvSpPr/>
          <p:nvPr/>
        </p:nvSpPr>
        <p:spPr>
          <a:xfrm>
            <a:off x="566928" y="4539996"/>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4462272"/>
            <a:ext cx="5394960"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gamma is elicited in one question: how many extra minutes of clinic time would you accept to avoid ten minutes of driving?</a:t>
            </a:r>
          </a:p>
        </p:txBody>
      </p:sp>
      <p:sp>
        <p:nvSpPr>
          <p:cNvPr id="15" name="Rectangle 14"/>
          <p:cNvSpPr/>
          <p:nvPr/>
        </p:nvSpPr>
        <p:spPr>
          <a:xfrm>
            <a:off x="6400800" y="2002536"/>
            <a:ext cx="5223967" cy="384048"/>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2080260"/>
            <a:ext cx="1280160" cy="384048"/>
          </a:xfrm>
          <a:prstGeom prst="rect">
            <a:avLst/>
          </a:prstGeom>
          <a:noFill/>
        </p:spPr>
        <p:txBody>
          <a:bodyPr wrap="square" anchor="t" lIns="0" rIns="0" tIns="0" bIns="0">
            <a:spAutoFit/>
          </a:bodyPr>
          <a:lstStyle/>
          <a:p>
            <a:pPr algn="l">
              <a:lnSpc>
                <a:spcPct val="115000"/>
              </a:lnSpc>
            </a:pPr>
            <a:r>
              <a:rPr sz="1000" b="1" spc="80">
                <a:solidFill>
                  <a:srgbClr val="FFFFFF"/>
                </a:solidFill>
                <a:latin typeface="Libre Franklin"/>
              </a:rPr>
              <a:t>GAMMA</a:t>
            </a:r>
          </a:p>
        </p:txBody>
      </p:sp>
      <p:sp>
        <p:nvSpPr>
          <p:cNvPr id="17" name="TextBox 16"/>
          <p:cNvSpPr txBox="1"/>
          <p:nvPr/>
        </p:nvSpPr>
        <p:spPr>
          <a:xfrm>
            <a:off x="7991856" y="2080260"/>
            <a:ext cx="2194560" cy="384048"/>
          </a:xfrm>
          <a:prstGeom prst="rect">
            <a:avLst/>
          </a:prstGeom>
          <a:noFill/>
        </p:spPr>
        <p:txBody>
          <a:bodyPr wrap="square" anchor="t" lIns="0" rIns="0" tIns="0" bIns="0">
            <a:spAutoFit/>
          </a:bodyPr>
          <a:lstStyle/>
          <a:p>
            <a:pPr algn="r">
              <a:lnSpc>
                <a:spcPct val="115000"/>
              </a:lnSpc>
            </a:pPr>
            <a:r>
              <a:rPr sz="1000" b="1" spc="80">
                <a:solidFill>
                  <a:srgbClr val="FFFFFF"/>
                </a:solidFill>
                <a:latin typeface="Libre Franklin"/>
              </a:rPr>
              <a:t>EFFECTIVE TRAVEL WEIGHT</a:t>
            </a:r>
          </a:p>
        </p:txBody>
      </p:sp>
      <p:sp>
        <p:nvSpPr>
          <p:cNvPr id="18" name="TextBox 17"/>
          <p:cNvSpPr txBox="1"/>
          <p:nvPr/>
        </p:nvSpPr>
        <p:spPr>
          <a:xfrm>
            <a:off x="10369296" y="2080260"/>
            <a:ext cx="1200607" cy="384048"/>
          </a:xfrm>
          <a:prstGeom prst="rect">
            <a:avLst/>
          </a:prstGeom>
          <a:noFill/>
        </p:spPr>
        <p:txBody>
          <a:bodyPr wrap="square" anchor="t" lIns="0" rIns="0" tIns="0" bIns="0">
            <a:spAutoFit/>
          </a:bodyPr>
          <a:lstStyle/>
          <a:p>
            <a:pPr algn="r">
              <a:lnSpc>
                <a:spcPct val="115000"/>
              </a:lnSpc>
            </a:pPr>
            <a:r>
              <a:rPr sz="1000" b="1" spc="80">
                <a:solidFill>
                  <a:srgbClr val="FFFFFF"/>
                </a:solidFill>
                <a:latin typeface="Libre Franklin"/>
              </a:rPr>
              <a:t>VS V2'S 0.15</a:t>
            </a:r>
          </a:p>
        </p:txBody>
      </p:sp>
      <p:sp>
        <p:nvSpPr>
          <p:cNvPr id="19" name="Rectangle 18"/>
          <p:cNvSpPr/>
          <p:nvPr/>
        </p:nvSpPr>
        <p:spPr>
          <a:xfrm>
            <a:off x="6400800" y="2386584"/>
            <a:ext cx="5223967" cy="38404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28816" y="2473452"/>
            <a:ext cx="1280160" cy="384048"/>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1  pure time</a:t>
            </a:r>
          </a:p>
        </p:txBody>
      </p:sp>
      <p:sp>
        <p:nvSpPr>
          <p:cNvPr id="21" name="TextBox 20"/>
          <p:cNvSpPr txBox="1"/>
          <p:nvPr/>
        </p:nvSpPr>
        <p:spPr>
          <a:xfrm>
            <a:off x="7991856" y="2473452"/>
            <a:ext cx="2194560" cy="384048"/>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0.019</a:t>
            </a:r>
          </a:p>
        </p:txBody>
      </p:sp>
      <p:sp>
        <p:nvSpPr>
          <p:cNvPr id="22" name="TextBox 21"/>
          <p:cNvSpPr txBox="1"/>
          <p:nvPr/>
        </p:nvSpPr>
        <p:spPr>
          <a:xfrm>
            <a:off x="10369296" y="2473452"/>
            <a:ext cx="1200607" cy="384048"/>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 7.8</a:t>
            </a:r>
          </a:p>
        </p:txBody>
      </p:sp>
      <p:sp>
        <p:nvSpPr>
          <p:cNvPr id="23" name="TextBox 22"/>
          <p:cNvSpPr txBox="1"/>
          <p:nvPr/>
        </p:nvSpPr>
        <p:spPr>
          <a:xfrm>
            <a:off x="6528816" y="2857500"/>
            <a:ext cx="1280160" cy="384048"/>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2  default</a:t>
            </a:r>
          </a:p>
        </p:txBody>
      </p:sp>
      <p:sp>
        <p:nvSpPr>
          <p:cNvPr id="24" name="TextBox 23"/>
          <p:cNvSpPr txBox="1"/>
          <p:nvPr/>
        </p:nvSpPr>
        <p:spPr>
          <a:xfrm>
            <a:off x="7991856" y="2857500"/>
            <a:ext cx="2194560" cy="384048"/>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0.037</a:t>
            </a:r>
          </a:p>
        </p:txBody>
      </p:sp>
      <p:sp>
        <p:nvSpPr>
          <p:cNvPr id="25" name="TextBox 24"/>
          <p:cNvSpPr txBox="1"/>
          <p:nvPr/>
        </p:nvSpPr>
        <p:spPr>
          <a:xfrm>
            <a:off x="10369296" y="2857500"/>
            <a:ext cx="1200607" cy="384048"/>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 4.1</a:t>
            </a:r>
          </a:p>
        </p:txBody>
      </p:sp>
      <p:sp>
        <p:nvSpPr>
          <p:cNvPr id="26" name="Rectangle 25"/>
          <p:cNvSpPr/>
          <p:nvPr/>
        </p:nvSpPr>
        <p:spPr>
          <a:xfrm>
            <a:off x="6400800" y="3154679"/>
            <a:ext cx="5223967" cy="38404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28816" y="3241548"/>
            <a:ext cx="1280160" cy="384048"/>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3</a:t>
            </a:r>
          </a:p>
        </p:txBody>
      </p:sp>
      <p:sp>
        <p:nvSpPr>
          <p:cNvPr id="28" name="TextBox 27"/>
          <p:cNvSpPr txBox="1"/>
          <p:nvPr/>
        </p:nvSpPr>
        <p:spPr>
          <a:xfrm>
            <a:off x="7991856" y="3241548"/>
            <a:ext cx="2194560" cy="384048"/>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0.053</a:t>
            </a:r>
          </a:p>
        </p:txBody>
      </p:sp>
      <p:sp>
        <p:nvSpPr>
          <p:cNvPr id="29" name="TextBox 28"/>
          <p:cNvSpPr txBox="1"/>
          <p:nvPr/>
        </p:nvSpPr>
        <p:spPr>
          <a:xfrm>
            <a:off x="10369296" y="3241548"/>
            <a:ext cx="1200607" cy="384048"/>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 2.8</a:t>
            </a:r>
          </a:p>
        </p:txBody>
      </p:sp>
      <p:sp>
        <p:nvSpPr>
          <p:cNvPr id="30" name="TextBox 29"/>
          <p:cNvSpPr txBox="1"/>
          <p:nvPr/>
        </p:nvSpPr>
        <p:spPr>
          <a:xfrm>
            <a:off x="6528816" y="3625596"/>
            <a:ext cx="1280160" cy="384048"/>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12.9</a:t>
            </a:r>
          </a:p>
        </p:txBody>
      </p:sp>
      <p:sp>
        <p:nvSpPr>
          <p:cNvPr id="31" name="TextBox 30"/>
          <p:cNvSpPr txBox="1"/>
          <p:nvPr/>
        </p:nvSpPr>
        <p:spPr>
          <a:xfrm>
            <a:off x="7991856" y="3625596"/>
            <a:ext cx="2194560" cy="384048"/>
          </a:xfrm>
          <a:prstGeom prst="rect">
            <a:avLst/>
          </a:prstGeom>
          <a:noFill/>
        </p:spPr>
        <p:txBody>
          <a:bodyPr wrap="square" anchor="t" lIns="0" rIns="0" tIns="0" bIns="0">
            <a:spAutoFit/>
          </a:bodyPr>
          <a:lstStyle/>
          <a:p>
            <a:pPr algn="r">
              <a:lnSpc>
                <a:spcPct val="115000"/>
              </a:lnSpc>
            </a:pPr>
            <a:r>
              <a:rPr sz="1250" b="1">
                <a:solidFill>
                  <a:srgbClr val="D74E2D"/>
                </a:solidFill>
                <a:latin typeface="Libre Franklin"/>
              </a:rPr>
              <a:t>0.150</a:t>
            </a:r>
          </a:p>
        </p:txBody>
      </p:sp>
      <p:sp>
        <p:nvSpPr>
          <p:cNvPr id="32" name="TextBox 31"/>
          <p:cNvSpPr txBox="1"/>
          <p:nvPr/>
        </p:nvSpPr>
        <p:spPr>
          <a:xfrm>
            <a:off x="10369296" y="3625596"/>
            <a:ext cx="1200607" cy="384048"/>
          </a:xfrm>
          <a:prstGeom prst="rect">
            <a:avLst/>
          </a:prstGeom>
          <a:noFill/>
        </p:spPr>
        <p:txBody>
          <a:bodyPr wrap="square" anchor="t" lIns="0" rIns="0" tIns="0" bIns="0">
            <a:spAutoFit/>
          </a:bodyPr>
          <a:lstStyle/>
          <a:p>
            <a:pPr algn="r">
              <a:lnSpc>
                <a:spcPct val="115000"/>
              </a:lnSpc>
            </a:pPr>
            <a:r>
              <a:rPr sz="1250" b="0">
                <a:solidFill>
                  <a:srgbClr val="1A1A1F"/>
                </a:solidFill>
                <a:latin typeface="Libre Franklin Medium"/>
              </a:rPr>
              <a:t>÷ 1.0</a:t>
            </a:r>
          </a:p>
        </p:txBody>
      </p:sp>
      <p:sp>
        <p:nvSpPr>
          <p:cNvPr id="33" name="TextBox 32"/>
          <p:cNvSpPr txBox="1"/>
          <p:nvPr/>
        </p:nvSpPr>
        <p:spPr>
          <a:xfrm>
            <a:off x="6400800" y="4014216"/>
            <a:ext cx="5223967" cy="1005840"/>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The merge is a repricing, and the lab has to see the price. If the team still wants travel to matter more, that is about EQUITY of travel, not burden, and equity belongs in the constraints.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COLD START</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The team median is wrong for two data types in three</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10</a:t>
            </a:r>
          </a:p>
        </p:txBody>
      </p:sp>
      <p:sp>
        <p:nvSpPr>
          <p:cNvPr id="7" name="Rectangle 6"/>
          <p:cNvSpPr/>
          <p:nvPr/>
        </p:nvSpPr>
        <p:spPr>
          <a:xfrm>
            <a:off x="566928" y="1865376"/>
            <a:ext cx="11057839" cy="475488"/>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943100"/>
            <a:ext cx="2560320" cy="475488"/>
          </a:xfrm>
          <a:prstGeom prst="rect">
            <a:avLst/>
          </a:prstGeom>
          <a:noFill/>
        </p:spPr>
        <p:txBody>
          <a:bodyPr wrap="square" anchor="t" lIns="0" rIns="0" tIns="0" bIns="0">
            <a:spAutoFit/>
          </a:bodyPr>
          <a:lstStyle/>
          <a:p>
            <a:pPr algn="l">
              <a:lnSpc>
                <a:spcPct val="115000"/>
              </a:lnSpc>
            </a:pPr>
            <a:r>
              <a:rPr sz="1050" b="1" spc="80">
                <a:solidFill>
                  <a:srgbClr val="FFFFFF"/>
                </a:solidFill>
                <a:latin typeface="Libre Franklin"/>
              </a:rPr>
              <a:t>DATA TYPE</a:t>
            </a:r>
          </a:p>
        </p:txBody>
      </p:sp>
      <p:sp>
        <p:nvSpPr>
          <p:cNvPr id="9" name="TextBox 8"/>
          <p:cNvSpPr txBox="1"/>
          <p:nvPr/>
        </p:nvSpPr>
        <p:spPr>
          <a:xfrm>
            <a:off x="3438144" y="1943100"/>
            <a:ext cx="2926079" cy="475488"/>
          </a:xfrm>
          <a:prstGeom prst="rect">
            <a:avLst/>
          </a:prstGeom>
          <a:noFill/>
        </p:spPr>
        <p:txBody>
          <a:bodyPr wrap="square" anchor="t" lIns="0" rIns="0" tIns="0" bIns="0">
            <a:spAutoFit/>
          </a:bodyPr>
          <a:lstStyle/>
          <a:p>
            <a:pPr algn="l">
              <a:lnSpc>
                <a:spcPct val="115000"/>
              </a:lnSpc>
            </a:pPr>
            <a:r>
              <a:rPr sz="1050" b="1" spc="80">
                <a:solidFill>
                  <a:srgbClr val="FFFFFF"/>
                </a:solidFill>
                <a:latin typeface="Libre Franklin"/>
              </a:rPr>
              <a:t>EXAMPLE</a:t>
            </a:r>
          </a:p>
        </p:txBody>
      </p:sp>
      <p:sp>
        <p:nvSpPr>
          <p:cNvPr id="10" name="TextBox 9"/>
          <p:cNvSpPr txBox="1"/>
          <p:nvPr/>
        </p:nvSpPr>
        <p:spPr>
          <a:xfrm>
            <a:off x="6547103" y="1943100"/>
            <a:ext cx="5022799" cy="475488"/>
          </a:xfrm>
          <a:prstGeom prst="rect">
            <a:avLst/>
          </a:prstGeom>
          <a:noFill/>
        </p:spPr>
        <p:txBody>
          <a:bodyPr wrap="square" anchor="t" lIns="0" rIns="0" tIns="0" bIns="0">
            <a:spAutoFit/>
          </a:bodyPr>
          <a:lstStyle/>
          <a:p>
            <a:pPr algn="l">
              <a:lnSpc>
                <a:spcPct val="115000"/>
              </a:lnSpc>
            </a:pPr>
            <a:r>
              <a:rPr sz="1050" b="1" spc="80">
                <a:solidFill>
                  <a:srgbClr val="FFFFFF"/>
                </a:solidFill>
                <a:latin typeface="Libre Franklin"/>
              </a:rPr>
              <a:t>CORRECT HANDLING</a:t>
            </a:r>
          </a:p>
        </p:txBody>
      </p:sp>
      <p:sp>
        <p:nvSpPr>
          <p:cNvPr id="11" name="Rectangle 10"/>
          <p:cNvSpPr/>
          <p:nvPr/>
        </p:nvSpPr>
        <p:spPr>
          <a:xfrm>
            <a:off x="566928" y="2340864"/>
            <a:ext cx="11057839" cy="47548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2427732"/>
            <a:ext cx="2560320" cy="47548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Observed and true</a:t>
            </a:r>
          </a:p>
        </p:txBody>
      </p:sp>
      <p:sp>
        <p:nvSpPr>
          <p:cNvPr id="13" name="TextBox 12"/>
          <p:cNvSpPr txBox="1"/>
          <p:nvPr/>
        </p:nvSpPr>
        <p:spPr>
          <a:xfrm>
            <a:off x="3438144" y="2427732"/>
            <a:ext cx="2926079" cy="47548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scheduled hours = 0</a:t>
            </a:r>
          </a:p>
        </p:txBody>
      </p:sp>
      <p:sp>
        <p:nvSpPr>
          <p:cNvPr id="14" name="TextBox 13"/>
          <p:cNvSpPr txBox="1"/>
          <p:nvPr/>
        </p:nvSpPr>
        <p:spPr>
          <a:xfrm>
            <a:off x="6547103" y="2427732"/>
            <a:ext cx="5022799" cy="47548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No shrinkage. An empty calendar really is empty</a:t>
            </a:r>
          </a:p>
        </p:txBody>
      </p:sp>
      <p:sp>
        <p:nvSpPr>
          <p:cNvPr id="15" name="TextBox 14"/>
          <p:cNvSpPr txBox="1"/>
          <p:nvPr/>
        </p:nvSpPr>
        <p:spPr>
          <a:xfrm>
            <a:off x="694944" y="2903220"/>
            <a:ext cx="2560320" cy="47548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Undefined by construction</a:t>
            </a:r>
          </a:p>
        </p:txBody>
      </p:sp>
      <p:sp>
        <p:nvSpPr>
          <p:cNvPr id="16" name="TextBox 15"/>
          <p:cNvSpPr txBox="1"/>
          <p:nvPr/>
        </p:nvSpPr>
        <p:spPr>
          <a:xfrm>
            <a:off x="3438144" y="2903220"/>
            <a:ext cx="2926079" cy="47548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days since contact, k = 0</a:t>
            </a:r>
          </a:p>
        </p:txBody>
      </p:sp>
      <p:sp>
        <p:nvSpPr>
          <p:cNvPr id="17" name="TextBox 16"/>
          <p:cNvSpPr txBox="1"/>
          <p:nvPr/>
        </p:nvSpPr>
        <p:spPr>
          <a:xfrm>
            <a:off x="6547103" y="2903220"/>
            <a:ext cx="5022799" cy="47548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Define, do not impute. R = 0 via the product</a:t>
            </a:r>
          </a:p>
        </p:txBody>
      </p:sp>
      <p:sp>
        <p:nvSpPr>
          <p:cNvPr id="18" name="Rectangle 17"/>
          <p:cNvSpPr/>
          <p:nvPr/>
        </p:nvSpPr>
        <p:spPr>
          <a:xfrm>
            <a:off x="566928" y="3291840"/>
            <a:ext cx="11057839" cy="475488"/>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3378708"/>
            <a:ext cx="2560320" cy="47548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Estimated with noise</a:t>
            </a:r>
          </a:p>
        </p:txBody>
      </p:sp>
      <p:sp>
        <p:nvSpPr>
          <p:cNvPr id="20" name="TextBox 19"/>
          <p:cNvSpPr txBox="1"/>
          <p:nvPr/>
        </p:nvSpPr>
        <p:spPr>
          <a:xfrm>
            <a:off x="3438144" y="3378708"/>
            <a:ext cx="2926079" cy="47548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visit-duration multiplier</a:t>
            </a:r>
          </a:p>
        </p:txBody>
      </p:sp>
      <p:sp>
        <p:nvSpPr>
          <p:cNvPr id="21" name="TextBox 20"/>
          <p:cNvSpPr txBox="1"/>
          <p:nvPr/>
        </p:nvSpPr>
        <p:spPr>
          <a:xfrm>
            <a:off x="6547103" y="3378708"/>
            <a:ext cx="5022799" cy="475488"/>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Shrinkage belongs here, and only here</a:t>
            </a:r>
          </a:p>
        </p:txBody>
      </p:sp>
      <p:pic>
        <p:nvPicPr>
          <p:cNvPr id="22" name="Picture 21" descr="ramp.png"/>
          <p:cNvPicPr>
            <a:picLocks noChangeAspect="1"/>
          </p:cNvPicPr>
          <p:nvPr/>
        </p:nvPicPr>
        <p:blipFill>
          <a:blip r:embed="rId4"/>
          <a:stretch>
            <a:fillRect/>
          </a:stretch>
        </p:blipFill>
        <p:spPr>
          <a:xfrm>
            <a:off x="566928" y="3785616"/>
            <a:ext cx="5601971" cy="658368"/>
          </a:xfrm>
          <a:prstGeom prst="rect">
            <a:avLst/>
          </a:prstGeom>
        </p:spPr>
      </p:pic>
      <p:pic>
        <p:nvPicPr>
          <p:cNvPr id="23" name="Picture 22" descr="shrinkage.png"/>
          <p:cNvPicPr>
            <a:picLocks noChangeAspect="1"/>
          </p:cNvPicPr>
          <p:nvPr/>
        </p:nvPicPr>
        <p:blipFill>
          <a:blip r:embed="rId5"/>
          <a:stretch>
            <a:fillRect/>
          </a:stretch>
        </p:blipFill>
        <p:spPr>
          <a:xfrm>
            <a:off x="566928" y="4608576"/>
            <a:ext cx="5524615" cy="566928"/>
          </a:xfrm>
          <a:prstGeom prst="rect">
            <a:avLst/>
          </a:prstGeom>
        </p:spPr>
      </p:pic>
      <p:sp>
        <p:nvSpPr>
          <p:cNvPr id="24" name="Rounded Rectangle 23"/>
          <p:cNvSpPr/>
          <p:nvPr/>
        </p:nvSpPr>
        <p:spPr>
          <a:xfrm>
            <a:off x="6766560" y="386334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3785616"/>
            <a:ext cx="4583887" cy="621792"/>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The median cliff at N_min re-ranks discontinuously on the N_min-th visit</a:t>
            </a:r>
          </a:p>
        </p:txBody>
      </p:sp>
      <p:sp>
        <p:nvSpPr>
          <p:cNvPr id="26" name="Rounded Rectangle 25"/>
          <p:cNvSpPr/>
          <p:nvPr/>
        </p:nvSpPr>
        <p:spPr>
          <a:xfrm>
            <a:off x="6766560" y="441198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4334256"/>
            <a:ext cx="4583887" cy="310896"/>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It is also gameable: log a trivial visit to cross the threshold</a:t>
            </a:r>
          </a:p>
        </p:txBody>
      </p:sp>
      <p:sp>
        <p:nvSpPr>
          <p:cNvPr id="28" name="Rounded Rectangle 27"/>
          <p:cNvSpPr/>
          <p:nvPr/>
        </p:nvSpPr>
        <p:spPr>
          <a:xfrm>
            <a:off x="6766560" y="477774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0" y="4700016"/>
            <a:ext cx="4583887" cy="621792"/>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Method of moments and the precision criterion both give N_min ≈ 4m</a:t>
            </a:r>
          </a:p>
        </p:txBody>
      </p:sp>
      <p:sp>
        <p:nvSpPr>
          <p:cNvPr id="30" name="Rounded Rectangle 29"/>
          <p:cNvSpPr/>
          <p:nvPr/>
        </p:nvSpPr>
        <p:spPr>
          <a:xfrm>
            <a:off x="6766560" y="532638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0" y="5248656"/>
            <a:ext cx="4583887" cy="932688"/>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With 4 to 8 coordinators, do NOT fit m from pilot data: it is badly estimated and can go negative. Use m = 5, revisit at ~200 visits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CORRECTNESS ANCHOR</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Same three coordinators. v2 said C, A, B</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11</a:t>
            </a:r>
          </a:p>
        </p:txBody>
      </p:sp>
      <p:sp>
        <p:nvSpPr>
          <p:cNvPr id="7" name="Rectangle 6"/>
          <p:cNvSpPr/>
          <p:nvPr/>
        </p:nvSpPr>
        <p:spPr>
          <a:xfrm>
            <a:off x="566928" y="1865376"/>
            <a:ext cx="11057839" cy="420624"/>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943100"/>
            <a:ext cx="457199" cy="420624"/>
          </a:xfrm>
          <a:prstGeom prst="rect">
            <a:avLst/>
          </a:prstGeom>
          <a:noFill/>
        </p:spPr>
        <p:txBody>
          <a:bodyPr wrap="square" anchor="t" lIns="0" rIns="0" tIns="0" bIns="0">
            <a:spAutoFit/>
          </a:bodyPr>
          <a:lstStyle/>
          <a:p>
            <a:pPr algn="l">
              <a:lnSpc>
                <a:spcPct val="115000"/>
              </a:lnSpc>
            </a:pPr>
            <a:r>
              <a:rPr sz="1050" b="1" spc="80">
                <a:solidFill>
                  <a:srgbClr val="FFFFFF"/>
                </a:solidFill>
                <a:latin typeface="Libre Franklin"/>
              </a:rPr>
              <a:t/>
            </a:r>
          </a:p>
        </p:txBody>
      </p:sp>
      <p:sp>
        <p:nvSpPr>
          <p:cNvPr id="9" name="TextBox 8"/>
          <p:cNvSpPr txBox="1"/>
          <p:nvPr/>
        </p:nvSpPr>
        <p:spPr>
          <a:xfrm>
            <a:off x="1335024" y="1943100"/>
            <a:ext cx="548640" cy="420624"/>
          </a:xfrm>
          <a:prstGeom prst="rect">
            <a:avLst/>
          </a:prstGeom>
          <a:noFill/>
        </p:spPr>
        <p:txBody>
          <a:bodyPr wrap="square" anchor="t" lIns="0" rIns="0" tIns="0" bIns="0">
            <a:spAutoFit/>
          </a:bodyPr>
          <a:lstStyle/>
          <a:p>
            <a:pPr algn="r">
              <a:lnSpc>
                <a:spcPct val="115000"/>
              </a:lnSpc>
            </a:pPr>
            <a:r>
              <a:rPr sz="1050" b="1" spc="80">
                <a:solidFill>
                  <a:srgbClr val="FFFFFF"/>
                </a:solidFill>
                <a:latin typeface="Libre Franklin"/>
              </a:rPr>
              <a:t>K</a:t>
            </a:r>
          </a:p>
        </p:txBody>
      </p:sp>
      <p:sp>
        <p:nvSpPr>
          <p:cNvPr id="10" name="TextBox 9"/>
          <p:cNvSpPr txBox="1"/>
          <p:nvPr/>
        </p:nvSpPr>
        <p:spPr>
          <a:xfrm>
            <a:off x="2066544" y="1943100"/>
            <a:ext cx="822960" cy="420624"/>
          </a:xfrm>
          <a:prstGeom prst="rect">
            <a:avLst/>
          </a:prstGeom>
          <a:noFill/>
        </p:spPr>
        <p:txBody>
          <a:bodyPr wrap="square" anchor="t" lIns="0" rIns="0" tIns="0" bIns="0">
            <a:spAutoFit/>
          </a:bodyPr>
          <a:lstStyle/>
          <a:p>
            <a:pPr algn="r">
              <a:lnSpc>
                <a:spcPct val="115000"/>
              </a:lnSpc>
            </a:pPr>
            <a:r>
              <a:rPr sz="1050" b="1" spc="80">
                <a:solidFill>
                  <a:srgbClr val="FFFFFF"/>
                </a:solidFill>
                <a:latin typeface="Libre Franklin"/>
              </a:rPr>
              <a:t>SINCE</a:t>
            </a:r>
          </a:p>
        </p:txBody>
      </p:sp>
      <p:sp>
        <p:nvSpPr>
          <p:cNvPr id="11" name="TextBox 10"/>
          <p:cNvSpPr txBox="1"/>
          <p:nvPr/>
        </p:nvSpPr>
        <p:spPr>
          <a:xfrm>
            <a:off x="3072384" y="1943100"/>
            <a:ext cx="914400" cy="420624"/>
          </a:xfrm>
          <a:prstGeom prst="rect">
            <a:avLst/>
          </a:prstGeom>
          <a:noFill/>
        </p:spPr>
        <p:txBody>
          <a:bodyPr wrap="square" anchor="t" lIns="0" rIns="0" tIns="0" bIns="0">
            <a:spAutoFit/>
          </a:bodyPr>
          <a:lstStyle/>
          <a:p>
            <a:pPr algn="r">
              <a:lnSpc>
                <a:spcPct val="115000"/>
              </a:lnSpc>
            </a:pPr>
            <a:r>
              <a:rPr sz="1050" b="1" spc="80">
                <a:solidFill>
                  <a:srgbClr val="FFFFFF"/>
                </a:solidFill>
                <a:latin typeface="Libre Franklin"/>
              </a:rPr>
              <a:t>BOOKED</a:t>
            </a:r>
          </a:p>
        </p:txBody>
      </p:sp>
      <p:sp>
        <p:nvSpPr>
          <p:cNvPr id="12" name="TextBox 11"/>
          <p:cNvSpPr txBox="1"/>
          <p:nvPr/>
        </p:nvSpPr>
        <p:spPr>
          <a:xfrm>
            <a:off x="4169663" y="1943100"/>
            <a:ext cx="1005840" cy="420624"/>
          </a:xfrm>
          <a:prstGeom prst="rect">
            <a:avLst/>
          </a:prstGeom>
          <a:noFill/>
        </p:spPr>
        <p:txBody>
          <a:bodyPr wrap="square" anchor="t" lIns="0" rIns="0" tIns="0" bIns="0">
            <a:spAutoFit/>
          </a:bodyPr>
          <a:lstStyle/>
          <a:p>
            <a:pPr algn="r">
              <a:lnSpc>
                <a:spcPct val="115000"/>
              </a:lnSpc>
            </a:pPr>
            <a:r>
              <a:rPr sz="1050" b="1" spc="80">
                <a:solidFill>
                  <a:srgbClr val="FFFFFF"/>
                </a:solidFill>
                <a:latin typeface="Libre Franklin"/>
              </a:rPr>
              <a:t>TRAVEL</a:t>
            </a:r>
          </a:p>
        </p:txBody>
      </p:sp>
      <p:sp>
        <p:nvSpPr>
          <p:cNvPr id="13" name="TextBox 12"/>
          <p:cNvSpPr txBox="1"/>
          <p:nvPr/>
        </p:nvSpPr>
        <p:spPr>
          <a:xfrm>
            <a:off x="5358383" y="1943100"/>
            <a:ext cx="1005840" cy="420624"/>
          </a:xfrm>
          <a:prstGeom prst="rect">
            <a:avLst/>
          </a:prstGeom>
          <a:noFill/>
        </p:spPr>
        <p:txBody>
          <a:bodyPr wrap="square" anchor="t" lIns="0" rIns="0" tIns="0" bIns="0">
            <a:spAutoFit/>
          </a:bodyPr>
          <a:lstStyle/>
          <a:p>
            <a:pPr algn="r">
              <a:lnSpc>
                <a:spcPct val="115000"/>
              </a:lnSpc>
            </a:pPr>
            <a:r>
              <a:rPr sz="1050" b="1" spc="80">
                <a:solidFill>
                  <a:srgbClr val="FFFFFF"/>
                </a:solidFill>
                <a:latin typeface="Libre Franklin"/>
              </a:rPr>
              <a:t>PREV CP</a:t>
            </a:r>
          </a:p>
        </p:txBody>
      </p:sp>
      <p:sp>
        <p:nvSpPr>
          <p:cNvPr id="14" name="TextBox 13"/>
          <p:cNvSpPr txBox="1"/>
          <p:nvPr/>
        </p:nvSpPr>
        <p:spPr>
          <a:xfrm>
            <a:off x="6547103" y="1943100"/>
            <a:ext cx="1645920" cy="420624"/>
          </a:xfrm>
          <a:prstGeom prst="rect">
            <a:avLst/>
          </a:prstGeom>
          <a:noFill/>
        </p:spPr>
        <p:txBody>
          <a:bodyPr wrap="square" anchor="t" lIns="0" rIns="0" tIns="0" bIns="0">
            <a:spAutoFit/>
          </a:bodyPr>
          <a:lstStyle/>
          <a:p>
            <a:pPr algn="r">
              <a:lnSpc>
                <a:spcPct val="115000"/>
              </a:lnSpc>
            </a:pPr>
            <a:r>
              <a:rPr sz="1050" b="1" spc="80">
                <a:solidFill>
                  <a:srgbClr val="FFFFFF"/>
                </a:solidFill>
                <a:latin typeface="Libre Franklin"/>
              </a:rPr>
              <a:t>V3 SCORE</a:t>
            </a:r>
          </a:p>
        </p:txBody>
      </p:sp>
      <p:sp>
        <p:nvSpPr>
          <p:cNvPr id="15" name="TextBox 14"/>
          <p:cNvSpPr txBox="1"/>
          <p:nvPr/>
        </p:nvSpPr>
        <p:spPr>
          <a:xfrm>
            <a:off x="8375904" y="1943100"/>
            <a:ext cx="3193999" cy="420624"/>
          </a:xfrm>
          <a:prstGeom prst="rect">
            <a:avLst/>
          </a:prstGeom>
          <a:noFill/>
        </p:spPr>
        <p:txBody>
          <a:bodyPr wrap="square" anchor="t" lIns="0" rIns="0" tIns="0" bIns="0">
            <a:spAutoFit/>
          </a:bodyPr>
          <a:lstStyle/>
          <a:p>
            <a:pPr algn="r">
              <a:lnSpc>
                <a:spcPct val="115000"/>
              </a:lnSpc>
            </a:pPr>
            <a:r>
              <a:rPr sz="1050" b="1" spc="80">
                <a:solidFill>
                  <a:srgbClr val="FFFFFF"/>
                </a:solidFill>
                <a:latin typeface="Libre Franklin"/>
              </a:rPr>
              <a:t>V3 RANK</a:t>
            </a:r>
          </a:p>
        </p:txBody>
      </p:sp>
      <p:sp>
        <p:nvSpPr>
          <p:cNvPr id="16" name="Rectangle 15"/>
          <p:cNvSpPr/>
          <p:nvPr/>
        </p:nvSpPr>
        <p:spPr>
          <a:xfrm>
            <a:off x="566928" y="2286000"/>
            <a:ext cx="11057839" cy="42062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372868"/>
            <a:ext cx="457199" cy="42062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A</a:t>
            </a:r>
          </a:p>
        </p:txBody>
      </p:sp>
      <p:sp>
        <p:nvSpPr>
          <p:cNvPr id="18" name="TextBox 17"/>
          <p:cNvSpPr txBox="1"/>
          <p:nvPr/>
        </p:nvSpPr>
        <p:spPr>
          <a:xfrm>
            <a:off x="1335024" y="2372868"/>
            <a:ext cx="54864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3</a:t>
            </a:r>
          </a:p>
        </p:txBody>
      </p:sp>
      <p:sp>
        <p:nvSpPr>
          <p:cNvPr id="19" name="TextBox 18"/>
          <p:cNvSpPr txBox="1"/>
          <p:nvPr/>
        </p:nvSpPr>
        <p:spPr>
          <a:xfrm>
            <a:off x="2066544" y="2372868"/>
            <a:ext cx="82296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5 d</a:t>
            </a:r>
          </a:p>
        </p:txBody>
      </p:sp>
      <p:sp>
        <p:nvSpPr>
          <p:cNvPr id="20" name="TextBox 19"/>
          <p:cNvSpPr txBox="1"/>
          <p:nvPr/>
        </p:nvSpPr>
        <p:spPr>
          <a:xfrm>
            <a:off x="3072384" y="2372868"/>
            <a:ext cx="91440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18 h</a:t>
            </a:r>
          </a:p>
        </p:txBody>
      </p:sp>
      <p:sp>
        <p:nvSpPr>
          <p:cNvPr id="21" name="TextBox 20"/>
          <p:cNvSpPr txBox="1"/>
          <p:nvPr/>
        </p:nvSpPr>
        <p:spPr>
          <a:xfrm>
            <a:off x="4169663" y="2372868"/>
            <a:ext cx="100584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30 min</a:t>
            </a:r>
          </a:p>
        </p:txBody>
      </p:sp>
      <p:sp>
        <p:nvSpPr>
          <p:cNvPr id="22" name="TextBox 21"/>
          <p:cNvSpPr txBox="1"/>
          <p:nvPr/>
        </p:nvSpPr>
        <p:spPr>
          <a:xfrm>
            <a:off x="5358383" y="2372868"/>
            <a:ext cx="100584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yes</a:t>
            </a:r>
          </a:p>
        </p:txBody>
      </p:sp>
      <p:sp>
        <p:nvSpPr>
          <p:cNvPr id="23" name="TextBox 22"/>
          <p:cNvSpPr txBox="1"/>
          <p:nvPr/>
        </p:nvSpPr>
        <p:spPr>
          <a:xfrm>
            <a:off x="6547103" y="2372868"/>
            <a:ext cx="1645920" cy="420624"/>
          </a:xfrm>
          <a:prstGeom prst="rect">
            <a:avLst/>
          </a:prstGeom>
          <a:noFill/>
        </p:spPr>
        <p:txBody>
          <a:bodyPr wrap="square" anchor="t" lIns="0" rIns="0" tIns="0" bIns="0">
            <a:spAutoFit/>
          </a:bodyPr>
          <a:lstStyle/>
          <a:p>
            <a:pPr algn="r">
              <a:lnSpc>
                <a:spcPct val="115000"/>
              </a:lnSpc>
            </a:pPr>
            <a:r>
              <a:rPr sz="1300" b="1">
                <a:solidFill>
                  <a:srgbClr val="3366FF"/>
                </a:solidFill>
                <a:latin typeface="Libre Franklin"/>
              </a:rPr>
              <a:t>0.502</a:t>
            </a:r>
          </a:p>
        </p:txBody>
      </p:sp>
      <p:sp>
        <p:nvSpPr>
          <p:cNvPr id="24" name="TextBox 23"/>
          <p:cNvSpPr txBox="1"/>
          <p:nvPr/>
        </p:nvSpPr>
        <p:spPr>
          <a:xfrm>
            <a:off x="8375904" y="2372868"/>
            <a:ext cx="3193999"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1st</a:t>
            </a:r>
          </a:p>
        </p:txBody>
      </p:sp>
      <p:sp>
        <p:nvSpPr>
          <p:cNvPr id="25" name="TextBox 24"/>
          <p:cNvSpPr txBox="1"/>
          <p:nvPr/>
        </p:nvSpPr>
        <p:spPr>
          <a:xfrm>
            <a:off x="694944" y="2793492"/>
            <a:ext cx="457199" cy="42062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B</a:t>
            </a:r>
          </a:p>
        </p:txBody>
      </p:sp>
      <p:sp>
        <p:nvSpPr>
          <p:cNvPr id="26" name="TextBox 25"/>
          <p:cNvSpPr txBox="1"/>
          <p:nvPr/>
        </p:nvSpPr>
        <p:spPr>
          <a:xfrm>
            <a:off x="1335024" y="2793492"/>
            <a:ext cx="54864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0</a:t>
            </a:r>
          </a:p>
        </p:txBody>
      </p:sp>
      <p:sp>
        <p:nvSpPr>
          <p:cNvPr id="27" name="TextBox 26"/>
          <p:cNvSpPr txBox="1"/>
          <p:nvPr/>
        </p:nvSpPr>
        <p:spPr>
          <a:xfrm>
            <a:off x="2066544" y="2793492"/>
            <a:ext cx="82296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a:t>
            </a:r>
          </a:p>
        </p:txBody>
      </p:sp>
      <p:sp>
        <p:nvSpPr>
          <p:cNvPr id="28" name="TextBox 27"/>
          <p:cNvSpPr txBox="1"/>
          <p:nvPr/>
        </p:nvSpPr>
        <p:spPr>
          <a:xfrm>
            <a:off x="3072384" y="2793492"/>
            <a:ext cx="91440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9 h</a:t>
            </a:r>
          </a:p>
        </p:txBody>
      </p:sp>
      <p:sp>
        <p:nvSpPr>
          <p:cNvPr id="29" name="TextBox 28"/>
          <p:cNvSpPr txBox="1"/>
          <p:nvPr/>
        </p:nvSpPr>
        <p:spPr>
          <a:xfrm>
            <a:off x="4169663" y="2793492"/>
            <a:ext cx="100584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75 min</a:t>
            </a:r>
          </a:p>
        </p:txBody>
      </p:sp>
      <p:sp>
        <p:nvSpPr>
          <p:cNvPr id="30" name="TextBox 29"/>
          <p:cNvSpPr txBox="1"/>
          <p:nvPr/>
        </p:nvSpPr>
        <p:spPr>
          <a:xfrm>
            <a:off x="5358383" y="2793492"/>
            <a:ext cx="100584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no</a:t>
            </a:r>
          </a:p>
        </p:txBody>
      </p:sp>
      <p:sp>
        <p:nvSpPr>
          <p:cNvPr id="31" name="TextBox 30"/>
          <p:cNvSpPr txBox="1"/>
          <p:nvPr/>
        </p:nvSpPr>
        <p:spPr>
          <a:xfrm>
            <a:off x="6547103" y="2793492"/>
            <a:ext cx="164592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0.173</a:t>
            </a:r>
          </a:p>
        </p:txBody>
      </p:sp>
      <p:sp>
        <p:nvSpPr>
          <p:cNvPr id="32" name="TextBox 31"/>
          <p:cNvSpPr txBox="1"/>
          <p:nvPr/>
        </p:nvSpPr>
        <p:spPr>
          <a:xfrm>
            <a:off x="8375904" y="2793492"/>
            <a:ext cx="3193999"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3rd</a:t>
            </a:r>
          </a:p>
        </p:txBody>
      </p:sp>
      <p:sp>
        <p:nvSpPr>
          <p:cNvPr id="33" name="Rectangle 32"/>
          <p:cNvSpPr/>
          <p:nvPr/>
        </p:nvSpPr>
        <p:spPr>
          <a:xfrm>
            <a:off x="566928" y="3127248"/>
            <a:ext cx="11057839" cy="42062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 y="3214116"/>
            <a:ext cx="457199" cy="420624"/>
          </a:xfrm>
          <a:prstGeom prst="rect">
            <a:avLst/>
          </a:prstGeom>
          <a:noFill/>
        </p:spPr>
        <p:txBody>
          <a:bodyPr wrap="square" anchor="t" lIns="0" rIns="0" tIns="0" bIns="0">
            <a:spAutoFit/>
          </a:bodyPr>
          <a:lstStyle/>
          <a:p>
            <a:pPr algn="l">
              <a:lnSpc>
                <a:spcPct val="115000"/>
              </a:lnSpc>
            </a:pPr>
            <a:r>
              <a:rPr sz="1300" b="0">
                <a:solidFill>
                  <a:srgbClr val="1A1A1F"/>
                </a:solidFill>
                <a:latin typeface="Libre Franklin Medium"/>
              </a:rPr>
              <a:t>C</a:t>
            </a:r>
          </a:p>
        </p:txBody>
      </p:sp>
      <p:sp>
        <p:nvSpPr>
          <p:cNvPr id="35" name="TextBox 34"/>
          <p:cNvSpPr txBox="1"/>
          <p:nvPr/>
        </p:nvSpPr>
        <p:spPr>
          <a:xfrm>
            <a:off x="1335024" y="3214116"/>
            <a:ext cx="54864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1</a:t>
            </a:r>
          </a:p>
        </p:txBody>
      </p:sp>
      <p:sp>
        <p:nvSpPr>
          <p:cNvPr id="36" name="TextBox 35"/>
          <p:cNvSpPr txBox="1"/>
          <p:nvPr/>
        </p:nvSpPr>
        <p:spPr>
          <a:xfrm>
            <a:off x="2066544" y="3214116"/>
            <a:ext cx="82296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40 d</a:t>
            </a:r>
          </a:p>
        </p:txBody>
      </p:sp>
      <p:sp>
        <p:nvSpPr>
          <p:cNvPr id="37" name="TextBox 36"/>
          <p:cNvSpPr txBox="1"/>
          <p:nvPr/>
        </p:nvSpPr>
        <p:spPr>
          <a:xfrm>
            <a:off x="3072384" y="3214116"/>
            <a:ext cx="91440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12 h</a:t>
            </a:r>
          </a:p>
        </p:txBody>
      </p:sp>
      <p:sp>
        <p:nvSpPr>
          <p:cNvPr id="38" name="TextBox 37"/>
          <p:cNvSpPr txBox="1"/>
          <p:nvPr/>
        </p:nvSpPr>
        <p:spPr>
          <a:xfrm>
            <a:off x="4169663" y="3214116"/>
            <a:ext cx="100584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45 min</a:t>
            </a:r>
          </a:p>
        </p:txBody>
      </p:sp>
      <p:sp>
        <p:nvSpPr>
          <p:cNvPr id="39" name="TextBox 38"/>
          <p:cNvSpPr txBox="1"/>
          <p:nvPr/>
        </p:nvSpPr>
        <p:spPr>
          <a:xfrm>
            <a:off x="5358383" y="3214116"/>
            <a:ext cx="100584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no</a:t>
            </a:r>
          </a:p>
        </p:txBody>
      </p:sp>
      <p:sp>
        <p:nvSpPr>
          <p:cNvPr id="40" name="TextBox 39"/>
          <p:cNvSpPr txBox="1"/>
          <p:nvPr/>
        </p:nvSpPr>
        <p:spPr>
          <a:xfrm>
            <a:off x="6547103" y="3214116"/>
            <a:ext cx="1645920"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0.246</a:t>
            </a:r>
          </a:p>
        </p:txBody>
      </p:sp>
      <p:sp>
        <p:nvSpPr>
          <p:cNvPr id="41" name="TextBox 40"/>
          <p:cNvSpPr txBox="1"/>
          <p:nvPr/>
        </p:nvSpPr>
        <p:spPr>
          <a:xfrm>
            <a:off x="8375904" y="3214116"/>
            <a:ext cx="3193999" cy="420624"/>
          </a:xfrm>
          <a:prstGeom prst="rect">
            <a:avLst/>
          </a:prstGeom>
          <a:noFill/>
        </p:spPr>
        <p:txBody>
          <a:bodyPr wrap="square" anchor="t" lIns="0" rIns="0" tIns="0" bIns="0">
            <a:spAutoFit/>
          </a:bodyPr>
          <a:lstStyle/>
          <a:p>
            <a:pPr algn="r">
              <a:lnSpc>
                <a:spcPct val="115000"/>
              </a:lnSpc>
            </a:pPr>
            <a:r>
              <a:rPr sz="1300" b="0">
                <a:solidFill>
                  <a:srgbClr val="1A1A1F"/>
                </a:solidFill>
                <a:latin typeface="Libre Franklin Medium"/>
              </a:rPr>
              <a:t>2nd</a:t>
            </a:r>
          </a:p>
        </p:txBody>
      </p:sp>
      <p:sp>
        <p:nvSpPr>
          <p:cNvPr id="42" name="Rounded Rectangle 41"/>
          <p:cNvSpPr/>
          <p:nvPr/>
        </p:nvSpPr>
        <p:spPr>
          <a:xfrm>
            <a:off x="566928" y="4014216"/>
            <a:ext cx="3108960" cy="1417320"/>
          </a:xfrm>
          <a:prstGeom prst="roundRect">
            <a:avLst>
              <a:gd name="adj" fmla="val 11612"/>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4197096"/>
            <a:ext cx="2596896" cy="685800"/>
          </a:xfrm>
          <a:prstGeom prst="rect">
            <a:avLst/>
          </a:prstGeom>
          <a:noFill/>
        </p:spPr>
        <p:txBody>
          <a:bodyPr wrap="square" anchor="t" lIns="0" rIns="0" tIns="0" bIns="0">
            <a:spAutoFit/>
          </a:bodyPr>
          <a:lstStyle/>
          <a:p>
            <a:pPr algn="l">
              <a:lnSpc>
                <a:spcPct val="115000"/>
              </a:lnSpc>
            </a:pPr>
            <a:r>
              <a:rPr sz="4000" b="1" spc="-50">
                <a:solidFill>
                  <a:srgbClr val="FFFFFF"/>
                </a:solidFill>
                <a:latin typeface="Libre Franklin"/>
              </a:rPr>
              <a:t>A, C, B</a:t>
            </a:r>
          </a:p>
        </p:txBody>
      </p:sp>
      <p:sp>
        <p:nvSpPr>
          <p:cNvPr id="44" name="TextBox 43"/>
          <p:cNvSpPr txBox="1"/>
          <p:nvPr/>
        </p:nvSpPr>
        <p:spPr>
          <a:xfrm>
            <a:off x="822960" y="4910328"/>
            <a:ext cx="2596896" cy="457200"/>
          </a:xfrm>
          <a:prstGeom prst="rect">
            <a:avLst/>
          </a:prstGeom>
          <a:noFill/>
        </p:spPr>
        <p:txBody>
          <a:bodyPr wrap="square" anchor="t" lIns="0" rIns="0" tIns="0" bIns="0">
            <a:spAutoFit/>
          </a:bodyPr>
          <a:lstStyle/>
          <a:p>
            <a:pPr algn="l">
              <a:lnSpc>
                <a:spcPct val="120000"/>
              </a:lnSpc>
            </a:pPr>
            <a:r>
              <a:rPr sz="1200" b="0">
                <a:solidFill>
                  <a:srgbClr val="FFFFFF"/>
                </a:solidFill>
                <a:latin typeface="Libre Franklin Medium"/>
              </a:rPr>
              <a:t>v3 ranking, asserted to three decimals in the test suite</a:t>
            </a:r>
          </a:p>
        </p:txBody>
      </p:sp>
      <p:sp>
        <p:nvSpPr>
          <p:cNvPr id="45" name="Rounded Rectangle 44"/>
          <p:cNvSpPr/>
          <p:nvPr/>
        </p:nvSpPr>
        <p:spPr>
          <a:xfrm>
            <a:off x="3950208" y="4014216"/>
            <a:ext cx="3108960" cy="1417320"/>
          </a:xfrm>
          <a:prstGeom prst="roundRect">
            <a:avLst>
              <a:gd name="adj" fmla="val 11612"/>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06240" y="4197096"/>
            <a:ext cx="2596896" cy="685800"/>
          </a:xfrm>
          <a:prstGeom prst="rect">
            <a:avLst/>
          </a:prstGeom>
          <a:noFill/>
        </p:spPr>
        <p:txBody>
          <a:bodyPr wrap="square" anchor="t" lIns="0" rIns="0" tIns="0" bIns="0">
            <a:spAutoFit/>
          </a:bodyPr>
          <a:lstStyle/>
          <a:p>
            <a:pPr algn="l">
              <a:lnSpc>
                <a:spcPct val="115000"/>
              </a:lnSpc>
            </a:pPr>
            <a:r>
              <a:rPr sz="4000" b="1" spc="-50">
                <a:solidFill>
                  <a:srgbClr val="3366FF"/>
                </a:solidFill>
                <a:latin typeface="Libre Franklin"/>
              </a:rPr>
              <a:t>C, A, B</a:t>
            </a:r>
          </a:p>
        </p:txBody>
      </p:sp>
      <p:sp>
        <p:nvSpPr>
          <p:cNvPr id="47" name="TextBox 46"/>
          <p:cNvSpPr txBox="1"/>
          <p:nvPr/>
        </p:nvSpPr>
        <p:spPr>
          <a:xfrm>
            <a:off x="4206240" y="4910328"/>
            <a:ext cx="2596896" cy="457200"/>
          </a:xfrm>
          <a:prstGeom prst="rect">
            <a:avLst/>
          </a:prstGeom>
          <a:noFill/>
        </p:spPr>
        <p:txBody>
          <a:bodyPr wrap="square" anchor="t" lIns="0" rIns="0" tIns="0" bIns="0">
            <a:spAutoFit/>
          </a:bodyPr>
          <a:lstStyle/>
          <a:p>
            <a:pPr algn="l">
              <a:lnSpc>
                <a:spcPct val="120000"/>
              </a:lnSpc>
            </a:pPr>
            <a:r>
              <a:rPr sz="1200" b="0">
                <a:solidFill>
                  <a:srgbClr val="3366FF"/>
                </a:solidFill>
                <a:latin typeface="Libre Franklin Medium"/>
              </a:rPr>
              <a:t>v2 ranking on identical inputs</a:t>
            </a:r>
          </a:p>
        </p:txBody>
      </p:sp>
      <p:sp>
        <p:nvSpPr>
          <p:cNvPr id="48" name="Rounded Rectangle 47"/>
          <p:cNvSpPr/>
          <p:nvPr/>
        </p:nvSpPr>
        <p:spPr>
          <a:xfrm>
            <a:off x="566928" y="5724144"/>
            <a:ext cx="11057839" cy="749808"/>
          </a:xfrm>
          <a:prstGeom prst="roundRect">
            <a:avLst>
              <a:gd name="adj" fmla="val 18292"/>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1247" y="5916168"/>
            <a:ext cx="10509199" cy="457200"/>
          </a:xfrm>
          <a:prstGeom prst="rect">
            <a:avLst/>
          </a:prstGeom>
          <a:noFill/>
        </p:spPr>
        <p:txBody>
          <a:bodyPr wrap="square" anchor="t" lIns="0" rIns="0" tIns="0" bIns="0">
            <a:spAutoFit/>
          </a:bodyPr>
          <a:lstStyle/>
          <a:p>
            <a:pPr algn="l">
              <a:lnSpc>
                <a:spcPct val="115000"/>
              </a:lnSpc>
            </a:pPr>
            <a:r>
              <a:rPr sz="1300" b="1">
                <a:solidFill>
                  <a:srgbClr val="3366FF"/>
                </a:solidFill>
                <a:latin typeface="Libre Franklin"/>
              </a:rPr>
              <a:t>The v2 worked example and the v3 test suite use the same table on purpose, so the two systems can be diffed rather than argued about.</a:t>
            </a:r>
          </a:p>
        </p:txBody>
      </p:sp>
      <p:sp>
        <p:nvSpPr>
          <p:cNvPr id="50" name="TextBox 49"/>
          <p:cNvSpPr txBox="1"/>
          <p:nvPr/>
        </p:nvSpPr>
        <p:spPr>
          <a:xfrm>
            <a:off x="7333488" y="4014216"/>
            <a:ext cx="4291279" cy="1463040"/>
          </a:xfrm>
          <a:prstGeom prst="rect">
            <a:avLst/>
          </a:prstGeom>
          <a:noFill/>
        </p:spPr>
        <p:txBody>
          <a:bodyPr wrap="square" anchor="t" lIns="0" rIns="0" tIns="0" bIns="0">
            <a:spAutoFit/>
          </a:bodyPr>
          <a:lstStyle/>
          <a:p>
            <a:pPr algn="l">
              <a:lnSpc>
                <a:spcPct val="130000"/>
              </a:lnSpc>
            </a:pPr>
            <a:r>
              <a:rPr sz="1300" b="0">
                <a:solidFill>
                  <a:srgbClr val="4A4A55"/>
                </a:solidFill>
                <a:latin typeface="Libre Franklin Medium"/>
              </a:rPr>
              <a:t>Why it flipped: v2's pool-relative workload handed A a zero and C a free half point, and v2's recency term rewarded B simply for having been idle. A is genuinely at capacity in v3 too, but continuity plus same-rater protocol continuity carry the decision.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LAYER 3</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The review band should be measured, not guessed</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12</a:t>
            </a:r>
          </a:p>
        </p:txBody>
      </p:sp>
      <p:pic>
        <p:nvPicPr>
          <p:cNvPr id="7" name="Picture 6" descr="epsilon.png"/>
          <p:cNvPicPr>
            <a:picLocks noChangeAspect="1"/>
          </p:cNvPicPr>
          <p:nvPr/>
        </p:nvPicPr>
        <p:blipFill>
          <a:blip r:embed="rId4"/>
          <a:stretch>
            <a:fillRect/>
          </a:stretch>
        </p:blipFill>
        <p:spPr>
          <a:xfrm>
            <a:off x="566928" y="1993392"/>
            <a:ext cx="9429395" cy="402336"/>
          </a:xfrm>
          <a:prstGeom prst="rect">
            <a:avLst/>
          </a:prstGeom>
        </p:spPr>
      </p:pic>
      <p:sp>
        <p:nvSpPr>
          <p:cNvPr id="8" name="Rounded Rectangle 7"/>
          <p:cNvSpPr/>
          <p:nvPr/>
        </p:nvSpPr>
        <p:spPr>
          <a:xfrm>
            <a:off x="566928" y="2798064"/>
            <a:ext cx="2651760" cy="1481328"/>
          </a:xfrm>
          <a:prstGeom prst="roundRect">
            <a:avLst>
              <a:gd name="adj" fmla="val 11111"/>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980944"/>
            <a:ext cx="2139696" cy="685800"/>
          </a:xfrm>
          <a:prstGeom prst="rect">
            <a:avLst/>
          </a:prstGeom>
          <a:noFill/>
        </p:spPr>
        <p:txBody>
          <a:bodyPr wrap="square" anchor="t" lIns="0" rIns="0" tIns="0" bIns="0">
            <a:spAutoFit/>
          </a:bodyPr>
          <a:lstStyle/>
          <a:p>
            <a:pPr algn="l">
              <a:lnSpc>
                <a:spcPct val="115000"/>
              </a:lnSpc>
            </a:pPr>
            <a:r>
              <a:rPr sz="4000" b="1" spc="-50">
                <a:solidFill>
                  <a:srgbClr val="FFFFFF"/>
                </a:solidFill>
                <a:latin typeface="Libre Franklin"/>
              </a:rPr>
              <a:t>0.020</a:t>
            </a:r>
          </a:p>
        </p:txBody>
      </p:sp>
      <p:sp>
        <p:nvSpPr>
          <p:cNvPr id="10" name="TextBox 9"/>
          <p:cNvSpPr txBox="1"/>
          <p:nvPr/>
        </p:nvSpPr>
        <p:spPr>
          <a:xfrm>
            <a:off x="822960" y="3694176"/>
            <a:ext cx="2139696" cy="521208"/>
          </a:xfrm>
          <a:prstGeom prst="rect">
            <a:avLst/>
          </a:prstGeom>
          <a:noFill/>
        </p:spPr>
        <p:txBody>
          <a:bodyPr wrap="square" anchor="t" lIns="0" rIns="0" tIns="0" bIns="0">
            <a:spAutoFit/>
          </a:bodyPr>
          <a:lstStyle/>
          <a:p>
            <a:pPr algn="l">
              <a:lnSpc>
                <a:spcPct val="120000"/>
              </a:lnSpc>
            </a:pPr>
            <a:r>
              <a:rPr sz="1200" b="0">
                <a:solidFill>
                  <a:srgbClr val="FFFFFF"/>
                </a:solidFill>
                <a:latin typeface="Libre Franklin Medium"/>
              </a:rPr>
              <a:t>calibrated band, pilot data</a:t>
            </a:r>
          </a:p>
        </p:txBody>
      </p:sp>
      <p:sp>
        <p:nvSpPr>
          <p:cNvPr id="11" name="Rounded Rectangle 10"/>
          <p:cNvSpPr/>
          <p:nvPr/>
        </p:nvSpPr>
        <p:spPr>
          <a:xfrm>
            <a:off x="3447288" y="2798064"/>
            <a:ext cx="2651760" cy="1481328"/>
          </a:xfrm>
          <a:prstGeom prst="roundRect">
            <a:avLst>
              <a:gd name="adj" fmla="val 11111"/>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2980944"/>
            <a:ext cx="2139696" cy="685800"/>
          </a:xfrm>
          <a:prstGeom prst="rect">
            <a:avLst/>
          </a:prstGeom>
          <a:noFill/>
        </p:spPr>
        <p:txBody>
          <a:bodyPr wrap="square" anchor="t" lIns="0" rIns="0" tIns="0" bIns="0">
            <a:spAutoFit/>
          </a:bodyPr>
          <a:lstStyle/>
          <a:p>
            <a:pPr algn="l">
              <a:lnSpc>
                <a:spcPct val="115000"/>
              </a:lnSpc>
            </a:pPr>
            <a:r>
              <a:rPr sz="4000" b="1" spc="-50">
                <a:solidFill>
                  <a:srgbClr val="3366FF"/>
                </a:solidFill>
                <a:latin typeface="Libre Franklin"/>
              </a:rPr>
              <a:t>0.050</a:t>
            </a:r>
          </a:p>
        </p:txBody>
      </p:sp>
      <p:sp>
        <p:nvSpPr>
          <p:cNvPr id="13" name="TextBox 12"/>
          <p:cNvSpPr txBox="1"/>
          <p:nvPr/>
        </p:nvSpPr>
        <p:spPr>
          <a:xfrm>
            <a:off x="3703320" y="3694176"/>
            <a:ext cx="2139696" cy="521208"/>
          </a:xfrm>
          <a:prstGeom prst="rect">
            <a:avLst/>
          </a:prstGeom>
          <a:noFill/>
        </p:spPr>
        <p:txBody>
          <a:bodyPr wrap="square" anchor="t" lIns="0" rIns="0" tIns="0" bIns="0">
            <a:spAutoFit/>
          </a:bodyPr>
          <a:lstStyle/>
          <a:p>
            <a:pPr algn="l">
              <a:lnSpc>
                <a:spcPct val="120000"/>
              </a:lnSpc>
            </a:pPr>
            <a:r>
              <a:rPr sz="1200" b="0">
                <a:solidFill>
                  <a:srgbClr val="3366FF"/>
                </a:solidFill>
                <a:latin typeface="Libre Franklin Medium"/>
              </a:rPr>
              <a:t>the v2 guess</a:t>
            </a:r>
          </a:p>
        </p:txBody>
      </p:sp>
      <p:sp>
        <p:nvSpPr>
          <p:cNvPr id="14" name="TextBox 13"/>
          <p:cNvSpPr txBox="1"/>
          <p:nvPr/>
        </p:nvSpPr>
        <p:spPr>
          <a:xfrm>
            <a:off x="6327648" y="2798064"/>
            <a:ext cx="5297119" cy="1481328"/>
          </a:xfrm>
          <a:prstGeom prst="rect">
            <a:avLst/>
          </a:prstGeom>
          <a:noFill/>
        </p:spPr>
        <p:txBody>
          <a:bodyPr wrap="square" anchor="t" lIns="0" rIns="0" tIns="0" bIns="0">
            <a:spAutoFit/>
          </a:bodyPr>
          <a:lstStyle/>
          <a:p>
            <a:pPr algn="l">
              <a:lnSpc>
                <a:spcPct val="130000"/>
              </a:lnSpc>
            </a:pPr>
            <a:r>
              <a:rPr sz="1300" b="0">
                <a:solidFill>
                  <a:srgbClr val="4A4A55"/>
                </a:solidFill>
                <a:latin typeface="Libre Franklin Medium"/>
              </a:rPr>
              <a:t>The guess was twice as conservative as the weights warrant, so it was sending twice as many decisions to a human as it needed to. A real pilot could move it either way. That is the point of measuring it.</a:t>
            </a:r>
          </a:p>
        </p:txBody>
      </p:sp>
      <p:sp>
        <p:nvSpPr>
          <p:cNvPr id="15" name="Rounded Rectangle 14"/>
          <p:cNvSpPr/>
          <p:nvPr/>
        </p:nvSpPr>
        <p:spPr>
          <a:xfrm>
            <a:off x="566928" y="443026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4352544"/>
            <a:ext cx="10783519" cy="932688"/>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Selection stability: P(top-1) over the weight simplex. Winning 55% of the mass is not the same decision as winning 99% at the same gap</a:t>
            </a:r>
          </a:p>
        </p:txBody>
      </p:sp>
      <p:sp>
        <p:nvSpPr>
          <p:cNvPr id="17" name="Rounded Rectangle 16"/>
          <p:cNvSpPr/>
          <p:nvPr/>
        </p:nvSpPr>
        <p:spPr>
          <a:xfrm>
            <a:off x="566928" y="5198364"/>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5120640"/>
            <a:ext cx="10783519"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Stability under 0.60 routes to a human automatically</a:t>
            </a:r>
          </a:p>
        </p:txBody>
      </p:sp>
      <p:sp>
        <p:nvSpPr>
          <p:cNvPr id="19" name="Rounded Rectangle 18"/>
          <p:cNvSpPr/>
          <p:nvPr/>
        </p:nvSpPr>
        <p:spPr>
          <a:xfrm>
            <a:off x="566928" y="560070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5522976"/>
            <a:ext cx="10783519"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Tie-break order: protocol continuity, then family-history direction, then uniform random WITH THE SEED LOGGED</a:t>
            </a:r>
          </a:p>
        </p:txBody>
      </p:sp>
      <p:sp>
        <p:nvSpPr>
          <p:cNvPr id="21" name="Rounded Rectangle 20"/>
          <p:cNvSpPr/>
          <p:nvPr/>
        </p:nvSpPr>
        <p:spPr>
          <a:xfrm>
            <a:off x="566928" y="6185916"/>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6108192"/>
            <a:ext cx="10783519"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A randomised true tie is defensible on equipoise grounds, and turns every tie into a free experiment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BATCH OPTIMISATION</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Two nested problems, and a trigger for each</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13</a:t>
            </a:r>
          </a:p>
        </p:txBody>
      </p:sp>
      <p:sp>
        <p:nvSpPr>
          <p:cNvPr id="7" name="TextBox 6"/>
          <p:cNvSpPr txBox="1"/>
          <p:nvPr/>
        </p:nvSpPr>
        <p:spPr>
          <a:xfrm>
            <a:off x="566928" y="1865376"/>
            <a:ext cx="5303520" cy="292608"/>
          </a:xfrm>
          <a:prstGeom prst="rect">
            <a:avLst/>
          </a:prstGeom>
          <a:noFill/>
        </p:spPr>
        <p:txBody>
          <a:bodyPr wrap="square" anchor="t" lIns="0" rIns="0" tIns="0" bIns="0">
            <a:spAutoFit/>
          </a:bodyPr>
          <a:lstStyle/>
          <a:p>
            <a:pPr algn="l">
              <a:lnSpc>
                <a:spcPct val="115000"/>
              </a:lnSpc>
            </a:pPr>
            <a:r>
              <a:rPr sz="1500" b="1">
                <a:solidFill>
                  <a:srgbClr val="3366FF"/>
                </a:solidFill>
                <a:latin typeface="Libre Franklin"/>
              </a:rPr>
              <a:t>A.  One coordinator, one day</a:t>
            </a:r>
          </a:p>
        </p:txBody>
      </p:sp>
      <p:pic>
        <p:nvPicPr>
          <p:cNvPr id="8" name="Picture 7" descr="dp.png"/>
          <p:cNvPicPr>
            <a:picLocks noChangeAspect="1"/>
          </p:cNvPicPr>
          <p:nvPr/>
        </p:nvPicPr>
        <p:blipFill>
          <a:blip r:embed="rId4"/>
          <a:stretch>
            <a:fillRect/>
          </a:stretch>
        </p:blipFill>
        <p:spPr>
          <a:xfrm>
            <a:off x="566928" y="2212848"/>
            <a:ext cx="5394960" cy="266741"/>
          </a:xfrm>
          <a:prstGeom prst="rect">
            <a:avLst/>
          </a:prstGeom>
        </p:spPr>
      </p:pic>
      <p:sp>
        <p:nvSpPr>
          <p:cNvPr id="9" name="TextBox 8"/>
          <p:cNvSpPr txBox="1"/>
          <p:nvPr/>
        </p:nvSpPr>
        <p:spPr>
          <a:xfrm>
            <a:off x="566928" y="2734056"/>
            <a:ext cx="5394960" cy="548640"/>
          </a:xfrm>
          <a:prstGeom prst="rect">
            <a:avLst/>
          </a:prstGeom>
          <a:noFill/>
        </p:spPr>
        <p:txBody>
          <a:bodyPr wrap="square" anchor="t" lIns="0" rIns="0" tIns="0" bIns="0">
            <a:spAutoFit/>
          </a:bodyPr>
          <a:lstStyle/>
          <a:p>
            <a:pPr algn="l">
              <a:lnSpc>
                <a:spcPct val="115000"/>
              </a:lnSpc>
            </a:pPr>
            <a:r>
              <a:rPr sz="1250" b="0">
                <a:solidFill>
                  <a:srgbClr val="4A4A55"/>
                </a:solidFill>
                <a:latin typeface="Libre Franklin Medium"/>
              </a:rPr>
              <a:t>Weighted interval scheduling. Sort by end time, exact, O(n log n), about fifteen lines. Intervals are travel-inflated.</a:t>
            </a:r>
          </a:p>
        </p:txBody>
      </p:sp>
      <p:pic>
        <p:nvPicPr>
          <p:cNvPr id="10" name="Picture 9" descr="dp_trigger.png"/>
          <p:cNvPicPr>
            <a:picLocks noChangeAspect="1"/>
          </p:cNvPicPr>
          <p:nvPr/>
        </p:nvPicPr>
        <p:blipFill>
          <a:blip r:embed="rId5"/>
          <a:stretch>
            <a:fillRect/>
          </a:stretch>
        </p:blipFill>
        <p:spPr>
          <a:xfrm>
            <a:off x="566928" y="3346704"/>
            <a:ext cx="3547872" cy="475488"/>
          </a:xfrm>
          <a:prstGeom prst="rect">
            <a:avLst/>
          </a:prstGeom>
        </p:spPr>
      </p:pic>
      <p:sp>
        <p:nvSpPr>
          <p:cNvPr id="11" name="TextBox 10"/>
          <p:cNvSpPr txBox="1"/>
          <p:nvPr/>
        </p:nvSpPr>
        <p:spPr>
          <a:xfrm>
            <a:off x="566928" y="3968496"/>
            <a:ext cx="5394960" cy="548640"/>
          </a:xfrm>
          <a:prstGeom prst="rect">
            <a:avLst/>
          </a:prstGeom>
          <a:noFill/>
        </p:spPr>
        <p:txBody>
          <a:bodyPr wrap="square" anchor="t" lIns="0" rIns="0" tIns="0" bIns="0">
            <a:spAutoFit/>
          </a:bodyPr>
          <a:lstStyle/>
          <a:p>
            <a:pPr algn="l">
              <a:lnSpc>
                <a:spcPct val="115000"/>
              </a:lnSpc>
            </a:pPr>
            <a:r>
              <a:rPr sz="1250" b="0">
                <a:solidFill>
                  <a:srgbClr val="4A4A55"/>
                </a:solidFill>
                <a:latin typeface="Libre Franklin Medium"/>
              </a:rPr>
              <a:t>Conflicts appear at the fourth candidate per coordinator per day, or about ten open visits per coordinator per week. ESD is already there.</a:t>
            </a:r>
          </a:p>
        </p:txBody>
      </p:sp>
      <p:sp>
        <p:nvSpPr>
          <p:cNvPr id="12" name="TextBox 11"/>
          <p:cNvSpPr txBox="1"/>
          <p:nvPr/>
        </p:nvSpPr>
        <p:spPr>
          <a:xfrm>
            <a:off x="6400800" y="1865376"/>
            <a:ext cx="5303520" cy="292608"/>
          </a:xfrm>
          <a:prstGeom prst="rect">
            <a:avLst/>
          </a:prstGeom>
          <a:noFill/>
        </p:spPr>
        <p:txBody>
          <a:bodyPr wrap="square" anchor="t" lIns="0" rIns="0" tIns="0" bIns="0">
            <a:spAutoFit/>
          </a:bodyPr>
          <a:lstStyle/>
          <a:p>
            <a:pPr algn="l">
              <a:lnSpc>
                <a:spcPct val="115000"/>
              </a:lnSpc>
            </a:pPr>
            <a:r>
              <a:rPr sz="1500" b="1">
                <a:solidFill>
                  <a:srgbClr val="3366FF"/>
                </a:solidFill>
                <a:latin typeface="Libre Franklin"/>
              </a:rPr>
              <a:t>B.  Whole team, whole week</a:t>
            </a:r>
          </a:p>
        </p:txBody>
      </p:sp>
      <p:pic>
        <p:nvPicPr>
          <p:cNvPr id="13" name="Picture 12" descr="assignment.png"/>
          <p:cNvPicPr>
            <a:picLocks noChangeAspect="1"/>
          </p:cNvPicPr>
          <p:nvPr/>
        </p:nvPicPr>
        <p:blipFill>
          <a:blip r:embed="rId6"/>
          <a:stretch>
            <a:fillRect/>
          </a:stretch>
        </p:blipFill>
        <p:spPr>
          <a:xfrm>
            <a:off x="6400800" y="2212848"/>
            <a:ext cx="4292686" cy="457200"/>
          </a:xfrm>
          <a:prstGeom prst="rect">
            <a:avLst/>
          </a:prstGeom>
        </p:spPr>
      </p:pic>
      <p:pic>
        <p:nvPicPr>
          <p:cNvPr id="14" name="Picture 13" descr="assignment_st.png"/>
          <p:cNvPicPr>
            <a:picLocks noChangeAspect="1"/>
          </p:cNvPicPr>
          <p:nvPr/>
        </p:nvPicPr>
        <p:blipFill>
          <a:blip r:embed="rId7"/>
          <a:stretch>
            <a:fillRect/>
          </a:stretch>
        </p:blipFill>
        <p:spPr>
          <a:xfrm>
            <a:off x="6400800" y="2779776"/>
            <a:ext cx="4276013" cy="365760"/>
          </a:xfrm>
          <a:prstGeom prst="rect">
            <a:avLst/>
          </a:prstGeom>
        </p:spPr>
      </p:pic>
      <p:sp>
        <p:nvSpPr>
          <p:cNvPr id="15" name="Rectangle 14"/>
          <p:cNvSpPr/>
          <p:nvPr/>
        </p:nvSpPr>
        <p:spPr>
          <a:xfrm>
            <a:off x="6400800" y="3282696"/>
            <a:ext cx="5230368" cy="329184"/>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3360420"/>
            <a:ext cx="2468879" cy="329184"/>
          </a:xfrm>
          <a:prstGeom prst="rect">
            <a:avLst/>
          </a:prstGeom>
          <a:noFill/>
        </p:spPr>
        <p:txBody>
          <a:bodyPr wrap="square" anchor="t" lIns="0" rIns="0" tIns="0" bIns="0">
            <a:spAutoFit/>
          </a:bodyPr>
          <a:lstStyle/>
          <a:p>
            <a:pPr algn="l">
              <a:lnSpc>
                <a:spcPct val="115000"/>
              </a:lnSpc>
            </a:pPr>
            <a:r>
              <a:rPr sz="900" b="1" spc="80">
                <a:solidFill>
                  <a:srgbClr val="FFFFFF"/>
                </a:solidFill>
                <a:latin typeface="Libre Franklin"/>
              </a:rPr>
              <a:t/>
            </a:r>
          </a:p>
        </p:txBody>
      </p:sp>
      <p:sp>
        <p:nvSpPr>
          <p:cNvPr id="17" name="TextBox 16"/>
          <p:cNvSpPr txBox="1"/>
          <p:nvPr/>
        </p:nvSpPr>
        <p:spPr>
          <a:xfrm>
            <a:off x="9180576" y="3360420"/>
            <a:ext cx="1097280" cy="329184"/>
          </a:xfrm>
          <a:prstGeom prst="rect">
            <a:avLst/>
          </a:prstGeom>
          <a:noFill/>
        </p:spPr>
        <p:txBody>
          <a:bodyPr wrap="square" anchor="t" lIns="0" rIns="0" tIns="0" bIns="0">
            <a:spAutoFit/>
          </a:bodyPr>
          <a:lstStyle/>
          <a:p>
            <a:pPr algn="ctr">
              <a:lnSpc>
                <a:spcPct val="115000"/>
              </a:lnSpc>
            </a:pPr>
            <a:r>
              <a:rPr sz="900" b="1" spc="80">
                <a:solidFill>
                  <a:srgbClr val="FFFFFF"/>
                </a:solidFill>
                <a:latin typeface="Libre Franklin"/>
              </a:rPr>
              <a:t>HUNGARIAN</a:t>
            </a:r>
          </a:p>
        </p:txBody>
      </p:sp>
      <p:sp>
        <p:nvSpPr>
          <p:cNvPr id="18" name="TextBox 17"/>
          <p:cNvSpPr txBox="1"/>
          <p:nvPr/>
        </p:nvSpPr>
        <p:spPr>
          <a:xfrm>
            <a:off x="10460736" y="3360420"/>
            <a:ext cx="1115568" cy="329184"/>
          </a:xfrm>
          <a:prstGeom prst="rect">
            <a:avLst/>
          </a:prstGeom>
          <a:noFill/>
        </p:spPr>
        <p:txBody>
          <a:bodyPr wrap="square" anchor="t" lIns="0" rIns="0" tIns="0" bIns="0">
            <a:spAutoFit/>
          </a:bodyPr>
          <a:lstStyle/>
          <a:p>
            <a:pPr algn="ctr">
              <a:lnSpc>
                <a:spcPct val="115000"/>
              </a:lnSpc>
            </a:pPr>
            <a:r>
              <a:rPr sz="900" b="1" spc="80">
                <a:solidFill>
                  <a:srgbClr val="FFFFFF"/>
                </a:solidFill>
                <a:latin typeface="Libre Franklin"/>
              </a:rPr>
              <a:t>MIN-COST FLOW</a:t>
            </a:r>
          </a:p>
        </p:txBody>
      </p:sp>
      <p:sp>
        <p:nvSpPr>
          <p:cNvPr id="19" name="Rectangle 18"/>
          <p:cNvSpPr/>
          <p:nvPr/>
        </p:nvSpPr>
        <p:spPr>
          <a:xfrm>
            <a:off x="6400800" y="3611879"/>
            <a:ext cx="5230368" cy="32918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28816" y="3698748"/>
            <a:ext cx="2468879" cy="329184"/>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Several visits per person</a:t>
            </a:r>
          </a:p>
        </p:txBody>
      </p:sp>
      <p:sp>
        <p:nvSpPr>
          <p:cNvPr id="21" name="TextBox 20"/>
          <p:cNvSpPr txBox="1"/>
          <p:nvPr/>
        </p:nvSpPr>
        <p:spPr>
          <a:xfrm>
            <a:off x="9180576" y="3698748"/>
            <a:ext cx="1097280" cy="329184"/>
          </a:xfrm>
          <a:prstGeom prst="rect">
            <a:avLst/>
          </a:prstGeom>
          <a:noFill/>
        </p:spPr>
        <p:txBody>
          <a:bodyPr wrap="square" anchor="t" lIns="0" rIns="0" tIns="0" bIns="0">
            <a:spAutoFit/>
          </a:bodyPr>
          <a:lstStyle/>
          <a:p>
            <a:pPr algn="ctr">
              <a:lnSpc>
                <a:spcPct val="115000"/>
              </a:lnSpc>
            </a:pPr>
            <a:r>
              <a:rPr sz="1150" b="0">
                <a:solidFill>
                  <a:srgbClr val="1A1A1F"/>
                </a:solidFill>
                <a:latin typeface="Libre Franklin Medium"/>
              </a:rPr>
              <a:t>no</a:t>
            </a:r>
          </a:p>
        </p:txBody>
      </p:sp>
      <p:sp>
        <p:nvSpPr>
          <p:cNvPr id="22" name="TextBox 21"/>
          <p:cNvSpPr txBox="1"/>
          <p:nvPr/>
        </p:nvSpPr>
        <p:spPr>
          <a:xfrm>
            <a:off x="10460736" y="3698748"/>
            <a:ext cx="1115568" cy="329184"/>
          </a:xfrm>
          <a:prstGeom prst="rect">
            <a:avLst/>
          </a:prstGeom>
          <a:noFill/>
        </p:spPr>
        <p:txBody>
          <a:bodyPr wrap="square" anchor="t" lIns="0" rIns="0" tIns="0" bIns="0">
            <a:spAutoFit/>
          </a:bodyPr>
          <a:lstStyle/>
          <a:p>
            <a:pPr algn="ctr">
              <a:lnSpc>
                <a:spcPct val="115000"/>
              </a:lnSpc>
            </a:pPr>
            <a:r>
              <a:rPr sz="1150" b="0">
                <a:solidFill>
                  <a:srgbClr val="1A1A1F"/>
                </a:solidFill>
                <a:latin typeface="Libre Franklin Medium"/>
              </a:rPr>
              <a:t>YES</a:t>
            </a:r>
          </a:p>
        </p:txBody>
      </p:sp>
      <p:sp>
        <p:nvSpPr>
          <p:cNvPr id="23" name="TextBox 22"/>
          <p:cNvSpPr txBox="1"/>
          <p:nvPr/>
        </p:nvSpPr>
        <p:spPr>
          <a:xfrm>
            <a:off x="6528816" y="4027931"/>
            <a:ext cx="2468879" cy="329184"/>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Part-time capacity</a:t>
            </a:r>
          </a:p>
        </p:txBody>
      </p:sp>
      <p:sp>
        <p:nvSpPr>
          <p:cNvPr id="24" name="TextBox 23"/>
          <p:cNvSpPr txBox="1"/>
          <p:nvPr/>
        </p:nvSpPr>
        <p:spPr>
          <a:xfrm>
            <a:off x="9180576" y="4027931"/>
            <a:ext cx="1097280" cy="329184"/>
          </a:xfrm>
          <a:prstGeom prst="rect">
            <a:avLst/>
          </a:prstGeom>
          <a:noFill/>
        </p:spPr>
        <p:txBody>
          <a:bodyPr wrap="square" anchor="t" lIns="0" rIns="0" tIns="0" bIns="0">
            <a:spAutoFit/>
          </a:bodyPr>
          <a:lstStyle/>
          <a:p>
            <a:pPr algn="ctr">
              <a:lnSpc>
                <a:spcPct val="115000"/>
              </a:lnSpc>
            </a:pPr>
            <a:r>
              <a:rPr sz="1150" b="0">
                <a:solidFill>
                  <a:srgbClr val="1A1A1F"/>
                </a:solidFill>
                <a:latin typeface="Libre Franklin Medium"/>
              </a:rPr>
              <a:t>no</a:t>
            </a:r>
          </a:p>
        </p:txBody>
      </p:sp>
      <p:sp>
        <p:nvSpPr>
          <p:cNvPr id="25" name="TextBox 24"/>
          <p:cNvSpPr txBox="1"/>
          <p:nvPr/>
        </p:nvSpPr>
        <p:spPr>
          <a:xfrm>
            <a:off x="10460736" y="4027931"/>
            <a:ext cx="1115568" cy="329184"/>
          </a:xfrm>
          <a:prstGeom prst="rect">
            <a:avLst/>
          </a:prstGeom>
          <a:noFill/>
        </p:spPr>
        <p:txBody>
          <a:bodyPr wrap="square" anchor="t" lIns="0" rIns="0" tIns="0" bIns="0">
            <a:spAutoFit/>
          </a:bodyPr>
          <a:lstStyle/>
          <a:p>
            <a:pPr algn="ctr">
              <a:lnSpc>
                <a:spcPct val="115000"/>
              </a:lnSpc>
            </a:pPr>
            <a:r>
              <a:rPr sz="1150" b="0">
                <a:solidFill>
                  <a:srgbClr val="1A1A1F"/>
                </a:solidFill>
                <a:latin typeface="Libre Franklin Medium"/>
              </a:rPr>
              <a:t>YES</a:t>
            </a:r>
          </a:p>
        </p:txBody>
      </p:sp>
      <p:sp>
        <p:nvSpPr>
          <p:cNvPr id="26" name="Rectangle 25"/>
          <p:cNvSpPr/>
          <p:nvPr/>
        </p:nvSpPr>
        <p:spPr>
          <a:xfrm>
            <a:off x="6400800" y="4270248"/>
            <a:ext cx="5230368" cy="329184"/>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28816" y="4357116"/>
            <a:ext cx="2468879" cy="329184"/>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Leave a visit unfilled</a:t>
            </a:r>
          </a:p>
        </p:txBody>
      </p:sp>
      <p:sp>
        <p:nvSpPr>
          <p:cNvPr id="28" name="TextBox 27"/>
          <p:cNvSpPr txBox="1"/>
          <p:nvPr/>
        </p:nvSpPr>
        <p:spPr>
          <a:xfrm>
            <a:off x="9180576" y="4357116"/>
            <a:ext cx="1097280" cy="329184"/>
          </a:xfrm>
          <a:prstGeom prst="rect">
            <a:avLst/>
          </a:prstGeom>
          <a:noFill/>
        </p:spPr>
        <p:txBody>
          <a:bodyPr wrap="square" anchor="t" lIns="0" rIns="0" tIns="0" bIns="0">
            <a:spAutoFit/>
          </a:bodyPr>
          <a:lstStyle/>
          <a:p>
            <a:pPr algn="ctr">
              <a:lnSpc>
                <a:spcPct val="115000"/>
              </a:lnSpc>
            </a:pPr>
            <a:r>
              <a:rPr sz="1150" b="0">
                <a:solidFill>
                  <a:srgbClr val="1A1A1F"/>
                </a:solidFill>
                <a:latin typeface="Libre Franklin Medium"/>
              </a:rPr>
              <a:t>no</a:t>
            </a:r>
          </a:p>
        </p:txBody>
      </p:sp>
      <p:sp>
        <p:nvSpPr>
          <p:cNvPr id="29" name="TextBox 28"/>
          <p:cNvSpPr txBox="1"/>
          <p:nvPr/>
        </p:nvSpPr>
        <p:spPr>
          <a:xfrm>
            <a:off x="10460736" y="4357116"/>
            <a:ext cx="1115568" cy="329184"/>
          </a:xfrm>
          <a:prstGeom prst="rect">
            <a:avLst/>
          </a:prstGeom>
          <a:noFill/>
        </p:spPr>
        <p:txBody>
          <a:bodyPr wrap="square" anchor="t" lIns="0" rIns="0" tIns="0" bIns="0">
            <a:spAutoFit/>
          </a:bodyPr>
          <a:lstStyle/>
          <a:p>
            <a:pPr algn="ctr">
              <a:lnSpc>
                <a:spcPct val="115000"/>
              </a:lnSpc>
            </a:pPr>
            <a:r>
              <a:rPr sz="1150" b="0">
                <a:solidFill>
                  <a:srgbClr val="1A1A1F"/>
                </a:solidFill>
                <a:latin typeface="Libre Franklin Medium"/>
              </a:rPr>
              <a:t>YES</a:t>
            </a:r>
          </a:p>
        </p:txBody>
      </p:sp>
      <p:sp>
        <p:nvSpPr>
          <p:cNvPr id="30" name="TextBox 29"/>
          <p:cNvSpPr txBox="1"/>
          <p:nvPr/>
        </p:nvSpPr>
        <p:spPr>
          <a:xfrm>
            <a:off x="6528816" y="4686300"/>
            <a:ext cx="2468879" cy="329184"/>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Intra-day overlap</a:t>
            </a:r>
          </a:p>
        </p:txBody>
      </p:sp>
      <p:sp>
        <p:nvSpPr>
          <p:cNvPr id="31" name="TextBox 30"/>
          <p:cNvSpPr txBox="1"/>
          <p:nvPr/>
        </p:nvSpPr>
        <p:spPr>
          <a:xfrm>
            <a:off x="9180576" y="4686300"/>
            <a:ext cx="1097280" cy="329184"/>
          </a:xfrm>
          <a:prstGeom prst="rect">
            <a:avLst/>
          </a:prstGeom>
          <a:noFill/>
        </p:spPr>
        <p:txBody>
          <a:bodyPr wrap="square" anchor="t" lIns="0" rIns="0" tIns="0" bIns="0">
            <a:spAutoFit/>
          </a:bodyPr>
          <a:lstStyle/>
          <a:p>
            <a:pPr algn="ctr">
              <a:lnSpc>
                <a:spcPct val="115000"/>
              </a:lnSpc>
            </a:pPr>
            <a:r>
              <a:rPr sz="1150" b="0">
                <a:solidFill>
                  <a:srgbClr val="1A1A1F"/>
                </a:solidFill>
                <a:latin typeface="Libre Franklin Medium"/>
              </a:rPr>
              <a:t>no</a:t>
            </a:r>
          </a:p>
        </p:txBody>
      </p:sp>
      <p:sp>
        <p:nvSpPr>
          <p:cNvPr id="32" name="TextBox 31"/>
          <p:cNvSpPr txBox="1"/>
          <p:nvPr/>
        </p:nvSpPr>
        <p:spPr>
          <a:xfrm>
            <a:off x="10460736" y="4686300"/>
            <a:ext cx="1115568" cy="329184"/>
          </a:xfrm>
          <a:prstGeom prst="rect">
            <a:avLst/>
          </a:prstGeom>
          <a:noFill/>
        </p:spPr>
        <p:txBody>
          <a:bodyPr wrap="square" anchor="t" lIns="0" rIns="0" tIns="0" bIns="0">
            <a:spAutoFit/>
          </a:bodyPr>
          <a:lstStyle/>
          <a:p>
            <a:pPr algn="ctr">
              <a:lnSpc>
                <a:spcPct val="115000"/>
              </a:lnSpc>
            </a:pPr>
            <a:r>
              <a:rPr sz="1150" b="0">
                <a:solidFill>
                  <a:srgbClr val="1A1A1F"/>
                </a:solidFill>
                <a:latin typeface="Libre Franklin Medium"/>
              </a:rPr>
              <a:t>no</a:t>
            </a:r>
          </a:p>
        </p:txBody>
      </p:sp>
      <p:sp>
        <p:nvSpPr>
          <p:cNvPr id="33" name="TextBox 32"/>
          <p:cNvSpPr txBox="1"/>
          <p:nvPr/>
        </p:nvSpPr>
        <p:spPr>
          <a:xfrm>
            <a:off x="6400800" y="5138928"/>
            <a:ext cx="5394960" cy="822960"/>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Hungarian is the wrong shape: it is the square, one-visit-per-person case. Flow cannot express intra-day overlap, which IS problem A, so the two are solved together in a Benders-style repair loop.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ESCALATION</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The optimiser runs in shadow from day one</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14</a:t>
            </a:r>
          </a:p>
        </p:txBody>
      </p:sp>
      <p:pic>
        <p:nvPicPr>
          <p:cNvPr id="7" name="Picture 6" descr="regret.png"/>
          <p:cNvPicPr>
            <a:picLocks noChangeAspect="1"/>
          </p:cNvPicPr>
          <p:nvPr/>
        </p:nvPicPr>
        <p:blipFill>
          <a:blip r:embed="rId4"/>
          <a:stretch>
            <a:fillRect/>
          </a:stretch>
        </p:blipFill>
        <p:spPr>
          <a:xfrm>
            <a:off x="566928" y="1865376"/>
            <a:ext cx="3409257" cy="777240"/>
          </a:xfrm>
          <a:prstGeom prst="rect">
            <a:avLst/>
          </a:prstGeom>
        </p:spPr>
      </p:pic>
      <p:sp>
        <p:nvSpPr>
          <p:cNvPr id="8" name="Rounded Rectangle 7"/>
          <p:cNvSpPr/>
          <p:nvPr/>
        </p:nvSpPr>
        <p:spPr>
          <a:xfrm>
            <a:off x="5120640" y="1819656"/>
            <a:ext cx="2148840" cy="1554480"/>
          </a:xfrm>
          <a:prstGeom prst="roundRect">
            <a:avLst>
              <a:gd name="adj" fmla="val 10588"/>
            </a:avLst>
          </a:prstGeom>
          <a:solidFill>
            <a:srgbClr val="F5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76672" y="2002536"/>
            <a:ext cx="1636776" cy="685800"/>
          </a:xfrm>
          <a:prstGeom prst="rect">
            <a:avLst/>
          </a:prstGeom>
          <a:noFill/>
        </p:spPr>
        <p:txBody>
          <a:bodyPr wrap="square" anchor="t" lIns="0" rIns="0" tIns="0" bIns="0">
            <a:spAutoFit/>
          </a:bodyPr>
          <a:lstStyle/>
          <a:p>
            <a:pPr algn="l">
              <a:lnSpc>
                <a:spcPct val="115000"/>
              </a:lnSpc>
            </a:pPr>
            <a:r>
              <a:rPr sz="4000" b="1" spc="-50">
                <a:solidFill>
                  <a:srgbClr val="FFFFFF"/>
                </a:solidFill>
                <a:latin typeface="Libre Franklin"/>
              </a:rPr>
              <a:t>8.8%</a:t>
            </a:r>
          </a:p>
        </p:txBody>
      </p:sp>
      <p:sp>
        <p:nvSpPr>
          <p:cNvPr id="10" name="TextBox 9"/>
          <p:cNvSpPr txBox="1"/>
          <p:nvPr/>
        </p:nvSpPr>
        <p:spPr>
          <a:xfrm>
            <a:off x="5376672" y="2715768"/>
            <a:ext cx="1636776" cy="594359"/>
          </a:xfrm>
          <a:prstGeom prst="rect">
            <a:avLst/>
          </a:prstGeom>
          <a:noFill/>
        </p:spPr>
        <p:txBody>
          <a:bodyPr wrap="square" anchor="t" lIns="0" rIns="0" tIns="0" bIns="0">
            <a:spAutoFit/>
          </a:bodyPr>
          <a:lstStyle/>
          <a:p>
            <a:pPr algn="l">
              <a:lnSpc>
                <a:spcPct val="120000"/>
              </a:lnSpc>
            </a:pPr>
            <a:r>
              <a:rPr sz="1200" b="0">
                <a:solidFill>
                  <a:srgbClr val="FFFFFF"/>
                </a:solidFill>
                <a:latin typeface="Libre Franklin Medium"/>
              </a:rPr>
              <a:t>regret on the pilot week</a:t>
            </a:r>
          </a:p>
        </p:txBody>
      </p:sp>
      <p:sp>
        <p:nvSpPr>
          <p:cNvPr id="11" name="Rounded Rectangle 10"/>
          <p:cNvSpPr/>
          <p:nvPr/>
        </p:nvSpPr>
        <p:spPr>
          <a:xfrm>
            <a:off x="7498079" y="1819656"/>
            <a:ext cx="2148840" cy="1554480"/>
          </a:xfrm>
          <a:prstGeom prst="roundRect">
            <a:avLst>
              <a:gd name="adj" fmla="val 10588"/>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54111" y="2002536"/>
            <a:ext cx="1636776" cy="685800"/>
          </a:xfrm>
          <a:prstGeom prst="rect">
            <a:avLst/>
          </a:prstGeom>
          <a:noFill/>
        </p:spPr>
        <p:txBody>
          <a:bodyPr wrap="square" anchor="t" lIns="0" rIns="0" tIns="0" bIns="0">
            <a:spAutoFit/>
          </a:bodyPr>
          <a:lstStyle/>
          <a:p>
            <a:pPr algn="l">
              <a:lnSpc>
                <a:spcPct val="115000"/>
              </a:lnSpc>
            </a:pPr>
            <a:r>
              <a:rPr sz="4000" b="1" spc="-50">
                <a:solidFill>
                  <a:srgbClr val="3366FF"/>
                </a:solidFill>
                <a:latin typeface="Libre Franklin"/>
              </a:rPr>
              <a:t>3%</a:t>
            </a:r>
          </a:p>
        </p:txBody>
      </p:sp>
      <p:sp>
        <p:nvSpPr>
          <p:cNvPr id="13" name="TextBox 12"/>
          <p:cNvSpPr txBox="1"/>
          <p:nvPr/>
        </p:nvSpPr>
        <p:spPr>
          <a:xfrm>
            <a:off x="7754111" y="2715768"/>
            <a:ext cx="1636776" cy="594359"/>
          </a:xfrm>
          <a:prstGeom prst="rect">
            <a:avLst/>
          </a:prstGeom>
          <a:noFill/>
        </p:spPr>
        <p:txBody>
          <a:bodyPr wrap="square" anchor="t" lIns="0" rIns="0" tIns="0" bIns="0">
            <a:spAutoFit/>
          </a:bodyPr>
          <a:lstStyle/>
          <a:p>
            <a:pPr algn="l">
              <a:lnSpc>
                <a:spcPct val="120000"/>
              </a:lnSpc>
            </a:pPr>
            <a:r>
              <a:rPr sz="1200" b="0">
                <a:solidFill>
                  <a:srgbClr val="3366FF"/>
                </a:solidFill>
                <a:latin typeface="Libre Franklin Medium"/>
              </a:rPr>
              <a:t>escalation threshold</a:t>
            </a:r>
          </a:p>
        </p:txBody>
      </p:sp>
      <p:sp>
        <p:nvSpPr>
          <p:cNvPr id="14" name="Rounded Rectangle 13"/>
          <p:cNvSpPr/>
          <p:nvPr/>
        </p:nvSpPr>
        <p:spPr>
          <a:xfrm>
            <a:off x="9875520" y="1819656"/>
            <a:ext cx="1828800" cy="1554480"/>
          </a:xfrm>
          <a:prstGeom prst="roundRect">
            <a:avLst>
              <a:gd name="adj" fmla="val 10588"/>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31552" y="2002536"/>
            <a:ext cx="1316736" cy="685800"/>
          </a:xfrm>
          <a:prstGeom prst="rect">
            <a:avLst/>
          </a:prstGeom>
          <a:noFill/>
        </p:spPr>
        <p:txBody>
          <a:bodyPr wrap="square" anchor="t" lIns="0" rIns="0" tIns="0" bIns="0">
            <a:spAutoFit/>
          </a:bodyPr>
          <a:lstStyle/>
          <a:p>
            <a:pPr algn="l">
              <a:lnSpc>
                <a:spcPct val="115000"/>
              </a:lnSpc>
            </a:pPr>
            <a:r>
              <a:rPr sz="4000" b="1" spc="-50">
                <a:solidFill>
                  <a:srgbClr val="3366FF"/>
                </a:solidFill>
                <a:latin typeface="Libre Franklin"/>
              </a:rPr>
              <a:t>0</a:t>
            </a:r>
          </a:p>
        </p:txBody>
      </p:sp>
      <p:sp>
        <p:nvSpPr>
          <p:cNvPr id="16" name="TextBox 15"/>
          <p:cNvSpPr txBox="1"/>
          <p:nvPr/>
        </p:nvSpPr>
        <p:spPr>
          <a:xfrm>
            <a:off x="10131552" y="2715768"/>
            <a:ext cx="1316736" cy="594359"/>
          </a:xfrm>
          <a:prstGeom prst="rect">
            <a:avLst/>
          </a:prstGeom>
          <a:noFill/>
        </p:spPr>
        <p:txBody>
          <a:bodyPr wrap="square" anchor="t" lIns="0" rIns="0" tIns="0" bIns="0">
            <a:spAutoFit/>
          </a:bodyPr>
          <a:lstStyle/>
          <a:p>
            <a:pPr algn="l">
              <a:lnSpc>
                <a:spcPct val="120000"/>
              </a:lnSpc>
            </a:pPr>
            <a:r>
              <a:rPr sz="1200" b="0">
                <a:solidFill>
                  <a:srgbClr val="3366FF"/>
                </a:solidFill>
                <a:latin typeface="Libre Franklin Medium"/>
              </a:rPr>
              <a:t>unfilled gap</a:t>
            </a:r>
          </a:p>
        </p:txBody>
      </p:sp>
      <p:sp>
        <p:nvSpPr>
          <p:cNvPr id="17" name="Rounded Rectangle 16"/>
          <p:cNvSpPr/>
          <p:nvPr/>
        </p:nvSpPr>
        <p:spPr>
          <a:xfrm>
            <a:off x="566928" y="381762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3739896"/>
            <a:ext cx="10783519"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Shadow mode computes, logs to optimizer_shadow, and changes nothing</a:t>
            </a:r>
          </a:p>
        </p:txBody>
      </p:sp>
      <p:sp>
        <p:nvSpPr>
          <p:cNvPr id="19" name="Rounded Rectangle 18"/>
          <p:cNvSpPr/>
          <p:nvPr/>
        </p:nvSpPr>
        <p:spPr>
          <a:xfrm>
            <a:off x="566928" y="4402836"/>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4325112"/>
            <a:ext cx="10783519" cy="621792"/>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Escalate when regret exceeds 3% or a visit is lost, two weeks running</a:t>
            </a:r>
          </a:p>
        </p:txBody>
      </p:sp>
      <p:sp>
        <p:nvSpPr>
          <p:cNvPr id="21" name="Rounded Rectangle 20"/>
          <p:cNvSpPr/>
          <p:nvPr/>
        </p:nvSpPr>
        <p:spPr>
          <a:xfrm>
            <a:off x="566928" y="4988051"/>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4910327"/>
            <a:ext cx="10783519" cy="1243584"/>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Free intermediate fix, already in the production greedy path: process visits MOST-CONSTRAINED-FIRST. One line. Greedy's worst failure is burning the only ADOS-certified coordinator on a visit any generalist could take</a:t>
            </a:r>
          </a:p>
        </p:txBody>
      </p:sp>
      <p:sp>
        <p:nvSpPr>
          <p:cNvPr id="23" name="Rounded Rectangle 22"/>
          <p:cNvSpPr/>
          <p:nvPr/>
        </p:nvSpPr>
        <p:spPr>
          <a:xfrm>
            <a:off x="566928" y="5111496"/>
            <a:ext cx="11057839" cy="685800"/>
          </a:xfrm>
          <a:prstGeom prst="roundRect">
            <a:avLst>
              <a:gd name="adj" fmla="val 2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7" y="5266944"/>
            <a:ext cx="10509199" cy="457200"/>
          </a:xfrm>
          <a:prstGeom prst="rect">
            <a:avLst/>
          </a:prstGeom>
          <a:noFill/>
        </p:spPr>
        <p:txBody>
          <a:bodyPr wrap="square" anchor="t" lIns="0" rIns="0" tIns="0" bIns="0">
            <a:spAutoFit/>
          </a:bodyPr>
          <a:lstStyle/>
          <a:p>
            <a:pPr algn="l">
              <a:lnSpc>
                <a:spcPct val="115000"/>
              </a:lnSpc>
            </a:pPr>
            <a:r>
              <a:rPr sz="1300" b="1">
                <a:solidFill>
                  <a:srgbClr val="3366FF"/>
                </a:solidFill>
                <a:latin typeface="Libre Franklin"/>
              </a:rPr>
              <a:t>The synthetic pilot week already clears the bar. On real data, two consecutive weeks over 3% is the signal to promote the optimiser.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FAIRNESS</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Equity is a constraint, not a criterion</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15</a:t>
            </a:r>
          </a:p>
        </p:txBody>
      </p:sp>
      <p:sp>
        <p:nvSpPr>
          <p:cNvPr id="7" name="TextBox 6"/>
          <p:cNvSpPr txBox="1"/>
          <p:nvPr/>
        </p:nvSpPr>
        <p:spPr>
          <a:xfrm>
            <a:off x="566928" y="1865376"/>
            <a:ext cx="11057839" cy="640080"/>
          </a:xfrm>
          <a:prstGeom prst="rect">
            <a:avLst/>
          </a:prstGeom>
          <a:noFill/>
        </p:spPr>
        <p:txBody>
          <a:bodyPr wrap="square" anchor="t" lIns="0" rIns="0" tIns="0" bIns="0">
            <a:spAutoFit/>
          </a:bodyPr>
          <a:lstStyle/>
          <a:p>
            <a:pPr algn="l">
              <a:lnSpc>
                <a:spcPct val="130000"/>
              </a:lnSpc>
            </a:pPr>
            <a:r>
              <a:rPr sz="1500" b="0">
                <a:solidFill>
                  <a:srgbClr val="1A1A1F"/>
                </a:solidFill>
                <a:latin typeface="Libre Franklin Medium"/>
              </a:rPr>
              <a:t>Encoding “nobody should always draw the long drives” as a weighted criterion makes it tradeable against everything else, which is exactly what fairness is meant to prevent.</a:t>
            </a:r>
          </a:p>
        </p:txBody>
      </p:sp>
      <p:sp>
        <p:nvSpPr>
          <p:cNvPr id="8" name="Rounded Rectangle 7"/>
          <p:cNvSpPr/>
          <p:nvPr/>
        </p:nvSpPr>
        <p:spPr>
          <a:xfrm>
            <a:off x="566928" y="2688336"/>
            <a:ext cx="3503066" cy="2514600"/>
          </a:xfrm>
          <a:prstGeom prst="roundRect">
            <a:avLst>
              <a:gd name="adj" fmla="val 7272"/>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on-hands-pair-discovery-blue.png"/>
          <p:cNvPicPr>
            <a:picLocks noChangeAspect="1"/>
          </p:cNvPicPr>
          <p:nvPr/>
        </p:nvPicPr>
        <p:blipFill>
          <a:blip r:embed="rId4"/>
          <a:stretch>
            <a:fillRect/>
          </a:stretch>
        </p:blipFill>
        <p:spPr>
          <a:xfrm>
            <a:off x="859536" y="2916936"/>
            <a:ext cx="566928" cy="566928"/>
          </a:xfrm>
          <a:prstGeom prst="rect">
            <a:avLst/>
          </a:prstGeom>
        </p:spPr>
      </p:pic>
      <p:sp>
        <p:nvSpPr>
          <p:cNvPr id="10" name="TextBox 9"/>
          <p:cNvSpPr txBox="1"/>
          <p:nvPr/>
        </p:nvSpPr>
        <p:spPr>
          <a:xfrm>
            <a:off x="859536" y="3621024"/>
            <a:ext cx="2917850" cy="548640"/>
          </a:xfrm>
          <a:prstGeom prst="rect">
            <a:avLst/>
          </a:prstGeom>
          <a:noFill/>
        </p:spPr>
        <p:txBody>
          <a:bodyPr wrap="square" anchor="t" lIns="0" rIns="0" tIns="0" bIns="0">
            <a:spAutoFit/>
          </a:bodyPr>
          <a:lstStyle/>
          <a:p>
            <a:pPr algn="l">
              <a:lnSpc>
                <a:spcPct val="110000"/>
              </a:lnSpc>
            </a:pPr>
            <a:r>
              <a:rPr sz="1550" b="1">
                <a:solidFill>
                  <a:srgbClr val="3366FF"/>
                </a:solidFill>
                <a:latin typeface="Libre Franklin"/>
              </a:rPr>
              <a:t>Vetoes, in the engine</a:t>
            </a:r>
          </a:p>
        </p:txBody>
      </p:sp>
      <p:sp>
        <p:nvSpPr>
          <p:cNvPr id="11" name="TextBox 10"/>
          <p:cNvSpPr txBox="1"/>
          <p:nvPr/>
        </p:nvSpPr>
        <p:spPr>
          <a:xfrm>
            <a:off x="859536" y="4242816"/>
            <a:ext cx="2917850" cy="914400"/>
          </a:xfrm>
          <a:prstGeom prst="rect">
            <a:avLst/>
          </a:prstGeom>
          <a:noFill/>
        </p:spPr>
        <p:txBody>
          <a:bodyPr wrap="square" anchor="t" lIns="0" rIns="0" tIns="0" bIns="0">
            <a:spAutoFit/>
          </a:bodyPr>
          <a:lstStyle/>
          <a:p>
            <a:pPr algn="l">
              <a:lnSpc>
                <a:spcPct val="125000"/>
              </a:lnSpc>
            </a:pPr>
            <a:r>
              <a:rPr sz="1200" b="0">
                <a:solidFill>
                  <a:srgbClr val="4A4A55"/>
                </a:solidFill>
                <a:latin typeface="Libre Franklin Medium"/>
              </a:rPr>
              <a:t>Reject if the assignment pushes utilisation over 1.0, or if the rolling four-week travel share exceeds 1.4x the capacity share.</a:t>
            </a:r>
          </a:p>
        </p:txBody>
      </p:sp>
      <p:sp>
        <p:nvSpPr>
          <p:cNvPr id="12" name="Rounded Rectangle 11"/>
          <p:cNvSpPr/>
          <p:nvPr/>
        </p:nvSpPr>
        <p:spPr>
          <a:xfrm>
            <a:off x="4344314" y="2688336"/>
            <a:ext cx="3503066" cy="2514600"/>
          </a:xfrm>
          <a:prstGeom prst="roundRect">
            <a:avLst>
              <a:gd name="adj" fmla="val 7272"/>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on-checklist-cool-white.png"/>
          <p:cNvPicPr>
            <a:picLocks noChangeAspect="1"/>
          </p:cNvPicPr>
          <p:nvPr/>
        </p:nvPicPr>
        <p:blipFill>
          <a:blip r:embed="rId5"/>
          <a:stretch>
            <a:fillRect/>
          </a:stretch>
        </p:blipFill>
        <p:spPr>
          <a:xfrm>
            <a:off x="4636922" y="2916936"/>
            <a:ext cx="566928" cy="566928"/>
          </a:xfrm>
          <a:prstGeom prst="rect">
            <a:avLst/>
          </a:prstGeom>
        </p:spPr>
      </p:pic>
      <p:sp>
        <p:nvSpPr>
          <p:cNvPr id="14" name="TextBox 13"/>
          <p:cNvSpPr txBox="1"/>
          <p:nvPr/>
        </p:nvSpPr>
        <p:spPr>
          <a:xfrm>
            <a:off x="4636922" y="3621024"/>
            <a:ext cx="2917850" cy="548640"/>
          </a:xfrm>
          <a:prstGeom prst="rect">
            <a:avLst/>
          </a:prstGeom>
          <a:noFill/>
        </p:spPr>
        <p:txBody>
          <a:bodyPr wrap="square" anchor="t" lIns="0" rIns="0" tIns="0" bIns="0">
            <a:spAutoFit/>
          </a:bodyPr>
          <a:lstStyle/>
          <a:p>
            <a:pPr algn="l">
              <a:lnSpc>
                <a:spcPct val="110000"/>
              </a:lnSpc>
            </a:pPr>
            <a:r>
              <a:rPr sz="1550" b="1">
                <a:solidFill>
                  <a:srgbClr val="3366FF"/>
                </a:solidFill>
                <a:latin typeface="Libre Franklin"/>
              </a:rPr>
              <a:t>A veto is a system event</a:t>
            </a:r>
          </a:p>
        </p:txBody>
      </p:sp>
      <p:sp>
        <p:nvSpPr>
          <p:cNvPr id="15" name="TextBox 14"/>
          <p:cNvSpPr txBox="1"/>
          <p:nvPr/>
        </p:nvSpPr>
        <p:spPr>
          <a:xfrm>
            <a:off x="4636922" y="4242816"/>
            <a:ext cx="2917850" cy="914400"/>
          </a:xfrm>
          <a:prstGeom prst="rect">
            <a:avLst/>
          </a:prstGeom>
          <a:noFill/>
        </p:spPr>
        <p:txBody>
          <a:bodyPr wrap="square" anchor="t" lIns="0" rIns="0" tIns="0" bIns="0">
            <a:spAutoFit/>
          </a:bodyPr>
          <a:lstStyle/>
          <a:p>
            <a:pPr algn="l">
              <a:lnSpc>
                <a:spcPct val="125000"/>
              </a:lnSpc>
            </a:pPr>
            <a:r>
              <a:rPr sz="1200" b="0">
                <a:solidFill>
                  <a:srgbClr val="4A4A55"/>
                </a:solidFill>
                <a:latin typeface="Libre Franklin Medium"/>
              </a:rPr>
              <a:t>Logged as system_constraint_veto, class system. It never inflates the override rate, which is the headline signal for whether the weights are wrong.</a:t>
            </a:r>
          </a:p>
        </p:txBody>
      </p:sp>
      <p:sp>
        <p:nvSpPr>
          <p:cNvPr id="16" name="Rounded Rectangle 15"/>
          <p:cNvSpPr/>
          <p:nvPr/>
        </p:nvSpPr>
        <p:spPr>
          <a:xfrm>
            <a:off x="8121700" y="2688336"/>
            <a:ext cx="3503066" cy="2514600"/>
          </a:xfrm>
          <a:prstGeom prst="roundRect">
            <a:avLst>
              <a:gd name="adj" fmla="val 7272"/>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eye-discovery-blue.png"/>
          <p:cNvPicPr>
            <a:picLocks noChangeAspect="1"/>
          </p:cNvPicPr>
          <p:nvPr/>
        </p:nvPicPr>
        <p:blipFill>
          <a:blip r:embed="rId6"/>
          <a:stretch>
            <a:fillRect/>
          </a:stretch>
        </p:blipFill>
        <p:spPr>
          <a:xfrm>
            <a:off x="8414308" y="2916936"/>
            <a:ext cx="566928" cy="566928"/>
          </a:xfrm>
          <a:prstGeom prst="rect">
            <a:avLst/>
          </a:prstGeom>
        </p:spPr>
      </p:pic>
      <p:sp>
        <p:nvSpPr>
          <p:cNvPr id="18" name="TextBox 17"/>
          <p:cNvSpPr txBox="1"/>
          <p:nvPr/>
        </p:nvSpPr>
        <p:spPr>
          <a:xfrm>
            <a:off x="8414308" y="3621024"/>
            <a:ext cx="2917850" cy="548640"/>
          </a:xfrm>
          <a:prstGeom prst="rect">
            <a:avLst/>
          </a:prstGeom>
          <a:noFill/>
        </p:spPr>
        <p:txBody>
          <a:bodyPr wrap="square" anchor="t" lIns="0" rIns="0" tIns="0" bIns="0">
            <a:spAutoFit/>
          </a:bodyPr>
          <a:lstStyle/>
          <a:p>
            <a:pPr algn="l">
              <a:lnSpc>
                <a:spcPct val="110000"/>
              </a:lnSpc>
            </a:pPr>
            <a:r>
              <a:rPr sz="1550" b="1">
                <a:solidFill>
                  <a:srgbClr val="3366FF"/>
                </a:solidFill>
                <a:latin typeface="Libre Franklin"/>
              </a:rPr>
              <a:t>Measured with a permutation test</a:t>
            </a:r>
          </a:p>
        </p:txBody>
      </p:sp>
      <p:sp>
        <p:nvSpPr>
          <p:cNvPr id="19" name="TextBox 18"/>
          <p:cNvSpPr txBox="1"/>
          <p:nvPr/>
        </p:nvSpPr>
        <p:spPr>
          <a:xfrm>
            <a:off x="8414308" y="4242816"/>
            <a:ext cx="2917850" cy="914400"/>
          </a:xfrm>
          <a:prstGeom prst="rect">
            <a:avLst/>
          </a:prstGeom>
          <a:noFill/>
        </p:spPr>
        <p:txBody>
          <a:bodyPr wrap="square" anchor="t" lIns="0" rIns="0" tIns="0" bIns="0">
            <a:spAutoFit/>
          </a:bodyPr>
          <a:lstStyle/>
          <a:p>
            <a:pPr algn="l">
              <a:lnSpc>
                <a:spcPct val="125000"/>
              </a:lnSpc>
            </a:pPr>
            <a:r>
              <a:rPr sz="1200" b="0">
                <a:solidFill>
                  <a:srgbClr val="4A4A55"/>
                </a:solidFill>
                <a:latin typeface="Libre Franklin Medium"/>
              </a:rPr>
              <a:t>Reassign each visit randomly among who was actually eligible. High p means the imbalance comes from eligibility, not scoring: a constraints conversation.</a:t>
            </a:r>
          </a:p>
        </p:txBody>
      </p:sp>
      <p:sp>
        <p:nvSpPr>
          <p:cNvPr id="20" name="TextBox 19"/>
          <p:cNvSpPr txBox="1"/>
          <p:nvPr/>
        </p:nvSpPr>
        <p:spPr>
          <a:xfrm>
            <a:off x="566928" y="5385816"/>
            <a:ext cx="11057839" cy="457200"/>
          </a:xfrm>
          <a:prstGeom prst="rect">
            <a:avLst/>
          </a:prstGeom>
          <a:noFill/>
        </p:spPr>
        <p:txBody>
          <a:bodyPr wrap="square" anchor="t" lIns="0" rIns="0" tIns="0" bIns="0">
            <a:spAutoFit/>
          </a:bodyPr>
          <a:lstStyle/>
          <a:p>
            <a:pPr algn="l">
              <a:lnSpc>
                <a:spcPct val="115000"/>
              </a:lnSpc>
            </a:pPr>
            <a:r>
              <a:rPr sz="1300" b="1">
                <a:solidFill>
                  <a:srgbClr val="F57F00"/>
                </a:solidFill>
                <a:latin typeface="Libre Franklin"/>
              </a:rPr>
              <a:t>On the synthetic pilot: CV 1.06 (RED), permutation p = 0.011. That imbalance is NOT explained by eligibility, so it needs acting 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TRACKING</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Log the pool, not the pick</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16</a:t>
            </a:r>
          </a:p>
        </p:txBody>
      </p:sp>
      <p:sp>
        <p:nvSpPr>
          <p:cNvPr id="7" name="TextBox 6"/>
          <p:cNvSpPr txBox="1"/>
          <p:nvPr/>
        </p:nvSpPr>
        <p:spPr>
          <a:xfrm>
            <a:off x="566928" y="1865376"/>
            <a:ext cx="11057839" cy="640080"/>
          </a:xfrm>
          <a:prstGeom prst="rect">
            <a:avLst/>
          </a:prstGeom>
          <a:noFill/>
        </p:spPr>
        <p:txBody>
          <a:bodyPr wrap="square" anchor="t" lIns="0" rIns="0" tIns="0" bIns="0">
            <a:spAutoFit/>
          </a:bodyPr>
          <a:lstStyle/>
          <a:p>
            <a:pPr algn="l">
              <a:lnSpc>
                <a:spcPct val="130000"/>
              </a:lnSpc>
            </a:pPr>
            <a:r>
              <a:rPr sz="1500" b="0">
                <a:solidFill>
                  <a:srgbClr val="1A1A1F"/>
                </a:solidFill>
                <a:latin typeface="Libre Franklin Medium"/>
              </a:rPr>
              <a:t>Every coordinator considered for every visit gets a row. About five extra rows per decision, and it is the difference between a system you can validate and one you can only defend.</a:t>
            </a:r>
          </a:p>
        </p:txBody>
      </p:sp>
      <p:sp>
        <p:nvSpPr>
          <p:cNvPr id="8" name="Rectangle 7"/>
          <p:cNvSpPr/>
          <p:nvPr/>
        </p:nvSpPr>
        <p:spPr>
          <a:xfrm>
            <a:off x="566928" y="2642616"/>
            <a:ext cx="11057839" cy="438912"/>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720340"/>
            <a:ext cx="2103120" cy="438912"/>
          </a:xfrm>
          <a:prstGeom prst="rect">
            <a:avLst/>
          </a:prstGeom>
          <a:noFill/>
        </p:spPr>
        <p:txBody>
          <a:bodyPr wrap="square" anchor="t" lIns="0" rIns="0" tIns="0" bIns="0">
            <a:spAutoFit/>
          </a:bodyPr>
          <a:lstStyle/>
          <a:p>
            <a:pPr algn="l">
              <a:lnSpc>
                <a:spcPct val="115000"/>
              </a:lnSpc>
            </a:pPr>
            <a:r>
              <a:rPr sz="1000" b="1" spc="80">
                <a:solidFill>
                  <a:srgbClr val="FFFFFF"/>
                </a:solidFill>
                <a:latin typeface="Libre Franklin"/>
              </a:rPr>
              <a:t>TABLE</a:t>
            </a:r>
          </a:p>
        </p:txBody>
      </p:sp>
      <p:sp>
        <p:nvSpPr>
          <p:cNvPr id="10" name="TextBox 9"/>
          <p:cNvSpPr txBox="1"/>
          <p:nvPr/>
        </p:nvSpPr>
        <p:spPr>
          <a:xfrm>
            <a:off x="2980944" y="2720340"/>
            <a:ext cx="548640" cy="438912"/>
          </a:xfrm>
          <a:prstGeom prst="rect">
            <a:avLst/>
          </a:prstGeom>
          <a:noFill/>
        </p:spPr>
        <p:txBody>
          <a:bodyPr wrap="square" anchor="t" lIns="0" rIns="0" tIns="0" bIns="0">
            <a:spAutoFit/>
          </a:bodyPr>
          <a:lstStyle/>
          <a:p>
            <a:pPr algn="ctr">
              <a:lnSpc>
                <a:spcPct val="115000"/>
              </a:lnSpc>
            </a:pPr>
            <a:r>
              <a:rPr sz="1000" b="1" spc="80">
                <a:solidFill>
                  <a:srgbClr val="FFFFFF"/>
                </a:solidFill>
                <a:latin typeface="Libre Franklin"/>
              </a:rPr>
              <a:t>COLS</a:t>
            </a:r>
          </a:p>
        </p:txBody>
      </p:sp>
      <p:sp>
        <p:nvSpPr>
          <p:cNvPr id="11" name="TextBox 10"/>
          <p:cNvSpPr txBox="1"/>
          <p:nvPr/>
        </p:nvSpPr>
        <p:spPr>
          <a:xfrm>
            <a:off x="3712463" y="2720340"/>
            <a:ext cx="7857439" cy="438912"/>
          </a:xfrm>
          <a:prstGeom prst="rect">
            <a:avLst/>
          </a:prstGeom>
          <a:noFill/>
        </p:spPr>
        <p:txBody>
          <a:bodyPr wrap="square" anchor="t" lIns="0" rIns="0" tIns="0" bIns="0">
            <a:spAutoFit/>
          </a:bodyPr>
          <a:lstStyle/>
          <a:p>
            <a:pPr algn="l">
              <a:lnSpc>
                <a:spcPct val="115000"/>
              </a:lnSpc>
            </a:pPr>
            <a:r>
              <a:rPr sz="1000" b="1" spc="80">
                <a:solidFill>
                  <a:srgbClr val="FFFFFF"/>
                </a:solidFill>
                <a:latin typeface="Libre Franklin"/>
              </a:rPr>
              <a:t>PURPOSE</a:t>
            </a:r>
          </a:p>
        </p:txBody>
      </p:sp>
      <p:sp>
        <p:nvSpPr>
          <p:cNvPr id="12" name="Rectangle 11"/>
          <p:cNvSpPr/>
          <p:nvPr/>
        </p:nvSpPr>
        <p:spPr>
          <a:xfrm>
            <a:off x="566928" y="3081528"/>
            <a:ext cx="11057839" cy="43891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3168396"/>
            <a:ext cx="2103120"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scoring_run</a:t>
            </a:r>
          </a:p>
        </p:txBody>
      </p:sp>
      <p:sp>
        <p:nvSpPr>
          <p:cNvPr id="14" name="TextBox 13"/>
          <p:cNvSpPr txBox="1"/>
          <p:nvPr/>
        </p:nvSpPr>
        <p:spPr>
          <a:xfrm>
            <a:off x="2980944" y="3168396"/>
            <a:ext cx="548640" cy="438912"/>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21</a:t>
            </a:r>
          </a:p>
        </p:txBody>
      </p:sp>
      <p:sp>
        <p:nvSpPr>
          <p:cNvPr id="15" name="TextBox 14"/>
          <p:cNvSpPr txBox="1"/>
          <p:nvPr/>
        </p:nvSpPr>
        <p:spPr>
          <a:xfrm>
            <a:off x="3712463" y="3168396"/>
            <a:ext cx="7857439"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One row per decision. Version fingerprints, pool sizes, starvation flag, surprise codes</a:t>
            </a:r>
          </a:p>
        </p:txBody>
      </p:sp>
      <p:sp>
        <p:nvSpPr>
          <p:cNvPr id="16" name="TextBox 15"/>
          <p:cNvSpPr txBox="1"/>
          <p:nvPr/>
        </p:nvSpPr>
        <p:spPr>
          <a:xfrm>
            <a:off x="694944" y="3607308"/>
            <a:ext cx="2103120"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candidate_score</a:t>
            </a:r>
          </a:p>
        </p:txBody>
      </p:sp>
      <p:sp>
        <p:nvSpPr>
          <p:cNvPr id="17" name="TextBox 16"/>
          <p:cNvSpPr txBox="1"/>
          <p:nvPr/>
        </p:nvSpPr>
        <p:spPr>
          <a:xfrm>
            <a:off x="2980944" y="3607308"/>
            <a:ext cx="548640" cy="438912"/>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48</a:t>
            </a:r>
          </a:p>
        </p:txBody>
      </p:sp>
      <p:sp>
        <p:nvSpPr>
          <p:cNvPr id="18" name="TextBox 17"/>
          <p:cNvSpPr txBox="1"/>
          <p:nvPr/>
        </p:nvSpPr>
        <p:spPr>
          <a:xfrm>
            <a:off x="3712463" y="3607308"/>
            <a:ext cx="7857439"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One row per coordinator IN THE POOL. All seven Layer 1 flags, every raw input, every weighted contribution</a:t>
            </a:r>
          </a:p>
        </p:txBody>
      </p:sp>
      <p:sp>
        <p:nvSpPr>
          <p:cNvPr id="19" name="Rectangle 18"/>
          <p:cNvSpPr/>
          <p:nvPr/>
        </p:nvSpPr>
        <p:spPr>
          <a:xfrm>
            <a:off x="566928" y="3959352"/>
            <a:ext cx="11057839" cy="43891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4046220"/>
            <a:ext cx="2103120"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assignment_outcome</a:t>
            </a:r>
          </a:p>
        </p:txBody>
      </p:sp>
      <p:sp>
        <p:nvSpPr>
          <p:cNvPr id="21" name="TextBox 20"/>
          <p:cNvSpPr txBox="1"/>
          <p:nvPr/>
        </p:nvSpPr>
        <p:spPr>
          <a:xfrm>
            <a:off x="2980944" y="4046220"/>
            <a:ext cx="548640" cy="438912"/>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16</a:t>
            </a:r>
          </a:p>
        </p:txBody>
      </p:sp>
      <p:sp>
        <p:nvSpPr>
          <p:cNvPr id="22" name="TextBox 21"/>
          <p:cNvSpPr txBox="1"/>
          <p:nvPr/>
        </p:nvSpPr>
        <p:spPr>
          <a:xfrm>
            <a:off x="3712463" y="4046220"/>
            <a:ext cx="7857439"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Who got it, human override vs system veto, reason class, provisional state, downstream outcomes</a:t>
            </a:r>
          </a:p>
        </p:txBody>
      </p:sp>
      <p:sp>
        <p:nvSpPr>
          <p:cNvPr id="23" name="TextBox 22"/>
          <p:cNvSpPr txBox="1"/>
          <p:nvPr/>
        </p:nvSpPr>
        <p:spPr>
          <a:xfrm>
            <a:off x="694944" y="4485132"/>
            <a:ext cx="2103120"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weight_vector</a:t>
            </a:r>
          </a:p>
        </p:txBody>
      </p:sp>
      <p:sp>
        <p:nvSpPr>
          <p:cNvPr id="24" name="TextBox 23"/>
          <p:cNvSpPr txBox="1"/>
          <p:nvPr/>
        </p:nvSpPr>
        <p:spPr>
          <a:xfrm>
            <a:off x="2980944" y="4485132"/>
            <a:ext cx="548640" cy="438912"/>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20</a:t>
            </a:r>
          </a:p>
        </p:txBody>
      </p:sp>
      <p:sp>
        <p:nvSpPr>
          <p:cNvPr id="25" name="TextBox 24"/>
          <p:cNvSpPr txBox="1"/>
          <p:nvPr/>
        </p:nvSpPr>
        <p:spPr>
          <a:xfrm>
            <a:off x="3712463" y="4485132"/>
            <a:ext cx="7857439"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Versioned weights with elicitation method, CR, approver</a:t>
            </a:r>
          </a:p>
        </p:txBody>
      </p:sp>
      <p:sp>
        <p:nvSpPr>
          <p:cNvPr id="26" name="Rectangle 25"/>
          <p:cNvSpPr/>
          <p:nvPr/>
        </p:nvSpPr>
        <p:spPr>
          <a:xfrm>
            <a:off x="566928" y="4837176"/>
            <a:ext cx="11057839" cy="43891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4924044"/>
            <a:ext cx="2103120"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calendar_sync_log</a:t>
            </a:r>
          </a:p>
        </p:txBody>
      </p:sp>
      <p:sp>
        <p:nvSpPr>
          <p:cNvPr id="28" name="TextBox 27"/>
          <p:cNvSpPr txBox="1"/>
          <p:nvPr/>
        </p:nvSpPr>
        <p:spPr>
          <a:xfrm>
            <a:off x="2980944" y="4924044"/>
            <a:ext cx="548640" cy="438912"/>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9</a:t>
            </a:r>
          </a:p>
        </p:txBody>
      </p:sp>
      <p:sp>
        <p:nvSpPr>
          <p:cNvPr id="29" name="TextBox 28"/>
          <p:cNvSpPr txBox="1"/>
          <p:nvPr/>
        </p:nvSpPr>
        <p:spPr>
          <a:xfrm>
            <a:off x="3712463" y="4924044"/>
            <a:ext cx="7857439"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Provider, latency, success, error code. The SLO panel</a:t>
            </a:r>
          </a:p>
        </p:txBody>
      </p:sp>
      <p:sp>
        <p:nvSpPr>
          <p:cNvPr id="30" name="TextBox 29"/>
          <p:cNvSpPr txBox="1"/>
          <p:nvPr/>
        </p:nvSpPr>
        <p:spPr>
          <a:xfrm>
            <a:off x="694944" y="5362956"/>
            <a:ext cx="2103120"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optimizer_shadow</a:t>
            </a:r>
          </a:p>
        </p:txBody>
      </p:sp>
      <p:sp>
        <p:nvSpPr>
          <p:cNvPr id="31" name="TextBox 30"/>
          <p:cNvSpPr txBox="1"/>
          <p:nvPr/>
        </p:nvSpPr>
        <p:spPr>
          <a:xfrm>
            <a:off x="2980944" y="5362956"/>
            <a:ext cx="548640" cy="438912"/>
          </a:xfrm>
          <a:prstGeom prst="rect">
            <a:avLst/>
          </a:prstGeom>
          <a:noFill/>
        </p:spPr>
        <p:txBody>
          <a:bodyPr wrap="square" anchor="t" lIns="0" rIns="0" tIns="0" bIns="0">
            <a:spAutoFit/>
          </a:bodyPr>
          <a:lstStyle/>
          <a:p>
            <a:pPr algn="ctr">
              <a:lnSpc>
                <a:spcPct val="115000"/>
              </a:lnSpc>
            </a:pPr>
            <a:r>
              <a:rPr sz="1250" b="0">
                <a:solidFill>
                  <a:srgbClr val="1A1A1F"/>
                </a:solidFill>
                <a:latin typeface="Libre Franklin Medium"/>
              </a:rPr>
              <a:t>12</a:t>
            </a:r>
          </a:p>
        </p:txBody>
      </p:sp>
      <p:sp>
        <p:nvSpPr>
          <p:cNvPr id="32" name="TextBox 31"/>
          <p:cNvSpPr txBox="1"/>
          <p:nvPr/>
        </p:nvSpPr>
        <p:spPr>
          <a:xfrm>
            <a:off x="3712463" y="5362956"/>
            <a:ext cx="7857439" cy="43891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Weekly greedy vs optimal, regret, escalate flag</a:t>
            </a:r>
          </a:p>
        </p:txBody>
      </p:sp>
      <p:sp>
        <p:nvSpPr>
          <p:cNvPr id="33" name="Rounded Rectangle 32"/>
          <p:cNvSpPr/>
          <p:nvPr/>
        </p:nvSpPr>
        <p:spPr>
          <a:xfrm>
            <a:off x="566928" y="5385816"/>
            <a:ext cx="11057839" cy="731520"/>
          </a:xfrm>
          <a:prstGeom prst="roundRect">
            <a:avLst>
              <a:gd name="adj" fmla="val 18749"/>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7" y="5550408"/>
            <a:ext cx="10509199" cy="457200"/>
          </a:xfrm>
          <a:prstGeom prst="rect">
            <a:avLst/>
          </a:prstGeom>
          <a:noFill/>
        </p:spPr>
        <p:txBody>
          <a:bodyPr wrap="square" anchor="t" lIns="0" rIns="0" tIns="0" bIns="0">
            <a:spAutoFit/>
          </a:bodyPr>
          <a:lstStyle/>
          <a:p>
            <a:pPr algn="l">
              <a:lnSpc>
                <a:spcPct val="115000"/>
              </a:lnSpc>
            </a:pPr>
            <a:r>
              <a:rPr sz="1300" b="1">
                <a:solidFill>
                  <a:srgbClr val="F4F4F6"/>
                </a:solidFill>
                <a:latin typeface="Libre Franklin"/>
              </a:rPr>
              <a:t>Append-only. No UPDATE, no DELETE. Corrections are new rows, and any past decision replays under new weights without re-querying a single calendar.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TRACKING</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What logging the whole pool buys you</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17</a:t>
            </a:r>
          </a:p>
        </p:txBody>
      </p:sp>
      <p:pic>
        <p:nvPicPr>
          <p:cNvPr id="7" name="Picture 6" descr="logit.png"/>
          <p:cNvPicPr>
            <a:picLocks noChangeAspect="1"/>
          </p:cNvPicPr>
          <p:nvPr/>
        </p:nvPicPr>
        <p:blipFill>
          <a:blip r:embed="rId4"/>
          <a:stretch>
            <a:fillRect/>
          </a:stretch>
        </p:blipFill>
        <p:spPr>
          <a:xfrm>
            <a:off x="566928" y="1956816"/>
            <a:ext cx="3696059" cy="1051560"/>
          </a:xfrm>
          <a:prstGeom prst="rect">
            <a:avLst/>
          </a:prstGeom>
        </p:spPr>
      </p:pic>
      <p:sp>
        <p:nvSpPr>
          <p:cNvPr id="8" name="TextBox 7"/>
          <p:cNvSpPr txBox="1"/>
          <p:nvPr/>
        </p:nvSpPr>
        <p:spPr>
          <a:xfrm>
            <a:off x="566928" y="3236976"/>
            <a:ext cx="5486400" cy="822960"/>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Conditional logit on what schedulers actually chose. Normalised betas are the weights the humans really use. Needs 50 to 100 decisions with three or more alternatives.</a:t>
            </a:r>
          </a:p>
        </p:txBody>
      </p:sp>
      <p:sp>
        <p:nvSpPr>
          <p:cNvPr id="9" name="Rounded Rectangle 8"/>
          <p:cNvSpPr/>
          <p:nvPr/>
        </p:nvSpPr>
        <p:spPr>
          <a:xfrm>
            <a:off x="6309360" y="208026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002536"/>
            <a:ext cx="5041087"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Rank-reversal replay under any candidate weight vector</a:t>
            </a:r>
          </a:p>
        </p:txBody>
      </p:sp>
      <p:sp>
        <p:nvSpPr>
          <p:cNvPr id="11" name="Rounded Rectangle 10"/>
          <p:cNvSpPr/>
          <p:nvPr/>
        </p:nvSpPr>
        <p:spPr>
          <a:xfrm>
            <a:off x="6309360" y="2482596"/>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404872"/>
            <a:ext cx="5041087"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“Why wasn't Kali offered?” answered in one query</a:t>
            </a:r>
          </a:p>
        </p:txBody>
      </p:sp>
      <p:sp>
        <p:nvSpPr>
          <p:cNvPr id="13" name="Rounded Rectangle 12"/>
          <p:cNvSpPr/>
          <p:nvPr/>
        </p:nvSpPr>
        <p:spPr>
          <a:xfrm>
            <a:off x="6309360" y="2884932"/>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807208"/>
            <a:ext cx="5041087"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Counterfactual re-scoring with no calendar re-query</a:t>
            </a:r>
          </a:p>
        </p:txBody>
      </p:sp>
      <p:sp>
        <p:nvSpPr>
          <p:cNvPr id="15" name="Rounded Rectangle 14"/>
          <p:cNvSpPr/>
          <p:nvPr/>
        </p:nvSpPr>
        <p:spPr>
          <a:xfrm>
            <a:off x="6309360" y="328726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3209544"/>
            <a:ext cx="5041087" cy="310896"/>
          </a:xfrm>
          <a:prstGeom prst="rect">
            <a:avLst/>
          </a:prstGeom>
          <a:noFill/>
        </p:spPr>
        <p:txBody>
          <a:bodyPr wrap="square" anchor="t" lIns="0" rIns="0" tIns="0" bIns="0">
            <a:spAutoFit/>
          </a:bodyPr>
          <a:lstStyle/>
          <a:p>
            <a:pPr algn="l">
              <a:lnSpc>
                <a:spcPct val="125000"/>
              </a:lnSpc>
            </a:pPr>
            <a:r>
              <a:rPr sz="1300" b="0">
                <a:solidFill>
                  <a:srgbClr val="4A4A55"/>
                </a:solidFill>
                <a:latin typeface="Libre Franklin Medium"/>
              </a:rPr>
              <a:t>Criticality and OAT sensitivity on real decisions</a:t>
            </a:r>
          </a:p>
        </p:txBody>
      </p:sp>
      <p:sp>
        <p:nvSpPr>
          <p:cNvPr id="17" name="Rounded Rectangle 16"/>
          <p:cNvSpPr/>
          <p:nvPr/>
        </p:nvSpPr>
        <p:spPr>
          <a:xfrm>
            <a:off x="6309360" y="3831335"/>
            <a:ext cx="5315407" cy="1051560"/>
          </a:xfrm>
          <a:prstGeom prst="roundRect">
            <a:avLst>
              <a:gd name="adj" fmla="val 13043"/>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014216"/>
            <a:ext cx="4766767" cy="731520"/>
          </a:xfrm>
          <a:prstGeom prst="rect">
            <a:avLst/>
          </a:prstGeom>
          <a:noFill/>
        </p:spPr>
        <p:txBody>
          <a:bodyPr wrap="square" anchor="t" lIns="0" rIns="0" tIns="0" bIns="0">
            <a:spAutoFit/>
          </a:bodyPr>
          <a:lstStyle/>
          <a:p>
            <a:pPr algn="l">
              <a:lnSpc>
                <a:spcPct val="125000"/>
              </a:lnSpc>
            </a:pPr>
            <a:r>
              <a:rPr sz="1300" b="1">
                <a:solidFill>
                  <a:srgbClr val="3366FF"/>
                </a:solidFill>
                <a:latin typeface="Libre Franklin"/>
              </a:rPr>
              <a:t>Log only the winner and every one of these becomes permanently impossible. It costs nothing to do it right on day one.</a:t>
            </a:r>
          </a:p>
        </p:txBody>
      </p:sp>
      <p:sp>
        <p:nvSpPr>
          <p:cNvPr id="19" name="TextBox 18"/>
          <p:cNvSpPr txBox="1"/>
          <p:nvPr/>
        </p:nvSpPr>
        <p:spPr>
          <a:xfrm>
            <a:off x="566928" y="5157216"/>
            <a:ext cx="11057839" cy="822960"/>
          </a:xfrm>
          <a:prstGeom prst="rect">
            <a:avLst/>
          </a:prstGeom>
          <a:noFill/>
        </p:spPr>
        <p:txBody>
          <a:bodyPr wrap="square" anchor="t" lIns="0" rIns="0" tIns="0" bIns="0">
            <a:spAutoFit/>
          </a:bodyPr>
          <a:lstStyle/>
          <a:p>
            <a:pPr algn="l">
              <a:lnSpc>
                <a:spcPct val="130000"/>
              </a:lnSpc>
            </a:pPr>
            <a:r>
              <a:rPr sz="1300" b="0">
                <a:solidFill>
                  <a:srgbClr val="4A4A55"/>
                </a:solidFill>
                <a:latin typeface="Libre Franklin Medium"/>
              </a:rPr>
              <a:t>Override reasons use a closed vocabulary, split into data_defect (the inputs were wrong: goes to the fix queue) and preference (the ranking was right, a human disagreed: goes to weight re-elicitation). Counting them together is how a scoring system quietly rots.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WEEKLY DEBRIEF</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Unexpected outcomes are detected, not remembered</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18</a:t>
            </a:r>
          </a:p>
        </p:txBody>
      </p:sp>
      <p:sp>
        <p:nvSpPr>
          <p:cNvPr id="7" name="Rectangle 6"/>
          <p:cNvSpPr/>
          <p:nvPr/>
        </p:nvSpPr>
        <p:spPr>
          <a:xfrm>
            <a:off x="566928" y="1865376"/>
            <a:ext cx="6949440" cy="347472"/>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943100"/>
            <a:ext cx="3200400" cy="347472"/>
          </a:xfrm>
          <a:prstGeom prst="rect">
            <a:avLst/>
          </a:prstGeom>
          <a:noFill/>
        </p:spPr>
        <p:txBody>
          <a:bodyPr wrap="square" anchor="t" lIns="0" rIns="0" tIns="0" bIns="0">
            <a:spAutoFit/>
          </a:bodyPr>
          <a:lstStyle/>
          <a:p>
            <a:pPr algn="l">
              <a:lnSpc>
                <a:spcPct val="115000"/>
              </a:lnSpc>
            </a:pPr>
            <a:r>
              <a:rPr sz="900" b="1" spc="80">
                <a:solidFill>
                  <a:srgbClr val="FFFFFF"/>
                </a:solidFill>
                <a:latin typeface="Libre Franklin"/>
              </a:rPr>
              <a:t>DETECTOR RULE</a:t>
            </a:r>
          </a:p>
        </p:txBody>
      </p:sp>
      <p:sp>
        <p:nvSpPr>
          <p:cNvPr id="9" name="TextBox 8"/>
          <p:cNvSpPr txBox="1"/>
          <p:nvPr/>
        </p:nvSpPr>
        <p:spPr>
          <a:xfrm>
            <a:off x="4078224" y="1943100"/>
            <a:ext cx="3383279" cy="347472"/>
          </a:xfrm>
          <a:prstGeom prst="rect">
            <a:avLst/>
          </a:prstGeom>
          <a:noFill/>
        </p:spPr>
        <p:txBody>
          <a:bodyPr wrap="square" anchor="t" lIns="0" rIns="0" tIns="0" bIns="0">
            <a:spAutoFit/>
          </a:bodyPr>
          <a:lstStyle/>
          <a:p>
            <a:pPr algn="l">
              <a:lnSpc>
                <a:spcPct val="115000"/>
              </a:lnSpc>
            </a:pPr>
            <a:r>
              <a:rPr sz="900" b="1" spc="80">
                <a:solidFill>
                  <a:srgbClr val="FFFFFF"/>
                </a:solidFill>
                <a:latin typeface="Libre Franklin"/>
              </a:rPr>
              <a:t>FIRES WHEN</a:t>
            </a:r>
          </a:p>
        </p:txBody>
      </p:sp>
      <p:sp>
        <p:nvSpPr>
          <p:cNvPr id="10" name="Rectangle 9"/>
          <p:cNvSpPr/>
          <p:nvPr/>
        </p:nvSpPr>
        <p:spPr>
          <a:xfrm>
            <a:off x="566928" y="2212848"/>
            <a:ext cx="6949440" cy="34747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299716"/>
            <a:ext cx="3200400"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HUMAN_OVERRODE_TOP</a:t>
            </a:r>
          </a:p>
        </p:txBody>
      </p:sp>
      <p:sp>
        <p:nvSpPr>
          <p:cNvPr id="12" name="TextBox 11"/>
          <p:cNvSpPr txBox="1"/>
          <p:nvPr/>
        </p:nvSpPr>
        <p:spPr>
          <a:xfrm>
            <a:off x="4078224" y="2299716"/>
            <a:ext cx="3383279"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a human picked past rank 1</a:t>
            </a:r>
          </a:p>
        </p:txBody>
      </p:sp>
      <p:sp>
        <p:nvSpPr>
          <p:cNvPr id="13" name="TextBox 12"/>
          <p:cNvSpPr txBox="1"/>
          <p:nvPr/>
        </p:nvSpPr>
        <p:spPr>
          <a:xfrm>
            <a:off x="694944" y="2647188"/>
            <a:ext cx="3200400"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INSIDE_REVIEW_BAND</a:t>
            </a:r>
          </a:p>
        </p:txBody>
      </p:sp>
      <p:sp>
        <p:nvSpPr>
          <p:cNvPr id="14" name="TextBox 13"/>
          <p:cNvSpPr txBox="1"/>
          <p:nvPr/>
        </p:nvSpPr>
        <p:spPr>
          <a:xfrm>
            <a:off x="4078224" y="2647188"/>
            <a:ext cx="3383279"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top two inside the calibrated band</a:t>
            </a:r>
          </a:p>
        </p:txBody>
      </p:sp>
      <p:sp>
        <p:nvSpPr>
          <p:cNvPr id="15" name="Rectangle 14"/>
          <p:cNvSpPr/>
          <p:nvPr/>
        </p:nvSpPr>
        <p:spPr>
          <a:xfrm>
            <a:off x="566928" y="2907791"/>
            <a:ext cx="6949440" cy="34747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2994660"/>
            <a:ext cx="3200400"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LOW_SELECTION_STABILITY</a:t>
            </a:r>
          </a:p>
        </p:txBody>
      </p:sp>
      <p:sp>
        <p:nvSpPr>
          <p:cNvPr id="17" name="TextBox 16"/>
          <p:cNvSpPr txBox="1"/>
          <p:nvPr/>
        </p:nvSpPr>
        <p:spPr>
          <a:xfrm>
            <a:off x="4078224" y="2994660"/>
            <a:ext cx="3383279"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leader wins under 60% of the simplex</a:t>
            </a:r>
          </a:p>
        </p:txBody>
      </p:sp>
      <p:sp>
        <p:nvSpPr>
          <p:cNvPr id="18" name="TextBox 17"/>
          <p:cNvSpPr txBox="1"/>
          <p:nvPr/>
        </p:nvSpPr>
        <p:spPr>
          <a:xfrm>
            <a:off x="694944" y="3342132"/>
            <a:ext cx="3200400"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CRITERION_INERT</a:t>
            </a:r>
          </a:p>
        </p:txBody>
      </p:sp>
      <p:sp>
        <p:nvSpPr>
          <p:cNvPr id="19" name="TextBox 18"/>
          <p:cNvSpPr txBox="1"/>
          <p:nvPr/>
        </p:nvSpPr>
        <p:spPr>
          <a:xfrm>
            <a:off x="4078224" y="3342132"/>
            <a:ext cx="3383279"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every candidate pinned to the same boundary</a:t>
            </a:r>
          </a:p>
        </p:txBody>
      </p:sp>
      <p:sp>
        <p:nvSpPr>
          <p:cNvPr id="20" name="Rectangle 19"/>
          <p:cNvSpPr/>
          <p:nvPr/>
        </p:nvSpPr>
        <p:spPr>
          <a:xfrm>
            <a:off x="566928" y="3602735"/>
            <a:ext cx="6949440" cy="34747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3689603"/>
            <a:ext cx="3200400"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TOP_PICK_OVER_CAPACITY</a:t>
            </a:r>
          </a:p>
        </p:txBody>
      </p:sp>
      <p:sp>
        <p:nvSpPr>
          <p:cNvPr id="22" name="TextBox 21"/>
          <p:cNvSpPr txBox="1"/>
          <p:nvPr/>
        </p:nvSpPr>
        <p:spPr>
          <a:xfrm>
            <a:off x="4078224" y="3689603"/>
            <a:ext cx="3383279"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the best option is already over capacity</a:t>
            </a:r>
          </a:p>
        </p:txBody>
      </p:sp>
      <p:sp>
        <p:nvSpPr>
          <p:cNvPr id="23" name="TextBox 22"/>
          <p:cNvSpPr txBox="1"/>
          <p:nvPr/>
        </p:nvSpPr>
        <p:spPr>
          <a:xfrm>
            <a:off x="694944" y="4037075"/>
            <a:ext cx="3200400"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POOL_STARVATION</a:t>
            </a:r>
          </a:p>
        </p:txBody>
      </p:sp>
      <p:sp>
        <p:nvSpPr>
          <p:cNvPr id="24" name="TextBox 23"/>
          <p:cNvSpPr txBox="1"/>
          <p:nvPr/>
        </p:nvSpPr>
        <p:spPr>
          <a:xfrm>
            <a:off x="4078224" y="4037075"/>
            <a:ext cx="3383279"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one or zero feasible candidates</a:t>
            </a:r>
          </a:p>
        </p:txBody>
      </p:sp>
      <p:sp>
        <p:nvSpPr>
          <p:cNvPr id="25" name="Rectangle 24"/>
          <p:cNvSpPr/>
          <p:nvPr/>
        </p:nvSpPr>
        <p:spPr>
          <a:xfrm>
            <a:off x="566928" y="4297679"/>
            <a:ext cx="6949440" cy="34747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4384547"/>
            <a:ext cx="3200400"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UNEXPLAINED_SCORE_SHIFT</a:t>
            </a:r>
          </a:p>
        </p:txBody>
      </p:sp>
      <p:sp>
        <p:nvSpPr>
          <p:cNvPr id="27" name="TextBox 26"/>
          <p:cNvSpPr txBox="1"/>
          <p:nvPr/>
        </p:nvSpPr>
        <p:spPr>
          <a:xfrm>
            <a:off x="4078224" y="4384547"/>
            <a:ext cx="3383279" cy="347472"/>
          </a:xfrm>
          <a:prstGeom prst="rect">
            <a:avLst/>
          </a:prstGeom>
          <a:noFill/>
        </p:spPr>
        <p:txBody>
          <a:bodyPr wrap="square" anchor="t" lIns="0" rIns="0" tIns="0" bIns="0">
            <a:spAutoFit/>
          </a:bodyPr>
          <a:lstStyle/>
          <a:p>
            <a:pPr algn="l">
              <a:lnSpc>
                <a:spcPct val="115000"/>
              </a:lnSpc>
            </a:pPr>
            <a:r>
              <a:rPr sz="1150" b="0">
                <a:solidFill>
                  <a:srgbClr val="1A1A1F"/>
                </a:solidFill>
                <a:latin typeface="Libre Franklin Medium"/>
              </a:rPr>
              <a:t>score moved 0.15 with unchanged inputs</a:t>
            </a:r>
          </a:p>
        </p:txBody>
      </p:sp>
      <p:sp>
        <p:nvSpPr>
          <p:cNvPr id="28" name="Rounded Rectangle 27"/>
          <p:cNvSpPr/>
          <p:nvPr/>
        </p:nvSpPr>
        <p:spPr>
          <a:xfrm>
            <a:off x="7589520" y="194310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1865376"/>
            <a:ext cx="3760927" cy="932688"/>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Eight sections: version header, fairness panel, exception register, surprise log, override waterfalls, drift panel, decisions, standing question</a:t>
            </a:r>
          </a:p>
        </p:txBody>
      </p:sp>
      <p:sp>
        <p:nvSpPr>
          <p:cNvPr id="30" name="Rounded Rectangle 29"/>
          <p:cNvSpPr/>
          <p:nvPr/>
        </p:nvSpPr>
        <p:spPr>
          <a:xfrm>
            <a:off x="7589520" y="269290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0" y="2615184"/>
            <a:ext cx="3760927" cy="932688"/>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Waterfalls turn anecdote into data: “suggested C03, chose C06; C03 led on continuity +0.113, C06 led on burden relief +0.006; net −0.207”</a:t>
            </a:r>
          </a:p>
        </p:txBody>
      </p:sp>
      <p:sp>
        <p:nvSpPr>
          <p:cNvPr id="32" name="Rounded Rectangle 31"/>
          <p:cNvSpPr/>
          <p:nvPr/>
        </p:nvSpPr>
        <p:spPr>
          <a:xfrm>
            <a:off x="7589520" y="3442716"/>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0" y="3364992"/>
            <a:ext cx="3760927" cy="621792"/>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Written to markdown and branded HTML every Monday at 07:00, before the lab meeting</a:t>
            </a:r>
          </a:p>
        </p:txBody>
      </p:sp>
      <p:sp>
        <p:nvSpPr>
          <p:cNvPr id="34" name="Rounded Rectangle 33"/>
          <p:cNvSpPr/>
          <p:nvPr/>
        </p:nvSpPr>
        <p:spPr>
          <a:xfrm>
            <a:off x="566928" y="4745736"/>
            <a:ext cx="11057839" cy="868680"/>
          </a:xfrm>
          <a:prstGeom prst="roundRect">
            <a:avLst>
              <a:gd name="adj" fmla="val 15789"/>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7" y="4928616"/>
            <a:ext cx="10509199" cy="640080"/>
          </a:xfrm>
          <a:prstGeom prst="rect">
            <a:avLst/>
          </a:prstGeom>
          <a:noFill/>
        </p:spPr>
        <p:txBody>
          <a:bodyPr wrap="square" anchor="t" lIns="0" rIns="0" tIns="0" bIns="0">
            <a:spAutoFit/>
          </a:bodyPr>
          <a:lstStyle/>
          <a:p>
            <a:pPr algn="l">
              <a:lnSpc>
                <a:spcPct val="125000"/>
              </a:lnSpc>
            </a:pPr>
            <a:r>
              <a:rPr sz="1350" b="1">
                <a:solidFill>
                  <a:srgbClr val="F4F4F6"/>
                </a:solidFill>
                <a:latin typeface="Libre Franklin"/>
              </a:rPr>
              <a:t>Section 8 asks out loud: did any assignment feel wrong without showing up in sections 2 or 3? That is the only check we have on the detector's false negatives, and it is why the debrief is a conversation, not an emailed PDF.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BEFORE THE PILOT ENDS</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Three independent routes to the same four numbers</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19</a:t>
            </a:r>
          </a:p>
        </p:txBody>
      </p:sp>
      <p:sp>
        <p:nvSpPr>
          <p:cNvPr id="7" name="Rounded Rectangle 6"/>
          <p:cNvSpPr/>
          <p:nvPr/>
        </p:nvSpPr>
        <p:spPr>
          <a:xfrm>
            <a:off x="566928" y="1865376"/>
            <a:ext cx="3503066" cy="2377440"/>
          </a:xfrm>
          <a:prstGeom prst="roundRect">
            <a:avLst>
              <a:gd name="adj" fmla="val 7692"/>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121408"/>
            <a:ext cx="2917850" cy="228600"/>
          </a:xfrm>
          <a:prstGeom prst="rect">
            <a:avLst/>
          </a:prstGeom>
          <a:noFill/>
        </p:spPr>
        <p:txBody>
          <a:bodyPr wrap="square" anchor="t" lIns="0" rIns="0" tIns="0" bIns="0">
            <a:spAutoFit/>
          </a:bodyPr>
          <a:lstStyle/>
          <a:p>
            <a:pPr algn="l">
              <a:lnSpc>
                <a:spcPct val="115000"/>
              </a:lnSpc>
            </a:pPr>
            <a:r>
              <a:rPr sz="1050" b="1" spc="120">
                <a:solidFill>
                  <a:srgbClr val="F57F00"/>
                </a:solidFill>
                <a:latin typeface="Libre Franklin"/>
              </a:rPr>
              <a:t>STATED PREFERENCE</a:t>
            </a:r>
          </a:p>
        </p:txBody>
      </p:sp>
      <p:sp>
        <p:nvSpPr>
          <p:cNvPr id="9" name="TextBox 8"/>
          <p:cNvSpPr txBox="1"/>
          <p:nvPr/>
        </p:nvSpPr>
        <p:spPr>
          <a:xfrm>
            <a:off x="859536" y="2432304"/>
            <a:ext cx="2917850" cy="384048"/>
          </a:xfrm>
          <a:prstGeom prst="rect">
            <a:avLst/>
          </a:prstGeom>
          <a:noFill/>
        </p:spPr>
        <p:txBody>
          <a:bodyPr wrap="square" anchor="t" lIns="0" rIns="0" tIns="0" bIns="0">
            <a:spAutoFit/>
          </a:bodyPr>
          <a:lstStyle/>
          <a:p>
            <a:pPr algn="l">
              <a:lnSpc>
                <a:spcPct val="115000"/>
              </a:lnSpc>
            </a:pPr>
            <a:r>
              <a:rPr sz="1900" b="1">
                <a:solidFill>
                  <a:srgbClr val="3366FF"/>
                </a:solidFill>
                <a:latin typeface="Libre Franklin"/>
              </a:rPr>
              <a:t>AHP</a:t>
            </a:r>
          </a:p>
        </p:txBody>
      </p:sp>
      <p:sp>
        <p:nvSpPr>
          <p:cNvPr id="10" name="TextBox 9"/>
          <p:cNvSpPr txBox="1"/>
          <p:nvPr/>
        </p:nvSpPr>
        <p:spPr>
          <a:xfrm>
            <a:off x="859536" y="2916936"/>
            <a:ext cx="2917850" cy="1188720"/>
          </a:xfrm>
          <a:prstGeom prst="rect">
            <a:avLst/>
          </a:prstGeom>
          <a:noFill/>
        </p:spPr>
        <p:txBody>
          <a:bodyPr wrap="square" anchor="t" lIns="0" rIns="0" tIns="0" bIns="0">
            <a:spAutoFit/>
          </a:bodyPr>
          <a:lstStyle/>
          <a:p>
            <a:pPr algn="l">
              <a:lnSpc>
                <a:spcPct val="125000"/>
              </a:lnSpc>
            </a:pPr>
            <a:r>
              <a:rPr sz="1200" b="0">
                <a:solidFill>
                  <a:srgbClr val="4A4A55"/>
                </a:solidFill>
                <a:latin typeface="Libre Franklin Medium"/>
              </a:rPr>
              <a:t>Saaty 1 to 9, six comparisons, individually not by consensus. Aggregate by the GEOMETRIC MEAN OF JUDGMENTS, which preserves reciprocity. Accept at CR &lt; 0.10.</a:t>
            </a:r>
          </a:p>
        </p:txBody>
      </p:sp>
      <p:sp>
        <p:nvSpPr>
          <p:cNvPr id="11" name="Rounded Rectangle 10"/>
          <p:cNvSpPr/>
          <p:nvPr/>
        </p:nvSpPr>
        <p:spPr>
          <a:xfrm>
            <a:off x="4344314" y="1865376"/>
            <a:ext cx="3503066" cy="2377440"/>
          </a:xfrm>
          <a:prstGeom prst="roundRect">
            <a:avLst>
              <a:gd name="adj" fmla="val 7692"/>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6922" y="2121408"/>
            <a:ext cx="2917850" cy="228600"/>
          </a:xfrm>
          <a:prstGeom prst="rect">
            <a:avLst/>
          </a:prstGeom>
          <a:noFill/>
        </p:spPr>
        <p:txBody>
          <a:bodyPr wrap="square" anchor="t" lIns="0" rIns="0" tIns="0" bIns="0">
            <a:spAutoFit/>
          </a:bodyPr>
          <a:lstStyle/>
          <a:p>
            <a:pPr algn="l">
              <a:lnSpc>
                <a:spcPct val="115000"/>
              </a:lnSpc>
            </a:pPr>
            <a:r>
              <a:rPr sz="1050" b="1" spc="120">
                <a:solidFill>
                  <a:srgbClr val="F57F00"/>
                </a:solidFill>
                <a:latin typeface="Libre Franklin"/>
              </a:rPr>
              <a:t>INTERDEPENDENCE</a:t>
            </a:r>
          </a:p>
        </p:txBody>
      </p:sp>
      <p:sp>
        <p:nvSpPr>
          <p:cNvPr id="13" name="TextBox 12"/>
          <p:cNvSpPr txBox="1"/>
          <p:nvPr/>
        </p:nvSpPr>
        <p:spPr>
          <a:xfrm>
            <a:off x="4636922" y="2432304"/>
            <a:ext cx="2917850" cy="384048"/>
          </a:xfrm>
          <a:prstGeom prst="rect">
            <a:avLst/>
          </a:prstGeom>
          <a:noFill/>
        </p:spPr>
        <p:txBody>
          <a:bodyPr wrap="square" anchor="t" lIns="0" rIns="0" tIns="0" bIns="0">
            <a:spAutoFit/>
          </a:bodyPr>
          <a:lstStyle/>
          <a:p>
            <a:pPr algn="l">
              <a:lnSpc>
                <a:spcPct val="115000"/>
              </a:lnSpc>
            </a:pPr>
            <a:r>
              <a:rPr sz="1900" b="1">
                <a:solidFill>
                  <a:srgbClr val="3366FF"/>
                </a:solidFill>
                <a:latin typeface="Libre Franklin"/>
              </a:rPr>
              <a:t>DEMATEL</a:t>
            </a:r>
          </a:p>
        </p:txBody>
      </p:sp>
      <p:sp>
        <p:nvSpPr>
          <p:cNvPr id="14" name="TextBox 13"/>
          <p:cNvSpPr txBox="1"/>
          <p:nvPr/>
        </p:nvSpPr>
        <p:spPr>
          <a:xfrm>
            <a:off x="4636922" y="2916936"/>
            <a:ext cx="2917850" cy="1188720"/>
          </a:xfrm>
          <a:prstGeom prst="rect">
            <a:avLst/>
          </a:prstGeom>
          <a:noFill/>
        </p:spPr>
        <p:txBody>
          <a:bodyPr wrap="square" anchor="t" lIns="0" rIns="0" tIns="0" bIns="0">
            <a:spAutoFit/>
          </a:bodyPr>
          <a:lstStyle/>
          <a:p>
            <a:pPr algn="l">
              <a:lnSpc>
                <a:spcPct val="125000"/>
              </a:lnSpc>
            </a:pPr>
            <a:r>
              <a:rPr sz="1200" b="0">
                <a:solidFill>
                  <a:srgbClr val="4A4A55"/>
                </a:solidFill>
                <a:latin typeface="Libre Franklin Medium"/>
              </a:rPr>
              <a:t>T = N(I-N)^-1. Prominence gives weights, relation gives the redundancy diagnostic: a strongly negative r-c means the criterion is an EFFECT and should not carry independent weight.</a:t>
            </a:r>
          </a:p>
        </p:txBody>
      </p:sp>
      <p:sp>
        <p:nvSpPr>
          <p:cNvPr id="15" name="Rounded Rectangle 14"/>
          <p:cNvSpPr/>
          <p:nvPr/>
        </p:nvSpPr>
        <p:spPr>
          <a:xfrm>
            <a:off x="8121700" y="1865376"/>
            <a:ext cx="3503066" cy="2377440"/>
          </a:xfrm>
          <a:prstGeom prst="roundRect">
            <a:avLst>
              <a:gd name="adj" fmla="val 7692"/>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4308" y="2121408"/>
            <a:ext cx="2917850" cy="228600"/>
          </a:xfrm>
          <a:prstGeom prst="rect">
            <a:avLst/>
          </a:prstGeom>
          <a:noFill/>
        </p:spPr>
        <p:txBody>
          <a:bodyPr wrap="square" anchor="t" lIns="0" rIns="0" tIns="0" bIns="0">
            <a:spAutoFit/>
          </a:bodyPr>
          <a:lstStyle/>
          <a:p>
            <a:pPr algn="l">
              <a:lnSpc>
                <a:spcPct val="115000"/>
              </a:lnSpc>
            </a:pPr>
            <a:r>
              <a:rPr sz="1050" b="1" spc="120">
                <a:solidFill>
                  <a:srgbClr val="F57F00"/>
                </a:solidFill>
                <a:latin typeface="Libre Franklin"/>
              </a:rPr>
              <a:t>REVEALED PREFERENCE</a:t>
            </a:r>
          </a:p>
        </p:txBody>
      </p:sp>
      <p:sp>
        <p:nvSpPr>
          <p:cNvPr id="17" name="TextBox 16"/>
          <p:cNvSpPr txBox="1"/>
          <p:nvPr/>
        </p:nvSpPr>
        <p:spPr>
          <a:xfrm>
            <a:off x="8414308" y="2432304"/>
            <a:ext cx="2917850" cy="384048"/>
          </a:xfrm>
          <a:prstGeom prst="rect">
            <a:avLst/>
          </a:prstGeom>
          <a:noFill/>
        </p:spPr>
        <p:txBody>
          <a:bodyPr wrap="square" anchor="t" lIns="0" rIns="0" tIns="0" bIns="0">
            <a:spAutoFit/>
          </a:bodyPr>
          <a:lstStyle/>
          <a:p>
            <a:pPr algn="l">
              <a:lnSpc>
                <a:spcPct val="115000"/>
              </a:lnSpc>
            </a:pPr>
            <a:r>
              <a:rPr sz="1900" b="1">
                <a:solidFill>
                  <a:srgbClr val="3366FF"/>
                </a:solidFill>
                <a:latin typeface="Libre Franklin"/>
              </a:rPr>
              <a:t>Conditional logit</a:t>
            </a:r>
          </a:p>
        </p:txBody>
      </p:sp>
      <p:sp>
        <p:nvSpPr>
          <p:cNvPr id="18" name="TextBox 17"/>
          <p:cNvSpPr txBox="1"/>
          <p:nvPr/>
        </p:nvSpPr>
        <p:spPr>
          <a:xfrm>
            <a:off x="8414308" y="2916936"/>
            <a:ext cx="2917850" cy="1188720"/>
          </a:xfrm>
          <a:prstGeom prst="rect">
            <a:avLst/>
          </a:prstGeom>
          <a:noFill/>
        </p:spPr>
        <p:txBody>
          <a:bodyPr wrap="square" anchor="t" lIns="0" rIns="0" tIns="0" bIns="0">
            <a:spAutoFit/>
          </a:bodyPr>
          <a:lstStyle/>
          <a:p>
            <a:pPr algn="l">
              <a:lnSpc>
                <a:spcPct val="125000"/>
              </a:lnSpc>
            </a:pPr>
            <a:r>
              <a:rPr sz="1200" b="0">
                <a:solidFill>
                  <a:srgbClr val="4A4A55"/>
                </a:solidFill>
                <a:latin typeface="Libre Franklin Medium"/>
              </a:rPr>
              <a:t>Fitted from the override log once 50 to 100 decisions are in. The weights the schedulers actually use, as opposed to the ones they say they use.</a:t>
            </a:r>
          </a:p>
        </p:txBody>
      </p:sp>
      <p:pic>
        <p:nvPicPr>
          <p:cNvPr id="19" name="Picture 18" descr="dematel.png"/>
          <p:cNvPicPr>
            <a:picLocks noChangeAspect="1"/>
          </p:cNvPicPr>
          <p:nvPr/>
        </p:nvPicPr>
        <p:blipFill>
          <a:blip r:embed="rId4"/>
          <a:stretch>
            <a:fillRect/>
          </a:stretch>
        </p:blipFill>
        <p:spPr>
          <a:xfrm>
            <a:off x="1884755" y="4471416"/>
            <a:ext cx="8422183" cy="329184"/>
          </a:xfrm>
          <a:prstGeom prst="rect">
            <a:avLst/>
          </a:prstGeom>
        </p:spPr>
      </p:pic>
      <p:sp>
        <p:nvSpPr>
          <p:cNvPr id="20" name="Rounded Rectangle 19"/>
          <p:cNvSpPr/>
          <p:nvPr/>
        </p:nvSpPr>
        <p:spPr>
          <a:xfrm>
            <a:off x="566928" y="5052059"/>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4974336"/>
            <a:ext cx="10783519" cy="932688"/>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Sensitivity: one-at-a-time ±0.05 with renormalisation, per-decision criticality by bisection, Dirichlet Monte Carlo over the simplex</a:t>
            </a:r>
          </a:p>
        </p:txBody>
      </p:sp>
      <p:sp>
        <p:nvSpPr>
          <p:cNvPr id="22" name="Rounded Rectangle 21"/>
          <p:cNvSpPr/>
          <p:nvPr/>
        </p:nvSpPr>
        <p:spPr>
          <a:xfrm>
            <a:off x="566928" y="5783579"/>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7" y="5705855"/>
            <a:ext cx="10783519" cy="932688"/>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Avoid Chang's extent analysis for fuzzy AHP: it is known to assign zero weight to non-dominated criteria, which would silently delete a criterion</a:t>
            </a:r>
          </a:p>
        </p:txBody>
      </p:sp>
      <p:sp>
        <p:nvSpPr>
          <p:cNvPr id="24" name="Rounded Rectangle 23"/>
          <p:cNvSpPr/>
          <p:nvPr/>
        </p:nvSpPr>
        <p:spPr>
          <a:xfrm>
            <a:off x="566928" y="6515099"/>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 y="6437375"/>
            <a:ext cx="10783519" cy="310896"/>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Timing: run it at the end of pilot week 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horizontal-discovery-blue.png"/>
          <p:cNvPicPr>
            <a:picLocks noChangeAspect="1"/>
          </p:cNvPicPr>
          <p:nvPr/>
        </p:nvPicPr>
        <p:blipFill>
          <a:blip r:embed="rId2"/>
          <a:stretch>
            <a:fillRect/>
          </a:stretch>
        </p:blipFill>
        <p:spPr>
          <a:xfrm>
            <a:off x="566928" y="292608"/>
            <a:ext cx="779412" cy="365760"/>
          </a:xfrm>
          <a:prstGeom prst="rect">
            <a:avLst/>
          </a:prstGeom>
        </p:spPr>
      </p:pic>
      <p:pic>
        <p:nvPicPr>
          <p:cNvPr id="3" name="Picture 2" descr="uofsc-horizontal-garnet.png"/>
          <p:cNvPicPr>
            <a:picLocks noChangeAspect="1"/>
          </p:cNvPicPr>
          <p:nvPr/>
        </p:nvPicPr>
        <p:blipFill>
          <a:blip r:embed="rId3"/>
          <a:stretch>
            <a:fillRect/>
          </a:stretch>
        </p:blipFill>
        <p:spPr>
          <a:xfrm>
            <a:off x="1620660" y="292608"/>
            <a:ext cx="2472998" cy="365760"/>
          </a:xfrm>
          <a:prstGeom prst="rect">
            <a:avLst/>
          </a:prstGeom>
        </p:spPr>
      </p:pic>
      <p:sp>
        <p:nvSpPr>
          <p:cNvPr id="4" name="TextBox 3"/>
          <p:cNvSpPr txBox="1"/>
          <p:nvPr/>
        </p:nvSpPr>
        <p:spPr>
          <a:xfrm>
            <a:off x="566928" y="841248"/>
            <a:ext cx="7315200" cy="256032"/>
          </a:xfrm>
          <a:prstGeom prst="rect">
            <a:avLst/>
          </a:prstGeom>
          <a:noFill/>
        </p:spPr>
        <p:txBody>
          <a:bodyPr wrap="square" anchor="t" lIns="0" rIns="0" tIns="0" bIns="0">
            <a:spAutoFit/>
          </a:bodyPr>
          <a:lstStyle/>
          <a:p>
            <a:pPr algn="l">
              <a:lnSpc>
                <a:spcPct val="115000"/>
              </a:lnSpc>
            </a:pPr>
            <a:r>
              <a:rPr sz="1100" b="1" spc="120">
                <a:solidFill>
                  <a:srgbClr val="3366FF"/>
                </a:solidFill>
                <a:latin typeface="Libre Franklin"/>
              </a:rPr>
              <a:t>RUNNING IT</a:t>
            </a:r>
          </a:p>
        </p:txBody>
      </p:sp>
      <p:sp>
        <p:nvSpPr>
          <p:cNvPr id="5" name="TextBox 4"/>
          <p:cNvSpPr txBox="1"/>
          <p:nvPr/>
        </p:nvSpPr>
        <p:spPr>
          <a:xfrm>
            <a:off x="566928" y="1188720"/>
            <a:ext cx="11057839" cy="731520"/>
          </a:xfrm>
          <a:prstGeom prst="rect">
            <a:avLst/>
          </a:prstGeom>
          <a:noFill/>
        </p:spPr>
        <p:txBody>
          <a:bodyPr wrap="square" anchor="t" lIns="0" rIns="0" tIns="0" bIns="0">
            <a:spAutoFit/>
          </a:bodyPr>
          <a:lstStyle/>
          <a:p>
            <a:pPr algn="l">
              <a:lnSpc>
                <a:spcPct val="115000"/>
              </a:lnSpc>
            </a:pPr>
            <a:r>
              <a:rPr sz="3200" b="1" spc="-30">
                <a:solidFill>
                  <a:srgbClr val="3366FF"/>
                </a:solidFill>
                <a:latin typeface="Libre Franklin"/>
              </a:rPr>
              <a:t>Four scheduled jobs, nothing outside the project folder</a:t>
            </a:r>
          </a:p>
        </p:txBody>
      </p:sp>
      <p:sp>
        <p:nvSpPr>
          <p:cNvPr id="6" name="TextBox 5"/>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4A4A55"/>
                </a:solidFill>
                <a:latin typeface="Libre Franklin"/>
              </a:rPr>
              <a:t>20</a:t>
            </a:r>
          </a:p>
        </p:txBody>
      </p:sp>
      <p:sp>
        <p:nvSpPr>
          <p:cNvPr id="7" name="Rectangle 6"/>
          <p:cNvSpPr/>
          <p:nvPr/>
        </p:nvSpPr>
        <p:spPr>
          <a:xfrm>
            <a:off x="566928" y="1865376"/>
            <a:ext cx="11057839" cy="530352"/>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943100"/>
            <a:ext cx="1371600" cy="530352"/>
          </a:xfrm>
          <a:prstGeom prst="rect">
            <a:avLst/>
          </a:prstGeom>
          <a:noFill/>
        </p:spPr>
        <p:txBody>
          <a:bodyPr wrap="square" anchor="t" lIns="0" rIns="0" tIns="0" bIns="0">
            <a:spAutoFit/>
          </a:bodyPr>
          <a:lstStyle/>
          <a:p>
            <a:pPr algn="l">
              <a:lnSpc>
                <a:spcPct val="115000"/>
              </a:lnSpc>
            </a:pPr>
            <a:r>
              <a:rPr sz="1000" b="1" spc="80">
                <a:solidFill>
                  <a:srgbClr val="FFFFFF"/>
                </a:solidFill>
                <a:latin typeface="Libre Franklin"/>
              </a:rPr>
              <a:t>JOB</a:t>
            </a:r>
          </a:p>
        </p:txBody>
      </p:sp>
      <p:sp>
        <p:nvSpPr>
          <p:cNvPr id="9" name="TextBox 8"/>
          <p:cNvSpPr txBox="1"/>
          <p:nvPr/>
        </p:nvSpPr>
        <p:spPr>
          <a:xfrm>
            <a:off x="2249424" y="1943100"/>
            <a:ext cx="1737360" cy="530352"/>
          </a:xfrm>
          <a:prstGeom prst="rect">
            <a:avLst/>
          </a:prstGeom>
          <a:noFill/>
        </p:spPr>
        <p:txBody>
          <a:bodyPr wrap="square" anchor="t" lIns="0" rIns="0" tIns="0" bIns="0">
            <a:spAutoFit/>
          </a:bodyPr>
          <a:lstStyle/>
          <a:p>
            <a:pPr algn="l">
              <a:lnSpc>
                <a:spcPct val="115000"/>
              </a:lnSpc>
            </a:pPr>
            <a:r>
              <a:rPr sz="1000" b="1" spc="80">
                <a:solidFill>
                  <a:srgbClr val="FFFFFF"/>
                </a:solidFill>
                <a:latin typeface="Libre Franklin"/>
              </a:rPr>
              <a:t>SCHEDULE</a:t>
            </a:r>
          </a:p>
        </p:txBody>
      </p:sp>
      <p:sp>
        <p:nvSpPr>
          <p:cNvPr id="10" name="TextBox 9"/>
          <p:cNvSpPr txBox="1"/>
          <p:nvPr/>
        </p:nvSpPr>
        <p:spPr>
          <a:xfrm>
            <a:off x="4169663" y="1943100"/>
            <a:ext cx="7400239" cy="530352"/>
          </a:xfrm>
          <a:prstGeom prst="rect">
            <a:avLst/>
          </a:prstGeom>
          <a:noFill/>
        </p:spPr>
        <p:txBody>
          <a:bodyPr wrap="square" anchor="t" lIns="0" rIns="0" tIns="0" bIns="0">
            <a:spAutoFit/>
          </a:bodyPr>
          <a:lstStyle/>
          <a:p>
            <a:pPr algn="l">
              <a:lnSpc>
                <a:spcPct val="115000"/>
              </a:lnSpc>
            </a:pPr>
            <a:r>
              <a:rPr sz="1000" b="1" spc="80">
                <a:solidFill>
                  <a:srgbClr val="FFFFFF"/>
                </a:solidFill>
                <a:latin typeface="Libre Franklin"/>
              </a:rPr>
              <a:t>WHAT IT DOES</a:t>
            </a:r>
          </a:p>
        </p:txBody>
      </p:sp>
      <p:sp>
        <p:nvSpPr>
          <p:cNvPr id="11" name="Rectangle 10"/>
          <p:cNvSpPr/>
          <p:nvPr/>
        </p:nvSpPr>
        <p:spPr>
          <a:xfrm>
            <a:off x="566928" y="2395728"/>
            <a:ext cx="11057839" cy="53035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2482596"/>
            <a:ext cx="1371600"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calsync</a:t>
            </a:r>
          </a:p>
        </p:txBody>
      </p:sp>
      <p:sp>
        <p:nvSpPr>
          <p:cNvPr id="13" name="TextBox 12"/>
          <p:cNvSpPr txBox="1"/>
          <p:nvPr/>
        </p:nvSpPr>
        <p:spPr>
          <a:xfrm>
            <a:off x="2249424" y="2482596"/>
            <a:ext cx="1737360"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every 5 min</a:t>
            </a:r>
          </a:p>
        </p:txBody>
      </p:sp>
      <p:sp>
        <p:nvSpPr>
          <p:cNvPr id="14" name="TextBox 13"/>
          <p:cNvSpPr txBox="1"/>
          <p:nvPr/>
        </p:nvSpPr>
        <p:spPr>
          <a:xfrm>
            <a:off x="4169663" y="2482596"/>
            <a:ext cx="7400239"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Delta pull. Keeps the 72-hour class inside its 15-minute hard threshold with room to spare</a:t>
            </a:r>
          </a:p>
        </p:txBody>
      </p:sp>
      <p:sp>
        <p:nvSpPr>
          <p:cNvPr id="15" name="TextBox 14"/>
          <p:cNvSpPr txBox="1"/>
          <p:nvPr/>
        </p:nvSpPr>
        <p:spPr>
          <a:xfrm>
            <a:off x="694944" y="3012948"/>
            <a:ext cx="1371600"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reconcile</a:t>
            </a:r>
          </a:p>
        </p:txBody>
      </p:sp>
      <p:sp>
        <p:nvSpPr>
          <p:cNvPr id="16" name="TextBox 15"/>
          <p:cNvSpPr txBox="1"/>
          <p:nvPr/>
        </p:nvSpPr>
        <p:spPr>
          <a:xfrm>
            <a:off x="2249424" y="3012948"/>
            <a:ext cx="1737360"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nightly 02:00</a:t>
            </a:r>
          </a:p>
        </p:txBody>
      </p:sp>
      <p:sp>
        <p:nvSpPr>
          <p:cNvPr id="17" name="TextBox 16"/>
          <p:cNvSpPr txBox="1"/>
          <p:nvPr/>
        </p:nvSpPr>
        <p:spPr>
          <a:xfrm>
            <a:off x="4169663" y="3012948"/>
            <a:ext cx="7400239"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Full reconcile plus an append-only integrity check: a shrinking row count means something else touched the database</a:t>
            </a:r>
          </a:p>
        </p:txBody>
      </p:sp>
      <p:sp>
        <p:nvSpPr>
          <p:cNvPr id="18" name="Rectangle 17"/>
          <p:cNvSpPr/>
          <p:nvPr/>
        </p:nvSpPr>
        <p:spPr>
          <a:xfrm>
            <a:off x="566928" y="3456432"/>
            <a:ext cx="11057839" cy="530352"/>
          </a:xfrm>
          <a:prstGeom prst="rect">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3543300"/>
            <a:ext cx="1371600"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shadow</a:t>
            </a:r>
          </a:p>
        </p:txBody>
      </p:sp>
      <p:sp>
        <p:nvSpPr>
          <p:cNvPr id="20" name="TextBox 19"/>
          <p:cNvSpPr txBox="1"/>
          <p:nvPr/>
        </p:nvSpPr>
        <p:spPr>
          <a:xfrm>
            <a:off x="2249424" y="3543300"/>
            <a:ext cx="1737360"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Monday 06:45</a:t>
            </a:r>
          </a:p>
        </p:txBody>
      </p:sp>
      <p:sp>
        <p:nvSpPr>
          <p:cNvPr id="21" name="TextBox 20"/>
          <p:cNvSpPr txBox="1"/>
          <p:nvPr/>
        </p:nvSpPr>
        <p:spPr>
          <a:xfrm>
            <a:off x="4169663" y="3543300"/>
            <a:ext cx="7400239"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Shadow optimiser, so the regret numbers exist before the debrief renders</a:t>
            </a:r>
          </a:p>
        </p:txBody>
      </p:sp>
      <p:sp>
        <p:nvSpPr>
          <p:cNvPr id="22" name="TextBox 21"/>
          <p:cNvSpPr txBox="1"/>
          <p:nvPr/>
        </p:nvSpPr>
        <p:spPr>
          <a:xfrm>
            <a:off x="694944" y="4073652"/>
            <a:ext cx="1371600"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debrief</a:t>
            </a:r>
          </a:p>
        </p:txBody>
      </p:sp>
      <p:sp>
        <p:nvSpPr>
          <p:cNvPr id="23" name="TextBox 22"/>
          <p:cNvSpPr txBox="1"/>
          <p:nvPr/>
        </p:nvSpPr>
        <p:spPr>
          <a:xfrm>
            <a:off x="2249424" y="4073652"/>
            <a:ext cx="1737360"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Monday 07:00</a:t>
            </a:r>
          </a:p>
        </p:txBody>
      </p:sp>
      <p:sp>
        <p:nvSpPr>
          <p:cNvPr id="24" name="TextBox 23"/>
          <p:cNvSpPr txBox="1"/>
          <p:nvPr/>
        </p:nvSpPr>
        <p:spPr>
          <a:xfrm>
            <a:off x="4169663" y="4073652"/>
            <a:ext cx="7400239" cy="530352"/>
          </a:xfrm>
          <a:prstGeom prst="rect">
            <a:avLst/>
          </a:prstGeom>
          <a:noFill/>
        </p:spPr>
        <p:txBody>
          <a:bodyPr wrap="square" anchor="t" lIns="0" rIns="0" tIns="0" bIns="0">
            <a:spAutoFit/>
          </a:bodyPr>
          <a:lstStyle/>
          <a:p>
            <a:pPr algn="l">
              <a:lnSpc>
                <a:spcPct val="115000"/>
              </a:lnSpc>
            </a:pPr>
            <a:r>
              <a:rPr sz="1250" b="0">
                <a:solidFill>
                  <a:srgbClr val="1A1A1F"/>
                </a:solidFill>
                <a:latin typeface="Libre Franklin Medium"/>
              </a:rPr>
              <a:t>Drift metrics and the debrief report, ahead of the lab meeting</a:t>
            </a:r>
          </a:p>
        </p:txBody>
      </p:sp>
      <p:sp>
        <p:nvSpPr>
          <p:cNvPr id="25" name="TextBox 24"/>
          <p:cNvSpPr txBox="1"/>
          <p:nvPr/>
        </p:nvSpPr>
        <p:spPr>
          <a:xfrm>
            <a:off x="566928" y="4379976"/>
            <a:ext cx="11057839" cy="365760"/>
          </a:xfrm>
          <a:prstGeom prst="rect">
            <a:avLst/>
          </a:prstGeom>
          <a:noFill/>
        </p:spPr>
        <p:txBody>
          <a:bodyPr wrap="square" anchor="t" lIns="0" rIns="0" tIns="0" bIns="0">
            <a:spAutoFit/>
          </a:bodyPr>
          <a:lstStyle/>
          <a:p>
            <a:pPr algn="l">
              <a:lnSpc>
                <a:spcPct val="115000"/>
              </a:lnSpc>
            </a:pPr>
            <a:r>
              <a:rPr sz="1400" b="1">
                <a:solidFill>
                  <a:srgbClr val="3366FF"/>
                </a:solidFill>
                <a:latin typeface="Libre Franklin"/>
              </a:rPr>
              <a:t>make init  ·  make demo  ·  make test  ·  make week  ·  make debrief  ·  make install-automation</a:t>
            </a:r>
          </a:p>
        </p:txBody>
      </p:sp>
      <p:sp>
        <p:nvSpPr>
          <p:cNvPr id="26" name="Rounded Rectangle 25"/>
          <p:cNvSpPr/>
          <p:nvPr/>
        </p:nvSpPr>
        <p:spPr>
          <a:xfrm>
            <a:off x="566928" y="4960620"/>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 y="4882896"/>
            <a:ext cx="10783519" cy="932688"/>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The debrief job REPORTS a recalibrated review band but never writes it. Weights and bands change only at a version boundary, with a human approving</a:t>
            </a:r>
          </a:p>
        </p:txBody>
      </p:sp>
      <p:sp>
        <p:nvSpPr>
          <p:cNvPr id="28" name="Rounded Rectangle 27"/>
          <p:cNvSpPr/>
          <p:nvPr/>
        </p:nvSpPr>
        <p:spPr>
          <a:xfrm>
            <a:off x="566928" y="5710428"/>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5632704"/>
            <a:ext cx="10783519" cy="621792"/>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Removal leaves data, reports and logs in place: the audit log outlives the automation</a:t>
            </a:r>
          </a:p>
        </p:txBody>
      </p:sp>
      <p:sp>
        <p:nvSpPr>
          <p:cNvPr id="30" name="Rounded Rectangle 29"/>
          <p:cNvSpPr/>
          <p:nvPr/>
        </p:nvSpPr>
        <p:spPr>
          <a:xfrm>
            <a:off x="566928" y="6277356"/>
            <a:ext cx="100584" cy="100584"/>
          </a:xfrm>
          <a:prstGeom prst="roundRect">
            <a:avLst>
              <a:gd name="adj" fmla="val 45454"/>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7" y="6199632"/>
            <a:ext cx="10783519" cy="621792"/>
          </a:xfrm>
          <a:prstGeom prst="rect">
            <a:avLst/>
          </a:prstGeom>
          <a:noFill/>
        </p:spPr>
        <p:txBody>
          <a:bodyPr wrap="square" anchor="t" lIns="0" rIns="0" tIns="0" bIns="0">
            <a:spAutoFit/>
          </a:bodyPr>
          <a:lstStyle/>
          <a:p>
            <a:pPr algn="l">
              <a:lnSpc>
                <a:spcPct val="125000"/>
              </a:lnSpc>
            </a:pPr>
            <a:r>
              <a:rPr sz="1250" b="0">
                <a:solidFill>
                  <a:srgbClr val="4A4A55"/>
                </a:solidFill>
                <a:latin typeface="Libre Franklin Medium"/>
              </a:rPr>
              <a:t>25 correctness anchors run in under ten seconds, including the hand-computed three-coordinator reference case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horizontal-cool-white.png"/>
          <p:cNvPicPr>
            <a:picLocks noChangeAspect="1"/>
          </p:cNvPicPr>
          <p:nvPr/>
        </p:nvPicPr>
        <p:blipFill>
          <a:blip r:embed="rId2"/>
          <a:stretch>
            <a:fillRect/>
          </a:stretch>
        </p:blipFill>
        <p:spPr>
          <a:xfrm>
            <a:off x="566928" y="292608"/>
            <a:ext cx="783388" cy="365760"/>
          </a:xfrm>
          <a:prstGeom prst="rect">
            <a:avLst/>
          </a:prstGeom>
        </p:spPr>
      </p:pic>
      <p:pic>
        <p:nvPicPr>
          <p:cNvPr id="4" name="Picture 3" descr="uofsc-horizontal-garnet.png"/>
          <p:cNvPicPr>
            <a:picLocks noChangeAspect="1"/>
          </p:cNvPicPr>
          <p:nvPr/>
        </p:nvPicPr>
        <p:blipFill>
          <a:blip r:embed="rId3"/>
          <a:stretch>
            <a:fillRect/>
          </a:stretch>
        </p:blipFill>
        <p:spPr>
          <a:xfrm>
            <a:off x="1624636" y="292608"/>
            <a:ext cx="2472998" cy="365760"/>
          </a:xfrm>
          <a:prstGeom prst="rect">
            <a:avLst/>
          </a:prstGeom>
        </p:spPr>
      </p:pic>
      <p:sp>
        <p:nvSpPr>
          <p:cNvPr id="5" name="TextBox 4"/>
          <p:cNvSpPr txBox="1"/>
          <p:nvPr/>
        </p:nvSpPr>
        <p:spPr>
          <a:xfrm>
            <a:off x="566928" y="1143000"/>
            <a:ext cx="7315200" cy="256032"/>
          </a:xfrm>
          <a:prstGeom prst="rect">
            <a:avLst/>
          </a:prstGeom>
          <a:noFill/>
        </p:spPr>
        <p:txBody>
          <a:bodyPr wrap="square" anchor="t" lIns="0" rIns="0" tIns="0" bIns="0">
            <a:spAutoFit/>
          </a:bodyPr>
          <a:lstStyle/>
          <a:p>
            <a:pPr algn="l">
              <a:lnSpc>
                <a:spcPct val="115000"/>
              </a:lnSpc>
            </a:pPr>
            <a:r>
              <a:rPr sz="1100" b="1" spc="120">
                <a:solidFill>
                  <a:srgbClr val="F4F4F6"/>
                </a:solidFill>
                <a:latin typeface="Libre Franklin"/>
              </a:rPr>
              <a:t>WHAT WE NEED FROM YOU</a:t>
            </a:r>
          </a:p>
        </p:txBody>
      </p:sp>
      <p:sp>
        <p:nvSpPr>
          <p:cNvPr id="6" name="TextBox 5"/>
          <p:cNvSpPr txBox="1"/>
          <p:nvPr/>
        </p:nvSpPr>
        <p:spPr>
          <a:xfrm>
            <a:off x="566928" y="1463040"/>
            <a:ext cx="9601200" cy="731520"/>
          </a:xfrm>
          <a:prstGeom prst="rect">
            <a:avLst/>
          </a:prstGeom>
          <a:noFill/>
        </p:spPr>
        <p:txBody>
          <a:bodyPr wrap="square" anchor="t" lIns="0" rIns="0" tIns="0" bIns="0">
            <a:spAutoFit/>
          </a:bodyPr>
          <a:lstStyle/>
          <a:p>
            <a:pPr algn="l">
              <a:lnSpc>
                <a:spcPct val="115000"/>
              </a:lnSpc>
            </a:pPr>
            <a:r>
              <a:rPr sz="3400" b="1" spc="-30">
                <a:solidFill>
                  <a:srgbClr val="F4F4F6"/>
                </a:solidFill>
                <a:latin typeface="Libre Franklin"/>
              </a:rPr>
              <a:t>Six decisions, none of them long</a:t>
            </a:r>
          </a:p>
        </p:txBody>
      </p:sp>
      <p:sp>
        <p:nvSpPr>
          <p:cNvPr id="7" name="Rectangle 6"/>
          <p:cNvSpPr/>
          <p:nvPr/>
        </p:nvSpPr>
        <p:spPr>
          <a:xfrm>
            <a:off x="566928" y="2468880"/>
            <a:ext cx="68580" cy="1051560"/>
          </a:xfrm>
          <a:prstGeom prst="rect">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4934559" cy="292608"/>
          </a:xfrm>
          <a:prstGeom prst="rect">
            <a:avLst/>
          </a:prstGeom>
          <a:noFill/>
        </p:spPr>
        <p:txBody>
          <a:bodyPr wrap="square" anchor="t" lIns="0" rIns="0" tIns="0" bIns="0">
            <a:spAutoFit/>
          </a:bodyPr>
          <a:lstStyle/>
          <a:p>
            <a:pPr algn="l">
              <a:lnSpc>
                <a:spcPct val="115000"/>
              </a:lnSpc>
            </a:pPr>
            <a:r>
              <a:rPr sz="1600" b="1">
                <a:solidFill>
                  <a:srgbClr val="F4F4F6"/>
                </a:solidFill>
                <a:latin typeface="Libre Franklin"/>
              </a:rPr>
              <a:t>Gamma, in one question</a:t>
            </a:r>
          </a:p>
        </p:txBody>
      </p:sp>
      <p:sp>
        <p:nvSpPr>
          <p:cNvPr id="9" name="TextBox 8"/>
          <p:cNvSpPr txBox="1"/>
          <p:nvPr/>
        </p:nvSpPr>
        <p:spPr>
          <a:xfrm>
            <a:off x="822960" y="2798064"/>
            <a:ext cx="4934559" cy="566928"/>
          </a:xfrm>
          <a:prstGeom prst="rect">
            <a:avLst/>
          </a:prstGeom>
          <a:noFill/>
        </p:spPr>
        <p:txBody>
          <a:bodyPr wrap="square" anchor="t" lIns="0" rIns="0" tIns="0" bIns="0">
            <a:spAutoFit/>
          </a:bodyPr>
          <a:lstStyle/>
          <a:p>
            <a:pPr algn="l">
              <a:lnSpc>
                <a:spcPct val="120000"/>
              </a:lnSpc>
            </a:pPr>
            <a:r>
              <a:rPr sz="1150" b="0">
                <a:solidFill>
                  <a:srgbClr val="F4F4F6"/>
                </a:solidFill>
                <a:latin typeface="Libre Franklin Medium"/>
              </a:rPr>
              <a:t>How many extra minutes of clinic time would you accept to avoid ten minutes of driving? Team median ÷ 10.</a:t>
            </a:r>
          </a:p>
        </p:txBody>
      </p:sp>
      <p:sp>
        <p:nvSpPr>
          <p:cNvPr id="10" name="TextBox 9"/>
          <p:cNvSpPr txBox="1"/>
          <p:nvPr/>
        </p:nvSpPr>
        <p:spPr>
          <a:xfrm>
            <a:off x="822960" y="3364992"/>
            <a:ext cx="4934559" cy="201168"/>
          </a:xfrm>
          <a:prstGeom prst="rect">
            <a:avLst/>
          </a:prstGeom>
          <a:noFill/>
        </p:spPr>
        <p:txBody>
          <a:bodyPr wrap="square" anchor="t" lIns="0" rIns="0" tIns="0" bIns="0">
            <a:spAutoFit/>
          </a:bodyPr>
          <a:lstStyle/>
          <a:p>
            <a:pPr algn="l">
              <a:lnSpc>
                <a:spcPct val="115000"/>
              </a:lnSpc>
            </a:pPr>
            <a:r>
              <a:rPr sz="1000" b="1" spc="100">
                <a:solidFill>
                  <a:srgbClr val="F4DA26"/>
                </a:solidFill>
                <a:latin typeface="Libre Franklin"/>
              </a:rPr>
              <a:t>SCHEDULER, WEEK 1</a:t>
            </a:r>
          </a:p>
        </p:txBody>
      </p:sp>
      <p:sp>
        <p:nvSpPr>
          <p:cNvPr id="11" name="Rectangle 10"/>
          <p:cNvSpPr/>
          <p:nvPr/>
        </p:nvSpPr>
        <p:spPr>
          <a:xfrm>
            <a:off x="6324447" y="2468880"/>
            <a:ext cx="68580" cy="1051560"/>
          </a:xfrm>
          <a:prstGeom prst="rect">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0479" y="2468880"/>
            <a:ext cx="4934559" cy="292608"/>
          </a:xfrm>
          <a:prstGeom prst="rect">
            <a:avLst/>
          </a:prstGeom>
          <a:noFill/>
        </p:spPr>
        <p:txBody>
          <a:bodyPr wrap="square" anchor="t" lIns="0" rIns="0" tIns="0" bIns="0">
            <a:spAutoFit/>
          </a:bodyPr>
          <a:lstStyle/>
          <a:p>
            <a:pPr algn="l">
              <a:lnSpc>
                <a:spcPct val="115000"/>
              </a:lnSpc>
            </a:pPr>
            <a:r>
              <a:rPr sz="1600" b="1">
                <a:solidFill>
                  <a:srgbClr val="F4F4F6"/>
                </a:solidFill>
                <a:latin typeface="Libre Franklin"/>
              </a:rPr>
              <a:t>Real capacity per coordinator</a:t>
            </a:r>
          </a:p>
        </p:txBody>
      </p:sp>
      <p:sp>
        <p:nvSpPr>
          <p:cNvPr id="13" name="TextBox 12"/>
          <p:cNvSpPr txBox="1"/>
          <p:nvPr/>
        </p:nvSpPr>
        <p:spPr>
          <a:xfrm>
            <a:off x="6580479" y="2798064"/>
            <a:ext cx="4934559" cy="566928"/>
          </a:xfrm>
          <a:prstGeom prst="rect">
            <a:avLst/>
          </a:prstGeom>
          <a:noFill/>
        </p:spPr>
        <p:txBody>
          <a:bodyPr wrap="square" anchor="t" lIns="0" rIns="0" tIns="0" bIns="0">
            <a:spAutoFit/>
          </a:bodyPr>
          <a:lstStyle/>
          <a:p>
            <a:pPr algn="l">
              <a:lnSpc>
                <a:spcPct val="120000"/>
              </a:lnSpc>
            </a:pPr>
            <a:r>
              <a:rPr sz="1150" b="0">
                <a:solidFill>
                  <a:srgbClr val="F4F4F6"/>
                </a:solidFill>
                <a:latin typeface="Libre Franklin Medium"/>
              </a:rPr>
              <a:t>capacity_hours_week from actual FTE, not a flat 20.</a:t>
            </a:r>
          </a:p>
        </p:txBody>
      </p:sp>
      <p:sp>
        <p:nvSpPr>
          <p:cNvPr id="14" name="TextBox 13"/>
          <p:cNvSpPr txBox="1"/>
          <p:nvPr/>
        </p:nvSpPr>
        <p:spPr>
          <a:xfrm>
            <a:off x="6580479" y="3364992"/>
            <a:ext cx="4934559" cy="201168"/>
          </a:xfrm>
          <a:prstGeom prst="rect">
            <a:avLst/>
          </a:prstGeom>
          <a:noFill/>
        </p:spPr>
        <p:txBody>
          <a:bodyPr wrap="square" anchor="t" lIns="0" rIns="0" tIns="0" bIns="0">
            <a:spAutoFit/>
          </a:bodyPr>
          <a:lstStyle/>
          <a:p>
            <a:pPr algn="l">
              <a:lnSpc>
                <a:spcPct val="115000"/>
              </a:lnSpc>
            </a:pPr>
            <a:r>
              <a:rPr sz="1000" b="1" spc="100">
                <a:solidFill>
                  <a:srgbClr val="F4DA26"/>
                </a:solidFill>
                <a:latin typeface="Libre Franklin"/>
              </a:rPr>
              <a:t>LAB MANAGER, WEEK 1</a:t>
            </a:r>
          </a:p>
        </p:txBody>
      </p:sp>
      <p:sp>
        <p:nvSpPr>
          <p:cNvPr id="15" name="Rectangle 14"/>
          <p:cNvSpPr/>
          <p:nvPr/>
        </p:nvSpPr>
        <p:spPr>
          <a:xfrm>
            <a:off x="566928" y="3767328"/>
            <a:ext cx="68580" cy="1051560"/>
          </a:xfrm>
          <a:prstGeom prst="rect">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67328"/>
            <a:ext cx="4934559" cy="292608"/>
          </a:xfrm>
          <a:prstGeom prst="rect">
            <a:avLst/>
          </a:prstGeom>
          <a:noFill/>
        </p:spPr>
        <p:txBody>
          <a:bodyPr wrap="square" anchor="t" lIns="0" rIns="0" tIns="0" bIns="0">
            <a:spAutoFit/>
          </a:bodyPr>
          <a:lstStyle/>
          <a:p>
            <a:pPr algn="l">
              <a:lnSpc>
                <a:spcPct val="115000"/>
              </a:lnSpc>
            </a:pPr>
            <a:r>
              <a:rPr sz="1600" b="1">
                <a:solidFill>
                  <a:srgbClr val="F4F4F6"/>
                </a:solidFill>
                <a:latin typeface="Libre Franklin"/>
              </a:rPr>
              <a:t>AHP session</a:t>
            </a:r>
          </a:p>
        </p:txBody>
      </p:sp>
      <p:sp>
        <p:nvSpPr>
          <p:cNvPr id="17" name="TextBox 16"/>
          <p:cNvSpPr txBox="1"/>
          <p:nvPr/>
        </p:nvSpPr>
        <p:spPr>
          <a:xfrm>
            <a:off x="822960" y="4096512"/>
            <a:ext cx="4934559" cy="566928"/>
          </a:xfrm>
          <a:prstGeom prst="rect">
            <a:avLst/>
          </a:prstGeom>
          <a:noFill/>
        </p:spPr>
        <p:txBody>
          <a:bodyPr wrap="square" anchor="t" lIns="0" rIns="0" tIns="0" bIns="0">
            <a:spAutoFit/>
          </a:bodyPr>
          <a:lstStyle/>
          <a:p>
            <a:pPr algn="l">
              <a:lnSpc>
                <a:spcPct val="120000"/>
              </a:lnSpc>
            </a:pPr>
            <a:r>
              <a:rPr sz="1150" b="0">
                <a:solidFill>
                  <a:srgbClr val="F4F4F6"/>
                </a:solidFill>
                <a:latin typeface="Libre Franklin Medium"/>
              </a:rPr>
              <a:t>Six pairwise comparisons, twenty minutes, individually.</a:t>
            </a:r>
          </a:p>
        </p:txBody>
      </p:sp>
      <p:sp>
        <p:nvSpPr>
          <p:cNvPr id="18" name="TextBox 17"/>
          <p:cNvSpPr txBox="1"/>
          <p:nvPr/>
        </p:nvSpPr>
        <p:spPr>
          <a:xfrm>
            <a:off x="822960" y="4663440"/>
            <a:ext cx="4934559" cy="201168"/>
          </a:xfrm>
          <a:prstGeom prst="rect">
            <a:avLst/>
          </a:prstGeom>
          <a:noFill/>
        </p:spPr>
        <p:txBody>
          <a:bodyPr wrap="square" anchor="t" lIns="0" rIns="0" tIns="0" bIns="0">
            <a:spAutoFit/>
          </a:bodyPr>
          <a:lstStyle/>
          <a:p>
            <a:pPr algn="l">
              <a:lnSpc>
                <a:spcPct val="115000"/>
              </a:lnSpc>
            </a:pPr>
            <a:r>
              <a:rPr sz="1000" b="1" spc="100">
                <a:solidFill>
                  <a:srgbClr val="F4DA26"/>
                </a:solidFill>
                <a:latin typeface="Libre Franklin"/>
              </a:rPr>
              <a:t>PI + TEAM, END OF WEEK 3</a:t>
            </a:r>
          </a:p>
        </p:txBody>
      </p:sp>
      <p:sp>
        <p:nvSpPr>
          <p:cNvPr id="19" name="Rectangle 18"/>
          <p:cNvSpPr/>
          <p:nvPr/>
        </p:nvSpPr>
        <p:spPr>
          <a:xfrm>
            <a:off x="6324447" y="3767328"/>
            <a:ext cx="68580" cy="1051560"/>
          </a:xfrm>
          <a:prstGeom prst="rect">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0479" y="3767328"/>
            <a:ext cx="4934559" cy="292608"/>
          </a:xfrm>
          <a:prstGeom prst="rect">
            <a:avLst/>
          </a:prstGeom>
          <a:noFill/>
        </p:spPr>
        <p:txBody>
          <a:bodyPr wrap="square" anchor="t" lIns="0" rIns="0" tIns="0" bIns="0">
            <a:spAutoFit/>
          </a:bodyPr>
          <a:lstStyle/>
          <a:p>
            <a:pPr algn="l">
              <a:lnSpc>
                <a:spcPct val="115000"/>
              </a:lnSpc>
            </a:pPr>
            <a:r>
              <a:rPr sz="1600" b="1">
                <a:solidFill>
                  <a:srgbClr val="F4F4F6"/>
                </a:solidFill>
                <a:latin typeface="Libre Franklin"/>
              </a:rPr>
              <a:t>Phi vs P at rho = 0.6</a:t>
            </a:r>
          </a:p>
        </p:txBody>
      </p:sp>
      <p:sp>
        <p:nvSpPr>
          <p:cNvPr id="21" name="TextBox 20"/>
          <p:cNvSpPr txBox="1"/>
          <p:nvPr/>
        </p:nvSpPr>
        <p:spPr>
          <a:xfrm>
            <a:off x="6580479" y="4096512"/>
            <a:ext cx="4934559" cy="566928"/>
          </a:xfrm>
          <a:prstGeom prst="rect">
            <a:avLst/>
          </a:prstGeom>
          <a:noFill/>
        </p:spPr>
        <p:txBody>
          <a:bodyPr wrap="square" anchor="t" lIns="0" rIns="0" tIns="0" bIns="0">
            <a:spAutoFit/>
          </a:bodyPr>
          <a:lstStyle/>
          <a:p>
            <a:pPr algn="l">
              <a:lnSpc>
                <a:spcPct val="120000"/>
              </a:lnSpc>
            </a:pPr>
            <a:r>
              <a:rPr sz="1150" b="0">
                <a:solidFill>
                  <a:srgbClr val="F4F4F6"/>
                </a:solidFill>
                <a:latin typeface="Libre Franklin Medium"/>
              </a:rPr>
              <a:t>Borderline redundant on synthetic data. If real data pushes it over, P folds into Phi or becomes a constraint.</a:t>
            </a:r>
          </a:p>
        </p:txBody>
      </p:sp>
      <p:sp>
        <p:nvSpPr>
          <p:cNvPr id="22" name="TextBox 21"/>
          <p:cNvSpPr txBox="1"/>
          <p:nvPr/>
        </p:nvSpPr>
        <p:spPr>
          <a:xfrm>
            <a:off x="6580479" y="4663440"/>
            <a:ext cx="4934559" cy="201168"/>
          </a:xfrm>
          <a:prstGeom prst="rect">
            <a:avLst/>
          </a:prstGeom>
          <a:noFill/>
        </p:spPr>
        <p:txBody>
          <a:bodyPr wrap="square" anchor="t" lIns="0" rIns="0" tIns="0" bIns="0">
            <a:spAutoFit/>
          </a:bodyPr>
          <a:lstStyle/>
          <a:p>
            <a:pPr algn="l">
              <a:lnSpc>
                <a:spcPct val="115000"/>
              </a:lnSpc>
            </a:pPr>
            <a:r>
              <a:rPr sz="1000" b="1" spc="100">
                <a:solidFill>
                  <a:srgbClr val="F4DA26"/>
                </a:solidFill>
                <a:latin typeface="Libre Franklin"/>
              </a:rPr>
              <a:t>PI, WEEK 4</a:t>
            </a:r>
          </a:p>
        </p:txBody>
      </p:sp>
      <p:sp>
        <p:nvSpPr>
          <p:cNvPr id="23" name="Rectangle 22"/>
          <p:cNvSpPr/>
          <p:nvPr/>
        </p:nvSpPr>
        <p:spPr>
          <a:xfrm>
            <a:off x="566928" y="5065776"/>
            <a:ext cx="68580" cy="1051560"/>
          </a:xfrm>
          <a:prstGeom prst="rect">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65776"/>
            <a:ext cx="4934559" cy="292608"/>
          </a:xfrm>
          <a:prstGeom prst="rect">
            <a:avLst/>
          </a:prstGeom>
          <a:noFill/>
        </p:spPr>
        <p:txBody>
          <a:bodyPr wrap="square" anchor="t" lIns="0" rIns="0" tIns="0" bIns="0">
            <a:spAutoFit/>
          </a:bodyPr>
          <a:lstStyle/>
          <a:p>
            <a:pPr algn="l">
              <a:lnSpc>
                <a:spcPct val="115000"/>
              </a:lnSpc>
            </a:pPr>
            <a:r>
              <a:rPr sz="1600" b="1">
                <a:solidFill>
                  <a:srgbClr val="F4F4F6"/>
                </a:solidFill>
                <a:latin typeface="Libre Franklin"/>
              </a:rPr>
              <a:t>Override discipline</a:t>
            </a:r>
          </a:p>
        </p:txBody>
      </p:sp>
      <p:sp>
        <p:nvSpPr>
          <p:cNvPr id="25" name="TextBox 24"/>
          <p:cNvSpPr txBox="1"/>
          <p:nvPr/>
        </p:nvSpPr>
        <p:spPr>
          <a:xfrm>
            <a:off x="822960" y="5394960"/>
            <a:ext cx="4934559" cy="566928"/>
          </a:xfrm>
          <a:prstGeom prst="rect">
            <a:avLst/>
          </a:prstGeom>
          <a:noFill/>
        </p:spPr>
        <p:txBody>
          <a:bodyPr wrap="square" anchor="t" lIns="0" rIns="0" tIns="0" bIns="0">
            <a:spAutoFit/>
          </a:bodyPr>
          <a:lstStyle/>
          <a:p>
            <a:pPr algn="l">
              <a:lnSpc>
                <a:spcPct val="120000"/>
              </a:lnSpc>
            </a:pPr>
            <a:r>
              <a:rPr sz="1150" b="0">
                <a:solidFill>
                  <a:srgbClr val="F4F4F6"/>
                </a:solidFill>
                <a:latin typeface="Libre Franklin Medium"/>
              </a:rPr>
              <a:t>Every override gets a reason code. An unexplained override is a lost data point.</a:t>
            </a:r>
          </a:p>
        </p:txBody>
      </p:sp>
      <p:sp>
        <p:nvSpPr>
          <p:cNvPr id="26" name="TextBox 25"/>
          <p:cNvSpPr txBox="1"/>
          <p:nvPr/>
        </p:nvSpPr>
        <p:spPr>
          <a:xfrm>
            <a:off x="822960" y="5961888"/>
            <a:ext cx="4934559" cy="201168"/>
          </a:xfrm>
          <a:prstGeom prst="rect">
            <a:avLst/>
          </a:prstGeom>
          <a:noFill/>
        </p:spPr>
        <p:txBody>
          <a:bodyPr wrap="square" anchor="t" lIns="0" rIns="0" tIns="0" bIns="0">
            <a:spAutoFit/>
          </a:bodyPr>
          <a:lstStyle/>
          <a:p>
            <a:pPr algn="l">
              <a:lnSpc>
                <a:spcPct val="115000"/>
              </a:lnSpc>
            </a:pPr>
            <a:r>
              <a:rPr sz="1000" b="1" spc="100">
                <a:solidFill>
                  <a:srgbClr val="F4DA26"/>
                </a:solidFill>
                <a:latin typeface="Libre Franklin"/>
              </a:rPr>
              <a:t>EVERYONE, FROM WEEK 1</a:t>
            </a:r>
          </a:p>
        </p:txBody>
      </p:sp>
      <p:sp>
        <p:nvSpPr>
          <p:cNvPr id="27" name="Rectangle 26"/>
          <p:cNvSpPr/>
          <p:nvPr/>
        </p:nvSpPr>
        <p:spPr>
          <a:xfrm>
            <a:off x="6324447" y="5065776"/>
            <a:ext cx="68580" cy="1051560"/>
          </a:xfrm>
          <a:prstGeom prst="rect">
            <a:avLst/>
          </a:prstGeom>
          <a:solidFill>
            <a:srgbClr val="F4D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0479" y="5065776"/>
            <a:ext cx="4934559" cy="292608"/>
          </a:xfrm>
          <a:prstGeom prst="rect">
            <a:avLst/>
          </a:prstGeom>
          <a:noFill/>
        </p:spPr>
        <p:txBody>
          <a:bodyPr wrap="square" anchor="t" lIns="0" rIns="0" tIns="0" bIns="0">
            <a:spAutoFit/>
          </a:bodyPr>
          <a:lstStyle/>
          <a:p>
            <a:pPr algn="l">
              <a:lnSpc>
                <a:spcPct val="115000"/>
              </a:lnSpc>
            </a:pPr>
            <a:r>
              <a:rPr sz="1600" b="1">
                <a:solidFill>
                  <a:srgbClr val="F4F4F6"/>
                </a:solidFill>
                <a:latin typeface="Libre Franklin"/>
              </a:rPr>
              <a:t>IRB note</a:t>
            </a:r>
          </a:p>
        </p:txBody>
      </p:sp>
      <p:sp>
        <p:nvSpPr>
          <p:cNvPr id="29" name="TextBox 28"/>
          <p:cNvSpPr txBox="1"/>
          <p:nvPr/>
        </p:nvSpPr>
        <p:spPr>
          <a:xfrm>
            <a:off x="6580479" y="5394960"/>
            <a:ext cx="4934559" cy="566928"/>
          </a:xfrm>
          <a:prstGeom prst="rect">
            <a:avLst/>
          </a:prstGeom>
          <a:noFill/>
        </p:spPr>
        <p:txBody>
          <a:bodyPr wrap="square" anchor="t" lIns="0" rIns="0" tIns="0" bIns="0">
            <a:spAutoFit/>
          </a:bodyPr>
          <a:lstStyle/>
          <a:p>
            <a:pPr algn="l">
              <a:lnSpc>
                <a:spcPct val="120000"/>
              </a:lnSpc>
            </a:pPr>
            <a:r>
              <a:rPr sz="1150" b="0">
                <a:solidFill>
                  <a:srgbClr val="F4F4F6"/>
                </a:solidFill>
                <a:latin typeface="Libre Franklin Medium"/>
              </a:rPr>
              <a:t>Randomised tie-breaking as a QI activity, and a retention window for family-linked scheduling data.</a:t>
            </a:r>
          </a:p>
        </p:txBody>
      </p:sp>
      <p:sp>
        <p:nvSpPr>
          <p:cNvPr id="30" name="TextBox 29"/>
          <p:cNvSpPr txBox="1"/>
          <p:nvPr/>
        </p:nvSpPr>
        <p:spPr>
          <a:xfrm>
            <a:off x="6580479" y="5961888"/>
            <a:ext cx="4934559" cy="201168"/>
          </a:xfrm>
          <a:prstGeom prst="rect">
            <a:avLst/>
          </a:prstGeom>
          <a:noFill/>
        </p:spPr>
        <p:txBody>
          <a:bodyPr wrap="square" anchor="t" lIns="0" rIns="0" tIns="0" bIns="0">
            <a:spAutoFit/>
          </a:bodyPr>
          <a:lstStyle/>
          <a:p>
            <a:pPr algn="l">
              <a:lnSpc>
                <a:spcPct val="115000"/>
              </a:lnSpc>
            </a:pPr>
            <a:r>
              <a:rPr sz="1000" b="1" spc="100">
                <a:solidFill>
                  <a:srgbClr val="F4DA26"/>
                </a:solidFill>
                <a:latin typeface="Libre Franklin"/>
              </a:rPr>
              <a:t>PI, BEFORE GO-LIVE</a:t>
            </a:r>
          </a:p>
        </p:txBody>
      </p:sp>
      <p:sp>
        <p:nvSpPr>
          <p:cNvPr id="31" name="TextBox 30"/>
          <p:cNvSpPr txBox="1"/>
          <p:nvPr/>
        </p:nvSpPr>
        <p:spPr>
          <a:xfrm>
            <a:off x="11076127" y="6355080"/>
            <a:ext cx="548640" cy="274320"/>
          </a:xfrm>
          <a:prstGeom prst="rect">
            <a:avLst/>
          </a:prstGeom>
          <a:noFill/>
        </p:spPr>
        <p:txBody>
          <a:bodyPr wrap="square" anchor="t" lIns="0" rIns="0" tIns="0" bIns="0">
            <a:spAutoFit/>
          </a:bodyPr>
          <a:lstStyle/>
          <a:p>
            <a:pPr algn="r">
              <a:lnSpc>
                <a:spcPct val="115000"/>
              </a:lnSpc>
            </a:pPr>
            <a:r>
              <a:rPr sz="1100" b="1">
                <a:solidFill>
                  <a:srgbClr val="91BAF4"/>
                </a:solidFill>
                <a:latin typeface="Libre Franklin"/>
              </a:rPr>
              <a:t>21</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A1A1F"/>
      </a:dk2>
      <a:lt2>
        <a:srgbClr val="F4F4F6"/>
      </a:lt2>
      <a:accent1>
        <a:srgbClr val="3366FF"/>
      </a:accent1>
      <a:accent2>
        <a:srgbClr val="91BAF4"/>
      </a:accent2>
      <a:accent3>
        <a:srgbClr val="F57F00"/>
      </a:accent3>
      <a:accent4>
        <a:srgbClr val="F4DA26"/>
      </a:accent4>
      <a:accent5>
        <a:srgbClr val="D74E2D"/>
      </a:accent5>
      <a:accent6>
        <a:srgbClr val="F8B2B1"/>
      </a:accent6>
      <a:hlink>
        <a:srgbClr val="3366FF"/>
      </a:hlink>
      <a:folHlink>
        <a:srgbClr val="91BAF4"/>
      </a:folHlink>
    </a:clrScheme>
    <a:fontScheme name="Office">
      <a:majorFont>
        <a:latin typeface="Libre Frankli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ibre Franklin Medium"/>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Visit Scheduling Scoring System v3</dc:title>
  <dc:subject/>
  <dc:creator>The Early Social Development Lab at UofSC</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