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of this deck: make the visit assignment rule explicit enough that any coordinator can reproduce it by hand, and any pick can be explained to the PI or to a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1 answers question one, Layer 2 answers question two, Layer 3 answers question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arrows are one directional. Nothing loops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Subscript i is the person, f is the family, v is the visit.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non negotiable and cannot be traded off against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case is the reason the exclusion list is a hard filter and not a scoring penalty.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 five parts is normalised, so no single part can dominate through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Family history is the only term that can go negative, and only when the family asks for a new 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Travel and workload are both relative to the current pool, so they rescale automatically as the team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here are taken straight from the architecture document, with names replaced.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family had a strong comfort preference, that belongs in Layer 1 as a hard override, not as a bigger continuity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tolerance is a setting. Start it small, then widen it if coordinators keep disagreeing with close picks.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mirrors the real case where a relationship concern required explicit human sign off before the visit was finalised.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Weights are versioned by effective date so a past assignment can always be reproduced with the weights in force at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 confirm the starting weights and the tie tolerance with the PI, then wire the two new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6EEFC"/>
        </a:solidFill>
      </p:bgPr>
    </p:bg>
    <p:spTree>
      <p:nvGrpSpPr>
        <p:cNvPr id="1" name=""/>
        <p:cNvGrpSpPr/>
        <p:nvPr/>
      </p:nvGrpSpPr>
      <p:grpSpPr>
        <a:xfrm>
          <a:off x="0" y="0"/>
          <a:ext cx="0" cy="0"/>
          <a:chOff x="0" y="0"/>
          <a:chExt cx="0" cy="0"/>
        </a:xfrm>
      </p:grpSpPr>
      <p:pic>
        <p:nvPicPr>
          <p:cNvPr id="2" name="Image 0" descr="/sessions/keen-gracious-keller/mnt/.claude/skills/esd-lab/assets/logos/logo-horizontal-discovery-blue.png">    </p:cNvPr>
          <p:cNvPicPr>
            <a:picLocks noChangeAspect="1"/>
          </p:cNvPicPr>
          <p:nvPr/>
        </p:nvPicPr>
        <p:blipFill>
          <a:blip r:embed="rId1"/>
          <a:stretch>
            <a:fillRect/>
          </a:stretch>
        </p:blipFill>
        <p:spPr>
          <a:xfrm>
            <a:off x="566928" y="457200"/>
            <a:ext cx="1069848" cy="502920"/>
          </a:xfrm>
          <a:prstGeom prst="rect">
            <a:avLst/>
          </a:prstGeom>
        </p:spPr>
      </p:pic>
      <p:pic>
        <p:nvPicPr>
          <p:cNvPr id="3" name="Image 1" descr="/sessions/keen-gracious-keller/mnt/.claude/skills/esd-lab/assets/logos/uofsc-horizontal-garnet.png">    </p:cNvPr>
          <p:cNvPicPr>
            <a:picLocks noChangeAspect="1"/>
          </p:cNvPicPr>
          <p:nvPr/>
        </p:nvPicPr>
        <p:blipFill>
          <a:blip r:embed="rId2"/>
          <a:stretch>
            <a:fillRect/>
          </a:stretch>
        </p:blipFill>
        <p:spPr>
          <a:xfrm>
            <a:off x="1865376" y="457200"/>
            <a:ext cx="3401568" cy="502920"/>
          </a:xfrm>
          <a:prstGeom prst="rect">
            <a:avLst/>
          </a:prstGeom>
        </p:spPr>
      </p:pic>
      <p:pic>
        <p:nvPicPr>
          <p:cNvPr id="4" name="Image 2" descr="/sessions/keen-gracious-keller/mnt/.claude/skills/esd-lab/assets/icons/sunburst-discovery-blue.png">    </p:cNvPr>
          <p:cNvPicPr>
            <a:picLocks noChangeAspect="1"/>
          </p:cNvPicPr>
          <p:nvPr/>
        </p:nvPicPr>
        <p:blipFill>
          <a:blip r:embed="rId3">
            <a:alphaModFix amt="38000"/>
          </a:blip>
          <a:stretch>
            <a:fillRect/>
          </a:stretch>
        </p:blipFill>
        <p:spPr>
          <a:xfrm>
            <a:off x="8732520" y="1417320"/>
            <a:ext cx="3108960" cy="3776472"/>
          </a:xfrm>
          <a:prstGeom prst="rect">
            <a:avLst/>
          </a:prstGeom>
        </p:spPr>
      </p:pic>
      <p:sp>
        <p:nvSpPr>
          <p:cNvPr id="5" name="Text 0"/>
          <p:cNvSpPr/>
          <p:nvPr/>
        </p:nvSpPr>
        <p:spPr>
          <a:xfrm>
            <a:off x="566928" y="2084832"/>
            <a:ext cx="7315200" cy="274320"/>
          </a:xfrm>
          <a:prstGeom prst="rect">
            <a:avLst/>
          </a:prstGeom>
          <a:noFill/>
          <a:ln/>
        </p:spPr>
        <p:txBody>
          <a:bodyPr wrap="square" lIns="0" tIns="0" rIns="0" bIns="0" rtlCol="0" anchor="ctr"/>
          <a:lstStyle/>
          <a:p>
            <a:pPr indent="0" marL="0">
              <a:buNone/>
            </a:pPr>
            <a:r>
              <a:rPr lang="en-US" sz="1300" b="1" spc="220" kern="0" dirty="0">
                <a:solidFill>
                  <a:srgbClr val="3366FF"/>
                </a:solidFill>
                <a:latin typeface="Libre Franklin" pitchFamily="34" charset="0"/>
                <a:ea typeface="Libre Franklin" pitchFamily="34" charset="-122"/>
                <a:cs typeface="Libre Franklin" pitchFamily="34" charset="-120"/>
              </a:rPr>
              <a:t>SCHEDULING ARCHITECTURE</a:t>
            </a:r>
            <a:endParaRPr lang="en-US" sz="1300" dirty="0"/>
          </a:p>
        </p:txBody>
      </p:sp>
      <p:sp>
        <p:nvSpPr>
          <p:cNvPr id="6" name="Text 1"/>
          <p:cNvSpPr/>
          <p:nvPr/>
        </p:nvSpPr>
        <p:spPr>
          <a:xfrm>
            <a:off x="566928" y="2395728"/>
            <a:ext cx="7863840" cy="1737360"/>
          </a:xfrm>
          <a:prstGeom prst="rect">
            <a:avLst/>
          </a:prstGeom>
          <a:noFill/>
          <a:ln/>
        </p:spPr>
        <p:txBody>
          <a:bodyPr wrap="square" lIns="0" tIns="0" rIns="0" bIns="0" rtlCol="0" anchor="t"/>
          <a:lstStyle/>
          <a:p>
            <a:pPr indent="0" marL="0">
              <a:lnSpc>
                <a:spcPts val="5800"/>
              </a:lnSpc>
              <a:buNone/>
            </a:pPr>
            <a:r>
              <a:rPr lang="en-US" sz="5400" b="1" spc="-60" kern="0" dirty="0">
                <a:solidFill>
                  <a:srgbClr val="3366FF"/>
                </a:solidFill>
                <a:latin typeface="Libre Franklin" pitchFamily="34" charset="0"/>
                <a:ea typeface="Libre Franklin" pitchFamily="34" charset="-122"/>
                <a:cs typeface="Libre Franklin" pitchFamily="34" charset="-120"/>
              </a:rPr>
              <a:t>Weighted Visit</a:t>
            </a:r>
            <a:endParaRPr lang="en-US" sz="5400" dirty="0"/>
          </a:p>
          <a:p>
            <a:pPr indent="0" marL="0">
              <a:lnSpc>
                <a:spcPts val="5800"/>
              </a:lnSpc>
              <a:buNone/>
            </a:pPr>
            <a:r>
              <a:rPr lang="en-US" sz="5400" b="1" spc="-60" kern="0" dirty="0">
                <a:solidFill>
                  <a:srgbClr val="3366FF"/>
                </a:solidFill>
                <a:latin typeface="Libre Franklin" pitchFamily="34" charset="0"/>
                <a:ea typeface="Libre Franklin" pitchFamily="34" charset="-122"/>
                <a:cs typeface="Libre Franklin" pitchFamily="34" charset="-120"/>
              </a:rPr>
              <a:t>Assignment</a:t>
            </a:r>
            <a:endParaRPr lang="en-US" sz="5400" dirty="0"/>
          </a:p>
        </p:txBody>
      </p:sp>
      <p:sp>
        <p:nvSpPr>
          <p:cNvPr id="7" name="Text 2"/>
          <p:cNvSpPr/>
          <p:nvPr/>
        </p:nvSpPr>
        <p:spPr>
          <a:xfrm>
            <a:off x="566928" y="4224528"/>
            <a:ext cx="7680960" cy="457200"/>
          </a:xfrm>
          <a:prstGeom prst="rect">
            <a:avLst/>
          </a:prstGeom>
          <a:noFill/>
          <a:ln/>
        </p:spPr>
        <p:txBody>
          <a:bodyPr wrap="square" lIns="0" tIns="0" rIns="0" bIns="0" rtlCol="0" anchor="ctr"/>
          <a:lstStyle/>
          <a:p>
            <a:pPr indent="0" marL="0">
              <a:buNone/>
            </a:pPr>
            <a:r>
              <a:rPr lang="en-US" sz="1800" dirty="0">
                <a:solidFill>
                  <a:srgbClr val="000000"/>
                </a:solidFill>
                <a:latin typeface="Libre Franklin Medium" pitchFamily="34" charset="0"/>
                <a:ea typeface="Libre Franklin Medium" pitchFamily="34" charset="-122"/>
                <a:cs typeface="Libre Franklin Medium" pitchFamily="34" charset="-120"/>
              </a:rPr>
              <a:t>How the system decides who goes on each family visit</a:t>
            </a:r>
            <a:endParaRPr lang="en-US" sz="1800" dirty="0"/>
          </a:p>
        </p:txBody>
      </p:sp>
      <p:sp>
        <p:nvSpPr>
          <p:cNvPr id="8" name="Shape 3"/>
          <p:cNvSpPr/>
          <p:nvPr/>
        </p:nvSpPr>
        <p:spPr>
          <a:xfrm>
            <a:off x="566928" y="4892040"/>
            <a:ext cx="1371600" cy="41148"/>
          </a:xfrm>
          <a:prstGeom prst="rect">
            <a:avLst/>
          </a:prstGeom>
          <a:solidFill>
            <a:srgbClr val="3366FF"/>
          </a:solidFill>
          <a:ln/>
        </p:spPr>
      </p:sp>
      <p:sp>
        <p:nvSpPr>
          <p:cNvPr id="9" name="Text 4"/>
          <p:cNvSpPr/>
          <p:nvPr/>
        </p:nvSpPr>
        <p:spPr>
          <a:xfrm>
            <a:off x="566928" y="5102352"/>
            <a:ext cx="7680960" cy="310896"/>
          </a:xfrm>
          <a:prstGeom prst="rect">
            <a:avLst/>
          </a:prstGeom>
          <a:noFill/>
          <a:ln/>
        </p:spPr>
        <p:txBody>
          <a:bodyPr wrap="square" lIns="0" tIns="0" rIns="0" bIns="0" rtlCol="0" anchor="ctr"/>
          <a:lstStyle/>
          <a:p>
            <a:pPr indent="0" marL="0">
              <a:buNone/>
            </a:pPr>
            <a:r>
              <a:rPr lang="en-US" sz="1300" dirty="0">
                <a:solidFill>
                  <a:srgbClr val="3366FF"/>
                </a:solidFill>
                <a:latin typeface="Libre Franklin Medium" pitchFamily="34" charset="0"/>
                <a:ea typeface="Libre Franklin Medium" pitchFamily="34" charset="-122"/>
                <a:cs typeface="Libre Franklin Medium" pitchFamily="34" charset="-120"/>
              </a:rPr>
              <a:t>Three layers, five weighted terms, one auditable number</a:t>
            </a:r>
            <a:endParaRPr lang="en-US" sz="1300" dirty="0"/>
          </a:p>
        </p:txBody>
      </p:sp>
      <p:sp>
        <p:nvSpPr>
          <p:cNvPr id="10" name="Text 5"/>
          <p:cNvSpPr/>
          <p:nvPr/>
        </p:nvSpPr>
        <p:spPr>
          <a:xfrm>
            <a:off x="566928" y="5532120"/>
            <a:ext cx="7680960" cy="310896"/>
          </a:xfrm>
          <a:prstGeom prst="rect">
            <a:avLst/>
          </a:prstGeom>
          <a:noFill/>
          <a:ln/>
        </p:spPr>
        <p:txBody>
          <a:bodyPr wrap="square" lIns="0" tIns="0" rIns="0" bIns="0" rtlCol="0" anchor="ctr"/>
          <a:lstStyle/>
          <a:p>
            <a:pPr indent="0" marL="0">
              <a:buNone/>
            </a:pPr>
            <a:r>
              <a:rPr lang="en-US" sz="1200" dirty="0">
                <a:solidFill>
                  <a:srgbClr val="000000"/>
                </a:solidFill>
                <a:latin typeface="Libre Franklin Medium" pitchFamily="34" charset="0"/>
                <a:ea typeface="Libre Franklin Medium" pitchFamily="34" charset="-122"/>
                <a:cs typeface="Libre Franklin Medium" pitchFamily="34" charset="-120"/>
              </a:rPr>
              <a:t>Prepared for the lab team and PI  •  August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indent="0" marL="0">
              <a:buNone/>
            </a:pPr>
            <a:r>
              <a:rPr lang="en-US" sz="1100" b="1" spc="140" kern="0" dirty="0">
                <a:solidFill>
                  <a:srgbClr val="91BAF4"/>
                </a:solidFill>
                <a:latin typeface="Libre Franklin" pitchFamily="34" charset="0"/>
                <a:ea typeface="Libre Franklin" pitchFamily="34" charset="-122"/>
                <a:cs typeface="Libre Franklin" pitchFamily="34" charset="-120"/>
              </a:rPr>
              <a:t>WHY A WRITTEN RULE</a:t>
            </a:r>
            <a:endParaRPr lang="en-US" sz="1100" dirty="0"/>
          </a:p>
        </p:txBody>
      </p:sp>
      <p:sp>
        <p:nvSpPr>
          <p:cNvPr id="3" name="Text 1"/>
          <p:cNvSpPr/>
          <p:nvPr/>
        </p:nvSpPr>
        <p:spPr>
          <a:xfrm>
            <a:off x="566928" y="658368"/>
            <a:ext cx="11064240" cy="566928"/>
          </a:xfrm>
          <a:prstGeom prst="rect">
            <a:avLst/>
          </a:prstGeom>
          <a:noFill/>
          <a:ln/>
        </p:spPr>
        <p:txBody>
          <a:bodyPr wrap="square" lIns="0" tIns="0" rIns="0" bIns="0" rtlCol="0" anchor="ctr"/>
          <a:lstStyle/>
          <a:p>
            <a:pPr indent="0" marL="0">
              <a:buNone/>
            </a:pPr>
            <a:r>
              <a:rPr lang="en-US" sz="3000" b="1" spc="-20" kern="0" dirty="0">
                <a:solidFill>
                  <a:srgbClr val="3366FF"/>
                </a:solidFill>
                <a:latin typeface="Libre Franklin" pitchFamily="34" charset="0"/>
                <a:ea typeface="Libre Franklin" pitchFamily="34" charset="-122"/>
                <a:cs typeface="Libre Franklin" pitchFamily="34" charset="-120"/>
              </a:rPr>
              <a:t>Every assignment answers three questions</a:t>
            </a:r>
            <a:endParaRPr lang="en-US" sz="3000" dirty="0"/>
          </a:p>
        </p:txBody>
      </p:sp>
      <p:sp>
        <p:nvSpPr>
          <p:cNvPr id="4" name="Text 2"/>
          <p:cNvSpPr/>
          <p:nvPr/>
        </p:nvSpPr>
        <p:spPr>
          <a:xfrm>
            <a:off x="566928" y="6382512"/>
            <a:ext cx="5486400" cy="256032"/>
          </a:xfrm>
          <a:prstGeom prst="rect">
            <a:avLst/>
          </a:prstGeom>
          <a:noFill/>
          <a:ln/>
        </p:spPr>
        <p:txBody>
          <a:bodyPr wrap="square" lIns="0" tIns="0" rIns="0" bIns="0" rtlCol="0" anchor="ctr"/>
          <a:lstStyle/>
          <a:p>
            <a:pPr algn="l" indent="0" marL="0">
              <a:buNone/>
            </a:pPr>
            <a:r>
              <a:rPr lang="en-US" sz="900" dirty="0">
                <a:solidFill>
                  <a:srgbClr val="91BAF4"/>
                </a:solidFill>
                <a:latin typeface="Libre Franklin Medium" pitchFamily="34" charset="0"/>
                <a:ea typeface="Libre Franklin Medium" pitchFamily="34" charset="-122"/>
                <a:cs typeface="Libre Franklin Medium" pitchFamily="34" charset="-120"/>
              </a:rPr>
              <a:t>The Early Social Development Lab at UofSC</a:t>
            </a:r>
            <a:endParaRPr lang="en-US" sz="900" dirty="0"/>
          </a:p>
        </p:txBody>
      </p:sp>
      <p:sp>
        <p:nvSpPr>
          <p:cNvPr id="5" name="Text 3"/>
          <p:cNvSpPr/>
          <p:nvPr/>
        </p:nvSpPr>
        <p:spPr>
          <a:xfrm>
            <a:off x="10984687" y="6382512"/>
            <a:ext cx="640080" cy="256032"/>
          </a:xfrm>
          <a:prstGeom prst="rect">
            <a:avLst/>
          </a:prstGeom>
          <a:noFill/>
          <a:ln/>
        </p:spPr>
        <p:txBody>
          <a:bodyPr wrap="square" lIns="0" tIns="0" rIns="0" bIns="0" rtlCol="0" anchor="ctr"/>
          <a:lstStyle/>
          <a:p>
            <a:pPr algn="r" indent="0" marL="0">
              <a:buNone/>
            </a:pPr>
            <a:r>
              <a:rPr lang="en-US" sz="900" dirty="0">
                <a:solidFill>
                  <a:srgbClr val="91BAF4"/>
                </a:solidFill>
                <a:latin typeface="Libre Franklin Medium" pitchFamily="34" charset="0"/>
                <a:ea typeface="Libre Franklin Medium" pitchFamily="34" charset="-122"/>
                <a:cs typeface="Libre Franklin Medium" pitchFamily="34" charset="-120"/>
              </a:rPr>
              <a:t>2</a:t>
            </a:r>
            <a:endParaRPr lang="en-US" sz="900" dirty="0"/>
          </a:p>
        </p:txBody>
      </p:sp>
      <p:sp>
        <p:nvSpPr>
          <p:cNvPr id="6" name="Shape 4"/>
          <p:cNvSpPr/>
          <p:nvPr/>
        </p:nvSpPr>
        <p:spPr>
          <a:xfrm>
            <a:off x="566928" y="1664208"/>
            <a:ext cx="3502152" cy="3246120"/>
          </a:xfrm>
          <a:prstGeom prst="roundRect">
            <a:avLst>
              <a:gd name="adj" fmla="val 3944"/>
            </a:avLst>
          </a:prstGeom>
          <a:solidFill>
            <a:srgbClr val="E6EEFC"/>
          </a:solidFill>
          <a:ln/>
        </p:spPr>
      </p:sp>
      <p:sp>
        <p:nvSpPr>
          <p:cNvPr id="7" name="Shape 5"/>
          <p:cNvSpPr/>
          <p:nvPr/>
        </p:nvSpPr>
        <p:spPr>
          <a:xfrm>
            <a:off x="877824" y="1975104"/>
            <a:ext cx="566928" cy="566928"/>
          </a:xfrm>
          <a:prstGeom prst="ellipse">
            <a:avLst/>
          </a:prstGeom>
          <a:solidFill>
            <a:srgbClr val="3366FF"/>
          </a:solidFill>
          <a:ln/>
        </p:spPr>
      </p:sp>
      <p:sp>
        <p:nvSpPr>
          <p:cNvPr id="8" name="Text 6"/>
          <p:cNvSpPr/>
          <p:nvPr/>
        </p:nvSpPr>
        <p:spPr>
          <a:xfrm>
            <a:off x="877824" y="1975104"/>
            <a:ext cx="566928" cy="566928"/>
          </a:xfrm>
          <a:prstGeom prst="rect">
            <a:avLst/>
          </a:prstGeom>
          <a:noFill/>
          <a:ln/>
        </p:spPr>
        <p:txBody>
          <a:bodyPr wrap="square" lIns="0" tIns="0" rIns="0" bIns="0" rtlCol="0" anchor="ctr"/>
          <a:lstStyle/>
          <a:p>
            <a:pPr algn="ctr" indent="0" marL="0">
              <a:buNone/>
            </a:pPr>
            <a:r>
              <a:rPr lang="en-US" sz="2200" b="1" dirty="0">
                <a:solidFill>
                  <a:srgbClr val="F4F4F6"/>
                </a:solidFill>
                <a:latin typeface="Libre Franklin" pitchFamily="34" charset="0"/>
                <a:ea typeface="Libre Franklin" pitchFamily="34" charset="-122"/>
                <a:cs typeface="Libre Franklin" pitchFamily="34" charset="-120"/>
              </a:rPr>
              <a:t>1</a:t>
            </a:r>
            <a:endParaRPr lang="en-US" sz="2200" dirty="0"/>
          </a:p>
        </p:txBody>
      </p:sp>
      <p:pic>
        <p:nvPicPr>
          <p:cNvPr id="9" name="Image 0" descr="/sessions/keen-gracious-keller/mnt/.claude/skills/esd-lab/assets/icons/suite/icon-checklist-science-blue.png">    </p:cNvPr>
          <p:cNvPicPr>
            <a:picLocks noChangeAspect="1"/>
          </p:cNvPicPr>
          <p:nvPr/>
        </p:nvPicPr>
        <p:blipFill>
          <a:blip r:embed="rId1"/>
          <a:stretch>
            <a:fillRect/>
          </a:stretch>
        </p:blipFill>
        <p:spPr>
          <a:xfrm>
            <a:off x="3008376" y="1920240"/>
            <a:ext cx="676656" cy="676656"/>
          </a:xfrm>
          <a:prstGeom prst="rect">
            <a:avLst/>
          </a:prstGeom>
        </p:spPr>
      </p:pic>
      <p:sp>
        <p:nvSpPr>
          <p:cNvPr id="10" name="Text 7"/>
          <p:cNvSpPr/>
          <p:nvPr/>
        </p:nvSpPr>
        <p:spPr>
          <a:xfrm>
            <a:off x="877824" y="2798064"/>
            <a:ext cx="2880360" cy="402336"/>
          </a:xfrm>
          <a:prstGeom prst="rect">
            <a:avLst/>
          </a:prstGeom>
          <a:noFill/>
          <a:ln/>
        </p:spPr>
        <p:txBody>
          <a:bodyPr wrap="square" lIns="0" tIns="0" rIns="0" bIns="0" rtlCol="0" anchor="ctr"/>
          <a:lstStyle/>
          <a:p>
            <a:pPr indent="0" marL="0">
              <a:buNone/>
            </a:pPr>
            <a:r>
              <a:rPr lang="en-US" sz="2000" b="1" dirty="0">
                <a:solidFill>
                  <a:srgbClr val="3366FF"/>
                </a:solidFill>
                <a:latin typeface="Libre Franklin" pitchFamily="34" charset="0"/>
                <a:ea typeface="Libre Franklin" pitchFamily="34" charset="-122"/>
                <a:cs typeface="Libre Franklin" pitchFamily="34" charset="-120"/>
              </a:rPr>
              <a:t>Who can go?</a:t>
            </a:r>
            <a:endParaRPr lang="en-US" sz="2000" dirty="0"/>
          </a:p>
        </p:txBody>
      </p:sp>
      <p:sp>
        <p:nvSpPr>
          <p:cNvPr id="11" name="Text 8"/>
          <p:cNvSpPr/>
          <p:nvPr/>
        </p:nvSpPr>
        <p:spPr>
          <a:xfrm>
            <a:off x="877824" y="3310128"/>
            <a:ext cx="2880360" cy="1371600"/>
          </a:xfrm>
          <a:prstGeom prst="rect">
            <a:avLst/>
          </a:prstGeom>
          <a:noFill/>
          <a:ln/>
        </p:spPr>
        <p:txBody>
          <a:bodyPr wrap="square" lIns="0" tIns="0" rIns="0" bIns="0" rtlCol="0" anchor="t"/>
          <a:lstStyle/>
          <a:p>
            <a:pPr indent="0" marL="0">
              <a:lnSpc>
                <a:spcPts val="1900"/>
              </a:lnSpc>
              <a:buNone/>
            </a:pPr>
            <a:r>
              <a:rPr lang="en-US" sz="1300" dirty="0">
                <a:solidFill>
                  <a:srgbClr val="000000"/>
                </a:solidFill>
                <a:latin typeface="Libre Franklin Medium" pitchFamily="34" charset="0"/>
                <a:ea typeface="Libre Franklin Medium" pitchFamily="34" charset="-122"/>
                <a:cs typeface="Libre Franklin Medium" pitchFamily="34" charset="-120"/>
              </a:rPr>
              <a:t>Some people are ruled out before anyone compares them. An open calendar slot, the right certification, no conflict with the family, and a way to get there.</a:t>
            </a:r>
            <a:endParaRPr lang="en-US" sz="1300" dirty="0"/>
          </a:p>
        </p:txBody>
      </p:sp>
      <p:sp>
        <p:nvSpPr>
          <p:cNvPr id="12" name="Shape 9"/>
          <p:cNvSpPr/>
          <p:nvPr/>
        </p:nvSpPr>
        <p:spPr>
          <a:xfrm>
            <a:off x="4453128" y="1664208"/>
            <a:ext cx="3502152" cy="3246120"/>
          </a:xfrm>
          <a:prstGeom prst="roundRect">
            <a:avLst>
              <a:gd name="adj" fmla="val 3944"/>
            </a:avLst>
          </a:prstGeom>
          <a:solidFill>
            <a:srgbClr val="E6EEFC"/>
          </a:solidFill>
          <a:ln/>
        </p:spPr>
      </p:sp>
      <p:sp>
        <p:nvSpPr>
          <p:cNvPr id="13" name="Shape 10"/>
          <p:cNvSpPr/>
          <p:nvPr/>
        </p:nvSpPr>
        <p:spPr>
          <a:xfrm>
            <a:off x="4764024" y="1975104"/>
            <a:ext cx="566928" cy="566928"/>
          </a:xfrm>
          <a:prstGeom prst="ellipse">
            <a:avLst/>
          </a:prstGeom>
          <a:solidFill>
            <a:srgbClr val="3366FF"/>
          </a:solidFill>
          <a:ln/>
        </p:spPr>
      </p:sp>
      <p:sp>
        <p:nvSpPr>
          <p:cNvPr id="14" name="Text 11"/>
          <p:cNvSpPr/>
          <p:nvPr/>
        </p:nvSpPr>
        <p:spPr>
          <a:xfrm>
            <a:off x="4764024" y="1975104"/>
            <a:ext cx="566928" cy="566928"/>
          </a:xfrm>
          <a:prstGeom prst="rect">
            <a:avLst/>
          </a:prstGeom>
          <a:noFill/>
          <a:ln/>
        </p:spPr>
        <p:txBody>
          <a:bodyPr wrap="square" lIns="0" tIns="0" rIns="0" bIns="0" rtlCol="0" anchor="ctr"/>
          <a:lstStyle/>
          <a:p>
            <a:pPr algn="ctr" indent="0" marL="0">
              <a:buNone/>
            </a:pPr>
            <a:r>
              <a:rPr lang="en-US" sz="2200" b="1" dirty="0">
                <a:solidFill>
                  <a:srgbClr val="F4F4F6"/>
                </a:solidFill>
                <a:latin typeface="Libre Franklin" pitchFamily="34" charset="0"/>
                <a:ea typeface="Libre Franklin" pitchFamily="34" charset="-122"/>
                <a:cs typeface="Libre Franklin" pitchFamily="34" charset="-120"/>
              </a:rPr>
              <a:t>2</a:t>
            </a:r>
            <a:endParaRPr lang="en-US" sz="2200" dirty="0"/>
          </a:p>
        </p:txBody>
      </p:sp>
      <p:pic>
        <p:nvPicPr>
          <p:cNvPr id="15" name="Image 1" descr="/sessions/keen-gracious-keller/mnt/.claude/skills/esd-lab/assets/icons/suite/icon-growth-chart-science-blue.png">    </p:cNvPr>
          <p:cNvPicPr>
            <a:picLocks noChangeAspect="1"/>
          </p:cNvPicPr>
          <p:nvPr/>
        </p:nvPicPr>
        <p:blipFill>
          <a:blip r:embed="rId2"/>
          <a:stretch>
            <a:fillRect/>
          </a:stretch>
        </p:blipFill>
        <p:spPr>
          <a:xfrm>
            <a:off x="6894576" y="1920240"/>
            <a:ext cx="676656" cy="676656"/>
          </a:xfrm>
          <a:prstGeom prst="rect">
            <a:avLst/>
          </a:prstGeom>
        </p:spPr>
      </p:pic>
      <p:sp>
        <p:nvSpPr>
          <p:cNvPr id="16" name="Text 12"/>
          <p:cNvSpPr/>
          <p:nvPr/>
        </p:nvSpPr>
        <p:spPr>
          <a:xfrm>
            <a:off x="4764024" y="2798064"/>
            <a:ext cx="2880360" cy="402336"/>
          </a:xfrm>
          <a:prstGeom prst="rect">
            <a:avLst/>
          </a:prstGeom>
          <a:noFill/>
          <a:ln/>
        </p:spPr>
        <p:txBody>
          <a:bodyPr wrap="square" lIns="0" tIns="0" rIns="0" bIns="0" rtlCol="0" anchor="ctr"/>
          <a:lstStyle/>
          <a:p>
            <a:pPr indent="0" marL="0">
              <a:buNone/>
            </a:pPr>
            <a:r>
              <a:rPr lang="en-US" sz="2000" b="1" dirty="0">
                <a:solidFill>
                  <a:srgbClr val="3366FF"/>
                </a:solidFill>
                <a:latin typeface="Libre Franklin" pitchFamily="34" charset="0"/>
                <a:ea typeface="Libre Franklin" pitchFamily="34" charset="-122"/>
                <a:cs typeface="Libre Franklin" pitchFamily="34" charset="-120"/>
              </a:rPr>
              <a:t>Who fits best?</a:t>
            </a:r>
            <a:endParaRPr lang="en-US" sz="2000" dirty="0"/>
          </a:p>
        </p:txBody>
      </p:sp>
      <p:sp>
        <p:nvSpPr>
          <p:cNvPr id="17" name="Text 13"/>
          <p:cNvSpPr/>
          <p:nvPr/>
        </p:nvSpPr>
        <p:spPr>
          <a:xfrm>
            <a:off x="4764024" y="3310128"/>
            <a:ext cx="2880360" cy="1371600"/>
          </a:xfrm>
          <a:prstGeom prst="rect">
            <a:avLst/>
          </a:prstGeom>
          <a:noFill/>
          <a:ln/>
        </p:spPr>
        <p:txBody>
          <a:bodyPr wrap="square" lIns="0" tIns="0" rIns="0" bIns="0" rtlCol="0" anchor="t"/>
          <a:lstStyle/>
          <a:p>
            <a:pPr indent="0" marL="0">
              <a:lnSpc>
                <a:spcPts val="1900"/>
              </a:lnSpc>
              <a:buNone/>
            </a:pPr>
            <a:r>
              <a:rPr lang="en-US" sz="1300" dirty="0">
                <a:solidFill>
                  <a:srgbClr val="000000"/>
                </a:solidFill>
                <a:latin typeface="Libre Franklin Medium" pitchFamily="34" charset="0"/>
                <a:ea typeface="Libre Franklin Medium" pitchFamily="34" charset="-122"/>
                <a:cs typeface="Libre Franklin Medium" pitchFamily="34" charset="-120"/>
              </a:rPr>
              <a:t>Fair rotation, family history, drive time, and current workload all matter at once. A number lets us weigh them together instead of one at a time.</a:t>
            </a:r>
            <a:endParaRPr lang="en-US" sz="1300" dirty="0"/>
          </a:p>
        </p:txBody>
      </p:sp>
      <p:sp>
        <p:nvSpPr>
          <p:cNvPr id="18" name="Shape 14"/>
          <p:cNvSpPr/>
          <p:nvPr/>
        </p:nvSpPr>
        <p:spPr>
          <a:xfrm>
            <a:off x="8339328" y="1664208"/>
            <a:ext cx="3502152" cy="3246120"/>
          </a:xfrm>
          <a:prstGeom prst="roundRect">
            <a:avLst>
              <a:gd name="adj" fmla="val 3944"/>
            </a:avLst>
          </a:prstGeom>
          <a:solidFill>
            <a:srgbClr val="E6EEFC"/>
          </a:solidFill>
          <a:ln/>
        </p:spPr>
      </p:sp>
      <p:sp>
        <p:nvSpPr>
          <p:cNvPr id="19" name="Shape 15"/>
          <p:cNvSpPr/>
          <p:nvPr/>
        </p:nvSpPr>
        <p:spPr>
          <a:xfrm>
            <a:off x="8650224" y="1975104"/>
            <a:ext cx="566928" cy="566928"/>
          </a:xfrm>
          <a:prstGeom prst="ellipse">
            <a:avLst/>
          </a:prstGeom>
          <a:solidFill>
            <a:srgbClr val="3366FF"/>
          </a:solidFill>
          <a:ln/>
        </p:spPr>
      </p:sp>
      <p:sp>
        <p:nvSpPr>
          <p:cNvPr id="20" name="Text 16"/>
          <p:cNvSpPr/>
          <p:nvPr/>
        </p:nvSpPr>
        <p:spPr>
          <a:xfrm>
            <a:off x="8650224" y="1975104"/>
            <a:ext cx="566928" cy="566928"/>
          </a:xfrm>
          <a:prstGeom prst="rect">
            <a:avLst/>
          </a:prstGeom>
          <a:noFill/>
          <a:ln/>
        </p:spPr>
        <p:txBody>
          <a:bodyPr wrap="square" lIns="0" tIns="0" rIns="0" bIns="0" rtlCol="0" anchor="ctr"/>
          <a:lstStyle/>
          <a:p>
            <a:pPr algn="ctr" indent="0" marL="0">
              <a:buNone/>
            </a:pPr>
            <a:r>
              <a:rPr lang="en-US" sz="2200" b="1" dirty="0">
                <a:solidFill>
                  <a:srgbClr val="F4F4F6"/>
                </a:solidFill>
                <a:latin typeface="Libre Franklin" pitchFamily="34" charset="0"/>
                <a:ea typeface="Libre Franklin" pitchFamily="34" charset="-122"/>
                <a:cs typeface="Libre Franklin" pitchFamily="34" charset="-120"/>
              </a:rPr>
              <a:t>3</a:t>
            </a:r>
            <a:endParaRPr lang="en-US" sz="2200" dirty="0"/>
          </a:p>
        </p:txBody>
      </p:sp>
      <p:pic>
        <p:nvPicPr>
          <p:cNvPr id="21" name="Image 2" descr="/sessions/keen-gracious-keller/mnt/.claude/skills/esd-lab/assets/icons/suite/icon-hands-pair-science-blue.png">    </p:cNvPr>
          <p:cNvPicPr>
            <a:picLocks noChangeAspect="1"/>
          </p:cNvPicPr>
          <p:nvPr/>
        </p:nvPicPr>
        <p:blipFill>
          <a:blip r:embed="rId3"/>
          <a:stretch>
            <a:fillRect/>
          </a:stretch>
        </p:blipFill>
        <p:spPr>
          <a:xfrm>
            <a:off x="10780776" y="1920240"/>
            <a:ext cx="676656" cy="676656"/>
          </a:xfrm>
          <a:prstGeom prst="rect">
            <a:avLst/>
          </a:prstGeom>
        </p:spPr>
      </p:pic>
      <p:sp>
        <p:nvSpPr>
          <p:cNvPr id="22" name="Text 17"/>
          <p:cNvSpPr/>
          <p:nvPr/>
        </p:nvSpPr>
        <p:spPr>
          <a:xfrm>
            <a:off x="8650224" y="2798064"/>
            <a:ext cx="2880360" cy="402336"/>
          </a:xfrm>
          <a:prstGeom prst="rect">
            <a:avLst/>
          </a:prstGeom>
          <a:noFill/>
          <a:ln/>
        </p:spPr>
        <p:txBody>
          <a:bodyPr wrap="square" lIns="0" tIns="0" rIns="0" bIns="0" rtlCol="0" anchor="ctr"/>
          <a:lstStyle/>
          <a:p>
            <a:pPr indent="0" marL="0">
              <a:buNone/>
            </a:pPr>
            <a:r>
              <a:rPr lang="en-US" sz="2000" b="1" dirty="0">
                <a:solidFill>
                  <a:srgbClr val="3366FF"/>
                </a:solidFill>
                <a:latin typeface="Libre Franklin" pitchFamily="34" charset="0"/>
                <a:ea typeface="Libre Franklin" pitchFamily="34" charset="-122"/>
                <a:cs typeface="Libre Franklin" pitchFamily="34" charset="-120"/>
              </a:rPr>
              <a:t>Who decides?</a:t>
            </a:r>
            <a:endParaRPr lang="en-US" sz="2000" dirty="0"/>
          </a:p>
        </p:txBody>
      </p:sp>
      <p:sp>
        <p:nvSpPr>
          <p:cNvPr id="23" name="Text 18"/>
          <p:cNvSpPr/>
          <p:nvPr/>
        </p:nvSpPr>
        <p:spPr>
          <a:xfrm>
            <a:off x="8650224" y="3310128"/>
            <a:ext cx="2880360" cy="1371600"/>
          </a:xfrm>
          <a:prstGeom prst="rect">
            <a:avLst/>
          </a:prstGeom>
          <a:noFill/>
          <a:ln/>
        </p:spPr>
        <p:txBody>
          <a:bodyPr wrap="square" lIns="0" tIns="0" rIns="0" bIns="0" rtlCol="0" anchor="t"/>
          <a:lstStyle/>
          <a:p>
            <a:pPr indent="0" marL="0">
              <a:lnSpc>
                <a:spcPts val="1900"/>
              </a:lnSpc>
              <a:buNone/>
            </a:pPr>
            <a:r>
              <a:rPr lang="en-US" sz="1300" dirty="0">
                <a:solidFill>
                  <a:srgbClr val="000000"/>
                </a:solidFill>
                <a:latin typeface="Libre Franklin Medium" pitchFamily="34" charset="0"/>
                <a:ea typeface="Libre Franklin Medium" pitchFamily="34" charset="-122"/>
                <a:cs typeface="Libre Franklin Medium" pitchFamily="34" charset="-120"/>
              </a:rPr>
              <a:t>Close calls and sensitive family situations stop the automatic pick and go to the coordinator or the PI.</a:t>
            </a:r>
            <a:endParaRPr lang="en-US" sz="1300" dirty="0"/>
          </a:p>
        </p:txBody>
      </p:sp>
      <p:sp>
        <p:nvSpPr>
          <p:cNvPr id="24" name="Text 19"/>
          <p:cNvSpPr/>
          <p:nvPr/>
        </p:nvSpPr>
        <p:spPr>
          <a:xfrm>
            <a:off x="566928" y="5230368"/>
            <a:ext cx="11064240" cy="365760"/>
          </a:xfrm>
          <a:prstGeom prst="rect">
            <a:avLst/>
          </a:prstGeom>
          <a:noFill/>
          <a:ln/>
        </p:spPr>
        <p:txBody>
          <a:bodyPr wrap="square" lIns="0" tIns="0" rIns="0" bIns="0" rtlCol="0" anchor="ctr"/>
          <a:lstStyle/>
          <a:p>
            <a:pPr indent="0" marL="0">
              <a:buNone/>
            </a:pPr>
            <a:r>
              <a:rPr lang="en-US" sz="1350" dirty="0">
                <a:solidFill>
                  <a:srgbClr val="3366FF"/>
                </a:solidFill>
                <a:latin typeface="Libre Franklin Medium" pitchFamily="34" charset="0"/>
                <a:ea typeface="Libre Franklin Medium" pitchFamily="34" charset="-122"/>
                <a:cs typeface="Libre Franklin Medium" pitchFamily="34" charset="-120"/>
              </a:rPr>
              <a:t>The three questions map onto three layers. A layer is never skipped, and a later layer never undoes an earlier one.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indent="0" marL="0">
              <a:buNone/>
            </a:pPr>
            <a:r>
              <a:rPr lang="en-US" sz="1100" b="1" spc="140" kern="0" dirty="0">
                <a:solidFill>
                  <a:srgbClr val="91BAF4"/>
                </a:solidFill>
                <a:latin typeface="Libre Franklin" pitchFamily="34" charset="0"/>
                <a:ea typeface="Libre Franklin" pitchFamily="34" charset="-122"/>
                <a:cs typeface="Libre Franklin" pitchFamily="34" charset="-120"/>
              </a:rPr>
              <a:t>HOW IT RUNS</a:t>
            </a:r>
            <a:endParaRPr lang="en-US" sz="1100" dirty="0"/>
          </a:p>
        </p:txBody>
      </p:sp>
      <p:sp>
        <p:nvSpPr>
          <p:cNvPr id="3" name="Text 1"/>
          <p:cNvSpPr/>
          <p:nvPr/>
        </p:nvSpPr>
        <p:spPr>
          <a:xfrm>
            <a:off x="566928" y="658368"/>
            <a:ext cx="11064240" cy="566928"/>
          </a:xfrm>
          <a:prstGeom prst="rect">
            <a:avLst/>
          </a:prstGeom>
          <a:noFill/>
          <a:ln/>
        </p:spPr>
        <p:txBody>
          <a:bodyPr wrap="square" lIns="0" tIns="0" rIns="0" bIns="0" rtlCol="0" anchor="ctr"/>
          <a:lstStyle/>
          <a:p>
            <a:pPr indent="0" marL="0">
              <a:buNone/>
            </a:pPr>
            <a:r>
              <a:rPr lang="en-US" sz="3000" b="1" spc="-20" kern="0" dirty="0">
                <a:solidFill>
                  <a:srgbClr val="3366FF"/>
                </a:solidFill>
                <a:latin typeface="Libre Franklin" pitchFamily="34" charset="0"/>
                <a:ea typeface="Libre Franklin" pitchFamily="34" charset="-122"/>
                <a:cs typeface="Libre Franklin" pitchFamily="34" charset="-120"/>
              </a:rPr>
              <a:t>The system runs in three fixed layers</a:t>
            </a:r>
            <a:endParaRPr lang="en-US" sz="3000" dirty="0"/>
          </a:p>
        </p:txBody>
      </p:sp>
      <p:sp>
        <p:nvSpPr>
          <p:cNvPr id="4" name="Text 2"/>
          <p:cNvSpPr/>
          <p:nvPr/>
        </p:nvSpPr>
        <p:spPr>
          <a:xfrm>
            <a:off x="566928" y="6382512"/>
            <a:ext cx="5486400" cy="256032"/>
          </a:xfrm>
          <a:prstGeom prst="rect">
            <a:avLst/>
          </a:prstGeom>
          <a:noFill/>
          <a:ln/>
        </p:spPr>
        <p:txBody>
          <a:bodyPr wrap="square" lIns="0" tIns="0" rIns="0" bIns="0" rtlCol="0" anchor="ctr"/>
          <a:lstStyle/>
          <a:p>
            <a:pPr algn="l" indent="0" marL="0">
              <a:buNone/>
            </a:pPr>
            <a:r>
              <a:rPr lang="en-US" sz="900" dirty="0">
                <a:solidFill>
                  <a:srgbClr val="91BAF4"/>
                </a:solidFill>
                <a:latin typeface="Libre Franklin Medium" pitchFamily="34" charset="0"/>
                <a:ea typeface="Libre Franklin Medium" pitchFamily="34" charset="-122"/>
                <a:cs typeface="Libre Franklin Medium" pitchFamily="34" charset="-120"/>
              </a:rPr>
              <a:t>The Early Social Development Lab at UofSC</a:t>
            </a:r>
            <a:endParaRPr lang="en-US" sz="900" dirty="0"/>
          </a:p>
        </p:txBody>
      </p:sp>
      <p:sp>
        <p:nvSpPr>
          <p:cNvPr id="5" name="Text 3"/>
          <p:cNvSpPr/>
          <p:nvPr/>
        </p:nvSpPr>
        <p:spPr>
          <a:xfrm>
            <a:off x="10984687" y="6382512"/>
            <a:ext cx="640080" cy="256032"/>
          </a:xfrm>
          <a:prstGeom prst="rect">
            <a:avLst/>
          </a:prstGeom>
          <a:noFill/>
          <a:ln/>
        </p:spPr>
        <p:txBody>
          <a:bodyPr wrap="square" lIns="0" tIns="0" rIns="0" bIns="0" rtlCol="0" anchor="ctr"/>
          <a:lstStyle/>
          <a:p>
            <a:pPr algn="r" indent="0" marL="0">
              <a:buNone/>
            </a:pPr>
            <a:r>
              <a:rPr lang="en-US" sz="900" dirty="0">
                <a:solidFill>
                  <a:srgbClr val="91BAF4"/>
                </a:solidFill>
                <a:latin typeface="Libre Franklin Medium" pitchFamily="34" charset="0"/>
                <a:ea typeface="Libre Franklin Medium" pitchFamily="34" charset="-122"/>
                <a:cs typeface="Libre Franklin Medium" pitchFamily="34" charset="-120"/>
              </a:rPr>
              <a:t>3</a:t>
            </a:r>
            <a:endParaRPr lang="en-US" sz="900" dirty="0"/>
          </a:p>
        </p:txBody>
      </p:sp>
      <p:sp>
        <p:nvSpPr>
          <p:cNvPr id="6" name="Shape 4"/>
          <p:cNvSpPr/>
          <p:nvPr/>
        </p:nvSpPr>
        <p:spPr>
          <a:xfrm>
            <a:off x="566928" y="1874520"/>
            <a:ext cx="3246120" cy="2103120"/>
          </a:xfrm>
          <a:prstGeom prst="roundRect">
            <a:avLst>
              <a:gd name="adj" fmla="val 6957"/>
            </a:avLst>
          </a:prstGeom>
          <a:solidFill>
            <a:srgbClr val="3366FF"/>
          </a:solidFill>
          <a:ln/>
        </p:spPr>
      </p:sp>
      <p:sp>
        <p:nvSpPr>
          <p:cNvPr id="7" name="Text 5"/>
          <p:cNvSpPr/>
          <p:nvPr/>
        </p:nvSpPr>
        <p:spPr>
          <a:xfrm>
            <a:off x="859536" y="2103120"/>
            <a:ext cx="2660904" cy="237744"/>
          </a:xfrm>
          <a:prstGeom prst="rect">
            <a:avLst/>
          </a:prstGeom>
          <a:noFill/>
          <a:ln/>
        </p:spPr>
        <p:txBody>
          <a:bodyPr wrap="square" lIns="0" tIns="0" rIns="0" bIns="0" rtlCol="0" anchor="ctr"/>
          <a:lstStyle/>
          <a:p>
            <a:pPr indent="0" marL="0">
              <a:buNone/>
            </a:pPr>
            <a:r>
              <a:rPr lang="en-US" sz="1100" b="1" spc="180" kern="0" dirty="0">
                <a:solidFill>
                  <a:srgbClr val="F4F4F6"/>
                </a:solidFill>
                <a:latin typeface="Libre Franklin" pitchFamily="34" charset="0"/>
                <a:ea typeface="Libre Franklin" pitchFamily="34" charset="-122"/>
                <a:cs typeface="Libre Franklin" pitchFamily="34" charset="-120"/>
              </a:rPr>
              <a:t>LAYER 1</a:t>
            </a:r>
            <a:endParaRPr lang="en-US" sz="1100" dirty="0"/>
          </a:p>
        </p:txBody>
      </p:sp>
      <p:sp>
        <p:nvSpPr>
          <p:cNvPr id="8" name="Text 6"/>
          <p:cNvSpPr/>
          <p:nvPr/>
        </p:nvSpPr>
        <p:spPr>
          <a:xfrm>
            <a:off x="859536" y="2377440"/>
            <a:ext cx="2660904" cy="566928"/>
          </a:xfrm>
          <a:prstGeom prst="rect">
            <a:avLst/>
          </a:prstGeom>
          <a:noFill/>
          <a:ln/>
        </p:spPr>
        <p:txBody>
          <a:bodyPr wrap="square" lIns="0" tIns="0" rIns="0" bIns="0" rtlCol="0" anchor="ctr"/>
          <a:lstStyle/>
          <a:p>
            <a:pPr indent="0" marL="0">
              <a:buNone/>
            </a:pPr>
            <a:r>
              <a:rPr lang="en-US" sz="2700" b="1" dirty="0">
                <a:solidFill>
                  <a:srgbClr val="F4F4F6"/>
                </a:solidFill>
                <a:latin typeface="Libre Franklin" pitchFamily="34" charset="0"/>
                <a:ea typeface="Libre Franklin" pitchFamily="34" charset="-122"/>
                <a:cs typeface="Libre Franklin" pitchFamily="34" charset="-120"/>
              </a:rPr>
              <a:t>Filter</a:t>
            </a:r>
            <a:endParaRPr lang="en-US" sz="2700" dirty="0"/>
          </a:p>
        </p:txBody>
      </p:sp>
      <p:sp>
        <p:nvSpPr>
          <p:cNvPr id="9" name="Text 7"/>
          <p:cNvSpPr/>
          <p:nvPr/>
        </p:nvSpPr>
        <p:spPr>
          <a:xfrm>
            <a:off x="859536" y="2999232"/>
            <a:ext cx="2660904" cy="777240"/>
          </a:xfrm>
          <a:prstGeom prst="rect">
            <a:avLst/>
          </a:prstGeom>
          <a:noFill/>
          <a:ln/>
        </p:spPr>
        <p:txBody>
          <a:bodyPr wrap="square" lIns="0" tIns="0" rIns="0" bIns="0" rtlCol="0" anchor="t"/>
          <a:lstStyle/>
          <a:p>
            <a:pPr indent="0" marL="0">
              <a:lnSpc>
                <a:spcPts val="1800"/>
              </a:lnSpc>
              <a:buNone/>
            </a:pPr>
            <a:r>
              <a:rPr lang="en-US" sz="1300" dirty="0">
                <a:solidFill>
                  <a:srgbClr val="F4F4F6"/>
                </a:solidFill>
                <a:latin typeface="Libre Franklin Medium" pitchFamily="34" charset="0"/>
                <a:ea typeface="Libre Franklin Medium" pitchFamily="34" charset="-122"/>
                <a:cs typeface="Libre Franklin Medium" pitchFamily="34" charset="-120"/>
              </a:rPr>
              <a:t>Remove anyone who cannot go.</a:t>
            </a:r>
            <a:endParaRPr lang="en-US" sz="1300" dirty="0"/>
          </a:p>
          <a:p>
            <a:pPr indent="0" marL="0">
              <a:lnSpc>
                <a:spcPts val="1800"/>
              </a:lnSpc>
              <a:buNone/>
            </a:pPr>
            <a:r>
              <a:rPr lang="en-US" sz="1300" dirty="0">
                <a:solidFill>
                  <a:srgbClr val="F4F4F6"/>
                </a:solidFill>
                <a:latin typeface="Libre Franklin Medium" pitchFamily="34" charset="0"/>
                <a:ea typeface="Libre Franklin Medium" pitchFamily="34" charset="-122"/>
                <a:cs typeface="Libre Franklin Medium" pitchFamily="34" charset="-120"/>
              </a:rPr>
              <a:t>Pass or fail, no partial credit.</a:t>
            </a:r>
            <a:endParaRPr lang="en-US" sz="1300" dirty="0"/>
          </a:p>
        </p:txBody>
      </p:sp>
      <p:sp>
        <p:nvSpPr>
          <p:cNvPr id="10" name="Shape 8"/>
          <p:cNvSpPr/>
          <p:nvPr/>
        </p:nvSpPr>
        <p:spPr>
          <a:xfrm>
            <a:off x="3995928" y="2761488"/>
            <a:ext cx="420624" cy="329184"/>
          </a:xfrm>
          <a:prstGeom prst="rightArrow">
            <a:avLst/>
          </a:prstGeom>
          <a:solidFill>
            <a:srgbClr val="3366FF"/>
          </a:solidFill>
          <a:ln/>
        </p:spPr>
      </p:sp>
      <p:sp>
        <p:nvSpPr>
          <p:cNvPr id="11" name="Shape 9"/>
          <p:cNvSpPr/>
          <p:nvPr/>
        </p:nvSpPr>
        <p:spPr>
          <a:xfrm>
            <a:off x="4599432" y="1874520"/>
            <a:ext cx="3246120" cy="2103120"/>
          </a:xfrm>
          <a:prstGeom prst="roundRect">
            <a:avLst>
              <a:gd name="adj" fmla="val 6957"/>
            </a:avLst>
          </a:prstGeom>
          <a:solidFill>
            <a:srgbClr val="91BAF4"/>
          </a:solidFill>
          <a:ln/>
        </p:spPr>
      </p:sp>
      <p:sp>
        <p:nvSpPr>
          <p:cNvPr id="12" name="Text 10"/>
          <p:cNvSpPr/>
          <p:nvPr/>
        </p:nvSpPr>
        <p:spPr>
          <a:xfrm>
            <a:off x="4892040" y="2103120"/>
            <a:ext cx="2660904" cy="237744"/>
          </a:xfrm>
          <a:prstGeom prst="rect">
            <a:avLst/>
          </a:prstGeom>
          <a:noFill/>
          <a:ln/>
        </p:spPr>
        <p:txBody>
          <a:bodyPr wrap="square" lIns="0" tIns="0" rIns="0" bIns="0" rtlCol="0" anchor="ctr"/>
          <a:lstStyle/>
          <a:p>
            <a:pPr indent="0" marL="0">
              <a:buNone/>
            </a:pPr>
            <a:r>
              <a:rPr lang="en-US" sz="1100" b="1" spc="180" kern="0" dirty="0">
                <a:solidFill>
                  <a:srgbClr val="000000"/>
                </a:solidFill>
                <a:latin typeface="Libre Franklin" pitchFamily="34" charset="0"/>
                <a:ea typeface="Libre Franklin" pitchFamily="34" charset="-122"/>
                <a:cs typeface="Libre Franklin" pitchFamily="34" charset="-120"/>
              </a:rPr>
              <a:t>LAYER 2</a:t>
            </a:r>
            <a:endParaRPr lang="en-US" sz="1100" dirty="0"/>
          </a:p>
        </p:txBody>
      </p:sp>
      <p:sp>
        <p:nvSpPr>
          <p:cNvPr id="13" name="Text 11"/>
          <p:cNvSpPr/>
          <p:nvPr/>
        </p:nvSpPr>
        <p:spPr>
          <a:xfrm>
            <a:off x="4892040" y="2377440"/>
            <a:ext cx="2660904" cy="566928"/>
          </a:xfrm>
          <a:prstGeom prst="rect">
            <a:avLst/>
          </a:prstGeom>
          <a:noFill/>
          <a:ln/>
        </p:spPr>
        <p:txBody>
          <a:bodyPr wrap="square" lIns="0" tIns="0" rIns="0" bIns="0" rtlCol="0" anchor="ctr"/>
          <a:lstStyle/>
          <a:p>
            <a:pPr indent="0" marL="0">
              <a:buNone/>
            </a:pPr>
            <a:r>
              <a:rPr lang="en-US" sz="2700" b="1" dirty="0">
                <a:solidFill>
                  <a:srgbClr val="000000"/>
                </a:solidFill>
                <a:latin typeface="Libre Franklin" pitchFamily="34" charset="0"/>
                <a:ea typeface="Libre Franklin" pitchFamily="34" charset="-122"/>
                <a:cs typeface="Libre Franklin" pitchFamily="34" charset="-120"/>
              </a:rPr>
              <a:t>Score</a:t>
            </a:r>
            <a:endParaRPr lang="en-US" sz="2700" dirty="0"/>
          </a:p>
        </p:txBody>
      </p:sp>
      <p:sp>
        <p:nvSpPr>
          <p:cNvPr id="14" name="Text 12"/>
          <p:cNvSpPr/>
          <p:nvPr/>
        </p:nvSpPr>
        <p:spPr>
          <a:xfrm>
            <a:off x="4892040" y="2999232"/>
            <a:ext cx="2660904" cy="777240"/>
          </a:xfrm>
          <a:prstGeom prst="rect">
            <a:avLst/>
          </a:prstGeom>
          <a:noFill/>
          <a:ln/>
        </p:spPr>
        <p:txBody>
          <a:bodyPr wrap="square" lIns="0" tIns="0" rIns="0" bIns="0" rtlCol="0" anchor="t"/>
          <a:lstStyle/>
          <a:p>
            <a:pPr indent="0" marL="0">
              <a:lnSpc>
                <a:spcPts val="1800"/>
              </a:lnSpc>
              <a:buNone/>
            </a:pPr>
            <a:r>
              <a:rPr lang="en-US" sz="1300" dirty="0">
                <a:solidFill>
                  <a:srgbClr val="000000"/>
                </a:solidFill>
                <a:latin typeface="Libre Franklin Medium" pitchFamily="34" charset="0"/>
                <a:ea typeface="Libre Franklin Medium" pitchFamily="34" charset="-122"/>
                <a:cs typeface="Libre Franklin Medium" pitchFamily="34" charset="-120"/>
              </a:rPr>
              <a:t>Give everyone left a single</a:t>
            </a:r>
            <a:endParaRPr lang="en-US" sz="1300" dirty="0"/>
          </a:p>
          <a:p>
            <a:pPr indent="0" marL="0">
              <a:lnSpc>
                <a:spcPts val="1800"/>
              </a:lnSpc>
              <a:buNone/>
            </a:pPr>
            <a:r>
              <a:rPr lang="en-US" sz="1300" dirty="0">
                <a:solidFill>
                  <a:srgbClr val="000000"/>
                </a:solidFill>
                <a:latin typeface="Libre Franklin Medium" pitchFamily="34" charset="0"/>
                <a:ea typeface="Libre Franklin Medium" pitchFamily="34" charset="-122"/>
                <a:cs typeface="Libre Franklin Medium" pitchFamily="34" charset="-120"/>
              </a:rPr>
              <a:t>number to rank on.</a:t>
            </a:r>
            <a:endParaRPr lang="en-US" sz="1300" dirty="0"/>
          </a:p>
        </p:txBody>
      </p:sp>
      <p:sp>
        <p:nvSpPr>
          <p:cNvPr id="15" name="Shape 13"/>
          <p:cNvSpPr/>
          <p:nvPr/>
        </p:nvSpPr>
        <p:spPr>
          <a:xfrm>
            <a:off x="8028432" y="2761488"/>
            <a:ext cx="420624" cy="329184"/>
          </a:xfrm>
          <a:prstGeom prst="rightArrow">
            <a:avLst/>
          </a:prstGeom>
          <a:solidFill>
            <a:srgbClr val="3366FF"/>
          </a:solidFill>
          <a:ln/>
        </p:spPr>
      </p:sp>
      <p:sp>
        <p:nvSpPr>
          <p:cNvPr id="16" name="Shape 14"/>
          <p:cNvSpPr/>
          <p:nvPr/>
        </p:nvSpPr>
        <p:spPr>
          <a:xfrm>
            <a:off x="8631936" y="1874520"/>
            <a:ext cx="3246120" cy="2103120"/>
          </a:xfrm>
          <a:prstGeom prst="roundRect">
            <a:avLst>
              <a:gd name="adj" fmla="val 6957"/>
            </a:avLst>
          </a:prstGeom>
          <a:solidFill>
            <a:srgbClr val="E6EEFC"/>
          </a:solidFill>
          <a:ln/>
        </p:spPr>
      </p:sp>
      <p:sp>
        <p:nvSpPr>
          <p:cNvPr id="17" name="Text 15"/>
          <p:cNvSpPr/>
          <p:nvPr/>
        </p:nvSpPr>
        <p:spPr>
          <a:xfrm>
            <a:off x="8924544" y="2103120"/>
            <a:ext cx="2660904" cy="237744"/>
          </a:xfrm>
          <a:prstGeom prst="rect">
            <a:avLst/>
          </a:prstGeom>
          <a:noFill/>
          <a:ln/>
        </p:spPr>
        <p:txBody>
          <a:bodyPr wrap="square" lIns="0" tIns="0" rIns="0" bIns="0" rtlCol="0" anchor="ctr"/>
          <a:lstStyle/>
          <a:p>
            <a:pPr indent="0" marL="0">
              <a:buNone/>
            </a:pPr>
            <a:r>
              <a:rPr lang="en-US" sz="1100" b="1" spc="180" kern="0" dirty="0">
                <a:solidFill>
                  <a:srgbClr val="3366FF"/>
                </a:solidFill>
                <a:latin typeface="Libre Franklin" pitchFamily="34" charset="0"/>
                <a:ea typeface="Libre Franklin" pitchFamily="34" charset="-122"/>
                <a:cs typeface="Libre Franklin" pitchFamily="34" charset="-120"/>
              </a:rPr>
              <a:t>LAYER 3</a:t>
            </a:r>
            <a:endParaRPr lang="en-US" sz="1100" dirty="0"/>
          </a:p>
        </p:txBody>
      </p:sp>
      <p:sp>
        <p:nvSpPr>
          <p:cNvPr id="18" name="Text 16"/>
          <p:cNvSpPr/>
          <p:nvPr/>
        </p:nvSpPr>
        <p:spPr>
          <a:xfrm>
            <a:off x="8924544" y="2377440"/>
            <a:ext cx="2660904" cy="566928"/>
          </a:xfrm>
          <a:prstGeom prst="rect">
            <a:avLst/>
          </a:prstGeom>
          <a:noFill/>
          <a:ln/>
        </p:spPr>
        <p:txBody>
          <a:bodyPr wrap="square" lIns="0" tIns="0" rIns="0" bIns="0" rtlCol="0" anchor="ctr"/>
          <a:lstStyle/>
          <a:p>
            <a:pPr indent="0" marL="0">
              <a:buNone/>
            </a:pPr>
            <a:r>
              <a:rPr lang="en-US" sz="2700" b="1" dirty="0">
                <a:solidFill>
                  <a:srgbClr val="3366FF"/>
                </a:solidFill>
                <a:latin typeface="Libre Franklin" pitchFamily="34" charset="0"/>
                <a:ea typeface="Libre Franklin" pitchFamily="34" charset="-122"/>
                <a:cs typeface="Libre Franklin" pitchFamily="34" charset="-120"/>
              </a:rPr>
              <a:t>Decide</a:t>
            </a:r>
            <a:endParaRPr lang="en-US" sz="2700" dirty="0"/>
          </a:p>
        </p:txBody>
      </p:sp>
      <p:sp>
        <p:nvSpPr>
          <p:cNvPr id="19" name="Text 17"/>
          <p:cNvSpPr/>
          <p:nvPr/>
        </p:nvSpPr>
        <p:spPr>
          <a:xfrm>
            <a:off x="8924544" y="2999232"/>
            <a:ext cx="2660904" cy="777240"/>
          </a:xfrm>
          <a:prstGeom prst="rect">
            <a:avLst/>
          </a:prstGeom>
          <a:noFill/>
          <a:ln/>
        </p:spPr>
        <p:txBody>
          <a:bodyPr wrap="square" lIns="0" tIns="0" rIns="0" bIns="0" rtlCol="0" anchor="t"/>
          <a:lstStyle/>
          <a:p>
            <a:pPr indent="0" marL="0">
              <a:lnSpc>
                <a:spcPts val="1800"/>
              </a:lnSpc>
              <a:buNone/>
            </a:pPr>
            <a:r>
              <a:rPr lang="en-US" sz="1300" dirty="0">
                <a:solidFill>
                  <a:srgbClr val="3366FF"/>
                </a:solidFill>
                <a:latin typeface="Libre Franklin Medium" pitchFamily="34" charset="0"/>
                <a:ea typeface="Libre Franklin Medium" pitchFamily="34" charset="-122"/>
                <a:cs typeface="Libre Franklin Medium" pitchFamily="34" charset="-120"/>
              </a:rPr>
              <a:t>Break close calls, then flag</a:t>
            </a:r>
            <a:endParaRPr lang="en-US" sz="1300" dirty="0"/>
          </a:p>
          <a:p>
            <a:pPr indent="0" marL="0">
              <a:lnSpc>
                <a:spcPts val="1800"/>
              </a:lnSpc>
              <a:buNone/>
            </a:pPr>
            <a:r>
              <a:rPr lang="en-US" sz="1300" dirty="0">
                <a:solidFill>
                  <a:srgbClr val="3366FF"/>
                </a:solidFill>
                <a:latin typeface="Libre Franklin Medium" pitchFamily="34" charset="0"/>
                <a:ea typeface="Libre Franklin Medium" pitchFamily="34" charset="-122"/>
                <a:cs typeface="Libre Franklin Medium" pitchFamily="34" charset="-120"/>
              </a:rPr>
              <a:t>sensitive cases for a person.</a:t>
            </a:r>
            <a:endParaRPr lang="en-US" sz="1300" dirty="0"/>
          </a:p>
        </p:txBody>
      </p:sp>
      <p:sp>
        <p:nvSpPr>
          <p:cNvPr id="20" name="Shape 18"/>
          <p:cNvSpPr/>
          <p:nvPr/>
        </p:nvSpPr>
        <p:spPr>
          <a:xfrm>
            <a:off x="566928" y="4434840"/>
            <a:ext cx="173736" cy="173736"/>
          </a:xfrm>
          <a:prstGeom prst="ellipse">
            <a:avLst/>
          </a:prstGeom>
          <a:solidFill>
            <a:srgbClr val="F57F00"/>
          </a:solidFill>
          <a:ln/>
        </p:spPr>
      </p:sp>
      <p:sp>
        <p:nvSpPr>
          <p:cNvPr id="21" name="Text 19"/>
          <p:cNvSpPr/>
          <p:nvPr/>
        </p:nvSpPr>
        <p:spPr>
          <a:xfrm>
            <a:off x="850392" y="4379976"/>
            <a:ext cx="2962656" cy="274320"/>
          </a:xfrm>
          <a:prstGeom prst="rect">
            <a:avLst/>
          </a:prstGeom>
          <a:noFill/>
          <a:ln/>
        </p:spPr>
        <p:txBody>
          <a:bodyPr wrap="square" lIns="0" tIns="0" rIns="0" bIns="0" rtlCol="0" anchor="ctr"/>
          <a:lstStyle/>
          <a:p>
            <a:pPr indent="0" marL="0">
              <a:buNone/>
            </a:pPr>
            <a:r>
              <a:rPr lang="en-US" sz="1300" b="1" dirty="0">
                <a:solidFill>
                  <a:srgbClr val="000000"/>
                </a:solidFill>
                <a:latin typeface="Libre Franklin" pitchFamily="34" charset="0"/>
                <a:ea typeface="Libre Franklin" pitchFamily="34" charset="-122"/>
                <a:cs typeface="Libre Franklin" pitchFamily="34" charset="-120"/>
              </a:rPr>
              <a:t>Pass or fail</a:t>
            </a:r>
            <a:endParaRPr lang="en-US" sz="1300" dirty="0"/>
          </a:p>
        </p:txBody>
      </p:sp>
      <p:sp>
        <p:nvSpPr>
          <p:cNvPr id="22" name="Text 20"/>
          <p:cNvSpPr/>
          <p:nvPr/>
        </p:nvSpPr>
        <p:spPr>
          <a:xfrm>
            <a:off x="566928" y="4700016"/>
            <a:ext cx="3246120" cy="914400"/>
          </a:xfrm>
          <a:prstGeom prst="rect">
            <a:avLst/>
          </a:prstGeom>
          <a:noFill/>
          <a:ln/>
        </p:spPr>
        <p:txBody>
          <a:bodyPr wrap="square" lIns="0" tIns="0" rIns="0" bIns="0" rtlCol="0" anchor="t"/>
          <a:lstStyle/>
          <a:p>
            <a:pPr indent="0" marL="0">
              <a:lnSpc>
                <a:spcPts val="1700"/>
              </a:lnSpc>
              <a:buNone/>
            </a:pPr>
            <a:r>
              <a:rPr lang="en-US" sz="1200" dirty="0">
                <a:solidFill>
                  <a:srgbClr val="000000"/>
                </a:solidFill>
                <a:latin typeface="Libre Franklin Medium" pitchFamily="34" charset="0"/>
                <a:ea typeface="Libre Franklin Medium" pitchFamily="34" charset="-122"/>
                <a:cs typeface="Libre Franklin Medium" pitchFamily="34" charset="-120"/>
              </a:rPr>
              <a:t>A person either clears all four hard checks or is out of the pool for this visit.</a:t>
            </a:r>
            <a:endParaRPr lang="en-US" sz="1200" dirty="0"/>
          </a:p>
        </p:txBody>
      </p:sp>
      <p:sp>
        <p:nvSpPr>
          <p:cNvPr id="23" name="Shape 21"/>
          <p:cNvSpPr/>
          <p:nvPr/>
        </p:nvSpPr>
        <p:spPr>
          <a:xfrm>
            <a:off x="4599432" y="4434840"/>
            <a:ext cx="173736" cy="173736"/>
          </a:xfrm>
          <a:prstGeom prst="ellipse">
            <a:avLst/>
          </a:prstGeom>
          <a:solidFill>
            <a:srgbClr val="F57F00"/>
          </a:solidFill>
          <a:ln/>
        </p:spPr>
      </p:sp>
      <p:sp>
        <p:nvSpPr>
          <p:cNvPr id="24" name="Text 22"/>
          <p:cNvSpPr/>
          <p:nvPr/>
        </p:nvSpPr>
        <p:spPr>
          <a:xfrm>
            <a:off x="4882896" y="4379976"/>
            <a:ext cx="2962656" cy="274320"/>
          </a:xfrm>
          <a:prstGeom prst="rect">
            <a:avLst/>
          </a:prstGeom>
          <a:noFill/>
          <a:ln/>
        </p:spPr>
        <p:txBody>
          <a:bodyPr wrap="square" lIns="0" tIns="0" rIns="0" bIns="0" rtlCol="0" anchor="ctr"/>
          <a:lstStyle/>
          <a:p>
            <a:pPr indent="0" marL="0">
              <a:buNone/>
            </a:pPr>
            <a:r>
              <a:rPr lang="en-US" sz="1300" b="1" dirty="0">
                <a:solidFill>
                  <a:srgbClr val="000000"/>
                </a:solidFill>
                <a:latin typeface="Libre Franklin" pitchFamily="34" charset="0"/>
                <a:ea typeface="Libre Franklin" pitchFamily="34" charset="-122"/>
                <a:cs typeface="Libre Franklin" pitchFamily="34" charset="-120"/>
              </a:rPr>
              <a:t>One number</a:t>
            </a:r>
            <a:endParaRPr lang="en-US" sz="1300" dirty="0"/>
          </a:p>
        </p:txBody>
      </p:sp>
      <p:sp>
        <p:nvSpPr>
          <p:cNvPr id="25" name="Text 23"/>
          <p:cNvSpPr/>
          <p:nvPr/>
        </p:nvSpPr>
        <p:spPr>
          <a:xfrm>
            <a:off x="4599432" y="4700016"/>
            <a:ext cx="3246120" cy="914400"/>
          </a:xfrm>
          <a:prstGeom prst="rect">
            <a:avLst/>
          </a:prstGeom>
          <a:noFill/>
          <a:ln/>
        </p:spPr>
        <p:txBody>
          <a:bodyPr wrap="square" lIns="0" tIns="0" rIns="0" bIns="0" rtlCol="0" anchor="t"/>
          <a:lstStyle/>
          <a:p>
            <a:pPr indent="0" marL="0">
              <a:lnSpc>
                <a:spcPts val="1700"/>
              </a:lnSpc>
              <a:buNone/>
            </a:pPr>
            <a:r>
              <a:rPr lang="en-US" sz="1200" dirty="0">
                <a:solidFill>
                  <a:srgbClr val="000000"/>
                </a:solidFill>
                <a:latin typeface="Libre Franklin Medium" pitchFamily="34" charset="0"/>
                <a:ea typeface="Libre Franklin Medium" pitchFamily="34" charset="-122"/>
                <a:cs typeface="Libre Franklin Medium" pitchFamily="34" charset="-120"/>
              </a:rPr>
              <a:t>Five things we care about are folded into a single score, so they are compared together.</a:t>
            </a:r>
            <a:endParaRPr lang="en-US" sz="1200" dirty="0"/>
          </a:p>
        </p:txBody>
      </p:sp>
      <p:sp>
        <p:nvSpPr>
          <p:cNvPr id="26" name="Shape 24"/>
          <p:cNvSpPr/>
          <p:nvPr/>
        </p:nvSpPr>
        <p:spPr>
          <a:xfrm>
            <a:off x="8631936" y="4434840"/>
            <a:ext cx="173736" cy="173736"/>
          </a:xfrm>
          <a:prstGeom prst="ellipse">
            <a:avLst/>
          </a:prstGeom>
          <a:solidFill>
            <a:srgbClr val="F57F00"/>
          </a:solidFill>
          <a:ln/>
        </p:spPr>
      </p:sp>
      <p:sp>
        <p:nvSpPr>
          <p:cNvPr id="27" name="Text 25"/>
          <p:cNvSpPr/>
          <p:nvPr/>
        </p:nvSpPr>
        <p:spPr>
          <a:xfrm>
            <a:off x="8915400" y="4379976"/>
            <a:ext cx="2962656" cy="274320"/>
          </a:xfrm>
          <a:prstGeom prst="rect">
            <a:avLst/>
          </a:prstGeom>
          <a:noFill/>
          <a:ln/>
        </p:spPr>
        <p:txBody>
          <a:bodyPr wrap="square" lIns="0" tIns="0" rIns="0" bIns="0" rtlCol="0" anchor="ctr"/>
          <a:lstStyle/>
          <a:p>
            <a:pPr indent="0" marL="0">
              <a:buNone/>
            </a:pPr>
            <a:r>
              <a:rPr lang="en-US" sz="1300" b="1" dirty="0">
                <a:solidFill>
                  <a:srgbClr val="000000"/>
                </a:solidFill>
                <a:latin typeface="Libre Franklin" pitchFamily="34" charset="0"/>
                <a:ea typeface="Libre Franklin" pitchFamily="34" charset="-122"/>
                <a:cs typeface="Libre Franklin" pitchFamily="34" charset="-120"/>
              </a:rPr>
              <a:t>Human override</a:t>
            </a:r>
            <a:endParaRPr lang="en-US" sz="1300" dirty="0"/>
          </a:p>
        </p:txBody>
      </p:sp>
      <p:sp>
        <p:nvSpPr>
          <p:cNvPr id="28" name="Text 26"/>
          <p:cNvSpPr/>
          <p:nvPr/>
        </p:nvSpPr>
        <p:spPr>
          <a:xfrm>
            <a:off x="8631936" y="4700016"/>
            <a:ext cx="3246120" cy="914400"/>
          </a:xfrm>
          <a:prstGeom prst="rect">
            <a:avLst/>
          </a:prstGeom>
          <a:noFill/>
          <a:ln/>
        </p:spPr>
        <p:txBody>
          <a:bodyPr wrap="square" lIns="0" tIns="0" rIns="0" bIns="0" rtlCol="0" anchor="t"/>
          <a:lstStyle/>
          <a:p>
            <a:pPr indent="0" marL="0">
              <a:lnSpc>
                <a:spcPts val="1700"/>
              </a:lnSpc>
              <a:buNone/>
            </a:pPr>
            <a:r>
              <a:rPr lang="en-US" sz="1200" dirty="0">
                <a:solidFill>
                  <a:srgbClr val="000000"/>
                </a:solidFill>
                <a:latin typeface="Libre Franklin Medium" pitchFamily="34" charset="0"/>
                <a:ea typeface="Libre Franklin Medium" pitchFamily="34" charset="-122"/>
                <a:cs typeface="Libre Franklin Medium" pitchFamily="34" charset="-120"/>
              </a:rPr>
              <a:t>A high score can never let someone through Layer 1, and never overrules a family concern.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indent="0" marL="0">
              <a:buNone/>
            </a:pPr>
            <a:r>
              <a:rPr lang="en-US" sz="1100" b="1" spc="140" kern="0" dirty="0">
                <a:solidFill>
                  <a:srgbClr val="91BAF4"/>
                </a:solidFill>
                <a:latin typeface="Libre Franklin" pitchFamily="34" charset="0"/>
                <a:ea typeface="Libre Franklin" pitchFamily="34" charset="-122"/>
                <a:cs typeface="Libre Franklin" pitchFamily="34" charset="-120"/>
              </a:rPr>
              <a:t>READING THE SYMBOLS</a:t>
            </a:r>
            <a:endParaRPr lang="en-US" sz="1100" dirty="0"/>
          </a:p>
        </p:txBody>
      </p:sp>
      <p:sp>
        <p:nvSpPr>
          <p:cNvPr id="3" name="Text 1"/>
          <p:cNvSpPr/>
          <p:nvPr/>
        </p:nvSpPr>
        <p:spPr>
          <a:xfrm>
            <a:off x="566928" y="658368"/>
            <a:ext cx="11064240" cy="566928"/>
          </a:xfrm>
          <a:prstGeom prst="rect">
            <a:avLst/>
          </a:prstGeom>
          <a:noFill/>
          <a:ln/>
        </p:spPr>
        <p:txBody>
          <a:bodyPr wrap="square" lIns="0" tIns="0" rIns="0" bIns="0" rtlCol="0" anchor="ctr"/>
          <a:lstStyle/>
          <a:p>
            <a:pPr indent="0" marL="0">
              <a:buNone/>
            </a:pPr>
            <a:r>
              <a:rPr lang="en-US" sz="3000" b="1" spc="-20" kern="0" dirty="0">
                <a:solidFill>
                  <a:srgbClr val="3366FF"/>
                </a:solidFill>
                <a:latin typeface="Libre Franklin" pitchFamily="34" charset="0"/>
                <a:ea typeface="Libre Franklin" pitchFamily="34" charset="-122"/>
                <a:cs typeface="Libre Franklin" pitchFamily="34" charset="-120"/>
              </a:rPr>
              <a:t>What each symbol stands for</a:t>
            </a:r>
            <a:endParaRPr lang="en-US" sz="3000" dirty="0"/>
          </a:p>
        </p:txBody>
      </p:sp>
      <p:sp>
        <p:nvSpPr>
          <p:cNvPr id="4" name="Text 2"/>
          <p:cNvSpPr/>
          <p:nvPr/>
        </p:nvSpPr>
        <p:spPr>
          <a:xfrm>
            <a:off x="566928" y="6382512"/>
            <a:ext cx="5486400" cy="256032"/>
          </a:xfrm>
          <a:prstGeom prst="rect">
            <a:avLst/>
          </a:prstGeom>
          <a:noFill/>
          <a:ln/>
        </p:spPr>
        <p:txBody>
          <a:bodyPr wrap="square" lIns="0" tIns="0" rIns="0" bIns="0" rtlCol="0" anchor="ctr"/>
          <a:lstStyle/>
          <a:p>
            <a:pPr algn="l" indent="0" marL="0">
              <a:buNone/>
            </a:pPr>
            <a:r>
              <a:rPr lang="en-US" sz="900" dirty="0">
                <a:solidFill>
                  <a:srgbClr val="91BAF4"/>
                </a:solidFill>
                <a:latin typeface="Libre Franklin Medium" pitchFamily="34" charset="0"/>
                <a:ea typeface="Libre Franklin Medium" pitchFamily="34" charset="-122"/>
                <a:cs typeface="Libre Franklin Medium" pitchFamily="34" charset="-120"/>
              </a:rPr>
              <a:t>The Early Social Development Lab at UofSC</a:t>
            </a:r>
            <a:endParaRPr lang="en-US" sz="900" dirty="0"/>
          </a:p>
        </p:txBody>
      </p:sp>
      <p:sp>
        <p:nvSpPr>
          <p:cNvPr id="5" name="Text 3"/>
          <p:cNvSpPr/>
          <p:nvPr/>
        </p:nvSpPr>
        <p:spPr>
          <a:xfrm>
            <a:off x="10984687" y="6382512"/>
            <a:ext cx="640080" cy="256032"/>
          </a:xfrm>
          <a:prstGeom prst="rect">
            <a:avLst/>
          </a:prstGeom>
          <a:noFill/>
          <a:ln/>
        </p:spPr>
        <p:txBody>
          <a:bodyPr wrap="square" lIns="0" tIns="0" rIns="0" bIns="0" rtlCol="0" anchor="ctr"/>
          <a:lstStyle/>
          <a:p>
            <a:pPr algn="r" indent="0" marL="0">
              <a:buNone/>
            </a:pPr>
            <a:r>
              <a:rPr lang="en-US" sz="900" dirty="0">
                <a:solidFill>
                  <a:srgbClr val="91BAF4"/>
                </a:solidFill>
                <a:latin typeface="Libre Franklin Medium" pitchFamily="34" charset="0"/>
                <a:ea typeface="Libre Franklin Medium" pitchFamily="34" charset="-122"/>
                <a:cs typeface="Libre Franklin Medium" pitchFamily="34" charset="-120"/>
              </a:rPr>
              <a:t>4</a:t>
            </a:r>
            <a:endParaRPr lang="en-US" sz="900" dirty="0"/>
          </a:p>
        </p:txBody>
      </p:sp>
      <p:sp>
        <p:nvSpPr>
          <p:cNvPr id="6" name="Shape 4"/>
          <p:cNvSpPr/>
          <p:nvPr/>
        </p:nvSpPr>
        <p:spPr>
          <a:xfrm>
            <a:off x="566928" y="1691640"/>
            <a:ext cx="5440680" cy="749808"/>
          </a:xfrm>
          <a:prstGeom prst="roundRect">
            <a:avLst>
              <a:gd name="adj" fmla="val 12195"/>
            </a:avLst>
          </a:prstGeom>
          <a:solidFill>
            <a:srgbClr val="E6EEFC"/>
          </a:solidFill>
          <a:ln/>
        </p:spPr>
      </p:sp>
      <p:pic>
        <p:nvPicPr>
          <p:cNvPr id="7" name="Image 0" descr="/tmp/esd/math/sym_i.png">    </p:cNvPr>
          <p:cNvPicPr>
            <a:picLocks noChangeAspect="1"/>
          </p:cNvPicPr>
          <p:nvPr/>
        </p:nvPicPr>
        <p:blipFill>
          <a:blip r:embed="rId1"/>
          <a:stretch>
            <a:fillRect/>
          </a:stretch>
        </p:blipFill>
        <p:spPr>
          <a:xfrm>
            <a:off x="1072936" y="1911096"/>
            <a:ext cx="633905" cy="310896"/>
          </a:xfrm>
          <a:prstGeom prst="rect">
            <a:avLst/>
          </a:prstGeom>
        </p:spPr>
      </p:pic>
      <p:sp>
        <p:nvSpPr>
          <p:cNvPr id="8" name="Shape 5"/>
          <p:cNvSpPr/>
          <p:nvPr/>
        </p:nvSpPr>
        <p:spPr>
          <a:xfrm>
            <a:off x="2212848" y="1837944"/>
            <a:ext cx="12802" cy="457200"/>
          </a:xfrm>
          <a:prstGeom prst="rect">
            <a:avLst/>
          </a:prstGeom>
          <a:solidFill>
            <a:srgbClr val="91BAF4"/>
          </a:solidFill>
          <a:ln/>
        </p:spPr>
      </p:sp>
      <p:sp>
        <p:nvSpPr>
          <p:cNvPr id="9" name="Text 6"/>
          <p:cNvSpPr/>
          <p:nvPr/>
        </p:nvSpPr>
        <p:spPr>
          <a:xfrm>
            <a:off x="2377440" y="1746504"/>
            <a:ext cx="3429000" cy="640080"/>
          </a:xfrm>
          <a:prstGeom prst="rect">
            <a:avLst/>
          </a:prstGeom>
          <a:noFill/>
          <a:ln/>
        </p:spPr>
        <p:txBody>
          <a:bodyPr wrap="square" lIns="0" tIns="0" rIns="0" bIns="0" rtlCol="0" anchor="ctr"/>
          <a:lstStyle/>
          <a:p>
            <a:pPr indent="0" marL="0">
              <a:lnSpc>
                <a:spcPts val="1600"/>
              </a:lnSpc>
              <a:buNone/>
            </a:pPr>
            <a:r>
              <a:rPr lang="en-US" sz="1250" dirty="0">
                <a:solidFill>
                  <a:srgbClr val="000000"/>
                </a:solidFill>
                <a:latin typeface="Libre Franklin Medium" pitchFamily="34" charset="0"/>
                <a:ea typeface="Libre Franklin Medium" pitchFamily="34" charset="-122"/>
                <a:cs typeface="Libre Franklin Medium" pitchFamily="34" charset="-120"/>
              </a:rPr>
              <a:t>One person who could take the visit</a:t>
            </a:r>
            <a:endParaRPr lang="en-US" sz="1250" dirty="0"/>
          </a:p>
        </p:txBody>
      </p:sp>
      <p:sp>
        <p:nvSpPr>
          <p:cNvPr id="10" name="Shape 7"/>
          <p:cNvSpPr/>
          <p:nvPr/>
        </p:nvSpPr>
        <p:spPr>
          <a:xfrm>
            <a:off x="566928" y="2587752"/>
            <a:ext cx="5440680" cy="749808"/>
          </a:xfrm>
          <a:prstGeom prst="roundRect">
            <a:avLst>
              <a:gd name="adj" fmla="val 12195"/>
            </a:avLst>
          </a:prstGeom>
          <a:solidFill>
            <a:srgbClr val="E6EEFC"/>
          </a:solidFill>
          <a:ln/>
        </p:spPr>
      </p:sp>
      <p:pic>
        <p:nvPicPr>
          <p:cNvPr id="11" name="Image 1" descr="/tmp/esd/math/sym_v.png">    </p:cNvPr>
          <p:cNvPicPr>
            <a:picLocks noChangeAspect="1"/>
          </p:cNvPicPr>
          <p:nvPr/>
        </p:nvPicPr>
        <p:blipFill>
          <a:blip r:embed="rId2"/>
          <a:stretch>
            <a:fillRect/>
          </a:stretch>
        </p:blipFill>
        <p:spPr>
          <a:xfrm>
            <a:off x="1028522" y="2807208"/>
            <a:ext cx="722732" cy="310896"/>
          </a:xfrm>
          <a:prstGeom prst="rect">
            <a:avLst/>
          </a:prstGeom>
        </p:spPr>
      </p:pic>
      <p:sp>
        <p:nvSpPr>
          <p:cNvPr id="12" name="Shape 8"/>
          <p:cNvSpPr/>
          <p:nvPr/>
        </p:nvSpPr>
        <p:spPr>
          <a:xfrm>
            <a:off x="2212848" y="2734056"/>
            <a:ext cx="12802" cy="457200"/>
          </a:xfrm>
          <a:prstGeom prst="rect">
            <a:avLst/>
          </a:prstGeom>
          <a:solidFill>
            <a:srgbClr val="91BAF4"/>
          </a:solidFill>
          <a:ln/>
        </p:spPr>
      </p:sp>
      <p:sp>
        <p:nvSpPr>
          <p:cNvPr id="13" name="Text 9"/>
          <p:cNvSpPr/>
          <p:nvPr/>
        </p:nvSpPr>
        <p:spPr>
          <a:xfrm>
            <a:off x="2377440" y="2642616"/>
            <a:ext cx="3429000" cy="640080"/>
          </a:xfrm>
          <a:prstGeom prst="rect">
            <a:avLst/>
          </a:prstGeom>
          <a:noFill/>
          <a:ln/>
        </p:spPr>
        <p:txBody>
          <a:bodyPr wrap="square" lIns="0" tIns="0" rIns="0" bIns="0" rtlCol="0" anchor="ctr"/>
          <a:lstStyle/>
          <a:p>
            <a:pPr indent="0" marL="0">
              <a:lnSpc>
                <a:spcPts val="1600"/>
              </a:lnSpc>
              <a:buNone/>
            </a:pPr>
            <a:r>
              <a:rPr lang="en-US" sz="1250" dirty="0">
                <a:solidFill>
                  <a:srgbClr val="000000"/>
                </a:solidFill>
                <a:latin typeface="Libre Franklin Medium" pitchFamily="34" charset="0"/>
                <a:ea typeface="Libre Franklin Medium" pitchFamily="34" charset="-122"/>
                <a:cs typeface="Libre Franklin Medium" pitchFamily="34" charset="-120"/>
              </a:rPr>
              <a:t>One visit request that needs filling</a:t>
            </a:r>
            <a:endParaRPr lang="en-US" sz="1250" dirty="0"/>
          </a:p>
        </p:txBody>
      </p:sp>
      <p:sp>
        <p:nvSpPr>
          <p:cNvPr id="14" name="Shape 10"/>
          <p:cNvSpPr/>
          <p:nvPr/>
        </p:nvSpPr>
        <p:spPr>
          <a:xfrm>
            <a:off x="566928" y="3483864"/>
            <a:ext cx="5440680" cy="749808"/>
          </a:xfrm>
          <a:prstGeom prst="roundRect">
            <a:avLst>
              <a:gd name="adj" fmla="val 12195"/>
            </a:avLst>
          </a:prstGeom>
          <a:solidFill>
            <a:srgbClr val="E6EEFC"/>
          </a:solidFill>
          <a:ln/>
        </p:spPr>
      </p:sp>
      <p:pic>
        <p:nvPicPr>
          <p:cNvPr id="15" name="Image 2" descr="/tmp/esd/math/sym_dt.png">    </p:cNvPr>
          <p:cNvPicPr>
            <a:picLocks noChangeAspect="1"/>
          </p:cNvPicPr>
          <p:nvPr/>
        </p:nvPicPr>
        <p:blipFill>
          <a:blip r:embed="rId3"/>
          <a:stretch>
            <a:fillRect/>
          </a:stretch>
        </p:blipFill>
        <p:spPr>
          <a:xfrm>
            <a:off x="1180773" y="3703320"/>
            <a:ext cx="418229" cy="310896"/>
          </a:xfrm>
          <a:prstGeom prst="rect">
            <a:avLst/>
          </a:prstGeom>
        </p:spPr>
      </p:pic>
      <p:sp>
        <p:nvSpPr>
          <p:cNvPr id="16" name="Shape 11"/>
          <p:cNvSpPr/>
          <p:nvPr/>
        </p:nvSpPr>
        <p:spPr>
          <a:xfrm>
            <a:off x="2212848" y="3630168"/>
            <a:ext cx="12802" cy="457200"/>
          </a:xfrm>
          <a:prstGeom prst="rect">
            <a:avLst/>
          </a:prstGeom>
          <a:solidFill>
            <a:srgbClr val="91BAF4"/>
          </a:solidFill>
          <a:ln/>
        </p:spPr>
      </p:sp>
      <p:sp>
        <p:nvSpPr>
          <p:cNvPr id="17" name="Text 12"/>
          <p:cNvSpPr/>
          <p:nvPr/>
        </p:nvSpPr>
        <p:spPr>
          <a:xfrm>
            <a:off x="2377440" y="3538728"/>
            <a:ext cx="3429000" cy="640080"/>
          </a:xfrm>
          <a:prstGeom prst="rect">
            <a:avLst/>
          </a:prstGeom>
          <a:noFill/>
          <a:ln/>
        </p:spPr>
        <p:txBody>
          <a:bodyPr wrap="square" lIns="0" tIns="0" rIns="0" bIns="0" rtlCol="0" anchor="ctr"/>
          <a:lstStyle/>
          <a:p>
            <a:pPr indent="0" marL="0">
              <a:lnSpc>
                <a:spcPts val="1600"/>
              </a:lnSpc>
              <a:buNone/>
            </a:pPr>
            <a:r>
              <a:rPr lang="en-US" sz="1250" dirty="0">
                <a:solidFill>
                  <a:srgbClr val="000000"/>
                </a:solidFill>
                <a:latin typeface="Libre Franklin Medium" pitchFamily="34" charset="0"/>
                <a:ea typeface="Libre Franklin Medium" pitchFamily="34" charset="-122"/>
                <a:cs typeface="Libre Franklin Medium" pitchFamily="34" charset="-120"/>
              </a:rPr>
              <a:t>Days since that person's last assignment</a:t>
            </a:r>
            <a:endParaRPr lang="en-US" sz="1250" dirty="0"/>
          </a:p>
        </p:txBody>
      </p:sp>
      <p:sp>
        <p:nvSpPr>
          <p:cNvPr id="18" name="Shape 13"/>
          <p:cNvSpPr/>
          <p:nvPr/>
        </p:nvSpPr>
        <p:spPr>
          <a:xfrm>
            <a:off x="566928" y="4379976"/>
            <a:ext cx="5440680" cy="749808"/>
          </a:xfrm>
          <a:prstGeom prst="roundRect">
            <a:avLst>
              <a:gd name="adj" fmla="val 12195"/>
            </a:avLst>
          </a:prstGeom>
          <a:solidFill>
            <a:srgbClr val="E6EEFC"/>
          </a:solidFill>
          <a:ln/>
        </p:spPr>
      </p:sp>
      <p:pic>
        <p:nvPicPr>
          <p:cNvPr id="19" name="Image 3" descr="/tmp/esd/math/sym_n.png">    </p:cNvPr>
          <p:cNvPicPr>
            <a:picLocks noChangeAspect="1"/>
          </p:cNvPicPr>
          <p:nvPr/>
        </p:nvPicPr>
        <p:blipFill>
          <a:blip r:embed="rId4"/>
          <a:stretch>
            <a:fillRect/>
          </a:stretch>
        </p:blipFill>
        <p:spPr>
          <a:xfrm>
            <a:off x="1183280" y="4599432"/>
            <a:ext cx="413216" cy="310896"/>
          </a:xfrm>
          <a:prstGeom prst="rect">
            <a:avLst/>
          </a:prstGeom>
        </p:spPr>
      </p:pic>
      <p:sp>
        <p:nvSpPr>
          <p:cNvPr id="20" name="Shape 14"/>
          <p:cNvSpPr/>
          <p:nvPr/>
        </p:nvSpPr>
        <p:spPr>
          <a:xfrm>
            <a:off x="2212848" y="4526280"/>
            <a:ext cx="12802" cy="457200"/>
          </a:xfrm>
          <a:prstGeom prst="rect">
            <a:avLst/>
          </a:prstGeom>
          <a:solidFill>
            <a:srgbClr val="91BAF4"/>
          </a:solidFill>
          <a:ln/>
        </p:spPr>
      </p:sp>
      <p:sp>
        <p:nvSpPr>
          <p:cNvPr id="21" name="Text 15"/>
          <p:cNvSpPr/>
          <p:nvPr/>
        </p:nvSpPr>
        <p:spPr>
          <a:xfrm>
            <a:off x="2377440" y="4434840"/>
            <a:ext cx="3429000" cy="640080"/>
          </a:xfrm>
          <a:prstGeom prst="rect">
            <a:avLst/>
          </a:prstGeom>
          <a:noFill/>
          <a:ln/>
        </p:spPr>
        <p:txBody>
          <a:bodyPr wrap="square" lIns="0" tIns="0" rIns="0" bIns="0" rtlCol="0" anchor="ctr"/>
          <a:lstStyle/>
          <a:p>
            <a:pPr indent="0" marL="0">
              <a:lnSpc>
                <a:spcPts val="1600"/>
              </a:lnSpc>
              <a:buNone/>
            </a:pPr>
            <a:r>
              <a:rPr lang="en-US" sz="1250" dirty="0">
                <a:solidFill>
                  <a:srgbClr val="000000"/>
                </a:solidFill>
                <a:latin typeface="Libre Franklin Medium" pitchFamily="34" charset="0"/>
                <a:ea typeface="Libre Franklin Medium" pitchFamily="34" charset="-122"/>
                <a:cs typeface="Libre Franklin Medium" pitchFamily="34" charset="-120"/>
              </a:rPr>
              <a:t>Visits that person has already done with this family</a:t>
            </a:r>
            <a:endParaRPr lang="en-US" sz="1250" dirty="0"/>
          </a:p>
        </p:txBody>
      </p:sp>
      <p:sp>
        <p:nvSpPr>
          <p:cNvPr id="22" name="Shape 16"/>
          <p:cNvSpPr/>
          <p:nvPr/>
        </p:nvSpPr>
        <p:spPr>
          <a:xfrm>
            <a:off x="566928" y="5276088"/>
            <a:ext cx="5440680" cy="749808"/>
          </a:xfrm>
          <a:prstGeom prst="roundRect">
            <a:avLst>
              <a:gd name="adj" fmla="val 12195"/>
            </a:avLst>
          </a:prstGeom>
          <a:solidFill>
            <a:srgbClr val="E6EEFC"/>
          </a:solidFill>
          <a:ln/>
        </p:spPr>
      </p:sp>
      <p:pic>
        <p:nvPicPr>
          <p:cNvPr id="23" name="Image 4" descr="/tmp/esd/math/sym_sigma.png">    </p:cNvPr>
          <p:cNvPicPr>
            <a:picLocks noChangeAspect="1"/>
          </p:cNvPicPr>
          <p:nvPr/>
        </p:nvPicPr>
        <p:blipFill>
          <a:blip r:embed="rId5"/>
          <a:stretch>
            <a:fillRect/>
          </a:stretch>
        </p:blipFill>
        <p:spPr>
          <a:xfrm>
            <a:off x="759739" y="5495544"/>
            <a:ext cx="1260299" cy="310896"/>
          </a:xfrm>
          <a:prstGeom prst="rect">
            <a:avLst/>
          </a:prstGeom>
        </p:spPr>
      </p:pic>
      <p:sp>
        <p:nvSpPr>
          <p:cNvPr id="24" name="Shape 17"/>
          <p:cNvSpPr/>
          <p:nvPr/>
        </p:nvSpPr>
        <p:spPr>
          <a:xfrm>
            <a:off x="2212848" y="5422392"/>
            <a:ext cx="12802" cy="457200"/>
          </a:xfrm>
          <a:prstGeom prst="rect">
            <a:avLst/>
          </a:prstGeom>
          <a:solidFill>
            <a:srgbClr val="91BAF4"/>
          </a:solidFill>
          <a:ln/>
        </p:spPr>
      </p:sp>
      <p:sp>
        <p:nvSpPr>
          <p:cNvPr id="25" name="Text 18"/>
          <p:cNvSpPr/>
          <p:nvPr/>
        </p:nvSpPr>
        <p:spPr>
          <a:xfrm>
            <a:off x="2377440" y="5330952"/>
            <a:ext cx="3429000" cy="640080"/>
          </a:xfrm>
          <a:prstGeom prst="rect">
            <a:avLst/>
          </a:prstGeom>
          <a:noFill/>
          <a:ln/>
        </p:spPr>
        <p:txBody>
          <a:bodyPr wrap="square" lIns="0" tIns="0" rIns="0" bIns="0" rtlCol="0" anchor="ctr"/>
          <a:lstStyle/>
          <a:p>
            <a:pPr indent="0" marL="0">
              <a:lnSpc>
                <a:spcPts val="1600"/>
              </a:lnSpc>
              <a:buNone/>
            </a:pPr>
            <a:r>
              <a:rPr lang="en-US" sz="1250" dirty="0">
                <a:solidFill>
                  <a:srgbClr val="000000"/>
                </a:solidFill>
                <a:latin typeface="Libre Franklin Medium" pitchFamily="34" charset="0"/>
                <a:ea typeface="Libre Franklin Medium" pitchFamily="34" charset="-122"/>
                <a:cs typeface="Libre Franklin Medium" pitchFamily="34" charset="-120"/>
              </a:rPr>
              <a:t>Family flag: minus one wants a new face, plus one wants the same face</a:t>
            </a:r>
            <a:endParaRPr lang="en-US" sz="1250" dirty="0"/>
          </a:p>
        </p:txBody>
      </p:sp>
      <p:sp>
        <p:nvSpPr>
          <p:cNvPr id="26" name="Shape 19"/>
          <p:cNvSpPr/>
          <p:nvPr/>
        </p:nvSpPr>
        <p:spPr>
          <a:xfrm>
            <a:off x="6281928" y="1691640"/>
            <a:ext cx="5440680" cy="749808"/>
          </a:xfrm>
          <a:prstGeom prst="roundRect">
            <a:avLst>
              <a:gd name="adj" fmla="val 12195"/>
            </a:avLst>
          </a:prstGeom>
          <a:solidFill>
            <a:srgbClr val="E6EEFC"/>
          </a:solidFill>
          <a:ln/>
        </p:spPr>
      </p:sp>
      <p:pic>
        <p:nvPicPr>
          <p:cNvPr id="27" name="Image 5" descr="/tmp/esd/math/sym_d.png">    </p:cNvPr>
          <p:cNvPicPr>
            <a:picLocks noChangeAspect="1"/>
          </p:cNvPicPr>
          <p:nvPr/>
        </p:nvPicPr>
        <p:blipFill>
          <a:blip r:embed="rId6"/>
          <a:stretch>
            <a:fillRect/>
          </a:stretch>
        </p:blipFill>
        <p:spPr>
          <a:xfrm>
            <a:off x="6907045" y="1911096"/>
            <a:ext cx="395686" cy="310896"/>
          </a:xfrm>
          <a:prstGeom prst="rect">
            <a:avLst/>
          </a:prstGeom>
        </p:spPr>
      </p:pic>
      <p:sp>
        <p:nvSpPr>
          <p:cNvPr id="28" name="Shape 20"/>
          <p:cNvSpPr/>
          <p:nvPr/>
        </p:nvSpPr>
        <p:spPr>
          <a:xfrm>
            <a:off x="7927848" y="1837944"/>
            <a:ext cx="12802" cy="457200"/>
          </a:xfrm>
          <a:prstGeom prst="rect">
            <a:avLst/>
          </a:prstGeom>
          <a:solidFill>
            <a:srgbClr val="91BAF4"/>
          </a:solidFill>
          <a:ln/>
        </p:spPr>
      </p:sp>
      <p:sp>
        <p:nvSpPr>
          <p:cNvPr id="29" name="Text 21"/>
          <p:cNvSpPr/>
          <p:nvPr/>
        </p:nvSpPr>
        <p:spPr>
          <a:xfrm>
            <a:off x="8092440" y="1746504"/>
            <a:ext cx="3429000" cy="640080"/>
          </a:xfrm>
          <a:prstGeom prst="rect">
            <a:avLst/>
          </a:prstGeom>
          <a:noFill/>
          <a:ln/>
        </p:spPr>
        <p:txBody>
          <a:bodyPr wrap="square" lIns="0" tIns="0" rIns="0" bIns="0" rtlCol="0" anchor="ctr"/>
          <a:lstStyle/>
          <a:p>
            <a:pPr indent="0" marL="0">
              <a:lnSpc>
                <a:spcPts val="1600"/>
              </a:lnSpc>
              <a:buNone/>
            </a:pPr>
            <a:r>
              <a:rPr lang="en-US" sz="1250" dirty="0">
                <a:solidFill>
                  <a:srgbClr val="000000"/>
                </a:solidFill>
                <a:latin typeface="Libre Franklin Medium" pitchFamily="34" charset="0"/>
                <a:ea typeface="Libre Franklin Medium" pitchFamily="34" charset="-122"/>
                <a:cs typeface="Libre Franklin Medium" pitchFamily="34" charset="-120"/>
              </a:rPr>
              <a:t>Round trip drive distance in miles</a:t>
            </a:r>
            <a:endParaRPr lang="en-US" sz="1250" dirty="0"/>
          </a:p>
        </p:txBody>
      </p:sp>
      <p:sp>
        <p:nvSpPr>
          <p:cNvPr id="30" name="Shape 22"/>
          <p:cNvSpPr/>
          <p:nvPr/>
        </p:nvSpPr>
        <p:spPr>
          <a:xfrm>
            <a:off x="6281928" y="2587752"/>
            <a:ext cx="5440680" cy="749808"/>
          </a:xfrm>
          <a:prstGeom prst="roundRect">
            <a:avLst>
              <a:gd name="adj" fmla="val 12195"/>
            </a:avLst>
          </a:prstGeom>
          <a:solidFill>
            <a:srgbClr val="E6EEFC"/>
          </a:solidFill>
          <a:ln/>
        </p:spPr>
      </p:sp>
      <p:pic>
        <p:nvPicPr>
          <p:cNvPr id="31" name="Image 6" descr="/tmp/esd/math/sym_E.png">    </p:cNvPr>
          <p:cNvPicPr>
            <a:picLocks noChangeAspect="1"/>
          </p:cNvPicPr>
          <p:nvPr/>
        </p:nvPicPr>
        <p:blipFill>
          <a:blip r:embed="rId7"/>
          <a:stretch>
            <a:fillRect/>
          </a:stretch>
        </p:blipFill>
        <p:spPr>
          <a:xfrm>
            <a:off x="6934635" y="2807208"/>
            <a:ext cx="340505" cy="310896"/>
          </a:xfrm>
          <a:prstGeom prst="rect">
            <a:avLst/>
          </a:prstGeom>
        </p:spPr>
      </p:pic>
      <p:sp>
        <p:nvSpPr>
          <p:cNvPr id="32" name="Shape 23"/>
          <p:cNvSpPr/>
          <p:nvPr/>
        </p:nvSpPr>
        <p:spPr>
          <a:xfrm>
            <a:off x="7927848" y="2734056"/>
            <a:ext cx="12802" cy="457200"/>
          </a:xfrm>
          <a:prstGeom prst="rect">
            <a:avLst/>
          </a:prstGeom>
          <a:solidFill>
            <a:srgbClr val="91BAF4"/>
          </a:solidFill>
          <a:ln/>
        </p:spPr>
      </p:sp>
      <p:sp>
        <p:nvSpPr>
          <p:cNvPr id="33" name="Text 24"/>
          <p:cNvSpPr/>
          <p:nvPr/>
        </p:nvSpPr>
        <p:spPr>
          <a:xfrm>
            <a:off x="8092440" y="2642616"/>
            <a:ext cx="3429000" cy="640080"/>
          </a:xfrm>
          <a:prstGeom prst="rect">
            <a:avLst/>
          </a:prstGeom>
          <a:noFill/>
          <a:ln/>
        </p:spPr>
        <p:txBody>
          <a:bodyPr wrap="square" lIns="0" tIns="0" rIns="0" bIns="0" rtlCol="0" anchor="ctr"/>
          <a:lstStyle/>
          <a:p>
            <a:pPr indent="0" marL="0">
              <a:lnSpc>
                <a:spcPts val="1600"/>
              </a:lnSpc>
              <a:buNone/>
            </a:pPr>
            <a:r>
              <a:rPr lang="en-US" sz="1250" dirty="0">
                <a:solidFill>
                  <a:srgbClr val="000000"/>
                </a:solidFill>
                <a:latin typeface="Libre Franklin Medium" pitchFamily="34" charset="0"/>
                <a:ea typeface="Libre Franklin Medium" pitchFamily="34" charset="-122"/>
                <a:cs typeface="Libre Franklin Medium" pitchFamily="34" charset="-120"/>
              </a:rPr>
              <a:t>The pool of people who cleared Layer 1</a:t>
            </a:r>
            <a:endParaRPr lang="en-US" sz="1250" dirty="0"/>
          </a:p>
        </p:txBody>
      </p:sp>
      <p:sp>
        <p:nvSpPr>
          <p:cNvPr id="34" name="Shape 25"/>
          <p:cNvSpPr/>
          <p:nvPr/>
        </p:nvSpPr>
        <p:spPr>
          <a:xfrm>
            <a:off x="6281928" y="3483864"/>
            <a:ext cx="5440680" cy="749808"/>
          </a:xfrm>
          <a:prstGeom prst="roundRect">
            <a:avLst>
              <a:gd name="adj" fmla="val 12195"/>
            </a:avLst>
          </a:prstGeom>
          <a:solidFill>
            <a:srgbClr val="E6EEFC"/>
          </a:solidFill>
          <a:ln/>
        </p:spPr>
      </p:sp>
      <p:pic>
        <p:nvPicPr>
          <p:cNvPr id="35" name="Image 7" descr="/tmp/esd/math/sym_S.png">    </p:cNvPr>
          <p:cNvPicPr>
            <a:picLocks noChangeAspect="1"/>
          </p:cNvPicPr>
          <p:nvPr/>
        </p:nvPicPr>
        <p:blipFill>
          <a:blip r:embed="rId8"/>
          <a:stretch>
            <a:fillRect/>
          </a:stretch>
        </p:blipFill>
        <p:spPr>
          <a:xfrm>
            <a:off x="6898788" y="3703320"/>
            <a:ext cx="412199" cy="310896"/>
          </a:xfrm>
          <a:prstGeom prst="rect">
            <a:avLst/>
          </a:prstGeom>
        </p:spPr>
      </p:pic>
      <p:sp>
        <p:nvSpPr>
          <p:cNvPr id="36" name="Shape 26"/>
          <p:cNvSpPr/>
          <p:nvPr/>
        </p:nvSpPr>
        <p:spPr>
          <a:xfrm>
            <a:off x="7927848" y="3630168"/>
            <a:ext cx="12802" cy="457200"/>
          </a:xfrm>
          <a:prstGeom prst="rect">
            <a:avLst/>
          </a:prstGeom>
          <a:solidFill>
            <a:srgbClr val="91BAF4"/>
          </a:solidFill>
          <a:ln/>
        </p:spPr>
      </p:sp>
      <p:sp>
        <p:nvSpPr>
          <p:cNvPr id="37" name="Text 27"/>
          <p:cNvSpPr/>
          <p:nvPr/>
        </p:nvSpPr>
        <p:spPr>
          <a:xfrm>
            <a:off x="8092440" y="3538728"/>
            <a:ext cx="3429000" cy="640080"/>
          </a:xfrm>
          <a:prstGeom prst="rect">
            <a:avLst/>
          </a:prstGeom>
          <a:noFill/>
          <a:ln/>
        </p:spPr>
        <p:txBody>
          <a:bodyPr wrap="square" lIns="0" tIns="0" rIns="0" bIns="0" rtlCol="0" anchor="ctr"/>
          <a:lstStyle/>
          <a:p>
            <a:pPr indent="0" marL="0">
              <a:lnSpc>
                <a:spcPts val="1600"/>
              </a:lnSpc>
              <a:buNone/>
            </a:pPr>
            <a:r>
              <a:rPr lang="en-US" sz="1250" dirty="0">
                <a:solidFill>
                  <a:srgbClr val="000000"/>
                </a:solidFill>
                <a:latin typeface="Libre Franklin Medium" pitchFamily="34" charset="0"/>
                <a:ea typeface="Libre Franklin Medium" pitchFamily="34" charset="-122"/>
                <a:cs typeface="Libre Franklin Medium" pitchFamily="34" charset="-120"/>
              </a:rPr>
              <a:t>The final score for that person on that visit</a:t>
            </a:r>
            <a:endParaRPr lang="en-US" sz="1250" dirty="0"/>
          </a:p>
        </p:txBody>
      </p:sp>
      <p:sp>
        <p:nvSpPr>
          <p:cNvPr id="38" name="Shape 28"/>
          <p:cNvSpPr/>
          <p:nvPr/>
        </p:nvSpPr>
        <p:spPr>
          <a:xfrm>
            <a:off x="6281928" y="4379976"/>
            <a:ext cx="5440680" cy="749808"/>
          </a:xfrm>
          <a:prstGeom prst="roundRect">
            <a:avLst>
              <a:gd name="adj" fmla="val 12195"/>
            </a:avLst>
          </a:prstGeom>
          <a:solidFill>
            <a:srgbClr val="E6EEFC"/>
          </a:solidFill>
          <a:ln/>
        </p:spPr>
      </p:sp>
      <p:pic>
        <p:nvPicPr>
          <p:cNvPr id="39" name="Image 8" descr="/tmp/esd/math/sym_eps.png">    </p:cNvPr>
          <p:cNvPicPr>
            <a:picLocks noChangeAspect="1"/>
          </p:cNvPicPr>
          <p:nvPr/>
        </p:nvPicPr>
        <p:blipFill>
          <a:blip r:embed="rId9"/>
          <a:stretch>
            <a:fillRect/>
          </a:stretch>
        </p:blipFill>
        <p:spPr>
          <a:xfrm>
            <a:off x="6944258" y="4599432"/>
            <a:ext cx="321259" cy="310896"/>
          </a:xfrm>
          <a:prstGeom prst="rect">
            <a:avLst/>
          </a:prstGeom>
        </p:spPr>
      </p:pic>
      <p:sp>
        <p:nvSpPr>
          <p:cNvPr id="40" name="Shape 29"/>
          <p:cNvSpPr/>
          <p:nvPr/>
        </p:nvSpPr>
        <p:spPr>
          <a:xfrm>
            <a:off x="7927848" y="4526280"/>
            <a:ext cx="12802" cy="457200"/>
          </a:xfrm>
          <a:prstGeom prst="rect">
            <a:avLst/>
          </a:prstGeom>
          <a:solidFill>
            <a:srgbClr val="91BAF4"/>
          </a:solidFill>
          <a:ln/>
        </p:spPr>
      </p:sp>
      <p:sp>
        <p:nvSpPr>
          <p:cNvPr id="41" name="Text 30"/>
          <p:cNvSpPr/>
          <p:nvPr/>
        </p:nvSpPr>
        <p:spPr>
          <a:xfrm>
            <a:off x="8092440" y="4434840"/>
            <a:ext cx="3429000" cy="640080"/>
          </a:xfrm>
          <a:prstGeom prst="rect">
            <a:avLst/>
          </a:prstGeom>
          <a:noFill/>
          <a:ln/>
        </p:spPr>
        <p:txBody>
          <a:bodyPr wrap="square" lIns="0" tIns="0" rIns="0" bIns="0" rtlCol="0" anchor="ctr"/>
          <a:lstStyle/>
          <a:p>
            <a:pPr indent="0" marL="0">
              <a:lnSpc>
                <a:spcPts val="1600"/>
              </a:lnSpc>
              <a:buNone/>
            </a:pPr>
            <a:r>
              <a:rPr lang="en-US" sz="1250" dirty="0">
                <a:solidFill>
                  <a:srgbClr val="000000"/>
                </a:solidFill>
                <a:latin typeface="Libre Franklin Medium" pitchFamily="34" charset="0"/>
                <a:ea typeface="Libre Franklin Medium" pitchFamily="34" charset="-122"/>
                <a:cs typeface="Libre Franklin Medium" pitchFamily="34" charset="-120"/>
              </a:rPr>
              <a:t>How close two scores have to be to count as a tie</a:t>
            </a:r>
            <a:endParaRPr lang="en-US" sz="1250" dirty="0"/>
          </a:p>
        </p:txBody>
      </p:sp>
      <p:sp>
        <p:nvSpPr>
          <p:cNvPr id="42" name="Shape 31"/>
          <p:cNvSpPr/>
          <p:nvPr/>
        </p:nvSpPr>
        <p:spPr>
          <a:xfrm>
            <a:off x="6281928" y="5276088"/>
            <a:ext cx="5440680" cy="749808"/>
          </a:xfrm>
          <a:prstGeom prst="roundRect">
            <a:avLst>
              <a:gd name="adj" fmla="val 12195"/>
            </a:avLst>
          </a:prstGeom>
          <a:solidFill>
            <a:srgbClr val="E6EEFC"/>
          </a:solidFill>
          <a:ln/>
        </p:spPr>
      </p:sp>
      <p:pic>
        <p:nvPicPr>
          <p:cNvPr id="43" name="Image 9" descr="/tmp/esd/math/sym_gamma.png">    </p:cNvPr>
          <p:cNvPicPr>
            <a:picLocks noChangeAspect="1"/>
          </p:cNvPicPr>
          <p:nvPr/>
        </p:nvPicPr>
        <p:blipFill>
          <a:blip r:embed="rId10"/>
          <a:stretch>
            <a:fillRect/>
          </a:stretch>
        </p:blipFill>
        <p:spPr>
          <a:xfrm>
            <a:off x="6955917" y="5495544"/>
            <a:ext cx="297942" cy="310896"/>
          </a:xfrm>
          <a:prstGeom prst="rect">
            <a:avLst/>
          </a:prstGeom>
        </p:spPr>
      </p:pic>
      <p:sp>
        <p:nvSpPr>
          <p:cNvPr id="44" name="Shape 32"/>
          <p:cNvSpPr/>
          <p:nvPr/>
        </p:nvSpPr>
        <p:spPr>
          <a:xfrm>
            <a:off x="7927848" y="5422392"/>
            <a:ext cx="12802" cy="457200"/>
          </a:xfrm>
          <a:prstGeom prst="rect">
            <a:avLst/>
          </a:prstGeom>
          <a:solidFill>
            <a:srgbClr val="91BAF4"/>
          </a:solidFill>
          <a:ln/>
        </p:spPr>
      </p:sp>
      <p:sp>
        <p:nvSpPr>
          <p:cNvPr id="45" name="Text 33"/>
          <p:cNvSpPr/>
          <p:nvPr/>
        </p:nvSpPr>
        <p:spPr>
          <a:xfrm>
            <a:off x="8092440" y="5330952"/>
            <a:ext cx="3429000" cy="640080"/>
          </a:xfrm>
          <a:prstGeom prst="rect">
            <a:avLst/>
          </a:prstGeom>
          <a:noFill/>
          <a:ln/>
        </p:spPr>
        <p:txBody>
          <a:bodyPr wrap="square" lIns="0" tIns="0" rIns="0" bIns="0" rtlCol="0" anchor="ctr"/>
          <a:lstStyle/>
          <a:p>
            <a:pPr indent="0" marL="0">
              <a:lnSpc>
                <a:spcPts val="1600"/>
              </a:lnSpc>
              <a:buNone/>
            </a:pPr>
            <a:r>
              <a:rPr lang="en-US" sz="1250" dirty="0">
                <a:solidFill>
                  <a:srgbClr val="000000"/>
                </a:solidFill>
                <a:latin typeface="Libre Franklin Medium" pitchFamily="34" charset="0"/>
                <a:ea typeface="Libre Franklin Medium" pitchFamily="34" charset="-122"/>
                <a:cs typeface="Libre Franklin Medium" pitchFamily="34" charset="-120"/>
              </a:rPr>
              <a:t>The small bonus for having done the previous checkpoint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indent="0" marL="0">
              <a:buNone/>
            </a:pPr>
            <a:r>
              <a:rPr lang="en-US" sz="1100" b="1" spc="140" kern="0" dirty="0">
                <a:solidFill>
                  <a:srgbClr val="91BAF4"/>
                </a:solidFill>
                <a:latin typeface="Libre Franklin" pitchFamily="34" charset="0"/>
                <a:ea typeface="Libre Franklin" pitchFamily="34" charset="-122"/>
                <a:cs typeface="Libre Franklin" pitchFamily="34" charset="-120"/>
              </a:rPr>
              <a:t>LAYER 1</a:t>
            </a:r>
            <a:endParaRPr lang="en-US" sz="1100" dirty="0"/>
          </a:p>
        </p:txBody>
      </p:sp>
      <p:sp>
        <p:nvSpPr>
          <p:cNvPr id="3" name="Text 1"/>
          <p:cNvSpPr/>
          <p:nvPr/>
        </p:nvSpPr>
        <p:spPr>
          <a:xfrm>
            <a:off x="566928" y="658368"/>
            <a:ext cx="11064240" cy="566928"/>
          </a:xfrm>
          <a:prstGeom prst="rect">
            <a:avLst/>
          </a:prstGeom>
          <a:noFill/>
          <a:ln/>
        </p:spPr>
        <p:txBody>
          <a:bodyPr wrap="square" lIns="0" tIns="0" rIns="0" bIns="0" rtlCol="0" anchor="ctr"/>
          <a:lstStyle/>
          <a:p>
            <a:pPr indent="0" marL="0">
              <a:buNone/>
            </a:pPr>
            <a:r>
              <a:rPr lang="en-US" sz="3000" b="1" spc="-20" kern="0" dirty="0">
                <a:solidFill>
                  <a:srgbClr val="3366FF"/>
                </a:solidFill>
                <a:latin typeface="Libre Franklin" pitchFamily="34" charset="0"/>
                <a:ea typeface="Libre Franklin" pitchFamily="34" charset="-122"/>
                <a:cs typeface="Libre Franklin" pitchFamily="34" charset="-120"/>
              </a:rPr>
              <a:t>Four checks, and all four must pass</a:t>
            </a:r>
            <a:endParaRPr lang="en-US" sz="3000" dirty="0"/>
          </a:p>
        </p:txBody>
      </p:sp>
      <p:sp>
        <p:nvSpPr>
          <p:cNvPr id="4" name="Text 2"/>
          <p:cNvSpPr/>
          <p:nvPr/>
        </p:nvSpPr>
        <p:spPr>
          <a:xfrm>
            <a:off x="566928" y="6382512"/>
            <a:ext cx="5486400" cy="256032"/>
          </a:xfrm>
          <a:prstGeom prst="rect">
            <a:avLst/>
          </a:prstGeom>
          <a:noFill/>
          <a:ln/>
        </p:spPr>
        <p:txBody>
          <a:bodyPr wrap="square" lIns="0" tIns="0" rIns="0" bIns="0" rtlCol="0" anchor="ctr"/>
          <a:lstStyle/>
          <a:p>
            <a:pPr algn="l" indent="0" marL="0">
              <a:buNone/>
            </a:pPr>
            <a:r>
              <a:rPr lang="en-US" sz="900" dirty="0">
                <a:solidFill>
                  <a:srgbClr val="91BAF4"/>
                </a:solidFill>
                <a:latin typeface="Libre Franklin Medium" pitchFamily="34" charset="0"/>
                <a:ea typeface="Libre Franklin Medium" pitchFamily="34" charset="-122"/>
                <a:cs typeface="Libre Franklin Medium" pitchFamily="34" charset="-120"/>
              </a:rPr>
              <a:t>The Early Social Development Lab at UofSC</a:t>
            </a:r>
            <a:endParaRPr lang="en-US" sz="900" dirty="0"/>
          </a:p>
        </p:txBody>
      </p:sp>
      <p:sp>
        <p:nvSpPr>
          <p:cNvPr id="5" name="Text 3"/>
          <p:cNvSpPr/>
          <p:nvPr/>
        </p:nvSpPr>
        <p:spPr>
          <a:xfrm>
            <a:off x="10984687" y="6382512"/>
            <a:ext cx="640080" cy="256032"/>
          </a:xfrm>
          <a:prstGeom prst="rect">
            <a:avLst/>
          </a:prstGeom>
          <a:noFill/>
          <a:ln/>
        </p:spPr>
        <p:txBody>
          <a:bodyPr wrap="square" lIns="0" tIns="0" rIns="0" bIns="0" rtlCol="0" anchor="ctr"/>
          <a:lstStyle/>
          <a:p>
            <a:pPr algn="r" indent="0" marL="0">
              <a:buNone/>
            </a:pPr>
            <a:r>
              <a:rPr lang="en-US" sz="900" dirty="0">
                <a:solidFill>
                  <a:srgbClr val="91BAF4"/>
                </a:solidFill>
                <a:latin typeface="Libre Franklin Medium" pitchFamily="34" charset="0"/>
                <a:ea typeface="Libre Franklin Medium" pitchFamily="34" charset="-122"/>
                <a:cs typeface="Libre Franklin Medium" pitchFamily="34" charset="-120"/>
              </a:rPr>
              <a:t>5</a:t>
            </a:r>
            <a:endParaRPr lang="en-US" sz="900" dirty="0"/>
          </a:p>
        </p:txBody>
      </p:sp>
      <p:sp>
        <p:nvSpPr>
          <p:cNvPr id="6" name="Shape 4"/>
          <p:cNvSpPr/>
          <p:nvPr/>
        </p:nvSpPr>
        <p:spPr>
          <a:xfrm>
            <a:off x="566928" y="1645920"/>
            <a:ext cx="2615184" cy="2148840"/>
          </a:xfrm>
          <a:prstGeom prst="roundRect">
            <a:avLst>
              <a:gd name="adj" fmla="val 5957"/>
            </a:avLst>
          </a:prstGeom>
          <a:solidFill>
            <a:srgbClr val="E6EEFC"/>
          </a:solidFill>
          <a:ln/>
        </p:spPr>
      </p:sp>
      <p:sp>
        <p:nvSpPr>
          <p:cNvPr id="7" name="Shape 5"/>
          <p:cNvSpPr/>
          <p:nvPr/>
        </p:nvSpPr>
        <p:spPr>
          <a:xfrm>
            <a:off x="841248" y="1901952"/>
            <a:ext cx="512064" cy="512064"/>
          </a:xfrm>
          <a:prstGeom prst="roundRect">
            <a:avLst>
              <a:gd name="adj" fmla="val 21429"/>
            </a:avLst>
          </a:prstGeom>
          <a:solidFill>
            <a:srgbClr val="3366FF"/>
          </a:solidFill>
          <a:ln/>
        </p:spPr>
      </p:sp>
      <p:sp>
        <p:nvSpPr>
          <p:cNvPr id="8" name="Text 6"/>
          <p:cNvSpPr/>
          <p:nvPr/>
        </p:nvSpPr>
        <p:spPr>
          <a:xfrm>
            <a:off x="841248" y="1901952"/>
            <a:ext cx="512064" cy="512064"/>
          </a:xfrm>
          <a:prstGeom prst="rect">
            <a:avLst/>
          </a:prstGeom>
          <a:noFill/>
          <a:ln/>
        </p:spPr>
        <p:txBody>
          <a:bodyPr wrap="square" lIns="0" tIns="0" rIns="0" bIns="0" rtlCol="0" anchor="ctr"/>
          <a:lstStyle/>
          <a:p>
            <a:pPr algn="ctr" indent="0" marL="0">
              <a:buNone/>
            </a:pPr>
            <a:r>
              <a:rPr lang="en-US" sz="2100" b="1" dirty="0">
                <a:solidFill>
                  <a:srgbClr val="F4F4F6"/>
                </a:solidFill>
                <a:latin typeface="Libre Franklin" pitchFamily="34" charset="0"/>
                <a:ea typeface="Libre Franklin" pitchFamily="34" charset="-122"/>
                <a:cs typeface="Libre Franklin" pitchFamily="34" charset="-120"/>
              </a:rPr>
              <a:t>A</a:t>
            </a:r>
            <a:endParaRPr lang="en-US" sz="2100" dirty="0"/>
          </a:p>
        </p:txBody>
      </p:sp>
      <p:sp>
        <p:nvSpPr>
          <p:cNvPr id="9" name="Text 7"/>
          <p:cNvSpPr/>
          <p:nvPr/>
        </p:nvSpPr>
        <p:spPr>
          <a:xfrm>
            <a:off x="841248" y="2560320"/>
            <a:ext cx="2066544" cy="329184"/>
          </a:xfrm>
          <a:prstGeom prst="rect">
            <a:avLst/>
          </a:prstGeom>
          <a:noFill/>
          <a:ln/>
        </p:spPr>
        <p:txBody>
          <a:bodyPr wrap="square" lIns="0" tIns="0" rIns="0" bIns="0" rtlCol="0" anchor="ctr"/>
          <a:lstStyle/>
          <a:p>
            <a:pPr indent="0" marL="0">
              <a:buNone/>
            </a:pPr>
            <a:r>
              <a:rPr lang="en-US" sz="1700" b="1" dirty="0">
                <a:solidFill>
                  <a:srgbClr val="3366FF"/>
                </a:solidFill>
                <a:latin typeface="Libre Franklin" pitchFamily="34" charset="0"/>
                <a:ea typeface="Libre Franklin" pitchFamily="34" charset="-122"/>
                <a:cs typeface="Libre Franklin" pitchFamily="34" charset="-120"/>
              </a:rPr>
              <a:t>Open slot</a:t>
            </a:r>
            <a:endParaRPr lang="en-US" sz="1700" dirty="0"/>
          </a:p>
        </p:txBody>
      </p:sp>
      <p:sp>
        <p:nvSpPr>
          <p:cNvPr id="10" name="Text 8"/>
          <p:cNvSpPr/>
          <p:nvPr/>
        </p:nvSpPr>
        <p:spPr>
          <a:xfrm>
            <a:off x="841248" y="2926080"/>
            <a:ext cx="2066544" cy="777240"/>
          </a:xfrm>
          <a:prstGeom prst="rect">
            <a:avLst/>
          </a:prstGeom>
          <a:noFill/>
          <a:ln/>
        </p:spPr>
        <p:txBody>
          <a:bodyPr wrap="square" lIns="0" tIns="0" rIns="0" bIns="0" rtlCol="0" anchor="t"/>
          <a:lstStyle/>
          <a:p>
            <a:pPr indent="0" marL="0">
              <a:lnSpc>
                <a:spcPts val="1700"/>
              </a:lnSpc>
              <a:buNone/>
            </a:pPr>
            <a:r>
              <a:rPr lang="en-US" sz="1250" dirty="0">
                <a:solidFill>
                  <a:srgbClr val="000000"/>
                </a:solidFill>
                <a:latin typeface="Libre Franklin Medium" pitchFamily="34" charset="0"/>
                <a:ea typeface="Libre Franklin Medium" pitchFamily="34" charset="-122"/>
                <a:cs typeface="Libre Franklin Medium" pitchFamily="34" charset="-120"/>
              </a:rPr>
              <a:t>The person has time free inside the requested date window.</a:t>
            </a:r>
            <a:endParaRPr lang="en-US" sz="1250" dirty="0"/>
          </a:p>
        </p:txBody>
      </p:sp>
      <p:sp>
        <p:nvSpPr>
          <p:cNvPr id="11" name="Shape 9"/>
          <p:cNvSpPr/>
          <p:nvPr/>
        </p:nvSpPr>
        <p:spPr>
          <a:xfrm>
            <a:off x="3456432" y="1645920"/>
            <a:ext cx="2615184" cy="2148840"/>
          </a:xfrm>
          <a:prstGeom prst="roundRect">
            <a:avLst>
              <a:gd name="adj" fmla="val 5957"/>
            </a:avLst>
          </a:prstGeom>
          <a:solidFill>
            <a:srgbClr val="E6EEFC"/>
          </a:solidFill>
          <a:ln/>
        </p:spPr>
      </p:sp>
      <p:sp>
        <p:nvSpPr>
          <p:cNvPr id="12" name="Shape 10"/>
          <p:cNvSpPr/>
          <p:nvPr/>
        </p:nvSpPr>
        <p:spPr>
          <a:xfrm>
            <a:off x="3730752" y="1901952"/>
            <a:ext cx="512064" cy="512064"/>
          </a:xfrm>
          <a:prstGeom prst="roundRect">
            <a:avLst>
              <a:gd name="adj" fmla="val 21429"/>
            </a:avLst>
          </a:prstGeom>
          <a:solidFill>
            <a:srgbClr val="D74E2D"/>
          </a:solidFill>
          <a:ln/>
        </p:spPr>
      </p:sp>
      <p:sp>
        <p:nvSpPr>
          <p:cNvPr id="13" name="Text 11"/>
          <p:cNvSpPr/>
          <p:nvPr/>
        </p:nvSpPr>
        <p:spPr>
          <a:xfrm>
            <a:off x="3730752" y="1901952"/>
            <a:ext cx="512064" cy="512064"/>
          </a:xfrm>
          <a:prstGeom prst="rect">
            <a:avLst/>
          </a:prstGeom>
          <a:noFill/>
          <a:ln/>
        </p:spPr>
        <p:txBody>
          <a:bodyPr wrap="square" lIns="0" tIns="0" rIns="0" bIns="0" rtlCol="0" anchor="ctr"/>
          <a:lstStyle/>
          <a:p>
            <a:pPr algn="ctr" indent="0" marL="0">
              <a:buNone/>
            </a:pPr>
            <a:r>
              <a:rPr lang="en-US" sz="2100" b="1" dirty="0">
                <a:solidFill>
                  <a:srgbClr val="F4F4F6"/>
                </a:solidFill>
                <a:latin typeface="Libre Franklin" pitchFamily="34" charset="0"/>
                <a:ea typeface="Libre Franklin" pitchFamily="34" charset="-122"/>
                <a:cs typeface="Libre Franklin" pitchFamily="34" charset="-120"/>
              </a:rPr>
              <a:t>E</a:t>
            </a:r>
            <a:endParaRPr lang="en-US" sz="2100" dirty="0"/>
          </a:p>
        </p:txBody>
      </p:sp>
      <p:sp>
        <p:nvSpPr>
          <p:cNvPr id="14" name="Text 12"/>
          <p:cNvSpPr/>
          <p:nvPr/>
        </p:nvSpPr>
        <p:spPr>
          <a:xfrm>
            <a:off x="3730752" y="2560320"/>
            <a:ext cx="2066544" cy="329184"/>
          </a:xfrm>
          <a:prstGeom prst="rect">
            <a:avLst/>
          </a:prstGeom>
          <a:noFill/>
          <a:ln/>
        </p:spPr>
        <p:txBody>
          <a:bodyPr wrap="square" lIns="0" tIns="0" rIns="0" bIns="0" rtlCol="0" anchor="ctr"/>
          <a:lstStyle/>
          <a:p>
            <a:pPr indent="0" marL="0">
              <a:buNone/>
            </a:pPr>
            <a:r>
              <a:rPr lang="en-US" sz="1700" b="1" dirty="0">
                <a:solidFill>
                  <a:srgbClr val="3366FF"/>
                </a:solidFill>
                <a:latin typeface="Libre Franklin" pitchFamily="34" charset="0"/>
                <a:ea typeface="Libre Franklin" pitchFamily="34" charset="-122"/>
                <a:cs typeface="Libre Franklin" pitchFamily="34" charset="-120"/>
              </a:rPr>
              <a:t>No conflict</a:t>
            </a:r>
            <a:endParaRPr lang="en-US" sz="1700" dirty="0"/>
          </a:p>
        </p:txBody>
      </p:sp>
      <p:sp>
        <p:nvSpPr>
          <p:cNvPr id="15" name="Text 13"/>
          <p:cNvSpPr/>
          <p:nvPr/>
        </p:nvSpPr>
        <p:spPr>
          <a:xfrm>
            <a:off x="3730752" y="2926080"/>
            <a:ext cx="2066544" cy="777240"/>
          </a:xfrm>
          <a:prstGeom prst="rect">
            <a:avLst/>
          </a:prstGeom>
          <a:noFill/>
          <a:ln/>
        </p:spPr>
        <p:txBody>
          <a:bodyPr wrap="square" lIns="0" tIns="0" rIns="0" bIns="0" rtlCol="0" anchor="t"/>
          <a:lstStyle/>
          <a:p>
            <a:pPr indent="0" marL="0">
              <a:lnSpc>
                <a:spcPts val="1700"/>
              </a:lnSpc>
              <a:buNone/>
            </a:pPr>
            <a:r>
              <a:rPr lang="en-US" sz="1250" dirty="0">
                <a:solidFill>
                  <a:srgbClr val="000000"/>
                </a:solidFill>
                <a:latin typeface="Libre Franklin Medium" pitchFamily="34" charset="0"/>
                <a:ea typeface="Libre Franklin Medium" pitchFamily="34" charset="-122"/>
                <a:cs typeface="Libre Franklin Medium" pitchFamily="34" charset="-120"/>
              </a:rPr>
              <a:t>The person is not on this family's do not send list.</a:t>
            </a:r>
            <a:endParaRPr lang="en-US" sz="1250" dirty="0"/>
          </a:p>
        </p:txBody>
      </p:sp>
      <p:sp>
        <p:nvSpPr>
          <p:cNvPr id="16" name="Shape 14"/>
          <p:cNvSpPr/>
          <p:nvPr/>
        </p:nvSpPr>
        <p:spPr>
          <a:xfrm>
            <a:off x="6345936" y="1645920"/>
            <a:ext cx="2615184" cy="2148840"/>
          </a:xfrm>
          <a:prstGeom prst="roundRect">
            <a:avLst>
              <a:gd name="adj" fmla="val 5957"/>
            </a:avLst>
          </a:prstGeom>
          <a:solidFill>
            <a:srgbClr val="E6EEFC"/>
          </a:solidFill>
          <a:ln/>
        </p:spPr>
      </p:sp>
      <p:sp>
        <p:nvSpPr>
          <p:cNvPr id="17" name="Shape 15"/>
          <p:cNvSpPr/>
          <p:nvPr/>
        </p:nvSpPr>
        <p:spPr>
          <a:xfrm>
            <a:off x="6620256" y="1901952"/>
            <a:ext cx="512064" cy="512064"/>
          </a:xfrm>
          <a:prstGeom prst="roundRect">
            <a:avLst>
              <a:gd name="adj" fmla="val 21429"/>
            </a:avLst>
          </a:prstGeom>
          <a:solidFill>
            <a:srgbClr val="F57F00"/>
          </a:solidFill>
          <a:ln/>
        </p:spPr>
      </p:sp>
      <p:sp>
        <p:nvSpPr>
          <p:cNvPr id="18" name="Text 16"/>
          <p:cNvSpPr/>
          <p:nvPr/>
        </p:nvSpPr>
        <p:spPr>
          <a:xfrm>
            <a:off x="6620256" y="1901952"/>
            <a:ext cx="512064" cy="512064"/>
          </a:xfrm>
          <a:prstGeom prst="rect">
            <a:avLst/>
          </a:prstGeom>
          <a:noFill/>
          <a:ln/>
        </p:spPr>
        <p:txBody>
          <a:bodyPr wrap="square" lIns="0" tIns="0" rIns="0" bIns="0" rtlCol="0" anchor="ctr"/>
          <a:lstStyle/>
          <a:p>
            <a:pPr algn="ctr" indent="0" marL="0">
              <a:buNone/>
            </a:pPr>
            <a:r>
              <a:rPr lang="en-US" sz="2100" b="1" dirty="0">
                <a:solidFill>
                  <a:srgbClr val="F4F4F6"/>
                </a:solidFill>
                <a:latin typeface="Libre Franklin" pitchFamily="34" charset="0"/>
                <a:ea typeface="Libre Franklin" pitchFamily="34" charset="-122"/>
                <a:cs typeface="Libre Franklin" pitchFamily="34" charset="-120"/>
              </a:rPr>
              <a:t>R</a:t>
            </a:r>
            <a:endParaRPr lang="en-US" sz="2100" dirty="0"/>
          </a:p>
        </p:txBody>
      </p:sp>
      <p:sp>
        <p:nvSpPr>
          <p:cNvPr id="19" name="Text 17"/>
          <p:cNvSpPr/>
          <p:nvPr/>
        </p:nvSpPr>
        <p:spPr>
          <a:xfrm>
            <a:off x="6620256" y="2560320"/>
            <a:ext cx="2066544" cy="329184"/>
          </a:xfrm>
          <a:prstGeom prst="rect">
            <a:avLst/>
          </a:prstGeom>
          <a:noFill/>
          <a:ln/>
        </p:spPr>
        <p:txBody>
          <a:bodyPr wrap="square" lIns="0" tIns="0" rIns="0" bIns="0" rtlCol="0" anchor="ctr"/>
          <a:lstStyle/>
          <a:p>
            <a:pPr indent="0" marL="0">
              <a:buNone/>
            </a:pPr>
            <a:r>
              <a:rPr lang="en-US" sz="1700" b="1" dirty="0">
                <a:solidFill>
                  <a:srgbClr val="3366FF"/>
                </a:solidFill>
                <a:latin typeface="Libre Franklin" pitchFamily="34" charset="0"/>
                <a:ea typeface="Libre Franklin" pitchFamily="34" charset="-122"/>
                <a:cs typeface="Libre Franklin" pitchFamily="34" charset="-120"/>
              </a:rPr>
              <a:t>Certified</a:t>
            </a:r>
            <a:endParaRPr lang="en-US" sz="1700" dirty="0"/>
          </a:p>
        </p:txBody>
      </p:sp>
      <p:sp>
        <p:nvSpPr>
          <p:cNvPr id="20" name="Text 18"/>
          <p:cNvSpPr/>
          <p:nvPr/>
        </p:nvSpPr>
        <p:spPr>
          <a:xfrm>
            <a:off x="6620256" y="2926080"/>
            <a:ext cx="2066544" cy="777240"/>
          </a:xfrm>
          <a:prstGeom prst="rect">
            <a:avLst/>
          </a:prstGeom>
          <a:noFill/>
          <a:ln/>
        </p:spPr>
        <p:txBody>
          <a:bodyPr wrap="square" lIns="0" tIns="0" rIns="0" bIns="0" rtlCol="0" anchor="t"/>
          <a:lstStyle/>
          <a:p>
            <a:pPr indent="0" marL="0">
              <a:lnSpc>
                <a:spcPts val="1700"/>
              </a:lnSpc>
              <a:buNone/>
            </a:pPr>
            <a:r>
              <a:rPr lang="en-US" sz="1250" dirty="0">
                <a:solidFill>
                  <a:srgbClr val="000000"/>
                </a:solidFill>
                <a:latin typeface="Libre Franklin Medium" pitchFamily="34" charset="0"/>
                <a:ea typeface="Libre Franklin Medium" pitchFamily="34" charset="-122"/>
                <a:cs typeface="Libre Franklin Medium" pitchFamily="34" charset="-120"/>
              </a:rPr>
              <a:t>The person holds the credential this visit type requires.</a:t>
            </a:r>
            <a:endParaRPr lang="en-US" sz="1250" dirty="0"/>
          </a:p>
        </p:txBody>
      </p:sp>
      <p:sp>
        <p:nvSpPr>
          <p:cNvPr id="21" name="Shape 19"/>
          <p:cNvSpPr/>
          <p:nvPr/>
        </p:nvSpPr>
        <p:spPr>
          <a:xfrm>
            <a:off x="9235440" y="1645920"/>
            <a:ext cx="2615184" cy="2148840"/>
          </a:xfrm>
          <a:prstGeom prst="roundRect">
            <a:avLst>
              <a:gd name="adj" fmla="val 5957"/>
            </a:avLst>
          </a:prstGeom>
          <a:solidFill>
            <a:srgbClr val="E6EEFC"/>
          </a:solidFill>
          <a:ln/>
        </p:spPr>
      </p:sp>
      <p:sp>
        <p:nvSpPr>
          <p:cNvPr id="22" name="Shape 20"/>
          <p:cNvSpPr/>
          <p:nvPr/>
        </p:nvSpPr>
        <p:spPr>
          <a:xfrm>
            <a:off x="9509760" y="1901952"/>
            <a:ext cx="512064" cy="512064"/>
          </a:xfrm>
          <a:prstGeom prst="roundRect">
            <a:avLst>
              <a:gd name="adj" fmla="val 21429"/>
            </a:avLst>
          </a:prstGeom>
          <a:solidFill>
            <a:srgbClr val="91BAF4"/>
          </a:solidFill>
          <a:ln/>
        </p:spPr>
      </p:sp>
      <p:sp>
        <p:nvSpPr>
          <p:cNvPr id="23" name="Text 21"/>
          <p:cNvSpPr/>
          <p:nvPr/>
        </p:nvSpPr>
        <p:spPr>
          <a:xfrm>
            <a:off x="9509760" y="1901952"/>
            <a:ext cx="512064" cy="512064"/>
          </a:xfrm>
          <a:prstGeom prst="rect">
            <a:avLst/>
          </a:prstGeom>
          <a:noFill/>
          <a:ln/>
        </p:spPr>
        <p:txBody>
          <a:bodyPr wrap="square" lIns="0" tIns="0" rIns="0" bIns="0" rtlCol="0" anchor="ctr"/>
          <a:lstStyle/>
          <a:p>
            <a:pPr algn="ctr" indent="0" marL="0">
              <a:buNone/>
            </a:pPr>
            <a:r>
              <a:rPr lang="en-US" sz="2100" b="1" dirty="0">
                <a:solidFill>
                  <a:srgbClr val="000000"/>
                </a:solidFill>
                <a:latin typeface="Libre Franklin" pitchFamily="34" charset="0"/>
                <a:ea typeface="Libre Franklin" pitchFamily="34" charset="-122"/>
                <a:cs typeface="Libre Franklin" pitchFamily="34" charset="-120"/>
              </a:rPr>
              <a:t>G</a:t>
            </a:r>
            <a:endParaRPr lang="en-US" sz="2100" dirty="0"/>
          </a:p>
        </p:txBody>
      </p:sp>
      <p:sp>
        <p:nvSpPr>
          <p:cNvPr id="24" name="Text 22"/>
          <p:cNvSpPr/>
          <p:nvPr/>
        </p:nvSpPr>
        <p:spPr>
          <a:xfrm>
            <a:off x="9509760" y="2560320"/>
            <a:ext cx="2066544" cy="329184"/>
          </a:xfrm>
          <a:prstGeom prst="rect">
            <a:avLst/>
          </a:prstGeom>
          <a:noFill/>
          <a:ln/>
        </p:spPr>
        <p:txBody>
          <a:bodyPr wrap="square" lIns="0" tIns="0" rIns="0" bIns="0" rtlCol="0" anchor="ctr"/>
          <a:lstStyle/>
          <a:p>
            <a:pPr indent="0" marL="0">
              <a:buNone/>
            </a:pPr>
            <a:r>
              <a:rPr lang="en-US" sz="1700" b="1" dirty="0">
                <a:solidFill>
                  <a:srgbClr val="3366FF"/>
                </a:solidFill>
                <a:latin typeface="Libre Franklin" pitchFamily="34" charset="0"/>
                <a:ea typeface="Libre Franklin" pitchFamily="34" charset="-122"/>
                <a:cs typeface="Libre Franklin" pitchFamily="34" charset="-120"/>
              </a:rPr>
              <a:t>Can get there</a:t>
            </a:r>
            <a:endParaRPr lang="en-US" sz="1700" dirty="0"/>
          </a:p>
        </p:txBody>
      </p:sp>
      <p:sp>
        <p:nvSpPr>
          <p:cNvPr id="25" name="Text 23"/>
          <p:cNvSpPr/>
          <p:nvPr/>
        </p:nvSpPr>
        <p:spPr>
          <a:xfrm>
            <a:off x="9509760" y="2926080"/>
            <a:ext cx="2066544" cy="777240"/>
          </a:xfrm>
          <a:prstGeom prst="rect">
            <a:avLst/>
          </a:prstGeom>
          <a:noFill/>
          <a:ln/>
        </p:spPr>
        <p:txBody>
          <a:bodyPr wrap="square" lIns="0" tIns="0" rIns="0" bIns="0" rtlCol="0" anchor="t"/>
          <a:lstStyle/>
          <a:p>
            <a:pPr indent="0" marL="0">
              <a:lnSpc>
                <a:spcPts val="1700"/>
              </a:lnSpc>
              <a:buNone/>
            </a:pPr>
            <a:r>
              <a:rPr lang="en-US" sz="1250" dirty="0">
                <a:solidFill>
                  <a:srgbClr val="000000"/>
                </a:solidFill>
                <a:latin typeface="Libre Franklin Medium" pitchFamily="34" charset="0"/>
                <a:ea typeface="Libre Franklin Medium" pitchFamily="34" charset="-122"/>
                <a:cs typeface="Libre Franklin Medium" pitchFamily="34" charset="-120"/>
              </a:rPr>
              <a:t>Transport works, including the van when the visit needs it.</a:t>
            </a:r>
            <a:endParaRPr lang="en-US" sz="1250" dirty="0"/>
          </a:p>
        </p:txBody>
      </p:sp>
      <p:sp>
        <p:nvSpPr>
          <p:cNvPr id="26" name="Shape 24"/>
          <p:cNvSpPr/>
          <p:nvPr/>
        </p:nvSpPr>
        <p:spPr>
          <a:xfrm>
            <a:off x="566928" y="4005072"/>
            <a:ext cx="11064240" cy="1316736"/>
          </a:xfrm>
          <a:prstGeom prst="roundRect">
            <a:avLst>
              <a:gd name="adj" fmla="val 9722"/>
            </a:avLst>
          </a:prstGeom>
          <a:solidFill>
            <a:srgbClr val="F4F4F6"/>
          </a:solidFill>
          <a:ln w="12700">
            <a:solidFill>
              <a:srgbClr val="91BAF4"/>
            </a:solidFill>
            <a:prstDash val="solid"/>
          </a:ln>
        </p:spPr>
      </p:sp>
      <p:pic>
        <p:nvPicPr>
          <p:cNvPr id="27" name="Image 0" descr="/tmp/esd/math/eligible.png">    </p:cNvPr>
          <p:cNvPicPr>
            <a:picLocks noChangeAspect="1"/>
          </p:cNvPicPr>
          <p:nvPr/>
        </p:nvPicPr>
        <p:blipFill>
          <a:blip r:embed="rId1"/>
          <a:stretch>
            <a:fillRect/>
          </a:stretch>
        </p:blipFill>
        <p:spPr>
          <a:xfrm>
            <a:off x="4070364" y="4261104"/>
            <a:ext cx="4050968" cy="384048"/>
          </a:xfrm>
          <a:prstGeom prst="rect">
            <a:avLst/>
          </a:prstGeom>
        </p:spPr>
      </p:pic>
      <p:sp>
        <p:nvSpPr>
          <p:cNvPr id="28" name="Text 25"/>
          <p:cNvSpPr/>
          <p:nvPr/>
        </p:nvSpPr>
        <p:spPr>
          <a:xfrm>
            <a:off x="841248" y="4718304"/>
            <a:ext cx="10515600" cy="512064"/>
          </a:xfrm>
          <a:prstGeom prst="rect">
            <a:avLst/>
          </a:prstGeom>
          <a:noFill/>
          <a:ln/>
        </p:spPr>
        <p:txBody>
          <a:bodyPr wrap="square" lIns="0" tIns="0" rIns="0" bIns="0" rtlCol="0" anchor="ctr"/>
          <a:lstStyle/>
          <a:p>
            <a:pPr algn="ctr" indent="0" marL="0">
              <a:lnSpc>
                <a:spcPts val="1600"/>
              </a:lnSpc>
              <a:buNone/>
            </a:pPr>
            <a:r>
              <a:rPr lang="en-US" sz="1200" dirty="0">
                <a:solidFill>
                  <a:srgbClr val="000000"/>
                </a:solidFill>
                <a:latin typeface="Libre Franklin Medium" pitchFamily="34" charset="0"/>
                <a:ea typeface="Libre Franklin Medium" pitchFamily="34" charset="-122"/>
                <a:cs typeface="Libre Franklin Medium" pitchFamily="34" charset="-120"/>
              </a:rPr>
              <a:t>The wedge means and. The hooked bar means not. All four have to be true at the same time.</a:t>
            </a:r>
            <a:endParaRPr lang="en-US" sz="1200" dirty="0"/>
          </a:p>
          <a:p>
            <a:pPr algn="ctr" indent="0" marL="0">
              <a:lnSpc>
                <a:spcPts val="1600"/>
              </a:lnSpc>
              <a:buNone/>
            </a:pPr>
            <a:r>
              <a:rPr lang="en-US" sz="1200" dirty="0">
                <a:solidFill>
                  <a:srgbClr val="000000"/>
                </a:solidFill>
                <a:latin typeface="Libre Franklin Medium" pitchFamily="34" charset="0"/>
                <a:ea typeface="Libre Franklin Medium" pitchFamily="34" charset="-122"/>
                <a:cs typeface="Libre Franklin Medium" pitchFamily="34" charset="-120"/>
              </a:rPr>
              <a:t>R carries a cert label here so it is not confused with the recency score in Layer 2.</a:t>
            </a:r>
            <a:endParaRPr lang="en-US" sz="1200" dirty="0"/>
          </a:p>
        </p:txBody>
      </p:sp>
      <p:sp>
        <p:nvSpPr>
          <p:cNvPr id="29" name="Text 26"/>
          <p:cNvSpPr/>
          <p:nvPr/>
        </p:nvSpPr>
        <p:spPr>
          <a:xfrm>
            <a:off x="566928" y="5468112"/>
            <a:ext cx="11064240" cy="548640"/>
          </a:xfrm>
          <a:prstGeom prst="rect">
            <a:avLst/>
          </a:prstGeom>
          <a:noFill/>
          <a:ln/>
        </p:spPr>
        <p:txBody>
          <a:bodyPr wrap="square" lIns="0" tIns="0" rIns="0" bIns="0" rtlCol="0" anchor="t"/>
          <a:lstStyle/>
          <a:p>
            <a:pPr indent="0" marL="0">
              <a:lnSpc>
                <a:spcPts val="1900"/>
              </a:lnSpc>
              <a:buNone/>
            </a:pPr>
            <a:r>
              <a:rPr lang="en-US" sz="1350" dirty="0">
                <a:solidFill>
                  <a:srgbClr val="3366FF"/>
                </a:solidFill>
                <a:latin typeface="Libre Franklin Medium" pitchFamily="34" charset="0"/>
                <a:ea typeface="Libre Franklin Medium" pitchFamily="34" charset="-122"/>
                <a:cs typeface="Libre Franklin Medium" pitchFamily="34" charset="-120"/>
              </a:rPr>
              <a:t>If nobody clears all four, the visit goes straight to the coordinator for manual rescheduling. The score is never used to rescue an ineligible person.</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indent="0" marL="0">
              <a:buNone/>
            </a:pPr>
            <a:r>
              <a:rPr lang="en-US" sz="1100" b="1" spc="140" kern="0" dirty="0">
                <a:solidFill>
                  <a:srgbClr val="91BAF4"/>
                </a:solidFill>
                <a:latin typeface="Libre Franklin" pitchFamily="34" charset="0"/>
                <a:ea typeface="Libre Franklin" pitchFamily="34" charset="-122"/>
                <a:cs typeface="Libre Franklin" pitchFamily="34" charset="-120"/>
              </a:rPr>
              <a:t>LAYER 1 IN PRACTICE</a:t>
            </a:r>
            <a:endParaRPr lang="en-US" sz="1100" dirty="0"/>
          </a:p>
        </p:txBody>
      </p:sp>
      <p:sp>
        <p:nvSpPr>
          <p:cNvPr id="3" name="Text 1"/>
          <p:cNvSpPr/>
          <p:nvPr/>
        </p:nvSpPr>
        <p:spPr>
          <a:xfrm>
            <a:off x="566928" y="658368"/>
            <a:ext cx="11064240" cy="566928"/>
          </a:xfrm>
          <a:prstGeom prst="rect">
            <a:avLst/>
          </a:prstGeom>
          <a:noFill/>
          <a:ln/>
        </p:spPr>
        <p:txBody>
          <a:bodyPr wrap="square" lIns="0" tIns="0" rIns="0" bIns="0" rtlCol="0" anchor="ctr"/>
          <a:lstStyle/>
          <a:p>
            <a:pPr indent="0" marL="0">
              <a:buNone/>
            </a:pPr>
            <a:r>
              <a:rPr lang="en-US" sz="3000" b="1" spc="-20" kern="0" dirty="0">
                <a:solidFill>
                  <a:srgbClr val="3366FF"/>
                </a:solidFill>
                <a:latin typeface="Libre Franklin" pitchFamily="34" charset="0"/>
                <a:ea typeface="Libre Franklin" pitchFamily="34" charset="-122"/>
                <a:cs typeface="Libre Franklin" pitchFamily="34" charset="-120"/>
              </a:rPr>
              <a:t>A real case: two twin visits, one pool</a:t>
            </a:r>
            <a:endParaRPr lang="en-US" sz="3000" dirty="0"/>
          </a:p>
        </p:txBody>
      </p:sp>
      <p:sp>
        <p:nvSpPr>
          <p:cNvPr id="4" name="Text 2"/>
          <p:cNvSpPr/>
          <p:nvPr/>
        </p:nvSpPr>
        <p:spPr>
          <a:xfrm>
            <a:off x="566928" y="6382512"/>
            <a:ext cx="5486400" cy="256032"/>
          </a:xfrm>
          <a:prstGeom prst="rect">
            <a:avLst/>
          </a:prstGeom>
          <a:noFill/>
          <a:ln/>
        </p:spPr>
        <p:txBody>
          <a:bodyPr wrap="square" lIns="0" tIns="0" rIns="0" bIns="0" rtlCol="0" anchor="ctr"/>
          <a:lstStyle/>
          <a:p>
            <a:pPr algn="l" indent="0" marL="0">
              <a:buNone/>
            </a:pPr>
            <a:r>
              <a:rPr lang="en-US" sz="900" dirty="0">
                <a:solidFill>
                  <a:srgbClr val="91BAF4"/>
                </a:solidFill>
                <a:latin typeface="Libre Franklin Medium" pitchFamily="34" charset="0"/>
                <a:ea typeface="Libre Franklin Medium" pitchFamily="34" charset="-122"/>
                <a:cs typeface="Libre Franklin Medium" pitchFamily="34" charset="-120"/>
              </a:rPr>
              <a:t>The Early Social Development Lab at UofSC</a:t>
            </a:r>
            <a:endParaRPr lang="en-US" sz="900" dirty="0"/>
          </a:p>
        </p:txBody>
      </p:sp>
      <p:sp>
        <p:nvSpPr>
          <p:cNvPr id="5" name="Text 3"/>
          <p:cNvSpPr/>
          <p:nvPr/>
        </p:nvSpPr>
        <p:spPr>
          <a:xfrm>
            <a:off x="10984687" y="6382512"/>
            <a:ext cx="640080" cy="256032"/>
          </a:xfrm>
          <a:prstGeom prst="rect">
            <a:avLst/>
          </a:prstGeom>
          <a:noFill/>
          <a:ln/>
        </p:spPr>
        <p:txBody>
          <a:bodyPr wrap="square" lIns="0" tIns="0" rIns="0" bIns="0" rtlCol="0" anchor="ctr"/>
          <a:lstStyle/>
          <a:p>
            <a:pPr algn="r" indent="0" marL="0">
              <a:buNone/>
            </a:pPr>
            <a:r>
              <a:rPr lang="en-US" sz="900" dirty="0">
                <a:solidFill>
                  <a:srgbClr val="91BAF4"/>
                </a:solidFill>
                <a:latin typeface="Libre Franklin Medium" pitchFamily="34" charset="0"/>
                <a:ea typeface="Libre Franklin Medium" pitchFamily="34" charset="-122"/>
                <a:cs typeface="Libre Franklin Medium" pitchFamily="34" charset="-120"/>
              </a:rPr>
              <a:t>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64240" cy="914400"/>
        </p:xfrm>
        <a:graphic>
          <a:graphicData uri="http://schemas.openxmlformats.org/drawingml/2006/table">
            <a:tbl>
              <a:tblPr/>
              <a:tblGrid>
                <a:gridCol w="2651760"/>
                <a:gridCol w="1682496"/>
                <a:gridCol w="1682496"/>
                <a:gridCol w="1682496"/>
                <a:gridCol w="1682496"/>
                <a:gridCol w="1682496"/>
              </a:tblGrid>
              <a:tr h="420624">
                <a:tc>
                  <a:txBody>
                    <a:bodyPr/>
                    <a:lstStyle/>
                    <a:p>
                      <a:pPr algn="ctr" indent="0" marL="0">
                        <a:buNone/>
                      </a:pPr>
                      <a:r>
                        <a:rPr lang="en-US" sz="1300" b="1" dirty="0">
                          <a:solidFill>
                            <a:srgbClr val="F4F4F6"/>
                          </a:solidFill>
                          <a:latin typeface="Libre Franklin" pitchFamily="34" charset="0"/>
                          <a:ea typeface="Libre Franklin" pitchFamily="34" charset="-122"/>
                          <a:cs typeface="Libre Franklin" pitchFamily="34" charset="-120"/>
                        </a:rPr>
                        <a:t>Person</a:t>
                      </a:r>
                      <a:endParaRPr lang="en-US" sz="1300" dirty="0">
                        <a:latin typeface="Libre Franklin" charset="0"/>
                        <a:ea typeface="Libre Franklin" charset="0"/>
                        <a:cs typeface="Libre Franklin" charset="0"/>
                      </a:endParaRPr>
                    </a:p>
                  </a:txBody>
                  <a:tcPr marL="101600" marR="101600" marT="50800" marB="50800" anchor="ctr">
                    <a:lnL w="9525" cap="flat" cmpd="sng" algn="ctr">
                      <a:solidFill>
                        <a:srgbClr val="91BAF4"/>
                      </a:solidFill>
                      <a:prstDash val="solid"/>
                      <a:round/>
                      <a:headEnd type="none" w="med" len="med"/>
                      <a:tailEnd type="none" w="med" len="med"/>
                    </a:lnL>
                    <a:lnR w="9525" cap="flat" cmpd="sng" algn="ctr">
                      <a:solidFill>
                        <a:srgbClr val="91BAF4"/>
                      </a:solidFill>
                      <a:prstDash val="solid"/>
                      <a:round/>
                      <a:headEnd type="none" w="med" len="med"/>
                      <a:tailEnd type="none" w="med" len="med"/>
                    </a:lnR>
                    <a:lnT w="9525" cap="flat" cmpd="sng" algn="ctr">
                      <a:solidFill>
                        <a:srgbClr val="91BAF4"/>
                      </a:solidFill>
                      <a:prstDash val="solid"/>
                      <a:round/>
                      <a:headEnd type="none" w="med" len="med"/>
                      <a:tailEnd type="none" w="med" len="med"/>
                    </a:lnT>
                    <a:lnB w="9525"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300" b="1" dirty="0">
                          <a:solidFill>
                            <a:srgbClr val="F4F4F6"/>
                          </a:solidFill>
                          <a:latin typeface="Libre Franklin" pitchFamily="34" charset="0"/>
                          <a:ea typeface="Libre Franklin" pitchFamily="34" charset="-122"/>
                          <a:cs typeface="Libre Franklin" pitchFamily="34" charset="-120"/>
                        </a:rPr>
                        <a:t>Open slot</a:t>
                      </a:r>
                      <a:endParaRPr lang="en-US" sz="1300" dirty="0">
                        <a:latin typeface="Libre Franklin" charset="0"/>
                        <a:ea typeface="Libre Franklin" charset="0"/>
                        <a:cs typeface="Libre Franklin" charset="0"/>
                      </a:endParaRPr>
                    </a:p>
                  </a:txBody>
                  <a:tcPr marL="101600" marR="101600" marT="50800" marB="50800" anchor="ctr">
                    <a:lnL w="9525" cap="flat" cmpd="sng" algn="ctr">
                      <a:solidFill>
                        <a:srgbClr val="91BAF4"/>
                      </a:solidFill>
                      <a:prstDash val="solid"/>
                      <a:round/>
                      <a:headEnd type="none" w="med" len="med"/>
                      <a:tailEnd type="none" w="med" len="med"/>
                    </a:lnL>
                    <a:lnR w="9525" cap="flat" cmpd="sng" algn="ctr">
                      <a:solidFill>
                        <a:srgbClr val="91BAF4"/>
                      </a:solidFill>
                      <a:prstDash val="solid"/>
                      <a:round/>
                      <a:headEnd type="none" w="med" len="med"/>
                      <a:tailEnd type="none" w="med" len="med"/>
                    </a:lnR>
                    <a:lnT w="9525" cap="flat" cmpd="sng" algn="ctr">
                      <a:solidFill>
                        <a:srgbClr val="91BAF4"/>
                      </a:solidFill>
                      <a:prstDash val="solid"/>
                      <a:round/>
                      <a:headEnd type="none" w="med" len="med"/>
                      <a:tailEnd type="none" w="med" len="med"/>
                    </a:lnT>
                    <a:lnB w="9525"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300" b="1" dirty="0">
                          <a:solidFill>
                            <a:srgbClr val="F4F4F6"/>
                          </a:solidFill>
                          <a:latin typeface="Libre Franklin" pitchFamily="34" charset="0"/>
                          <a:ea typeface="Libre Franklin" pitchFamily="34" charset="-122"/>
                          <a:cs typeface="Libre Franklin" pitchFamily="34" charset="-120"/>
                        </a:rPr>
                        <a:t>No conflict</a:t>
                      </a:r>
                      <a:endParaRPr lang="en-US" sz="1300" dirty="0">
                        <a:latin typeface="Libre Franklin" charset="0"/>
                        <a:ea typeface="Libre Franklin" charset="0"/>
                        <a:cs typeface="Libre Franklin" charset="0"/>
                      </a:endParaRPr>
                    </a:p>
                  </a:txBody>
                  <a:tcPr marL="101600" marR="101600" marT="50800" marB="50800" anchor="ctr">
                    <a:lnL w="9525" cap="flat" cmpd="sng" algn="ctr">
                      <a:solidFill>
                        <a:srgbClr val="91BAF4"/>
                      </a:solidFill>
                      <a:prstDash val="solid"/>
                      <a:round/>
                      <a:headEnd type="none" w="med" len="med"/>
                      <a:tailEnd type="none" w="med" len="med"/>
                    </a:lnL>
                    <a:lnR w="9525" cap="flat" cmpd="sng" algn="ctr">
                      <a:solidFill>
                        <a:srgbClr val="91BAF4"/>
                      </a:solidFill>
                      <a:prstDash val="solid"/>
                      <a:round/>
                      <a:headEnd type="none" w="med" len="med"/>
                      <a:tailEnd type="none" w="med" len="med"/>
                    </a:lnR>
                    <a:lnT w="9525" cap="flat" cmpd="sng" algn="ctr">
                      <a:solidFill>
                        <a:srgbClr val="91BAF4"/>
                      </a:solidFill>
                      <a:prstDash val="solid"/>
                      <a:round/>
                      <a:headEnd type="none" w="med" len="med"/>
                      <a:tailEnd type="none" w="med" len="med"/>
                    </a:lnT>
                    <a:lnB w="9525"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300" b="1" dirty="0">
                          <a:solidFill>
                            <a:srgbClr val="F4F4F6"/>
                          </a:solidFill>
                          <a:latin typeface="Libre Franklin" pitchFamily="34" charset="0"/>
                          <a:ea typeface="Libre Franklin" pitchFamily="34" charset="-122"/>
                          <a:cs typeface="Libre Franklin" pitchFamily="34" charset="-120"/>
                        </a:rPr>
                        <a:t>Certified</a:t>
                      </a:r>
                      <a:endParaRPr lang="en-US" sz="1300" dirty="0">
                        <a:latin typeface="Libre Franklin" charset="0"/>
                        <a:ea typeface="Libre Franklin" charset="0"/>
                        <a:cs typeface="Libre Franklin" charset="0"/>
                      </a:endParaRPr>
                    </a:p>
                  </a:txBody>
                  <a:tcPr marL="101600" marR="101600" marT="50800" marB="50800" anchor="ctr">
                    <a:lnL w="9525" cap="flat" cmpd="sng" algn="ctr">
                      <a:solidFill>
                        <a:srgbClr val="91BAF4"/>
                      </a:solidFill>
                      <a:prstDash val="solid"/>
                      <a:round/>
                      <a:headEnd type="none" w="med" len="med"/>
                      <a:tailEnd type="none" w="med" len="med"/>
                    </a:lnL>
                    <a:lnR w="9525" cap="flat" cmpd="sng" algn="ctr">
                      <a:solidFill>
                        <a:srgbClr val="91BAF4"/>
                      </a:solidFill>
                      <a:prstDash val="solid"/>
                      <a:round/>
                      <a:headEnd type="none" w="med" len="med"/>
                      <a:tailEnd type="none" w="med" len="med"/>
                    </a:lnR>
                    <a:lnT w="9525" cap="flat" cmpd="sng" algn="ctr">
                      <a:solidFill>
                        <a:srgbClr val="91BAF4"/>
                      </a:solidFill>
                      <a:prstDash val="solid"/>
                      <a:round/>
                      <a:headEnd type="none" w="med" len="med"/>
                      <a:tailEnd type="none" w="med" len="med"/>
                    </a:lnT>
                    <a:lnB w="9525"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300" b="1" dirty="0">
                          <a:solidFill>
                            <a:srgbClr val="F4F4F6"/>
                          </a:solidFill>
                          <a:latin typeface="Libre Franklin" pitchFamily="34" charset="0"/>
                          <a:ea typeface="Libre Franklin" pitchFamily="34" charset="-122"/>
                          <a:cs typeface="Libre Franklin" pitchFamily="34" charset="-120"/>
                        </a:rPr>
                        <a:t>Transport</a:t>
                      </a:r>
                      <a:endParaRPr lang="en-US" sz="1300" dirty="0">
                        <a:latin typeface="Libre Franklin" charset="0"/>
                        <a:ea typeface="Libre Franklin" charset="0"/>
                        <a:cs typeface="Libre Franklin" charset="0"/>
                      </a:endParaRPr>
                    </a:p>
                  </a:txBody>
                  <a:tcPr marL="101600" marR="101600" marT="50800" marB="50800" anchor="ctr">
                    <a:lnL w="9525" cap="flat" cmpd="sng" algn="ctr">
                      <a:solidFill>
                        <a:srgbClr val="91BAF4"/>
                      </a:solidFill>
                      <a:prstDash val="solid"/>
                      <a:round/>
                      <a:headEnd type="none" w="med" len="med"/>
                      <a:tailEnd type="none" w="med" len="med"/>
                    </a:lnL>
                    <a:lnR w="9525" cap="flat" cmpd="sng" algn="ctr">
                      <a:solidFill>
                        <a:srgbClr val="91BAF4"/>
                      </a:solidFill>
                      <a:prstDash val="solid"/>
                      <a:round/>
                      <a:headEnd type="none" w="med" len="med"/>
                      <a:tailEnd type="none" w="med" len="med"/>
                    </a:lnR>
                    <a:lnT w="9525" cap="flat" cmpd="sng" algn="ctr">
                      <a:solidFill>
                        <a:srgbClr val="91BAF4"/>
                      </a:solidFill>
                      <a:prstDash val="solid"/>
                      <a:round/>
                      <a:headEnd type="none" w="med" len="med"/>
                      <a:tailEnd type="none" w="med" len="med"/>
                    </a:lnT>
                    <a:lnB w="9525"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300" b="1" dirty="0">
                          <a:solidFill>
                            <a:srgbClr val="F4F4F6"/>
                          </a:solidFill>
                          <a:latin typeface="Libre Franklin" pitchFamily="34" charset="0"/>
                          <a:ea typeface="Libre Franklin" pitchFamily="34" charset="-122"/>
                          <a:cs typeface="Libre Franklin" pitchFamily="34" charset="-120"/>
                        </a:rPr>
                        <a:t>Result</a:t>
                      </a:r>
                      <a:endParaRPr lang="en-US" sz="1300" dirty="0">
                        <a:latin typeface="Libre Franklin" charset="0"/>
                        <a:ea typeface="Libre Franklin" charset="0"/>
                        <a:cs typeface="Libre Franklin" charset="0"/>
                      </a:endParaRPr>
                    </a:p>
                  </a:txBody>
                  <a:tcPr marL="101600" marR="101600" marT="50800" marB="50800" anchor="ctr">
                    <a:lnL w="9525" cap="flat" cmpd="sng" algn="ctr">
                      <a:solidFill>
                        <a:srgbClr val="91BAF4"/>
                      </a:solidFill>
                      <a:prstDash val="solid"/>
                      <a:round/>
                      <a:headEnd type="none" w="med" len="med"/>
                      <a:tailEnd type="none" w="med" len="med"/>
                    </a:lnL>
                    <a:lnR w="9525" cap="flat" cmpd="sng" algn="ctr">
                      <a:solidFill>
                        <a:srgbClr val="91BAF4"/>
                      </a:solidFill>
                      <a:prstDash val="solid"/>
                      <a:round/>
                      <a:headEnd type="none" w="med" len="med"/>
                      <a:tailEnd type="none" w="med" len="med"/>
                    </a:lnR>
                    <a:lnT w="9525" cap="flat" cmpd="sng" algn="ctr">
                      <a:solidFill>
                        <a:srgbClr val="91BAF4"/>
                      </a:solidFill>
                      <a:prstDash val="solid"/>
                      <a:round/>
                      <a:headEnd type="none" w="med" len="med"/>
                      <a:tailEnd type="none" w="med" len="med"/>
                    </a:lnT>
                    <a:lnB w="9525" cap="flat" cmpd="sng" algn="ctr">
                      <a:solidFill>
                        <a:srgbClr val="91BAF4"/>
                      </a:solidFill>
                      <a:prstDash val="solid"/>
                      <a:round/>
                      <a:headEnd type="none" w="med" len="med"/>
                      <a:tailEnd type="none" w="med" len="med"/>
                    </a:lnB>
                    <a:solidFill>
                      <a:srgbClr val="3366FF"/>
                    </a:solidFill>
                  </a:tcPr>
                </a:tc>
              </a:tr>
              <a:tr h="457200">
                <a:tc>
                  <a:txBody>
                    <a:bodyPr/>
                    <a:lstStyle/>
                    <a:p>
                      <a:pPr algn="l" indent="0" marL="0">
                        <a:buNone/>
                      </a:pPr>
                      <a:r>
                        <a:rPr lang="en-US" sz="1300" b="1" dirty="0">
                          <a:solidFill>
                            <a:srgbClr val="000000"/>
                          </a:solidFill>
                          <a:latin typeface="Libre Franklin" pitchFamily="34" charset="0"/>
                          <a:ea typeface="Libre Franklin" pitchFamily="34" charset="-122"/>
                          <a:cs typeface="Libre Franklin" pitchFamily="34" charset="-120"/>
                        </a:rPr>
                        <a:t>Staff 1</a:t>
                      </a:r>
                      <a:endParaRPr lang="en-US" sz="1300" dirty="0">
                        <a:latin typeface="Libre Franklin" charset="0"/>
                        <a:ea typeface="Libre Franklin" charset="0"/>
                        <a:cs typeface="Libre Franklin" charset="0"/>
                      </a:endParaRPr>
                    </a:p>
                  </a:txBody>
                  <a:tcPr marL="101600" marR="101600" marT="50800" marB="50800" anchor="ctr">
                    <a:lnL w="9525" cap="flat" cmpd="sng" algn="ctr">
                      <a:solidFill>
                        <a:srgbClr val="91BAF4"/>
                      </a:solidFill>
                      <a:prstDash val="solid"/>
                      <a:round/>
                      <a:headEnd type="none" w="med" len="med"/>
                      <a:tailEnd type="none" w="med" len="med"/>
                    </a:lnL>
                    <a:lnR w="9525" cap="flat" cmpd="sng" algn="ctr">
                      <a:solidFill>
                        <a:srgbClr val="91BAF4"/>
                      </a:solidFill>
                      <a:prstDash val="solid"/>
                      <a:round/>
                      <a:headEnd type="none" w="med" len="med"/>
                      <a:tailEnd type="none" w="med" len="med"/>
                    </a:lnR>
                    <a:lnT w="9525" cap="flat" cmpd="sng" algn="ctr">
                      <a:solidFill>
                        <a:srgbClr val="91BAF4"/>
                      </a:solidFill>
                      <a:prstDash val="solid"/>
                      <a:round/>
                      <a:headEnd type="none" w="med" len="med"/>
                      <a:tailEnd type="none" w="med" len="med"/>
                    </a:lnT>
                    <a:lnB w="9525" cap="flat" cmpd="sng" algn="ctr">
                      <a:solidFill>
                        <a:srgbClr val="91BAF4"/>
                      </a:solidFill>
                      <a:prstDash val="solid"/>
                      <a:round/>
                      <a:headEnd type="none" w="med" len="med"/>
                      <a:tailEnd type="none" w="med" len="med"/>
                    </a:lnB>
                    <a:solidFill>
                      <a:srgbClr val="F4F4F6"/>
                    </a:solidFill>
                  </a:tcPr>
                </a:tc>
                <a:tc>
                  <a:txBody>
                    <a:bodyPr/>
                    <a:lstStyle/>
                    <a:p>
                      <a:pPr algn="ct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Yes</a:t>
                      </a:r>
                      <a:endParaRPr lang="en-US" sz="1300" dirty="0">
                        <a:latin typeface="Libre Franklin Medium" charset="0"/>
                        <a:ea typeface="Libre Franklin Medium" charset="0"/>
                        <a:cs typeface="Libre Franklin Medium" charset="0"/>
                      </a:endParaRPr>
                    </a:p>
                  </a:txBody>
                  <a:tcPr marL="101600" marR="101600" marT="50800" marB="50800" anchor="ctr">
                    <a:lnL w="9525" cap="flat" cmpd="sng" algn="ctr">
                      <a:solidFill>
                        <a:srgbClr val="91BAF4"/>
                      </a:solidFill>
                      <a:prstDash val="solid"/>
                      <a:round/>
                      <a:headEnd type="none" w="med" len="med"/>
                      <a:tailEnd type="none" w="med" len="med"/>
                    </a:lnL>
                    <a:lnR w="9525" cap="flat" cmpd="sng" algn="ctr">
                      <a:solidFill>
                        <a:srgbClr val="91BAF4"/>
                      </a:solidFill>
                      <a:prstDash val="solid"/>
                      <a:round/>
                      <a:headEnd type="none" w="med" len="med"/>
                      <a:tailEnd type="none" w="med" len="med"/>
                    </a:lnR>
                    <a:lnT w="9525" cap="flat" cmpd="sng" algn="ctr">
                      <a:solidFill>
                        <a:srgbClr val="91BAF4"/>
                      </a:solidFill>
                      <a:prstDash val="solid"/>
                      <a:round/>
                      <a:headEnd type="none" w="med" len="med"/>
                      <a:tailEnd type="none" w="med" len="med"/>
                    </a:lnT>
                    <a:lnB w="9525" cap="flat" cmpd="sng" algn="ctr">
                      <a:solidFill>
                        <a:srgbClr val="91BAF4"/>
                      </a:solidFill>
                      <a:prstDash val="solid"/>
                      <a:round/>
                      <a:headEnd type="none" w="med" len="med"/>
                      <a:tailEnd type="none" w="med" len="med"/>
                    </a:lnB>
                    <a:solidFill>
                      <a:srgbClr val="F4F4F6"/>
                    </a:solidFill>
                  </a:tcPr>
                </a:tc>
                <a:tc>
                  <a:txBody>
                    <a:bodyPr/>
                    <a:lstStyle/>
                    <a:p>
                      <a:pPr algn="ctr" indent="0" marL="0">
                        <a:buNone/>
                      </a:pPr>
                      <a:r>
                        <a:rPr lang="en-US" sz="1300" dirty="0">
                          <a:solidFill>
                            <a:srgbClr val="D74E2D"/>
                          </a:solidFill>
                          <a:latin typeface="Libre Franklin Medium" pitchFamily="34" charset="0"/>
                          <a:ea typeface="Libre Franklin Medium" pitchFamily="34" charset="-122"/>
                          <a:cs typeface="Libre Franklin Medium" pitchFamily="34" charset="-120"/>
                        </a:rPr>
                        <a:t>On the list</a:t>
                      </a:r>
                      <a:endParaRPr lang="en-US" sz="1300" dirty="0">
                        <a:latin typeface="Libre Franklin Medium" charset="0"/>
                        <a:ea typeface="Libre Franklin Medium" charset="0"/>
                        <a:cs typeface="Libre Franklin Medium" charset="0"/>
                      </a:endParaRPr>
                    </a:p>
                  </a:txBody>
                  <a:tcPr marL="101600" marR="101600" marT="50800" marB="50800" anchor="ctr">
                    <a:lnL w="9525" cap="flat" cmpd="sng" algn="ctr">
                      <a:solidFill>
                        <a:srgbClr val="91BAF4"/>
                      </a:solidFill>
                      <a:prstDash val="solid"/>
                      <a:round/>
                      <a:headEnd type="none" w="med" len="med"/>
                      <a:tailEnd type="none" w="med" len="med"/>
                    </a:lnL>
                    <a:lnR w="9525" cap="flat" cmpd="sng" algn="ctr">
                      <a:solidFill>
                        <a:srgbClr val="91BAF4"/>
                      </a:solidFill>
                      <a:prstDash val="solid"/>
                      <a:round/>
                      <a:headEnd type="none" w="med" len="med"/>
                      <a:tailEnd type="none" w="med" len="med"/>
                    </a:lnR>
                    <a:lnT w="9525" cap="flat" cmpd="sng" algn="ctr">
                      <a:solidFill>
                        <a:srgbClr val="91BAF4"/>
                      </a:solidFill>
                      <a:prstDash val="solid"/>
                      <a:round/>
                      <a:headEnd type="none" w="med" len="med"/>
                      <a:tailEnd type="none" w="med" len="med"/>
                    </a:lnT>
                    <a:lnB w="9525" cap="flat" cmpd="sng" algn="ctr">
                      <a:solidFill>
                        <a:srgbClr val="91BAF4"/>
                      </a:solidFill>
                      <a:prstDash val="solid"/>
                      <a:round/>
                      <a:headEnd type="none" w="med" len="med"/>
                      <a:tailEnd type="none" w="med" len="med"/>
                    </a:lnB>
                    <a:solidFill>
                      <a:srgbClr val="F4F4F6"/>
                    </a:solidFill>
                  </a:tcPr>
                </a:tc>
                <a:tc>
                  <a:txBody>
                    <a:bodyPr/>
                    <a:lstStyle/>
                    <a:p>
                      <a:pPr algn="ct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Yes</a:t>
                      </a:r>
                      <a:endParaRPr lang="en-US" sz="1300" dirty="0">
                        <a:latin typeface="Libre Franklin Medium" charset="0"/>
                        <a:ea typeface="Libre Franklin Medium" charset="0"/>
                        <a:cs typeface="Libre Franklin Medium" charset="0"/>
                      </a:endParaRPr>
                    </a:p>
                  </a:txBody>
                  <a:tcPr marL="101600" marR="101600" marT="50800" marB="50800" anchor="ctr">
                    <a:lnL w="9525" cap="flat" cmpd="sng" algn="ctr">
                      <a:solidFill>
                        <a:srgbClr val="91BAF4"/>
                      </a:solidFill>
                      <a:prstDash val="solid"/>
                      <a:round/>
                      <a:headEnd type="none" w="med" len="med"/>
                      <a:tailEnd type="none" w="med" len="med"/>
                    </a:lnL>
                    <a:lnR w="9525" cap="flat" cmpd="sng" algn="ctr">
                      <a:solidFill>
                        <a:srgbClr val="91BAF4"/>
                      </a:solidFill>
                      <a:prstDash val="solid"/>
                      <a:round/>
                      <a:headEnd type="none" w="med" len="med"/>
                      <a:tailEnd type="none" w="med" len="med"/>
                    </a:lnR>
                    <a:lnT w="9525" cap="flat" cmpd="sng" algn="ctr">
                      <a:solidFill>
                        <a:srgbClr val="91BAF4"/>
                      </a:solidFill>
                      <a:prstDash val="solid"/>
                      <a:round/>
                      <a:headEnd type="none" w="med" len="med"/>
                      <a:tailEnd type="none" w="med" len="med"/>
                    </a:lnT>
                    <a:lnB w="9525" cap="flat" cmpd="sng" algn="ctr">
                      <a:solidFill>
                        <a:srgbClr val="91BAF4"/>
                      </a:solidFill>
                      <a:prstDash val="solid"/>
                      <a:round/>
                      <a:headEnd type="none" w="med" len="med"/>
                      <a:tailEnd type="none" w="med" len="med"/>
                    </a:lnB>
                    <a:solidFill>
                      <a:srgbClr val="F4F4F6"/>
                    </a:solidFill>
                  </a:tcPr>
                </a:tc>
                <a:tc>
                  <a:txBody>
                    <a:bodyPr/>
                    <a:lstStyle/>
                    <a:p>
                      <a:pPr algn="ct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Yes</a:t>
                      </a:r>
                      <a:endParaRPr lang="en-US" sz="1300" dirty="0">
                        <a:latin typeface="Libre Franklin Medium" charset="0"/>
                        <a:ea typeface="Libre Franklin Medium" charset="0"/>
                        <a:cs typeface="Libre Franklin Medium" charset="0"/>
                      </a:endParaRPr>
                    </a:p>
                  </a:txBody>
                  <a:tcPr marL="101600" marR="101600" marT="50800" marB="50800" anchor="ctr">
                    <a:lnL w="9525" cap="flat" cmpd="sng" algn="ctr">
                      <a:solidFill>
                        <a:srgbClr val="91BAF4"/>
                      </a:solidFill>
                      <a:prstDash val="solid"/>
                      <a:round/>
                      <a:headEnd type="none" w="med" len="med"/>
                      <a:tailEnd type="none" w="med" len="med"/>
                    </a:lnL>
                    <a:lnR w="9525" cap="flat" cmpd="sng" algn="ctr">
                      <a:solidFill>
                        <a:srgbClr val="91BAF4"/>
                      </a:solidFill>
                      <a:prstDash val="solid"/>
                      <a:round/>
                      <a:headEnd type="none" w="med" len="med"/>
                      <a:tailEnd type="none" w="med" len="med"/>
                    </a:lnR>
                    <a:lnT w="9525" cap="flat" cmpd="sng" algn="ctr">
                      <a:solidFill>
                        <a:srgbClr val="91BAF4"/>
                      </a:solidFill>
                      <a:prstDash val="solid"/>
                      <a:round/>
                      <a:headEnd type="none" w="med" len="med"/>
                      <a:tailEnd type="none" w="med" len="med"/>
                    </a:lnT>
                    <a:lnB w="9525" cap="flat" cmpd="sng" algn="ctr">
                      <a:solidFill>
                        <a:srgbClr val="91BAF4"/>
                      </a:solidFill>
                      <a:prstDash val="solid"/>
                      <a:round/>
                      <a:headEnd type="none" w="med" len="med"/>
                      <a:tailEnd type="none" w="med" len="med"/>
                    </a:lnB>
                    <a:solidFill>
                      <a:srgbClr val="F4F4F6"/>
                    </a:solidFill>
                  </a:tcPr>
                </a:tc>
                <a:tc>
                  <a:txBody>
                    <a:bodyPr/>
                    <a:lstStyle/>
                    <a:p>
                      <a:pPr algn="ctr" indent="0" marL="0">
                        <a:buNone/>
                      </a:pPr>
                      <a:r>
                        <a:rPr lang="en-US" sz="1300" b="1" dirty="0">
                          <a:solidFill>
                            <a:srgbClr val="D74E2D"/>
                          </a:solidFill>
                          <a:latin typeface="Libre Franklin Medium" pitchFamily="34" charset="0"/>
                          <a:ea typeface="Libre Franklin Medium" pitchFamily="34" charset="-122"/>
                          <a:cs typeface="Libre Franklin Medium" pitchFamily="34" charset="-120"/>
                        </a:rPr>
                        <a:t>Out</a:t>
                      </a:r>
                      <a:endParaRPr lang="en-US" sz="1300" dirty="0">
                        <a:latin typeface="Libre Franklin Medium" charset="0"/>
                        <a:ea typeface="Libre Franklin Medium" charset="0"/>
                        <a:cs typeface="Libre Franklin Medium" charset="0"/>
                      </a:endParaRPr>
                    </a:p>
                  </a:txBody>
                  <a:tcPr marL="101600" marR="101600" marT="50800" marB="50800" anchor="ctr">
                    <a:lnL w="9525" cap="flat" cmpd="sng" algn="ctr">
                      <a:solidFill>
                        <a:srgbClr val="91BAF4"/>
                      </a:solidFill>
                      <a:prstDash val="solid"/>
                      <a:round/>
                      <a:headEnd type="none" w="med" len="med"/>
                      <a:tailEnd type="none" w="med" len="med"/>
                    </a:lnL>
                    <a:lnR w="9525" cap="flat" cmpd="sng" algn="ctr">
                      <a:solidFill>
                        <a:srgbClr val="91BAF4"/>
                      </a:solidFill>
                      <a:prstDash val="solid"/>
                      <a:round/>
                      <a:headEnd type="none" w="med" len="med"/>
                      <a:tailEnd type="none" w="med" len="med"/>
                    </a:lnR>
                    <a:lnT w="9525" cap="flat" cmpd="sng" algn="ctr">
                      <a:solidFill>
                        <a:srgbClr val="91BAF4"/>
                      </a:solidFill>
                      <a:prstDash val="solid"/>
                      <a:round/>
                      <a:headEnd type="none" w="med" len="med"/>
                      <a:tailEnd type="none" w="med" len="med"/>
                    </a:lnT>
                    <a:lnB w="9525" cap="flat" cmpd="sng" algn="ctr">
                      <a:solidFill>
                        <a:srgbClr val="91BAF4"/>
                      </a:solidFill>
                      <a:prstDash val="solid"/>
                      <a:round/>
                      <a:headEnd type="none" w="med" len="med"/>
                      <a:tailEnd type="none" w="med" len="med"/>
                    </a:lnB>
                    <a:solidFill>
                      <a:srgbClr val="F4F4F6"/>
                    </a:solidFill>
                  </a:tcPr>
                </a:tc>
              </a:tr>
              <a:tr h="457200">
                <a:tc>
                  <a:txBody>
                    <a:bodyPr/>
                    <a:lstStyle/>
                    <a:p>
                      <a:pPr algn="l" indent="0" marL="0">
                        <a:buNone/>
                      </a:pPr>
                      <a:r>
                        <a:rPr lang="en-US" sz="1300" b="1" dirty="0">
                          <a:solidFill>
                            <a:srgbClr val="000000"/>
                          </a:solidFill>
                          <a:latin typeface="Libre Franklin" pitchFamily="34" charset="0"/>
                          <a:ea typeface="Libre Franklin" pitchFamily="34" charset="-122"/>
                          <a:cs typeface="Libre Franklin" pitchFamily="34" charset="-120"/>
                        </a:rPr>
                        <a:t>Staff 2</a:t>
                      </a:r>
                      <a:endParaRPr lang="en-US" sz="1300" dirty="0">
                        <a:latin typeface="Libre Franklin" charset="0"/>
                        <a:ea typeface="Libre Franklin" charset="0"/>
                        <a:cs typeface="Libre Franklin" charset="0"/>
                      </a:endParaRPr>
                    </a:p>
                  </a:txBody>
                  <a:tcPr marL="101600" marR="101600" marT="50800" marB="50800" anchor="ctr">
                    <a:lnL w="9525" cap="flat" cmpd="sng" algn="ctr">
                      <a:solidFill>
                        <a:srgbClr val="91BAF4"/>
                      </a:solidFill>
                      <a:prstDash val="solid"/>
                      <a:round/>
                      <a:headEnd type="none" w="med" len="med"/>
                      <a:tailEnd type="none" w="med" len="med"/>
                    </a:lnL>
                    <a:lnR w="9525" cap="flat" cmpd="sng" algn="ctr">
                      <a:solidFill>
                        <a:srgbClr val="91BAF4"/>
                      </a:solidFill>
                      <a:prstDash val="solid"/>
                      <a:round/>
                      <a:headEnd type="none" w="med" len="med"/>
                      <a:tailEnd type="none" w="med" len="med"/>
                    </a:lnR>
                    <a:lnT w="9525" cap="flat" cmpd="sng" algn="ctr">
                      <a:solidFill>
                        <a:srgbClr val="91BAF4"/>
                      </a:solidFill>
                      <a:prstDash val="solid"/>
                      <a:round/>
                      <a:headEnd type="none" w="med" len="med"/>
                      <a:tailEnd type="none" w="med" len="med"/>
                    </a:lnT>
                    <a:lnB w="9525"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Yes</a:t>
                      </a:r>
                      <a:endParaRPr lang="en-US" sz="1300" dirty="0">
                        <a:latin typeface="Libre Franklin Medium" charset="0"/>
                        <a:ea typeface="Libre Franklin Medium" charset="0"/>
                        <a:cs typeface="Libre Franklin Medium" charset="0"/>
                      </a:endParaRPr>
                    </a:p>
                  </a:txBody>
                  <a:tcPr marL="101600" marR="101600" marT="50800" marB="50800" anchor="ctr">
                    <a:lnL w="9525" cap="flat" cmpd="sng" algn="ctr">
                      <a:solidFill>
                        <a:srgbClr val="91BAF4"/>
                      </a:solidFill>
                      <a:prstDash val="solid"/>
                      <a:round/>
                      <a:headEnd type="none" w="med" len="med"/>
                      <a:tailEnd type="none" w="med" len="med"/>
                    </a:lnL>
                    <a:lnR w="9525" cap="flat" cmpd="sng" algn="ctr">
                      <a:solidFill>
                        <a:srgbClr val="91BAF4"/>
                      </a:solidFill>
                      <a:prstDash val="solid"/>
                      <a:round/>
                      <a:headEnd type="none" w="med" len="med"/>
                      <a:tailEnd type="none" w="med" len="med"/>
                    </a:lnR>
                    <a:lnT w="9525" cap="flat" cmpd="sng" algn="ctr">
                      <a:solidFill>
                        <a:srgbClr val="91BAF4"/>
                      </a:solidFill>
                      <a:prstDash val="solid"/>
                      <a:round/>
                      <a:headEnd type="none" w="med" len="med"/>
                      <a:tailEnd type="none" w="med" len="med"/>
                    </a:lnT>
                    <a:lnB w="9525"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Clear</a:t>
                      </a:r>
                      <a:endParaRPr lang="en-US" sz="1300" dirty="0">
                        <a:latin typeface="Libre Franklin Medium" charset="0"/>
                        <a:ea typeface="Libre Franklin Medium" charset="0"/>
                        <a:cs typeface="Libre Franklin Medium" charset="0"/>
                      </a:endParaRPr>
                    </a:p>
                  </a:txBody>
                  <a:tcPr marL="101600" marR="101600" marT="50800" marB="50800" anchor="ctr">
                    <a:lnL w="9525" cap="flat" cmpd="sng" algn="ctr">
                      <a:solidFill>
                        <a:srgbClr val="91BAF4"/>
                      </a:solidFill>
                      <a:prstDash val="solid"/>
                      <a:round/>
                      <a:headEnd type="none" w="med" len="med"/>
                      <a:tailEnd type="none" w="med" len="med"/>
                    </a:lnL>
                    <a:lnR w="9525" cap="flat" cmpd="sng" algn="ctr">
                      <a:solidFill>
                        <a:srgbClr val="91BAF4"/>
                      </a:solidFill>
                      <a:prstDash val="solid"/>
                      <a:round/>
                      <a:headEnd type="none" w="med" len="med"/>
                      <a:tailEnd type="none" w="med" len="med"/>
                    </a:lnR>
                    <a:lnT w="9525" cap="flat" cmpd="sng" algn="ctr">
                      <a:solidFill>
                        <a:srgbClr val="91BAF4"/>
                      </a:solidFill>
                      <a:prstDash val="solid"/>
                      <a:round/>
                      <a:headEnd type="none" w="med" len="med"/>
                      <a:tailEnd type="none" w="med" len="med"/>
                    </a:lnT>
                    <a:lnB w="9525"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Yes</a:t>
                      </a:r>
                      <a:endParaRPr lang="en-US" sz="1300" dirty="0">
                        <a:latin typeface="Libre Franklin Medium" charset="0"/>
                        <a:ea typeface="Libre Franklin Medium" charset="0"/>
                        <a:cs typeface="Libre Franklin Medium" charset="0"/>
                      </a:endParaRPr>
                    </a:p>
                  </a:txBody>
                  <a:tcPr marL="101600" marR="101600" marT="50800" marB="50800" anchor="ctr">
                    <a:lnL w="9525" cap="flat" cmpd="sng" algn="ctr">
                      <a:solidFill>
                        <a:srgbClr val="91BAF4"/>
                      </a:solidFill>
                      <a:prstDash val="solid"/>
                      <a:round/>
                      <a:headEnd type="none" w="med" len="med"/>
                      <a:tailEnd type="none" w="med" len="med"/>
                    </a:lnL>
                    <a:lnR w="9525" cap="flat" cmpd="sng" algn="ctr">
                      <a:solidFill>
                        <a:srgbClr val="91BAF4"/>
                      </a:solidFill>
                      <a:prstDash val="solid"/>
                      <a:round/>
                      <a:headEnd type="none" w="med" len="med"/>
                      <a:tailEnd type="none" w="med" len="med"/>
                    </a:lnR>
                    <a:lnT w="9525" cap="flat" cmpd="sng" algn="ctr">
                      <a:solidFill>
                        <a:srgbClr val="91BAF4"/>
                      </a:solidFill>
                      <a:prstDash val="solid"/>
                      <a:round/>
                      <a:headEnd type="none" w="med" len="med"/>
                      <a:tailEnd type="none" w="med" len="med"/>
                    </a:lnT>
                    <a:lnB w="9525"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Yes</a:t>
                      </a:r>
                      <a:endParaRPr lang="en-US" sz="1300" dirty="0">
                        <a:latin typeface="Libre Franklin Medium" charset="0"/>
                        <a:ea typeface="Libre Franklin Medium" charset="0"/>
                        <a:cs typeface="Libre Franklin Medium" charset="0"/>
                      </a:endParaRPr>
                    </a:p>
                  </a:txBody>
                  <a:tcPr marL="101600" marR="101600" marT="50800" marB="50800" anchor="ctr">
                    <a:lnL w="9525" cap="flat" cmpd="sng" algn="ctr">
                      <a:solidFill>
                        <a:srgbClr val="91BAF4"/>
                      </a:solidFill>
                      <a:prstDash val="solid"/>
                      <a:round/>
                      <a:headEnd type="none" w="med" len="med"/>
                      <a:tailEnd type="none" w="med" len="med"/>
                    </a:lnL>
                    <a:lnR w="9525" cap="flat" cmpd="sng" algn="ctr">
                      <a:solidFill>
                        <a:srgbClr val="91BAF4"/>
                      </a:solidFill>
                      <a:prstDash val="solid"/>
                      <a:round/>
                      <a:headEnd type="none" w="med" len="med"/>
                      <a:tailEnd type="none" w="med" len="med"/>
                    </a:lnR>
                    <a:lnT w="9525" cap="flat" cmpd="sng" algn="ctr">
                      <a:solidFill>
                        <a:srgbClr val="91BAF4"/>
                      </a:solidFill>
                      <a:prstDash val="solid"/>
                      <a:round/>
                      <a:headEnd type="none" w="med" len="med"/>
                      <a:tailEnd type="none" w="med" len="med"/>
                    </a:lnT>
                    <a:lnB w="9525"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3366FF"/>
                          </a:solidFill>
                          <a:latin typeface="Libre Franklin Medium" pitchFamily="34" charset="0"/>
                          <a:ea typeface="Libre Franklin Medium" pitchFamily="34" charset="-122"/>
                          <a:cs typeface="Libre Franklin Medium" pitchFamily="34" charset="-120"/>
                        </a:rPr>
                        <a:t>Stays in</a:t>
                      </a:r>
                      <a:endParaRPr lang="en-US" sz="1300" dirty="0">
                        <a:latin typeface="Libre Franklin Medium" charset="0"/>
                        <a:ea typeface="Libre Franklin Medium" charset="0"/>
                        <a:cs typeface="Libre Franklin Medium" charset="0"/>
                      </a:endParaRPr>
                    </a:p>
                  </a:txBody>
                  <a:tcPr marL="101600" marR="101600" marT="50800" marB="50800" anchor="ctr">
                    <a:lnL w="9525" cap="flat" cmpd="sng" algn="ctr">
                      <a:solidFill>
                        <a:srgbClr val="91BAF4"/>
                      </a:solidFill>
                      <a:prstDash val="solid"/>
                      <a:round/>
                      <a:headEnd type="none" w="med" len="med"/>
                      <a:tailEnd type="none" w="med" len="med"/>
                    </a:lnL>
                    <a:lnR w="9525" cap="flat" cmpd="sng" algn="ctr">
                      <a:solidFill>
                        <a:srgbClr val="91BAF4"/>
                      </a:solidFill>
                      <a:prstDash val="solid"/>
                      <a:round/>
                      <a:headEnd type="none" w="med" len="med"/>
                      <a:tailEnd type="none" w="med" len="med"/>
                    </a:lnR>
                    <a:lnT w="9525" cap="flat" cmpd="sng" algn="ctr">
                      <a:solidFill>
                        <a:srgbClr val="91BAF4"/>
                      </a:solidFill>
                      <a:prstDash val="solid"/>
                      <a:round/>
                      <a:headEnd type="none" w="med" len="med"/>
                      <a:tailEnd type="none" w="med" len="med"/>
                    </a:lnT>
                    <a:lnB w="9525" cap="flat" cmpd="sng" algn="ctr">
                      <a:solidFill>
                        <a:srgbClr val="91BAF4"/>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000000"/>
                          </a:solidFill>
                          <a:latin typeface="Libre Franklin" pitchFamily="34" charset="0"/>
                          <a:ea typeface="Libre Franklin" pitchFamily="34" charset="-122"/>
                          <a:cs typeface="Libre Franklin" pitchFamily="34" charset="-120"/>
                        </a:rPr>
                        <a:t>Staff 3</a:t>
                      </a:r>
                      <a:endParaRPr lang="en-US" sz="1300" dirty="0">
                        <a:latin typeface="Libre Franklin" charset="0"/>
                        <a:ea typeface="Libre Franklin" charset="0"/>
                        <a:cs typeface="Libre Franklin" charset="0"/>
                      </a:endParaRPr>
                    </a:p>
                  </a:txBody>
                  <a:tcPr marL="101600" marR="101600" marT="50800" marB="50800" anchor="ctr">
                    <a:lnL w="9525" cap="flat" cmpd="sng" algn="ctr">
                      <a:solidFill>
                        <a:srgbClr val="91BAF4"/>
                      </a:solidFill>
                      <a:prstDash val="solid"/>
                      <a:round/>
                      <a:headEnd type="none" w="med" len="med"/>
                      <a:tailEnd type="none" w="med" len="med"/>
                    </a:lnL>
                    <a:lnR w="9525" cap="flat" cmpd="sng" algn="ctr">
                      <a:solidFill>
                        <a:srgbClr val="91BAF4"/>
                      </a:solidFill>
                      <a:prstDash val="solid"/>
                      <a:round/>
                      <a:headEnd type="none" w="med" len="med"/>
                      <a:tailEnd type="none" w="med" len="med"/>
                    </a:lnR>
                    <a:lnT w="9525" cap="flat" cmpd="sng" algn="ctr">
                      <a:solidFill>
                        <a:srgbClr val="91BAF4"/>
                      </a:solidFill>
                      <a:prstDash val="solid"/>
                      <a:round/>
                      <a:headEnd type="none" w="med" len="med"/>
                      <a:tailEnd type="none" w="med" len="med"/>
                    </a:lnT>
                    <a:lnB w="9525" cap="flat" cmpd="sng" algn="ctr">
                      <a:solidFill>
                        <a:srgbClr val="91BAF4"/>
                      </a:solidFill>
                      <a:prstDash val="solid"/>
                      <a:round/>
                      <a:headEnd type="none" w="med" len="med"/>
                      <a:tailEnd type="none" w="med" len="med"/>
                    </a:lnB>
                    <a:solidFill>
                      <a:srgbClr val="F4F4F6"/>
                    </a:solidFill>
                  </a:tcPr>
                </a:tc>
                <a:tc>
                  <a:txBody>
                    <a:bodyPr/>
                    <a:lstStyle/>
                    <a:p>
                      <a:pPr algn="ctr" indent="0" marL="0">
                        <a:buNone/>
                      </a:pPr>
                      <a:r>
                        <a:rPr lang="en-US" sz="1300" dirty="0">
                          <a:solidFill>
                            <a:srgbClr val="D74E2D"/>
                          </a:solidFill>
                          <a:latin typeface="Libre Franklin Medium" pitchFamily="34" charset="0"/>
                          <a:ea typeface="Libre Franklin Medium" pitchFamily="34" charset="-122"/>
                          <a:cs typeface="Libre Franklin Medium" pitchFamily="34" charset="-120"/>
                        </a:rPr>
                        <a:t>No</a:t>
                      </a:r>
                      <a:endParaRPr lang="en-US" sz="1300" dirty="0">
                        <a:latin typeface="Libre Franklin Medium" charset="0"/>
                        <a:ea typeface="Libre Franklin Medium" charset="0"/>
                        <a:cs typeface="Libre Franklin Medium" charset="0"/>
                      </a:endParaRPr>
                    </a:p>
                  </a:txBody>
                  <a:tcPr marL="101600" marR="101600" marT="50800" marB="50800" anchor="ctr">
                    <a:lnL w="9525" cap="flat" cmpd="sng" algn="ctr">
                      <a:solidFill>
                        <a:srgbClr val="91BAF4"/>
                      </a:solidFill>
                      <a:prstDash val="solid"/>
                      <a:round/>
                      <a:headEnd type="none" w="med" len="med"/>
                      <a:tailEnd type="none" w="med" len="med"/>
                    </a:lnL>
                    <a:lnR w="9525" cap="flat" cmpd="sng" algn="ctr">
                      <a:solidFill>
                        <a:srgbClr val="91BAF4"/>
                      </a:solidFill>
                      <a:prstDash val="solid"/>
                      <a:round/>
                      <a:headEnd type="none" w="med" len="med"/>
                      <a:tailEnd type="none" w="med" len="med"/>
                    </a:lnR>
                    <a:lnT w="9525" cap="flat" cmpd="sng" algn="ctr">
                      <a:solidFill>
                        <a:srgbClr val="91BAF4"/>
                      </a:solidFill>
                      <a:prstDash val="solid"/>
                      <a:round/>
                      <a:headEnd type="none" w="med" len="med"/>
                      <a:tailEnd type="none" w="med" len="med"/>
                    </a:lnT>
                    <a:lnB w="9525" cap="flat" cmpd="sng" algn="ctr">
                      <a:solidFill>
                        <a:srgbClr val="91BAF4"/>
                      </a:solidFill>
                      <a:prstDash val="solid"/>
                      <a:round/>
                      <a:headEnd type="none" w="med" len="med"/>
                      <a:tailEnd type="none" w="med" len="med"/>
                    </a:lnB>
                    <a:solidFill>
                      <a:srgbClr val="F4F4F6"/>
                    </a:solidFill>
                  </a:tcPr>
                </a:tc>
                <a:tc>
                  <a:txBody>
                    <a:bodyPr/>
                    <a:lstStyle/>
                    <a:p>
                      <a:pPr algn="ct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Clear</a:t>
                      </a:r>
                      <a:endParaRPr lang="en-US" sz="1300" dirty="0">
                        <a:latin typeface="Libre Franklin Medium" charset="0"/>
                        <a:ea typeface="Libre Franklin Medium" charset="0"/>
                        <a:cs typeface="Libre Franklin Medium" charset="0"/>
                      </a:endParaRPr>
                    </a:p>
                  </a:txBody>
                  <a:tcPr marL="101600" marR="101600" marT="50800" marB="50800" anchor="ctr">
                    <a:lnL w="9525" cap="flat" cmpd="sng" algn="ctr">
                      <a:solidFill>
                        <a:srgbClr val="91BAF4"/>
                      </a:solidFill>
                      <a:prstDash val="solid"/>
                      <a:round/>
                      <a:headEnd type="none" w="med" len="med"/>
                      <a:tailEnd type="none" w="med" len="med"/>
                    </a:lnL>
                    <a:lnR w="9525" cap="flat" cmpd="sng" algn="ctr">
                      <a:solidFill>
                        <a:srgbClr val="91BAF4"/>
                      </a:solidFill>
                      <a:prstDash val="solid"/>
                      <a:round/>
                      <a:headEnd type="none" w="med" len="med"/>
                      <a:tailEnd type="none" w="med" len="med"/>
                    </a:lnR>
                    <a:lnT w="9525" cap="flat" cmpd="sng" algn="ctr">
                      <a:solidFill>
                        <a:srgbClr val="91BAF4"/>
                      </a:solidFill>
                      <a:prstDash val="solid"/>
                      <a:round/>
                      <a:headEnd type="none" w="med" len="med"/>
                      <a:tailEnd type="none" w="med" len="med"/>
                    </a:lnT>
                    <a:lnB w="9525" cap="flat" cmpd="sng" algn="ctr">
                      <a:solidFill>
                        <a:srgbClr val="91BAF4"/>
                      </a:solidFill>
                      <a:prstDash val="solid"/>
                      <a:round/>
                      <a:headEnd type="none" w="med" len="med"/>
                      <a:tailEnd type="none" w="med" len="med"/>
                    </a:lnB>
                    <a:solidFill>
                      <a:srgbClr val="F4F4F6"/>
                    </a:solidFill>
                  </a:tcPr>
                </a:tc>
                <a:tc>
                  <a:txBody>
                    <a:bodyPr/>
                    <a:lstStyle/>
                    <a:p>
                      <a:pPr algn="ct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Yes</a:t>
                      </a:r>
                      <a:endParaRPr lang="en-US" sz="1300" dirty="0">
                        <a:latin typeface="Libre Franklin Medium" charset="0"/>
                        <a:ea typeface="Libre Franklin Medium" charset="0"/>
                        <a:cs typeface="Libre Franklin Medium" charset="0"/>
                      </a:endParaRPr>
                    </a:p>
                  </a:txBody>
                  <a:tcPr marL="101600" marR="101600" marT="50800" marB="50800" anchor="ctr">
                    <a:lnL w="9525" cap="flat" cmpd="sng" algn="ctr">
                      <a:solidFill>
                        <a:srgbClr val="91BAF4"/>
                      </a:solidFill>
                      <a:prstDash val="solid"/>
                      <a:round/>
                      <a:headEnd type="none" w="med" len="med"/>
                      <a:tailEnd type="none" w="med" len="med"/>
                    </a:lnL>
                    <a:lnR w="9525" cap="flat" cmpd="sng" algn="ctr">
                      <a:solidFill>
                        <a:srgbClr val="91BAF4"/>
                      </a:solidFill>
                      <a:prstDash val="solid"/>
                      <a:round/>
                      <a:headEnd type="none" w="med" len="med"/>
                      <a:tailEnd type="none" w="med" len="med"/>
                    </a:lnR>
                    <a:lnT w="9525" cap="flat" cmpd="sng" algn="ctr">
                      <a:solidFill>
                        <a:srgbClr val="91BAF4"/>
                      </a:solidFill>
                      <a:prstDash val="solid"/>
                      <a:round/>
                      <a:headEnd type="none" w="med" len="med"/>
                      <a:tailEnd type="none" w="med" len="med"/>
                    </a:lnT>
                    <a:lnB w="9525" cap="flat" cmpd="sng" algn="ctr">
                      <a:solidFill>
                        <a:srgbClr val="91BAF4"/>
                      </a:solidFill>
                      <a:prstDash val="solid"/>
                      <a:round/>
                      <a:headEnd type="none" w="med" len="med"/>
                      <a:tailEnd type="none" w="med" len="med"/>
                    </a:lnB>
                    <a:solidFill>
                      <a:srgbClr val="F4F4F6"/>
                    </a:solidFill>
                  </a:tcPr>
                </a:tc>
                <a:tc>
                  <a:txBody>
                    <a:bodyPr/>
                    <a:lstStyle/>
                    <a:p>
                      <a:pPr algn="ctr" indent="0" marL="0">
                        <a:buNone/>
                      </a:pPr>
                      <a:r>
                        <a:rPr lang="en-US" sz="1300" dirty="0">
                          <a:solidFill>
                            <a:srgbClr val="000000"/>
                          </a:solidFill>
                          <a:latin typeface="Libre Franklin Medium" pitchFamily="34" charset="0"/>
                          <a:ea typeface="Libre Franklin Medium" pitchFamily="34" charset="-122"/>
                          <a:cs typeface="Libre Franklin Medium" pitchFamily="34" charset="-120"/>
                        </a:rPr>
                        <a:t>Yes</a:t>
                      </a:r>
                      <a:endParaRPr lang="en-US" sz="1300" dirty="0">
                        <a:latin typeface="Libre Franklin Medium" charset="0"/>
                        <a:ea typeface="Libre Franklin Medium" charset="0"/>
                        <a:cs typeface="Libre Franklin Medium" charset="0"/>
                      </a:endParaRPr>
                    </a:p>
                  </a:txBody>
                  <a:tcPr marL="101600" marR="101600" marT="50800" marB="50800" anchor="ctr">
                    <a:lnL w="9525" cap="flat" cmpd="sng" algn="ctr">
                      <a:solidFill>
                        <a:srgbClr val="91BAF4"/>
                      </a:solidFill>
                      <a:prstDash val="solid"/>
                      <a:round/>
                      <a:headEnd type="none" w="med" len="med"/>
                      <a:tailEnd type="none" w="med" len="med"/>
                    </a:lnL>
                    <a:lnR w="9525" cap="flat" cmpd="sng" algn="ctr">
                      <a:solidFill>
                        <a:srgbClr val="91BAF4"/>
                      </a:solidFill>
                      <a:prstDash val="solid"/>
                      <a:round/>
                      <a:headEnd type="none" w="med" len="med"/>
                      <a:tailEnd type="none" w="med" len="med"/>
                    </a:lnR>
                    <a:lnT w="9525" cap="flat" cmpd="sng" algn="ctr">
                      <a:solidFill>
                        <a:srgbClr val="91BAF4"/>
                      </a:solidFill>
                      <a:prstDash val="solid"/>
                      <a:round/>
                      <a:headEnd type="none" w="med" len="med"/>
                      <a:tailEnd type="none" w="med" len="med"/>
                    </a:lnT>
                    <a:lnB w="9525" cap="flat" cmpd="sng" algn="ctr">
                      <a:solidFill>
                        <a:srgbClr val="91BAF4"/>
                      </a:solidFill>
                      <a:prstDash val="solid"/>
                      <a:round/>
                      <a:headEnd type="none" w="med" len="med"/>
                      <a:tailEnd type="none" w="med" len="med"/>
                    </a:lnB>
                    <a:solidFill>
                      <a:srgbClr val="F4F4F6"/>
                    </a:solidFill>
                  </a:tcPr>
                </a:tc>
                <a:tc>
                  <a:txBody>
                    <a:bodyPr/>
                    <a:lstStyle/>
                    <a:p>
                      <a:pPr algn="ctr" indent="0" marL="0">
                        <a:buNone/>
                      </a:pPr>
                      <a:r>
                        <a:rPr lang="en-US" sz="1300" b="1" dirty="0">
                          <a:solidFill>
                            <a:srgbClr val="D74E2D"/>
                          </a:solidFill>
                          <a:latin typeface="Libre Franklin Medium" pitchFamily="34" charset="0"/>
                          <a:ea typeface="Libre Franklin Medium" pitchFamily="34" charset="-122"/>
                          <a:cs typeface="Libre Franklin Medium" pitchFamily="34" charset="-120"/>
                        </a:rPr>
                        <a:t>Out</a:t>
                      </a:r>
                      <a:endParaRPr lang="en-US" sz="1300" dirty="0">
                        <a:latin typeface="Libre Franklin Medium" charset="0"/>
                        <a:ea typeface="Libre Franklin Medium" charset="0"/>
                        <a:cs typeface="Libre Franklin Medium" charset="0"/>
                      </a:endParaRPr>
                    </a:p>
                  </a:txBody>
                  <a:tcPr marL="101600" marR="101600" marT="50800" marB="50800" anchor="ctr">
                    <a:lnL w="9525" cap="flat" cmpd="sng" algn="ctr">
                      <a:solidFill>
                        <a:srgbClr val="91BAF4"/>
                      </a:solidFill>
                      <a:prstDash val="solid"/>
                      <a:round/>
                      <a:headEnd type="none" w="med" len="med"/>
                      <a:tailEnd type="none" w="med" len="med"/>
                    </a:lnL>
                    <a:lnR w="9525" cap="flat" cmpd="sng" algn="ctr">
                      <a:solidFill>
                        <a:srgbClr val="91BAF4"/>
                      </a:solidFill>
                      <a:prstDash val="solid"/>
                      <a:round/>
                      <a:headEnd type="none" w="med" len="med"/>
                      <a:tailEnd type="none" w="med" len="med"/>
                    </a:lnR>
                    <a:lnT w="9525" cap="flat" cmpd="sng" algn="ctr">
                      <a:solidFill>
                        <a:srgbClr val="91BAF4"/>
                      </a:solidFill>
                      <a:prstDash val="solid"/>
                      <a:round/>
                      <a:headEnd type="none" w="med" len="med"/>
                      <a:tailEnd type="none" w="med" len="med"/>
                    </a:lnT>
                    <a:lnB w="9525" cap="flat" cmpd="sng" algn="ctr">
                      <a:solidFill>
                        <a:srgbClr val="91BAF4"/>
                      </a:solidFill>
                      <a:prstDash val="solid"/>
                      <a:round/>
                      <a:headEnd type="none" w="med" len="med"/>
                      <a:tailEnd type="none" w="med" len="med"/>
                    </a:lnB>
                    <a:solidFill>
                      <a:srgbClr val="F4F4F6"/>
                    </a:solidFill>
                  </a:tcPr>
                </a:tc>
              </a:tr>
            </a:tbl>
          </a:graphicData>
        </a:graphic>
      </p:graphicFrame>
      <p:sp>
        <p:nvSpPr>
          <p:cNvPr id="7" name="Shape 4"/>
          <p:cNvSpPr/>
          <p:nvPr/>
        </p:nvSpPr>
        <p:spPr>
          <a:xfrm>
            <a:off x="566928" y="3840480"/>
            <a:ext cx="5394960" cy="1417320"/>
          </a:xfrm>
          <a:prstGeom prst="roundRect">
            <a:avLst>
              <a:gd name="adj" fmla="val 9032"/>
            </a:avLst>
          </a:prstGeom>
          <a:solidFill>
            <a:srgbClr val="E6EEFC"/>
          </a:solidFill>
          <a:ln/>
        </p:spPr>
      </p:sp>
      <p:sp>
        <p:nvSpPr>
          <p:cNvPr id="8" name="Text 5"/>
          <p:cNvSpPr/>
          <p:nvPr/>
        </p:nvSpPr>
        <p:spPr>
          <a:xfrm>
            <a:off x="859536" y="4059936"/>
            <a:ext cx="4846320" cy="292608"/>
          </a:xfrm>
          <a:prstGeom prst="rect">
            <a:avLst/>
          </a:prstGeom>
          <a:noFill/>
          <a:ln/>
        </p:spPr>
        <p:txBody>
          <a:bodyPr wrap="square" lIns="0" tIns="0" rIns="0" bIns="0" rtlCol="0" anchor="ctr"/>
          <a:lstStyle/>
          <a:p>
            <a:pPr indent="0" marL="0">
              <a:buNone/>
            </a:pPr>
            <a:r>
              <a:rPr lang="en-US" sz="1500" b="1" dirty="0">
                <a:solidFill>
                  <a:srgbClr val="3366FF"/>
                </a:solidFill>
                <a:latin typeface="Libre Franklin" pitchFamily="34" charset="0"/>
                <a:ea typeface="Libre Franklin" pitchFamily="34" charset="-122"/>
                <a:cs typeface="Libre Franklin" pitchFamily="34" charset="-120"/>
              </a:rPr>
              <a:t>What happened</a:t>
            </a:r>
            <a:endParaRPr lang="en-US" sz="1500" dirty="0"/>
          </a:p>
        </p:txBody>
      </p:sp>
      <p:sp>
        <p:nvSpPr>
          <p:cNvPr id="9" name="Text 6"/>
          <p:cNvSpPr/>
          <p:nvPr/>
        </p:nvSpPr>
        <p:spPr>
          <a:xfrm>
            <a:off x="859536" y="4389120"/>
            <a:ext cx="4846320" cy="777240"/>
          </a:xfrm>
          <a:prstGeom prst="rect">
            <a:avLst/>
          </a:prstGeom>
          <a:noFill/>
          <a:ln/>
        </p:spPr>
        <p:txBody>
          <a:bodyPr wrap="square" lIns="0" tIns="0" rIns="0" bIns="0" rtlCol="0" anchor="t"/>
          <a:lstStyle/>
          <a:p>
            <a:pPr indent="0" marL="0">
              <a:lnSpc>
                <a:spcPts val="1700"/>
              </a:lnSpc>
              <a:buNone/>
            </a:pPr>
            <a:r>
              <a:rPr lang="en-US" sz="1250" dirty="0">
                <a:solidFill>
                  <a:srgbClr val="000000"/>
                </a:solidFill>
                <a:latin typeface="Libre Franklin Medium" pitchFamily="34" charset="0"/>
                <a:ea typeface="Libre Franklin Medium" pitchFamily="34" charset="-122"/>
                <a:cs typeface="Libre Franklin Medium" pitchFamily="34" charset="-120"/>
              </a:rPr>
              <a:t>One person was on the family's exclusion list. One had no open slot. That left a single eligible person, who took both twin visits.</a:t>
            </a:r>
            <a:endParaRPr lang="en-US" sz="1250" dirty="0"/>
          </a:p>
        </p:txBody>
      </p:sp>
      <p:sp>
        <p:nvSpPr>
          <p:cNvPr id="10" name="Shape 7"/>
          <p:cNvSpPr/>
          <p:nvPr/>
        </p:nvSpPr>
        <p:spPr>
          <a:xfrm>
            <a:off x="6236208" y="3840480"/>
            <a:ext cx="5394960" cy="1417320"/>
          </a:xfrm>
          <a:prstGeom prst="roundRect">
            <a:avLst>
              <a:gd name="adj" fmla="val 9032"/>
            </a:avLst>
          </a:prstGeom>
          <a:solidFill>
            <a:srgbClr val="F4F4F6"/>
          </a:solidFill>
          <a:ln w="15875">
            <a:solidFill>
              <a:srgbClr val="F57F00"/>
            </a:solidFill>
            <a:prstDash val="solid"/>
          </a:ln>
        </p:spPr>
      </p:sp>
      <p:sp>
        <p:nvSpPr>
          <p:cNvPr id="11" name="Text 8"/>
          <p:cNvSpPr/>
          <p:nvPr/>
        </p:nvSpPr>
        <p:spPr>
          <a:xfrm>
            <a:off x="6528816" y="4059936"/>
            <a:ext cx="4846320" cy="292608"/>
          </a:xfrm>
          <a:prstGeom prst="rect">
            <a:avLst/>
          </a:prstGeom>
          <a:noFill/>
          <a:ln/>
        </p:spPr>
        <p:txBody>
          <a:bodyPr wrap="square" lIns="0" tIns="0" rIns="0" bIns="0" rtlCol="0" anchor="ctr"/>
          <a:lstStyle/>
          <a:p>
            <a:pPr indent="0" marL="0">
              <a:buNone/>
            </a:pPr>
            <a:r>
              <a:rPr lang="en-US" sz="1500" b="1" dirty="0">
                <a:solidFill>
                  <a:srgbClr val="F57F00"/>
                </a:solidFill>
                <a:latin typeface="Libre Franklin" pitchFamily="34" charset="0"/>
                <a:ea typeface="Libre Franklin" pitchFamily="34" charset="-122"/>
                <a:cs typeface="Libre Franklin" pitchFamily="34" charset="-120"/>
              </a:rPr>
              <a:t>Why it matters</a:t>
            </a:r>
            <a:endParaRPr lang="en-US" sz="1500" dirty="0"/>
          </a:p>
        </p:txBody>
      </p:sp>
      <p:sp>
        <p:nvSpPr>
          <p:cNvPr id="12" name="Text 9"/>
          <p:cNvSpPr/>
          <p:nvPr/>
        </p:nvSpPr>
        <p:spPr>
          <a:xfrm>
            <a:off x="6528816" y="4389120"/>
            <a:ext cx="4846320" cy="777240"/>
          </a:xfrm>
          <a:prstGeom prst="rect">
            <a:avLst/>
          </a:prstGeom>
          <a:noFill/>
          <a:ln/>
        </p:spPr>
        <p:txBody>
          <a:bodyPr wrap="square" lIns="0" tIns="0" rIns="0" bIns="0" rtlCol="0" anchor="t"/>
          <a:lstStyle/>
          <a:p>
            <a:pPr indent="0" marL="0">
              <a:lnSpc>
                <a:spcPts val="1700"/>
              </a:lnSpc>
              <a:buNone/>
            </a:pPr>
            <a:r>
              <a:rPr lang="en-US" sz="1250" dirty="0">
                <a:solidFill>
                  <a:srgbClr val="000000"/>
                </a:solidFill>
                <a:latin typeface="Libre Franklin Medium" pitchFamily="34" charset="0"/>
                <a:ea typeface="Libre Franklin Medium" pitchFamily="34" charset="-122"/>
                <a:cs typeface="Libre Franklin Medium" pitchFamily="34" charset="-120"/>
              </a:rPr>
              <a:t>The pool collapsed to one before any scoring ran. Layer 1 did all the work, and the outcome matched what the team decided by hand.</a:t>
            </a:r>
            <a:endParaRPr lang="en-US" sz="1250" dirty="0"/>
          </a:p>
        </p:txBody>
      </p:sp>
      <p:sp>
        <p:nvSpPr>
          <p:cNvPr id="13" name="Text 10"/>
          <p:cNvSpPr/>
          <p:nvPr/>
        </p:nvSpPr>
        <p:spPr>
          <a:xfrm>
            <a:off x="566928" y="5440680"/>
            <a:ext cx="11064240" cy="310896"/>
          </a:xfrm>
          <a:prstGeom prst="rect">
            <a:avLst/>
          </a:prstGeom>
          <a:noFill/>
          <a:ln/>
        </p:spPr>
        <p:txBody>
          <a:bodyPr wrap="square" lIns="0" tIns="0" rIns="0" bIns="0" rtlCol="0" anchor="ctr"/>
          <a:lstStyle/>
          <a:p>
            <a:pPr indent="0" marL="0">
              <a:buNone/>
            </a:pPr>
            <a:r>
              <a:rPr lang="en-US" sz="1150" i="1" dirty="0">
                <a:solidFill>
                  <a:srgbClr val="000000"/>
                </a:solidFill>
                <a:latin typeface="Libre Franklin Medium" pitchFamily="34" charset="0"/>
                <a:ea typeface="Libre Franklin Medium" pitchFamily="34" charset="-122"/>
                <a:cs typeface="Libre Franklin Medium" pitchFamily="34" charset="-120"/>
              </a:rPr>
              <a:t>Names are replaced with labels. The pattern is what matters, not who was involved.</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indent="0" marL="0">
              <a:buNone/>
            </a:pPr>
            <a:r>
              <a:rPr lang="en-US" sz="1100" b="1" spc="140" kern="0" dirty="0">
                <a:solidFill>
                  <a:srgbClr val="91BAF4"/>
                </a:solidFill>
                <a:latin typeface="Libre Franklin" pitchFamily="34" charset="0"/>
                <a:ea typeface="Libre Franklin" pitchFamily="34" charset="-122"/>
                <a:cs typeface="Libre Franklin" pitchFamily="34" charset="-120"/>
              </a:rPr>
              <a:t>LAYER 2</a:t>
            </a:r>
            <a:endParaRPr lang="en-US" sz="1100" dirty="0"/>
          </a:p>
        </p:txBody>
      </p:sp>
      <p:sp>
        <p:nvSpPr>
          <p:cNvPr id="3" name="Text 1"/>
          <p:cNvSpPr/>
          <p:nvPr/>
        </p:nvSpPr>
        <p:spPr>
          <a:xfrm>
            <a:off x="566928" y="658368"/>
            <a:ext cx="11064240" cy="566928"/>
          </a:xfrm>
          <a:prstGeom prst="rect">
            <a:avLst/>
          </a:prstGeom>
          <a:noFill/>
          <a:ln/>
        </p:spPr>
        <p:txBody>
          <a:bodyPr wrap="square" lIns="0" tIns="0" rIns="0" bIns="0" rtlCol="0" anchor="ctr"/>
          <a:lstStyle/>
          <a:p>
            <a:pPr indent="0" marL="0">
              <a:buNone/>
            </a:pPr>
            <a:r>
              <a:rPr lang="en-US" sz="3000" b="1" spc="-20" kern="0" dirty="0">
                <a:solidFill>
                  <a:srgbClr val="3366FF"/>
                </a:solidFill>
                <a:latin typeface="Libre Franklin" pitchFamily="34" charset="0"/>
                <a:ea typeface="Libre Franklin" pitchFamily="34" charset="-122"/>
                <a:cs typeface="Libre Franklin" pitchFamily="34" charset="-120"/>
              </a:rPr>
              <a:t>One score, built from five parts</a:t>
            </a:r>
            <a:endParaRPr lang="en-US" sz="3000" dirty="0"/>
          </a:p>
        </p:txBody>
      </p:sp>
      <p:sp>
        <p:nvSpPr>
          <p:cNvPr id="4" name="Text 2"/>
          <p:cNvSpPr/>
          <p:nvPr/>
        </p:nvSpPr>
        <p:spPr>
          <a:xfrm>
            <a:off x="566928" y="6382512"/>
            <a:ext cx="5486400" cy="256032"/>
          </a:xfrm>
          <a:prstGeom prst="rect">
            <a:avLst/>
          </a:prstGeom>
          <a:noFill/>
          <a:ln/>
        </p:spPr>
        <p:txBody>
          <a:bodyPr wrap="square" lIns="0" tIns="0" rIns="0" bIns="0" rtlCol="0" anchor="ctr"/>
          <a:lstStyle/>
          <a:p>
            <a:pPr algn="l" indent="0" marL="0">
              <a:buNone/>
            </a:pPr>
            <a:r>
              <a:rPr lang="en-US" sz="900" dirty="0">
                <a:solidFill>
                  <a:srgbClr val="91BAF4"/>
                </a:solidFill>
                <a:latin typeface="Libre Franklin Medium" pitchFamily="34" charset="0"/>
                <a:ea typeface="Libre Franklin Medium" pitchFamily="34" charset="-122"/>
                <a:cs typeface="Libre Franklin Medium" pitchFamily="34" charset="-120"/>
              </a:rPr>
              <a:t>The Early Social Development Lab at UofSC</a:t>
            </a:r>
            <a:endParaRPr lang="en-US" sz="900" dirty="0"/>
          </a:p>
        </p:txBody>
      </p:sp>
      <p:sp>
        <p:nvSpPr>
          <p:cNvPr id="5" name="Text 3"/>
          <p:cNvSpPr/>
          <p:nvPr/>
        </p:nvSpPr>
        <p:spPr>
          <a:xfrm>
            <a:off x="10984687" y="6382512"/>
            <a:ext cx="640080" cy="256032"/>
          </a:xfrm>
          <a:prstGeom prst="rect">
            <a:avLst/>
          </a:prstGeom>
          <a:noFill/>
          <a:ln/>
        </p:spPr>
        <p:txBody>
          <a:bodyPr wrap="square" lIns="0" tIns="0" rIns="0" bIns="0" rtlCol="0" anchor="ctr"/>
          <a:lstStyle/>
          <a:p>
            <a:pPr algn="r" indent="0" marL="0">
              <a:buNone/>
            </a:pPr>
            <a:r>
              <a:rPr lang="en-US" sz="900" dirty="0">
                <a:solidFill>
                  <a:srgbClr val="91BAF4"/>
                </a:solidFill>
                <a:latin typeface="Libre Franklin Medium" pitchFamily="34" charset="0"/>
                <a:ea typeface="Libre Franklin Medium" pitchFamily="34" charset="-122"/>
                <a:cs typeface="Libre Franklin Medium" pitchFamily="34" charset="-120"/>
              </a:rPr>
              <a:t>7</a:t>
            </a:r>
            <a:endParaRPr lang="en-US" sz="900" dirty="0"/>
          </a:p>
        </p:txBody>
      </p:sp>
      <p:sp>
        <p:nvSpPr>
          <p:cNvPr id="6" name="Shape 4"/>
          <p:cNvSpPr/>
          <p:nvPr/>
        </p:nvSpPr>
        <p:spPr>
          <a:xfrm>
            <a:off x="566928" y="1627632"/>
            <a:ext cx="11064240" cy="1051560"/>
          </a:xfrm>
          <a:prstGeom prst="roundRect">
            <a:avLst>
              <a:gd name="adj" fmla="val 12174"/>
            </a:avLst>
          </a:prstGeom>
          <a:solidFill>
            <a:srgbClr val="E6EEFC"/>
          </a:solidFill>
          <a:ln/>
        </p:spPr>
      </p:sp>
      <p:pic>
        <p:nvPicPr>
          <p:cNvPr id="7" name="Image 0" descr="/tmp/esd/math/score.png">    </p:cNvPr>
          <p:cNvPicPr>
            <a:picLocks noChangeAspect="1"/>
          </p:cNvPicPr>
          <p:nvPr/>
        </p:nvPicPr>
        <p:blipFill>
          <a:blip r:embed="rId1"/>
          <a:stretch>
            <a:fillRect/>
          </a:stretch>
        </p:blipFill>
        <p:spPr>
          <a:xfrm>
            <a:off x="2561281" y="1883664"/>
            <a:ext cx="7069134" cy="502920"/>
          </a:xfrm>
          <a:prstGeom prst="rect">
            <a:avLst/>
          </a:prstGeom>
        </p:spPr>
      </p:pic>
      <p:sp>
        <p:nvSpPr>
          <p:cNvPr id="8" name="Shape 5"/>
          <p:cNvSpPr/>
          <p:nvPr/>
        </p:nvSpPr>
        <p:spPr>
          <a:xfrm>
            <a:off x="566928" y="2880360"/>
            <a:ext cx="2066544" cy="1874520"/>
          </a:xfrm>
          <a:prstGeom prst="roundRect">
            <a:avLst>
              <a:gd name="adj" fmla="val 5854"/>
            </a:avLst>
          </a:prstGeom>
          <a:solidFill>
            <a:srgbClr val="FFFFFF"/>
          </a:solidFill>
          <a:ln w="12700">
            <a:solidFill>
              <a:srgbClr val="91BAF4"/>
            </a:solidFill>
            <a:prstDash val="solid"/>
          </a:ln>
        </p:spPr>
      </p:sp>
      <p:sp>
        <p:nvSpPr>
          <p:cNvPr id="9" name="Shape 6"/>
          <p:cNvSpPr/>
          <p:nvPr/>
        </p:nvSpPr>
        <p:spPr>
          <a:xfrm>
            <a:off x="566928" y="2880360"/>
            <a:ext cx="2066544" cy="457200"/>
          </a:xfrm>
          <a:prstGeom prst="roundRect">
            <a:avLst>
              <a:gd name="adj" fmla="val 24000"/>
            </a:avLst>
          </a:prstGeom>
          <a:solidFill>
            <a:srgbClr val="3366FF"/>
          </a:solidFill>
          <a:ln/>
        </p:spPr>
      </p:sp>
      <p:sp>
        <p:nvSpPr>
          <p:cNvPr id="10" name="Text 7"/>
          <p:cNvSpPr/>
          <p:nvPr/>
        </p:nvSpPr>
        <p:spPr>
          <a:xfrm>
            <a:off x="694944" y="2880360"/>
            <a:ext cx="1810512" cy="457200"/>
          </a:xfrm>
          <a:prstGeom prst="rect">
            <a:avLst/>
          </a:prstGeom>
          <a:noFill/>
          <a:ln/>
        </p:spPr>
        <p:txBody>
          <a:bodyPr wrap="square" lIns="0" tIns="0" rIns="0" bIns="0" rtlCol="0" anchor="ctr"/>
          <a:lstStyle/>
          <a:p>
            <a:pPr algn="ctr" indent="0" marL="0">
              <a:buNone/>
            </a:pPr>
            <a:r>
              <a:rPr lang="en-US" sz="1400" b="1" dirty="0">
                <a:solidFill>
                  <a:srgbClr val="F4F4F6"/>
                </a:solidFill>
                <a:latin typeface="Libre Franklin" pitchFamily="34" charset="0"/>
                <a:ea typeface="Libre Franklin" pitchFamily="34" charset="-122"/>
                <a:cs typeface="Libre Franklin" pitchFamily="34" charset="-120"/>
              </a:rPr>
              <a:t>w₁  =  0.30</a:t>
            </a:r>
            <a:endParaRPr lang="en-US" sz="1400" dirty="0"/>
          </a:p>
        </p:txBody>
      </p:sp>
      <p:sp>
        <p:nvSpPr>
          <p:cNvPr id="11" name="Text 8"/>
          <p:cNvSpPr/>
          <p:nvPr/>
        </p:nvSpPr>
        <p:spPr>
          <a:xfrm>
            <a:off x="731520" y="3438144"/>
            <a:ext cx="1737360" cy="457200"/>
          </a:xfrm>
          <a:prstGeom prst="rect">
            <a:avLst/>
          </a:prstGeom>
          <a:noFill/>
          <a:ln/>
        </p:spPr>
        <p:txBody>
          <a:bodyPr wrap="square" lIns="0" tIns="0" rIns="0" bIns="0" rtlCol="0" anchor="t"/>
          <a:lstStyle/>
          <a:p>
            <a:pPr indent="0" marL="0">
              <a:buNone/>
            </a:pPr>
            <a:r>
              <a:rPr lang="en-US" sz="1500" b="1" dirty="0">
                <a:solidFill>
                  <a:srgbClr val="3366FF"/>
                </a:solidFill>
                <a:latin typeface="Libre Franklin" pitchFamily="34" charset="0"/>
                <a:ea typeface="Libre Franklin" pitchFamily="34" charset="-122"/>
                <a:cs typeface="Libre Franklin" pitchFamily="34" charset="-120"/>
              </a:rPr>
              <a:t>Recency</a:t>
            </a:r>
            <a:endParaRPr lang="en-US" sz="1500" dirty="0"/>
          </a:p>
        </p:txBody>
      </p:sp>
      <p:sp>
        <p:nvSpPr>
          <p:cNvPr id="12" name="Text 9"/>
          <p:cNvSpPr/>
          <p:nvPr/>
        </p:nvSpPr>
        <p:spPr>
          <a:xfrm>
            <a:off x="731520" y="3895344"/>
            <a:ext cx="1737360" cy="777240"/>
          </a:xfrm>
          <a:prstGeom prst="rect">
            <a:avLst/>
          </a:prstGeom>
          <a:noFill/>
          <a:ln/>
        </p:spPr>
        <p:txBody>
          <a:bodyPr wrap="square" lIns="0" tIns="0" rIns="0" bIns="0" rtlCol="0" anchor="t"/>
          <a:lstStyle/>
          <a:p>
            <a:pPr indent="0" marL="0">
              <a:lnSpc>
                <a:spcPts val="1500"/>
              </a:lnSpc>
              <a:buNone/>
            </a:pPr>
            <a:r>
              <a:rPr lang="en-US" sz="1150" dirty="0">
                <a:solidFill>
                  <a:srgbClr val="000000"/>
                </a:solidFill>
                <a:latin typeface="Libre Franklin Medium" pitchFamily="34" charset="0"/>
                <a:ea typeface="Libre Franklin Medium" pitchFamily="34" charset="-122"/>
                <a:cs typeface="Libre Franklin Medium" pitchFamily="34" charset="-120"/>
              </a:rPr>
              <a:t>Longer since the last visit scores higher</a:t>
            </a:r>
            <a:endParaRPr lang="en-US" sz="1150" dirty="0"/>
          </a:p>
        </p:txBody>
      </p:sp>
      <p:sp>
        <p:nvSpPr>
          <p:cNvPr id="13" name="Shape 10"/>
          <p:cNvSpPr/>
          <p:nvPr/>
        </p:nvSpPr>
        <p:spPr>
          <a:xfrm>
            <a:off x="2852928" y="2880360"/>
            <a:ext cx="2066544" cy="1874520"/>
          </a:xfrm>
          <a:prstGeom prst="roundRect">
            <a:avLst>
              <a:gd name="adj" fmla="val 5854"/>
            </a:avLst>
          </a:prstGeom>
          <a:solidFill>
            <a:srgbClr val="FFFFFF"/>
          </a:solidFill>
          <a:ln w="12700">
            <a:solidFill>
              <a:srgbClr val="91BAF4"/>
            </a:solidFill>
            <a:prstDash val="solid"/>
          </a:ln>
        </p:spPr>
      </p:sp>
      <p:sp>
        <p:nvSpPr>
          <p:cNvPr id="14" name="Shape 11"/>
          <p:cNvSpPr/>
          <p:nvPr/>
        </p:nvSpPr>
        <p:spPr>
          <a:xfrm>
            <a:off x="2852928" y="2880360"/>
            <a:ext cx="2066544" cy="457200"/>
          </a:xfrm>
          <a:prstGeom prst="roundRect">
            <a:avLst>
              <a:gd name="adj" fmla="val 24000"/>
            </a:avLst>
          </a:prstGeom>
          <a:solidFill>
            <a:srgbClr val="3366FF"/>
          </a:solidFill>
          <a:ln/>
        </p:spPr>
      </p:sp>
      <p:sp>
        <p:nvSpPr>
          <p:cNvPr id="15" name="Text 12"/>
          <p:cNvSpPr/>
          <p:nvPr/>
        </p:nvSpPr>
        <p:spPr>
          <a:xfrm>
            <a:off x="2980944" y="2880360"/>
            <a:ext cx="1810512" cy="457200"/>
          </a:xfrm>
          <a:prstGeom prst="rect">
            <a:avLst/>
          </a:prstGeom>
          <a:noFill/>
          <a:ln/>
        </p:spPr>
        <p:txBody>
          <a:bodyPr wrap="square" lIns="0" tIns="0" rIns="0" bIns="0" rtlCol="0" anchor="ctr"/>
          <a:lstStyle/>
          <a:p>
            <a:pPr algn="ctr" indent="0" marL="0">
              <a:buNone/>
            </a:pPr>
            <a:r>
              <a:rPr lang="en-US" sz="1400" b="1" dirty="0">
                <a:solidFill>
                  <a:srgbClr val="F4F4F6"/>
                </a:solidFill>
                <a:latin typeface="Libre Franklin" pitchFamily="34" charset="0"/>
                <a:ea typeface="Libre Franklin" pitchFamily="34" charset="-122"/>
                <a:cs typeface="Libre Franklin" pitchFamily="34" charset="-120"/>
              </a:rPr>
              <a:t>w₂  =  0.25</a:t>
            </a:r>
            <a:endParaRPr lang="en-US" sz="1400" dirty="0"/>
          </a:p>
        </p:txBody>
      </p:sp>
      <p:sp>
        <p:nvSpPr>
          <p:cNvPr id="16" name="Text 13"/>
          <p:cNvSpPr/>
          <p:nvPr/>
        </p:nvSpPr>
        <p:spPr>
          <a:xfrm>
            <a:off x="3017520" y="3438144"/>
            <a:ext cx="1737360" cy="457200"/>
          </a:xfrm>
          <a:prstGeom prst="rect">
            <a:avLst/>
          </a:prstGeom>
          <a:noFill/>
          <a:ln/>
        </p:spPr>
        <p:txBody>
          <a:bodyPr wrap="square" lIns="0" tIns="0" rIns="0" bIns="0" rtlCol="0" anchor="t"/>
          <a:lstStyle/>
          <a:p>
            <a:pPr indent="0" marL="0">
              <a:buNone/>
            </a:pPr>
            <a:r>
              <a:rPr lang="en-US" sz="1500" b="1" dirty="0">
                <a:solidFill>
                  <a:srgbClr val="3366FF"/>
                </a:solidFill>
                <a:latin typeface="Libre Franklin" pitchFamily="34" charset="0"/>
                <a:ea typeface="Libre Franklin" pitchFamily="34" charset="-122"/>
                <a:cs typeface="Libre Franklin" pitchFamily="34" charset="-120"/>
              </a:rPr>
              <a:t>Family history</a:t>
            </a:r>
            <a:endParaRPr lang="en-US" sz="1500" dirty="0"/>
          </a:p>
        </p:txBody>
      </p:sp>
      <p:sp>
        <p:nvSpPr>
          <p:cNvPr id="17" name="Text 14"/>
          <p:cNvSpPr/>
          <p:nvPr/>
        </p:nvSpPr>
        <p:spPr>
          <a:xfrm>
            <a:off x="3017520" y="3895344"/>
            <a:ext cx="1737360" cy="777240"/>
          </a:xfrm>
          <a:prstGeom prst="rect">
            <a:avLst/>
          </a:prstGeom>
          <a:noFill/>
          <a:ln/>
        </p:spPr>
        <p:txBody>
          <a:bodyPr wrap="square" lIns="0" tIns="0" rIns="0" bIns="0" rtlCol="0" anchor="t"/>
          <a:lstStyle/>
          <a:p>
            <a:pPr indent="0" marL="0">
              <a:lnSpc>
                <a:spcPts val="1500"/>
              </a:lnSpc>
              <a:buNone/>
            </a:pPr>
            <a:r>
              <a:rPr lang="en-US" sz="1150" dirty="0">
                <a:solidFill>
                  <a:srgbClr val="000000"/>
                </a:solidFill>
                <a:latin typeface="Libre Franklin Medium" pitchFamily="34" charset="0"/>
                <a:ea typeface="Libre Franklin Medium" pitchFamily="34" charset="-122"/>
                <a:cs typeface="Libre Franklin Medium" pitchFamily="34" charset="-120"/>
              </a:rPr>
              <a:t>Past visits with this family, read the way the family prefers</a:t>
            </a:r>
            <a:endParaRPr lang="en-US" sz="1150" dirty="0"/>
          </a:p>
        </p:txBody>
      </p:sp>
      <p:sp>
        <p:nvSpPr>
          <p:cNvPr id="18" name="Shape 15"/>
          <p:cNvSpPr/>
          <p:nvPr/>
        </p:nvSpPr>
        <p:spPr>
          <a:xfrm>
            <a:off x="5138928" y="2880360"/>
            <a:ext cx="2066544" cy="1874520"/>
          </a:xfrm>
          <a:prstGeom prst="roundRect">
            <a:avLst>
              <a:gd name="adj" fmla="val 5854"/>
            </a:avLst>
          </a:prstGeom>
          <a:solidFill>
            <a:srgbClr val="FFFFFF"/>
          </a:solidFill>
          <a:ln w="12700">
            <a:solidFill>
              <a:srgbClr val="91BAF4"/>
            </a:solidFill>
            <a:prstDash val="solid"/>
          </a:ln>
        </p:spPr>
      </p:sp>
      <p:sp>
        <p:nvSpPr>
          <p:cNvPr id="19" name="Shape 16"/>
          <p:cNvSpPr/>
          <p:nvPr/>
        </p:nvSpPr>
        <p:spPr>
          <a:xfrm>
            <a:off x="5138928" y="2880360"/>
            <a:ext cx="2066544" cy="457200"/>
          </a:xfrm>
          <a:prstGeom prst="roundRect">
            <a:avLst>
              <a:gd name="adj" fmla="val 24000"/>
            </a:avLst>
          </a:prstGeom>
          <a:solidFill>
            <a:srgbClr val="3366FF"/>
          </a:solidFill>
          <a:ln/>
        </p:spPr>
      </p:sp>
      <p:sp>
        <p:nvSpPr>
          <p:cNvPr id="20" name="Text 17"/>
          <p:cNvSpPr/>
          <p:nvPr/>
        </p:nvSpPr>
        <p:spPr>
          <a:xfrm>
            <a:off x="5266944" y="2880360"/>
            <a:ext cx="1810512" cy="457200"/>
          </a:xfrm>
          <a:prstGeom prst="rect">
            <a:avLst/>
          </a:prstGeom>
          <a:noFill/>
          <a:ln/>
        </p:spPr>
        <p:txBody>
          <a:bodyPr wrap="square" lIns="0" tIns="0" rIns="0" bIns="0" rtlCol="0" anchor="ctr"/>
          <a:lstStyle/>
          <a:p>
            <a:pPr algn="ctr" indent="0" marL="0">
              <a:buNone/>
            </a:pPr>
            <a:r>
              <a:rPr lang="en-US" sz="1400" b="1" dirty="0">
                <a:solidFill>
                  <a:srgbClr val="F4F4F6"/>
                </a:solidFill>
                <a:latin typeface="Libre Franklin" pitchFamily="34" charset="0"/>
                <a:ea typeface="Libre Franklin" pitchFamily="34" charset="-122"/>
                <a:cs typeface="Libre Franklin" pitchFamily="34" charset="-120"/>
              </a:rPr>
              <a:t>w₃  =  0.20</a:t>
            </a:r>
            <a:endParaRPr lang="en-US" sz="1400" dirty="0"/>
          </a:p>
        </p:txBody>
      </p:sp>
      <p:sp>
        <p:nvSpPr>
          <p:cNvPr id="21" name="Text 18"/>
          <p:cNvSpPr/>
          <p:nvPr/>
        </p:nvSpPr>
        <p:spPr>
          <a:xfrm>
            <a:off x="5303520" y="3438144"/>
            <a:ext cx="1737360" cy="457200"/>
          </a:xfrm>
          <a:prstGeom prst="rect">
            <a:avLst/>
          </a:prstGeom>
          <a:noFill/>
          <a:ln/>
        </p:spPr>
        <p:txBody>
          <a:bodyPr wrap="square" lIns="0" tIns="0" rIns="0" bIns="0" rtlCol="0" anchor="t"/>
          <a:lstStyle/>
          <a:p>
            <a:pPr indent="0" marL="0">
              <a:buNone/>
            </a:pPr>
            <a:r>
              <a:rPr lang="en-US" sz="1500" b="1" dirty="0">
                <a:solidFill>
                  <a:srgbClr val="3366FF"/>
                </a:solidFill>
                <a:latin typeface="Libre Franklin" pitchFamily="34" charset="0"/>
                <a:ea typeface="Libre Franklin" pitchFamily="34" charset="-122"/>
                <a:cs typeface="Libre Franklin" pitchFamily="34" charset="-120"/>
              </a:rPr>
              <a:t>Travel</a:t>
            </a:r>
            <a:endParaRPr lang="en-US" sz="1500" dirty="0"/>
          </a:p>
        </p:txBody>
      </p:sp>
      <p:sp>
        <p:nvSpPr>
          <p:cNvPr id="22" name="Text 19"/>
          <p:cNvSpPr/>
          <p:nvPr/>
        </p:nvSpPr>
        <p:spPr>
          <a:xfrm>
            <a:off x="5303520" y="3895344"/>
            <a:ext cx="1737360" cy="777240"/>
          </a:xfrm>
          <a:prstGeom prst="rect">
            <a:avLst/>
          </a:prstGeom>
          <a:noFill/>
          <a:ln/>
        </p:spPr>
        <p:txBody>
          <a:bodyPr wrap="square" lIns="0" tIns="0" rIns="0" bIns="0" rtlCol="0" anchor="t"/>
          <a:lstStyle/>
          <a:p>
            <a:pPr indent="0" marL="0">
              <a:lnSpc>
                <a:spcPts val="1500"/>
              </a:lnSpc>
              <a:buNone/>
            </a:pPr>
            <a:r>
              <a:rPr lang="en-US" sz="1150" dirty="0">
                <a:solidFill>
                  <a:srgbClr val="000000"/>
                </a:solidFill>
                <a:latin typeface="Libre Franklin Medium" pitchFamily="34" charset="0"/>
                <a:ea typeface="Libre Franklin Medium" pitchFamily="34" charset="-122"/>
                <a:cs typeface="Libre Franklin Medium" pitchFamily="34" charset="-120"/>
              </a:rPr>
              <a:t>Shorter round trip scores higher</a:t>
            </a:r>
            <a:endParaRPr lang="en-US" sz="1150" dirty="0"/>
          </a:p>
        </p:txBody>
      </p:sp>
      <p:sp>
        <p:nvSpPr>
          <p:cNvPr id="23" name="Shape 20"/>
          <p:cNvSpPr/>
          <p:nvPr/>
        </p:nvSpPr>
        <p:spPr>
          <a:xfrm>
            <a:off x="7424928" y="2880360"/>
            <a:ext cx="2066544" cy="1874520"/>
          </a:xfrm>
          <a:prstGeom prst="roundRect">
            <a:avLst>
              <a:gd name="adj" fmla="val 5854"/>
            </a:avLst>
          </a:prstGeom>
          <a:solidFill>
            <a:srgbClr val="FFFFFF"/>
          </a:solidFill>
          <a:ln w="12700">
            <a:solidFill>
              <a:srgbClr val="91BAF4"/>
            </a:solidFill>
            <a:prstDash val="solid"/>
          </a:ln>
        </p:spPr>
      </p:sp>
      <p:sp>
        <p:nvSpPr>
          <p:cNvPr id="24" name="Shape 21"/>
          <p:cNvSpPr/>
          <p:nvPr/>
        </p:nvSpPr>
        <p:spPr>
          <a:xfrm>
            <a:off x="7424928" y="2880360"/>
            <a:ext cx="2066544" cy="457200"/>
          </a:xfrm>
          <a:prstGeom prst="roundRect">
            <a:avLst>
              <a:gd name="adj" fmla="val 24000"/>
            </a:avLst>
          </a:prstGeom>
          <a:solidFill>
            <a:srgbClr val="3366FF"/>
          </a:solidFill>
          <a:ln/>
        </p:spPr>
      </p:sp>
      <p:sp>
        <p:nvSpPr>
          <p:cNvPr id="25" name="Text 22"/>
          <p:cNvSpPr/>
          <p:nvPr/>
        </p:nvSpPr>
        <p:spPr>
          <a:xfrm>
            <a:off x="7552944" y="2880360"/>
            <a:ext cx="1810512" cy="457200"/>
          </a:xfrm>
          <a:prstGeom prst="rect">
            <a:avLst/>
          </a:prstGeom>
          <a:noFill/>
          <a:ln/>
        </p:spPr>
        <p:txBody>
          <a:bodyPr wrap="square" lIns="0" tIns="0" rIns="0" bIns="0" rtlCol="0" anchor="ctr"/>
          <a:lstStyle/>
          <a:p>
            <a:pPr algn="ctr" indent="0" marL="0">
              <a:buNone/>
            </a:pPr>
            <a:r>
              <a:rPr lang="en-US" sz="1400" b="1" dirty="0">
                <a:solidFill>
                  <a:srgbClr val="F4F4F6"/>
                </a:solidFill>
                <a:latin typeface="Libre Franklin" pitchFamily="34" charset="0"/>
                <a:ea typeface="Libre Franklin" pitchFamily="34" charset="-122"/>
                <a:cs typeface="Libre Franklin" pitchFamily="34" charset="-120"/>
              </a:rPr>
              <a:t>w₄  =  0.15</a:t>
            </a:r>
            <a:endParaRPr lang="en-US" sz="1400" dirty="0"/>
          </a:p>
        </p:txBody>
      </p:sp>
      <p:sp>
        <p:nvSpPr>
          <p:cNvPr id="26" name="Text 23"/>
          <p:cNvSpPr/>
          <p:nvPr/>
        </p:nvSpPr>
        <p:spPr>
          <a:xfrm>
            <a:off x="7589520" y="3438144"/>
            <a:ext cx="1737360" cy="457200"/>
          </a:xfrm>
          <a:prstGeom prst="rect">
            <a:avLst/>
          </a:prstGeom>
          <a:noFill/>
          <a:ln/>
        </p:spPr>
        <p:txBody>
          <a:bodyPr wrap="square" lIns="0" tIns="0" rIns="0" bIns="0" rtlCol="0" anchor="t"/>
          <a:lstStyle/>
          <a:p>
            <a:pPr indent="0" marL="0">
              <a:buNone/>
            </a:pPr>
            <a:r>
              <a:rPr lang="en-US" sz="1500" b="1" dirty="0">
                <a:solidFill>
                  <a:srgbClr val="3366FF"/>
                </a:solidFill>
                <a:latin typeface="Libre Franklin" pitchFamily="34" charset="0"/>
                <a:ea typeface="Libre Franklin" pitchFamily="34" charset="-122"/>
                <a:cs typeface="Libre Franklin" pitchFamily="34" charset="-120"/>
              </a:rPr>
              <a:t>Workload</a:t>
            </a:r>
            <a:endParaRPr lang="en-US" sz="1500" dirty="0"/>
          </a:p>
        </p:txBody>
      </p:sp>
      <p:sp>
        <p:nvSpPr>
          <p:cNvPr id="27" name="Text 24"/>
          <p:cNvSpPr/>
          <p:nvPr/>
        </p:nvSpPr>
        <p:spPr>
          <a:xfrm>
            <a:off x="7589520" y="3895344"/>
            <a:ext cx="1737360" cy="777240"/>
          </a:xfrm>
          <a:prstGeom prst="rect">
            <a:avLst/>
          </a:prstGeom>
          <a:noFill/>
          <a:ln/>
        </p:spPr>
        <p:txBody>
          <a:bodyPr wrap="square" lIns="0" tIns="0" rIns="0" bIns="0" rtlCol="0" anchor="t"/>
          <a:lstStyle/>
          <a:p>
            <a:pPr indent="0" marL="0">
              <a:lnSpc>
                <a:spcPts val="1500"/>
              </a:lnSpc>
              <a:buNone/>
            </a:pPr>
            <a:r>
              <a:rPr lang="en-US" sz="1150" dirty="0">
                <a:solidFill>
                  <a:srgbClr val="000000"/>
                </a:solidFill>
                <a:latin typeface="Libre Franklin Medium" pitchFamily="34" charset="0"/>
                <a:ea typeface="Libre Franklin Medium" pitchFamily="34" charset="-122"/>
                <a:cs typeface="Libre Franklin Medium" pitchFamily="34" charset="-120"/>
              </a:rPr>
              <a:t>Fewer visits this period scores higher</a:t>
            </a:r>
            <a:endParaRPr lang="en-US" sz="1150" dirty="0"/>
          </a:p>
        </p:txBody>
      </p:sp>
      <p:sp>
        <p:nvSpPr>
          <p:cNvPr id="28" name="Shape 25"/>
          <p:cNvSpPr/>
          <p:nvPr/>
        </p:nvSpPr>
        <p:spPr>
          <a:xfrm>
            <a:off x="9710928" y="2880360"/>
            <a:ext cx="2066544" cy="1874520"/>
          </a:xfrm>
          <a:prstGeom prst="roundRect">
            <a:avLst>
              <a:gd name="adj" fmla="val 5854"/>
            </a:avLst>
          </a:prstGeom>
          <a:solidFill>
            <a:srgbClr val="FFFFFF"/>
          </a:solidFill>
          <a:ln w="12700">
            <a:solidFill>
              <a:srgbClr val="91BAF4"/>
            </a:solidFill>
            <a:prstDash val="solid"/>
          </a:ln>
        </p:spPr>
      </p:sp>
      <p:sp>
        <p:nvSpPr>
          <p:cNvPr id="29" name="Shape 26"/>
          <p:cNvSpPr/>
          <p:nvPr/>
        </p:nvSpPr>
        <p:spPr>
          <a:xfrm>
            <a:off x="9710928" y="2880360"/>
            <a:ext cx="2066544" cy="457200"/>
          </a:xfrm>
          <a:prstGeom prst="roundRect">
            <a:avLst>
              <a:gd name="adj" fmla="val 24000"/>
            </a:avLst>
          </a:prstGeom>
          <a:solidFill>
            <a:srgbClr val="3366FF"/>
          </a:solidFill>
          <a:ln/>
        </p:spPr>
      </p:sp>
      <p:sp>
        <p:nvSpPr>
          <p:cNvPr id="30" name="Text 27"/>
          <p:cNvSpPr/>
          <p:nvPr/>
        </p:nvSpPr>
        <p:spPr>
          <a:xfrm>
            <a:off x="9838944" y="2880360"/>
            <a:ext cx="1810512" cy="457200"/>
          </a:xfrm>
          <a:prstGeom prst="rect">
            <a:avLst/>
          </a:prstGeom>
          <a:noFill/>
          <a:ln/>
        </p:spPr>
        <p:txBody>
          <a:bodyPr wrap="square" lIns="0" tIns="0" rIns="0" bIns="0" rtlCol="0" anchor="ctr"/>
          <a:lstStyle/>
          <a:p>
            <a:pPr algn="ctr" indent="0" marL="0">
              <a:buNone/>
            </a:pPr>
            <a:r>
              <a:rPr lang="en-US" sz="1400" b="1" dirty="0">
                <a:solidFill>
                  <a:srgbClr val="F4F4F6"/>
                </a:solidFill>
                <a:latin typeface="Libre Franklin" pitchFamily="34" charset="0"/>
                <a:ea typeface="Libre Franklin" pitchFamily="34" charset="-122"/>
                <a:cs typeface="Libre Franklin" pitchFamily="34" charset="-120"/>
              </a:rPr>
              <a:t>w₅  =  0.10</a:t>
            </a:r>
            <a:endParaRPr lang="en-US" sz="1400" dirty="0"/>
          </a:p>
        </p:txBody>
      </p:sp>
      <p:sp>
        <p:nvSpPr>
          <p:cNvPr id="31" name="Text 28"/>
          <p:cNvSpPr/>
          <p:nvPr/>
        </p:nvSpPr>
        <p:spPr>
          <a:xfrm>
            <a:off x="9875520" y="3438144"/>
            <a:ext cx="1737360" cy="457200"/>
          </a:xfrm>
          <a:prstGeom prst="rect">
            <a:avLst/>
          </a:prstGeom>
          <a:noFill/>
          <a:ln/>
        </p:spPr>
        <p:txBody>
          <a:bodyPr wrap="square" lIns="0" tIns="0" rIns="0" bIns="0" rtlCol="0" anchor="t"/>
          <a:lstStyle/>
          <a:p>
            <a:pPr indent="0" marL="0">
              <a:buNone/>
            </a:pPr>
            <a:r>
              <a:rPr lang="en-US" sz="1500" b="1" dirty="0">
                <a:solidFill>
                  <a:srgbClr val="3366FF"/>
                </a:solidFill>
                <a:latin typeface="Libre Franklin" pitchFamily="34" charset="0"/>
                <a:ea typeface="Libre Franklin" pitchFamily="34" charset="-122"/>
                <a:cs typeface="Libre Franklin" pitchFamily="34" charset="-120"/>
              </a:rPr>
              <a:t>Continuity</a:t>
            </a:r>
            <a:endParaRPr lang="en-US" sz="1500" dirty="0"/>
          </a:p>
        </p:txBody>
      </p:sp>
      <p:sp>
        <p:nvSpPr>
          <p:cNvPr id="32" name="Text 29"/>
          <p:cNvSpPr/>
          <p:nvPr/>
        </p:nvSpPr>
        <p:spPr>
          <a:xfrm>
            <a:off x="9875520" y="3895344"/>
            <a:ext cx="1737360" cy="777240"/>
          </a:xfrm>
          <a:prstGeom prst="rect">
            <a:avLst/>
          </a:prstGeom>
          <a:noFill/>
          <a:ln/>
        </p:spPr>
        <p:txBody>
          <a:bodyPr wrap="square" lIns="0" tIns="0" rIns="0" bIns="0" rtlCol="0" anchor="t"/>
          <a:lstStyle/>
          <a:p>
            <a:pPr indent="0" marL="0">
              <a:lnSpc>
                <a:spcPts val="1500"/>
              </a:lnSpc>
              <a:buNone/>
            </a:pPr>
            <a:r>
              <a:rPr lang="en-US" sz="1150" dirty="0">
                <a:solidFill>
                  <a:srgbClr val="000000"/>
                </a:solidFill>
                <a:latin typeface="Libre Franklin Medium" pitchFamily="34" charset="0"/>
                <a:ea typeface="Libre Franklin Medium" pitchFamily="34" charset="-122"/>
                <a:cs typeface="Libre Franklin Medium" pitchFamily="34" charset="-120"/>
              </a:rPr>
              <a:t>Small bonus for doing the previous checkpoint</a:t>
            </a:r>
            <a:endParaRPr lang="en-US" sz="1150" dirty="0"/>
          </a:p>
        </p:txBody>
      </p:sp>
      <p:pic>
        <p:nvPicPr>
          <p:cNvPr id="33" name="Image 1" descr="/tmp/esd/math/weights.png">    </p:cNvPr>
          <p:cNvPicPr>
            <a:picLocks noChangeAspect="1"/>
          </p:cNvPicPr>
          <p:nvPr/>
        </p:nvPicPr>
        <p:blipFill>
          <a:blip r:embed="rId2"/>
          <a:stretch>
            <a:fillRect/>
          </a:stretch>
        </p:blipFill>
        <p:spPr>
          <a:xfrm>
            <a:off x="704088" y="5029200"/>
            <a:ext cx="1560377" cy="566928"/>
          </a:xfrm>
          <a:prstGeom prst="rect">
            <a:avLst/>
          </a:prstGeom>
        </p:spPr>
      </p:pic>
      <p:pic>
        <p:nvPicPr>
          <p:cNvPr id="34" name="Image 2" descr="/tmp/esd/math/argmax.png">    </p:cNvPr>
          <p:cNvPicPr>
            <a:picLocks noChangeAspect="1"/>
          </p:cNvPicPr>
          <p:nvPr/>
        </p:nvPicPr>
        <p:blipFill>
          <a:blip r:embed="rId3"/>
          <a:stretch>
            <a:fillRect/>
          </a:stretch>
        </p:blipFill>
        <p:spPr>
          <a:xfrm>
            <a:off x="6903720" y="5074920"/>
            <a:ext cx="1899026" cy="502920"/>
          </a:xfrm>
          <a:prstGeom prst="rect">
            <a:avLst/>
          </a:prstGeom>
        </p:spPr>
      </p:pic>
      <p:sp>
        <p:nvSpPr>
          <p:cNvPr id="35" name="Text 30"/>
          <p:cNvSpPr/>
          <p:nvPr/>
        </p:nvSpPr>
        <p:spPr>
          <a:xfrm>
            <a:off x="566928" y="5779008"/>
            <a:ext cx="6035040" cy="457200"/>
          </a:xfrm>
          <a:prstGeom prst="rect">
            <a:avLst/>
          </a:prstGeom>
          <a:noFill/>
          <a:ln/>
        </p:spPr>
        <p:txBody>
          <a:bodyPr wrap="square" lIns="0" tIns="0" rIns="0" bIns="0" rtlCol="0" anchor="t"/>
          <a:lstStyle/>
          <a:p>
            <a:pPr indent="0" marL="0">
              <a:lnSpc>
                <a:spcPts val="1500"/>
              </a:lnSpc>
              <a:buNone/>
            </a:pPr>
            <a:r>
              <a:rPr lang="en-US" sz="1150" dirty="0">
                <a:solidFill>
                  <a:srgbClr val="000000"/>
                </a:solidFill>
                <a:latin typeface="Libre Franklin Medium" pitchFamily="34" charset="0"/>
                <a:ea typeface="Libre Franklin Medium" pitchFamily="34" charset="-122"/>
                <a:cs typeface="Libre Franklin Medium" pitchFamily="34" charset="-120"/>
              </a:rPr>
              <a:t>Weights add to one and every part is scaled to a common range, so no single part can dominate through its units.</a:t>
            </a:r>
            <a:endParaRPr lang="en-US" sz="1150" dirty="0"/>
          </a:p>
        </p:txBody>
      </p:sp>
      <p:sp>
        <p:nvSpPr>
          <p:cNvPr id="36" name="Text 31"/>
          <p:cNvSpPr/>
          <p:nvPr/>
        </p:nvSpPr>
        <p:spPr>
          <a:xfrm>
            <a:off x="6903720" y="5779008"/>
            <a:ext cx="4754880" cy="457200"/>
          </a:xfrm>
          <a:prstGeom prst="rect">
            <a:avLst/>
          </a:prstGeom>
          <a:noFill/>
          <a:ln/>
        </p:spPr>
        <p:txBody>
          <a:bodyPr wrap="square" lIns="0" tIns="0" rIns="0" bIns="0" rtlCol="0" anchor="t"/>
          <a:lstStyle/>
          <a:p>
            <a:pPr indent="0" marL="0">
              <a:lnSpc>
                <a:spcPts val="1500"/>
              </a:lnSpc>
              <a:buNone/>
            </a:pPr>
            <a:r>
              <a:rPr lang="en-US" sz="1150" dirty="0">
                <a:solidFill>
                  <a:srgbClr val="000000"/>
                </a:solidFill>
                <a:latin typeface="Libre Franklin Medium" pitchFamily="34" charset="0"/>
                <a:ea typeface="Libre Franklin Medium" pitchFamily="34" charset="-122"/>
                <a:cs typeface="Libre Franklin Medium" pitchFamily="34" charset="-120"/>
              </a:rPr>
              <a:t>Pick the eligible person with the highest score. Weights live in a settings table, so the PI can retune the policy without touching code.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indent="0" marL="0">
              <a:buNone/>
            </a:pPr>
            <a:r>
              <a:rPr lang="en-US" sz="1100" b="1" spc="140" kern="0" dirty="0">
                <a:solidFill>
                  <a:srgbClr val="91BAF4"/>
                </a:solidFill>
                <a:latin typeface="Libre Franklin" pitchFamily="34" charset="0"/>
                <a:ea typeface="Libre Franklin" pitchFamily="34" charset="-122"/>
                <a:cs typeface="Libre Franklin" pitchFamily="34" charset="-120"/>
              </a:rPr>
              <a:t>THE FIVE PARTS, ONE AND TWO</a:t>
            </a:r>
            <a:endParaRPr lang="en-US" sz="1100" dirty="0"/>
          </a:p>
        </p:txBody>
      </p:sp>
      <p:sp>
        <p:nvSpPr>
          <p:cNvPr id="3" name="Text 1"/>
          <p:cNvSpPr/>
          <p:nvPr/>
        </p:nvSpPr>
        <p:spPr>
          <a:xfrm>
            <a:off x="566928" y="658368"/>
            <a:ext cx="11064240" cy="566928"/>
          </a:xfrm>
          <a:prstGeom prst="rect">
            <a:avLst/>
          </a:prstGeom>
          <a:noFill/>
          <a:ln/>
        </p:spPr>
        <p:txBody>
          <a:bodyPr wrap="square" lIns="0" tIns="0" rIns="0" bIns="0" rtlCol="0" anchor="ctr"/>
          <a:lstStyle/>
          <a:p>
            <a:pPr indent="0" marL="0">
              <a:buNone/>
            </a:pPr>
            <a:r>
              <a:rPr lang="en-US" sz="3000" b="1" spc="-20" kern="0" dirty="0">
                <a:solidFill>
                  <a:srgbClr val="3366FF"/>
                </a:solidFill>
                <a:latin typeface="Libre Franklin" pitchFamily="34" charset="0"/>
                <a:ea typeface="Libre Franklin" pitchFamily="34" charset="-122"/>
                <a:cs typeface="Libre Franklin" pitchFamily="34" charset="-120"/>
              </a:rPr>
              <a:t>Fair rotation and family history</a:t>
            </a:r>
            <a:endParaRPr lang="en-US" sz="3000" dirty="0"/>
          </a:p>
        </p:txBody>
      </p:sp>
      <p:sp>
        <p:nvSpPr>
          <p:cNvPr id="4" name="Text 2"/>
          <p:cNvSpPr/>
          <p:nvPr/>
        </p:nvSpPr>
        <p:spPr>
          <a:xfrm>
            <a:off x="566928" y="6382512"/>
            <a:ext cx="5486400" cy="256032"/>
          </a:xfrm>
          <a:prstGeom prst="rect">
            <a:avLst/>
          </a:prstGeom>
          <a:noFill/>
          <a:ln/>
        </p:spPr>
        <p:txBody>
          <a:bodyPr wrap="square" lIns="0" tIns="0" rIns="0" bIns="0" rtlCol="0" anchor="ctr"/>
          <a:lstStyle/>
          <a:p>
            <a:pPr algn="l" indent="0" marL="0">
              <a:buNone/>
            </a:pPr>
            <a:r>
              <a:rPr lang="en-US" sz="900" dirty="0">
                <a:solidFill>
                  <a:srgbClr val="91BAF4"/>
                </a:solidFill>
                <a:latin typeface="Libre Franklin Medium" pitchFamily="34" charset="0"/>
                <a:ea typeface="Libre Franklin Medium" pitchFamily="34" charset="-122"/>
                <a:cs typeface="Libre Franklin Medium" pitchFamily="34" charset="-120"/>
              </a:rPr>
              <a:t>The Early Social Development Lab at UofSC</a:t>
            </a:r>
            <a:endParaRPr lang="en-US" sz="900" dirty="0"/>
          </a:p>
        </p:txBody>
      </p:sp>
      <p:sp>
        <p:nvSpPr>
          <p:cNvPr id="5" name="Text 3"/>
          <p:cNvSpPr/>
          <p:nvPr/>
        </p:nvSpPr>
        <p:spPr>
          <a:xfrm>
            <a:off x="10984687" y="6382512"/>
            <a:ext cx="640080" cy="256032"/>
          </a:xfrm>
          <a:prstGeom prst="rect">
            <a:avLst/>
          </a:prstGeom>
          <a:noFill/>
          <a:ln/>
        </p:spPr>
        <p:txBody>
          <a:bodyPr wrap="square" lIns="0" tIns="0" rIns="0" bIns="0" rtlCol="0" anchor="ctr"/>
          <a:lstStyle/>
          <a:p>
            <a:pPr algn="r" indent="0" marL="0">
              <a:buNone/>
            </a:pPr>
            <a:r>
              <a:rPr lang="en-US" sz="900" dirty="0">
                <a:solidFill>
                  <a:srgbClr val="91BAF4"/>
                </a:solidFill>
                <a:latin typeface="Libre Franklin Medium" pitchFamily="34" charset="0"/>
                <a:ea typeface="Libre Franklin Medium" pitchFamily="34" charset="-122"/>
                <a:cs typeface="Libre Franklin Medium" pitchFamily="34" charset="-120"/>
              </a:rPr>
              <a:t>8</a:t>
            </a:r>
            <a:endParaRPr lang="en-US" sz="900" dirty="0"/>
          </a:p>
        </p:txBody>
      </p:sp>
      <p:sp>
        <p:nvSpPr>
          <p:cNvPr id="6" name="Shape 4"/>
          <p:cNvSpPr/>
          <p:nvPr/>
        </p:nvSpPr>
        <p:spPr>
          <a:xfrm>
            <a:off x="566928" y="1645920"/>
            <a:ext cx="5394960" cy="4160520"/>
          </a:xfrm>
          <a:prstGeom prst="roundRect">
            <a:avLst>
              <a:gd name="adj" fmla="val 3516"/>
            </a:avLst>
          </a:prstGeom>
          <a:solidFill>
            <a:srgbClr val="E6EEFC"/>
          </a:solidFill>
          <a:ln/>
        </p:spPr>
      </p:sp>
      <p:sp>
        <p:nvSpPr>
          <p:cNvPr id="7" name="Shape 5"/>
          <p:cNvSpPr/>
          <p:nvPr/>
        </p:nvSpPr>
        <p:spPr>
          <a:xfrm>
            <a:off x="896112" y="1938528"/>
            <a:ext cx="530352" cy="530352"/>
          </a:xfrm>
          <a:prstGeom prst="ellipse">
            <a:avLst/>
          </a:prstGeom>
          <a:solidFill>
            <a:srgbClr val="3366FF"/>
          </a:solidFill>
          <a:ln/>
        </p:spPr>
      </p:sp>
      <p:sp>
        <p:nvSpPr>
          <p:cNvPr id="8" name="Text 6"/>
          <p:cNvSpPr/>
          <p:nvPr/>
        </p:nvSpPr>
        <p:spPr>
          <a:xfrm>
            <a:off x="896112" y="1938528"/>
            <a:ext cx="530352" cy="530352"/>
          </a:xfrm>
          <a:prstGeom prst="rect">
            <a:avLst/>
          </a:prstGeom>
          <a:noFill/>
          <a:ln/>
        </p:spPr>
        <p:txBody>
          <a:bodyPr wrap="square" lIns="0" tIns="0" rIns="0" bIns="0" rtlCol="0" anchor="ctr"/>
          <a:lstStyle/>
          <a:p>
            <a:pPr algn="ctr" indent="0" marL="0">
              <a:buNone/>
            </a:pPr>
            <a:r>
              <a:rPr lang="en-US" sz="2100" b="1" dirty="0">
                <a:solidFill>
                  <a:srgbClr val="F4F4F6"/>
                </a:solidFill>
                <a:latin typeface="Libre Franklin" pitchFamily="34" charset="0"/>
                <a:ea typeface="Libre Franklin" pitchFamily="34" charset="-122"/>
                <a:cs typeface="Libre Franklin" pitchFamily="34" charset="-120"/>
              </a:rPr>
              <a:t>1</a:t>
            </a:r>
            <a:endParaRPr lang="en-US" sz="2100" dirty="0"/>
          </a:p>
        </p:txBody>
      </p:sp>
      <p:sp>
        <p:nvSpPr>
          <p:cNvPr id="9" name="Text 7"/>
          <p:cNvSpPr/>
          <p:nvPr/>
        </p:nvSpPr>
        <p:spPr>
          <a:xfrm>
            <a:off x="1572768" y="1938528"/>
            <a:ext cx="2926080" cy="530352"/>
          </a:xfrm>
          <a:prstGeom prst="rect">
            <a:avLst/>
          </a:prstGeom>
          <a:noFill/>
          <a:ln/>
        </p:spPr>
        <p:txBody>
          <a:bodyPr wrap="square" lIns="0" tIns="0" rIns="0" bIns="0" rtlCol="0" anchor="ctr"/>
          <a:lstStyle/>
          <a:p>
            <a:pPr indent="0" marL="0">
              <a:buNone/>
            </a:pPr>
            <a:r>
              <a:rPr lang="en-US" sz="2200" b="1" dirty="0">
                <a:solidFill>
                  <a:srgbClr val="3366FF"/>
                </a:solidFill>
                <a:latin typeface="Libre Franklin" pitchFamily="34" charset="0"/>
                <a:ea typeface="Libre Franklin" pitchFamily="34" charset="-122"/>
                <a:cs typeface="Libre Franklin" pitchFamily="34" charset="-120"/>
              </a:rPr>
              <a:t>Recency</a:t>
            </a:r>
            <a:endParaRPr lang="en-US" sz="2200" dirty="0"/>
          </a:p>
        </p:txBody>
      </p:sp>
      <p:sp>
        <p:nvSpPr>
          <p:cNvPr id="10" name="Text 8"/>
          <p:cNvSpPr/>
          <p:nvPr/>
        </p:nvSpPr>
        <p:spPr>
          <a:xfrm>
            <a:off x="4407408" y="1938528"/>
            <a:ext cx="1225296" cy="530352"/>
          </a:xfrm>
          <a:prstGeom prst="rect">
            <a:avLst/>
          </a:prstGeom>
          <a:noFill/>
          <a:ln/>
        </p:spPr>
        <p:txBody>
          <a:bodyPr wrap="square" lIns="0" tIns="0" rIns="0" bIns="0" rtlCol="0" anchor="ctr"/>
          <a:lstStyle/>
          <a:p>
            <a:pPr algn="r" indent="0" marL="0">
              <a:buNone/>
            </a:pPr>
            <a:r>
              <a:rPr lang="en-US" sz="1200" b="1" dirty="0">
                <a:solidFill>
                  <a:srgbClr val="3366FF"/>
                </a:solidFill>
                <a:latin typeface="Libre Franklin" pitchFamily="34" charset="0"/>
                <a:ea typeface="Libre Franklin" pitchFamily="34" charset="-122"/>
                <a:cs typeface="Libre Franklin" pitchFamily="34" charset="-120"/>
              </a:rPr>
              <a:t>weight 0.30</a:t>
            </a:r>
            <a:endParaRPr lang="en-US" sz="1200" dirty="0"/>
          </a:p>
        </p:txBody>
      </p:sp>
      <p:sp>
        <p:nvSpPr>
          <p:cNvPr id="11" name="Shape 9"/>
          <p:cNvSpPr/>
          <p:nvPr/>
        </p:nvSpPr>
        <p:spPr>
          <a:xfrm>
            <a:off x="896112" y="2670048"/>
            <a:ext cx="4736592" cy="1097280"/>
          </a:xfrm>
          <a:prstGeom prst="roundRect">
            <a:avLst>
              <a:gd name="adj" fmla="val 8333"/>
            </a:avLst>
          </a:prstGeom>
          <a:solidFill>
            <a:srgbClr val="FFFFFF"/>
          </a:solidFill>
          <a:ln/>
        </p:spPr>
      </p:sp>
      <p:pic>
        <p:nvPicPr>
          <p:cNvPr id="12" name="Image 0" descr="/tmp/esd/math/recency.png">    </p:cNvPr>
          <p:cNvPicPr>
            <a:picLocks noChangeAspect="1"/>
          </p:cNvPicPr>
          <p:nvPr/>
        </p:nvPicPr>
        <p:blipFill>
          <a:blip r:embed="rId1"/>
          <a:stretch>
            <a:fillRect/>
          </a:stretch>
        </p:blipFill>
        <p:spPr>
          <a:xfrm>
            <a:off x="2247980" y="2889504"/>
            <a:ext cx="2032856" cy="658368"/>
          </a:xfrm>
          <a:prstGeom prst="rect">
            <a:avLst/>
          </a:prstGeom>
        </p:spPr>
      </p:pic>
      <p:sp>
        <p:nvSpPr>
          <p:cNvPr id="13" name="Text 10"/>
          <p:cNvSpPr/>
          <p:nvPr/>
        </p:nvSpPr>
        <p:spPr>
          <a:xfrm>
            <a:off x="896112" y="3931920"/>
            <a:ext cx="4736592" cy="566928"/>
          </a:xfrm>
          <a:prstGeom prst="rect">
            <a:avLst/>
          </a:prstGeom>
          <a:noFill/>
          <a:ln/>
        </p:spPr>
        <p:txBody>
          <a:bodyPr wrap="square" lIns="0" tIns="0" rIns="0" bIns="0" rtlCol="0" anchor="t"/>
          <a:lstStyle/>
          <a:p>
            <a:pPr indent="0" marL="0">
              <a:lnSpc>
                <a:spcPts val="1800"/>
              </a:lnSpc>
              <a:buNone/>
            </a:pPr>
            <a:r>
              <a:rPr lang="en-US" sz="1350" b="1" dirty="0">
                <a:solidFill>
                  <a:srgbClr val="000000"/>
                </a:solidFill>
                <a:latin typeface="Libre Franklin" pitchFamily="34" charset="0"/>
                <a:ea typeface="Libre Franklin" pitchFamily="34" charset="-122"/>
                <a:cs typeface="Libre Franklin" pitchFamily="34" charset="-120"/>
              </a:rPr>
              <a:t>Counts days since that person's last assignment, capped at a ceiling such as 90 days.</a:t>
            </a:r>
            <a:endParaRPr lang="en-US" sz="1350" dirty="0"/>
          </a:p>
        </p:txBody>
      </p:sp>
      <p:sp>
        <p:nvSpPr>
          <p:cNvPr id="14" name="Text 11"/>
          <p:cNvSpPr/>
          <p:nvPr/>
        </p:nvSpPr>
        <p:spPr>
          <a:xfrm>
            <a:off x="896112" y="4590288"/>
            <a:ext cx="4736592" cy="1051560"/>
          </a:xfrm>
          <a:prstGeom prst="rect">
            <a:avLst/>
          </a:prstGeom>
          <a:noFill/>
          <a:ln/>
        </p:spPr>
        <p:txBody>
          <a:bodyPr wrap="square" lIns="0" tIns="0" rIns="0" bIns="0" rtlCol="0" anchor="t"/>
          <a:lstStyle/>
          <a:p>
            <a:pPr indent="0" marL="0">
              <a:lnSpc>
                <a:spcPts val="1700"/>
              </a:lnSpc>
              <a:buNone/>
            </a:pPr>
            <a:r>
              <a:rPr lang="en-US" sz="1250" dirty="0">
                <a:solidFill>
                  <a:srgbClr val="000000"/>
                </a:solidFill>
                <a:latin typeface="Libre Franklin Medium" pitchFamily="34" charset="0"/>
                <a:ea typeface="Libre Franklin Medium" pitchFamily="34" charset="-122"/>
                <a:cs typeface="Libre Franklin Medium" pitchFamily="34" charset="-120"/>
              </a:rPr>
              <a:t>Someone who worked yesterday scores near zero. Someone free for three months scores one. This is what stops the same person being picked over and over.</a:t>
            </a:r>
            <a:endParaRPr lang="en-US" sz="1250" dirty="0"/>
          </a:p>
        </p:txBody>
      </p:sp>
      <p:sp>
        <p:nvSpPr>
          <p:cNvPr id="15" name="Shape 12"/>
          <p:cNvSpPr/>
          <p:nvPr/>
        </p:nvSpPr>
        <p:spPr>
          <a:xfrm>
            <a:off x="6236208" y="1645920"/>
            <a:ext cx="5394960" cy="4160520"/>
          </a:xfrm>
          <a:prstGeom prst="roundRect">
            <a:avLst>
              <a:gd name="adj" fmla="val 3516"/>
            </a:avLst>
          </a:prstGeom>
          <a:solidFill>
            <a:srgbClr val="E6EEFC"/>
          </a:solidFill>
          <a:ln/>
        </p:spPr>
      </p:sp>
      <p:sp>
        <p:nvSpPr>
          <p:cNvPr id="16" name="Shape 13"/>
          <p:cNvSpPr/>
          <p:nvPr/>
        </p:nvSpPr>
        <p:spPr>
          <a:xfrm>
            <a:off x="6565392" y="1938528"/>
            <a:ext cx="530352" cy="530352"/>
          </a:xfrm>
          <a:prstGeom prst="ellipse">
            <a:avLst/>
          </a:prstGeom>
          <a:solidFill>
            <a:srgbClr val="F57F00"/>
          </a:solidFill>
          <a:ln/>
        </p:spPr>
      </p:sp>
      <p:sp>
        <p:nvSpPr>
          <p:cNvPr id="17" name="Text 14"/>
          <p:cNvSpPr/>
          <p:nvPr/>
        </p:nvSpPr>
        <p:spPr>
          <a:xfrm>
            <a:off x="6565392" y="1938528"/>
            <a:ext cx="530352" cy="530352"/>
          </a:xfrm>
          <a:prstGeom prst="rect">
            <a:avLst/>
          </a:prstGeom>
          <a:noFill/>
          <a:ln/>
        </p:spPr>
        <p:txBody>
          <a:bodyPr wrap="square" lIns="0" tIns="0" rIns="0" bIns="0" rtlCol="0" anchor="ctr"/>
          <a:lstStyle/>
          <a:p>
            <a:pPr algn="ctr" indent="0" marL="0">
              <a:buNone/>
            </a:pPr>
            <a:r>
              <a:rPr lang="en-US" sz="2100" b="1" dirty="0">
                <a:solidFill>
                  <a:srgbClr val="F4F4F6"/>
                </a:solidFill>
                <a:latin typeface="Libre Franklin" pitchFamily="34" charset="0"/>
                <a:ea typeface="Libre Franklin" pitchFamily="34" charset="-122"/>
                <a:cs typeface="Libre Franklin" pitchFamily="34" charset="-120"/>
              </a:rPr>
              <a:t>2</a:t>
            </a:r>
            <a:endParaRPr lang="en-US" sz="2100" dirty="0"/>
          </a:p>
        </p:txBody>
      </p:sp>
      <p:sp>
        <p:nvSpPr>
          <p:cNvPr id="18" name="Text 15"/>
          <p:cNvSpPr/>
          <p:nvPr/>
        </p:nvSpPr>
        <p:spPr>
          <a:xfrm>
            <a:off x="7242048" y="1938528"/>
            <a:ext cx="2926080" cy="530352"/>
          </a:xfrm>
          <a:prstGeom prst="rect">
            <a:avLst/>
          </a:prstGeom>
          <a:noFill/>
          <a:ln/>
        </p:spPr>
        <p:txBody>
          <a:bodyPr wrap="square" lIns="0" tIns="0" rIns="0" bIns="0" rtlCol="0" anchor="ctr"/>
          <a:lstStyle/>
          <a:p>
            <a:pPr indent="0" marL="0">
              <a:buNone/>
            </a:pPr>
            <a:r>
              <a:rPr lang="en-US" sz="2200" b="1" dirty="0">
                <a:solidFill>
                  <a:srgbClr val="3366FF"/>
                </a:solidFill>
                <a:latin typeface="Libre Franklin" pitchFamily="34" charset="0"/>
                <a:ea typeface="Libre Franklin" pitchFamily="34" charset="-122"/>
                <a:cs typeface="Libre Franklin" pitchFamily="34" charset="-120"/>
              </a:rPr>
              <a:t>Family history</a:t>
            </a:r>
            <a:endParaRPr lang="en-US" sz="2200" dirty="0"/>
          </a:p>
        </p:txBody>
      </p:sp>
      <p:sp>
        <p:nvSpPr>
          <p:cNvPr id="19" name="Text 16"/>
          <p:cNvSpPr/>
          <p:nvPr/>
        </p:nvSpPr>
        <p:spPr>
          <a:xfrm>
            <a:off x="10076688" y="1938528"/>
            <a:ext cx="1225296" cy="530352"/>
          </a:xfrm>
          <a:prstGeom prst="rect">
            <a:avLst/>
          </a:prstGeom>
          <a:noFill/>
          <a:ln/>
        </p:spPr>
        <p:txBody>
          <a:bodyPr wrap="square" lIns="0" tIns="0" rIns="0" bIns="0" rtlCol="0" anchor="ctr"/>
          <a:lstStyle/>
          <a:p>
            <a:pPr algn="r" indent="0" marL="0">
              <a:buNone/>
            </a:pPr>
            <a:r>
              <a:rPr lang="en-US" sz="1200" b="1" dirty="0">
                <a:solidFill>
                  <a:srgbClr val="F57F00"/>
                </a:solidFill>
                <a:latin typeface="Libre Franklin" pitchFamily="34" charset="0"/>
                <a:ea typeface="Libre Franklin" pitchFamily="34" charset="-122"/>
                <a:cs typeface="Libre Franklin" pitchFamily="34" charset="-120"/>
              </a:rPr>
              <a:t>weight 0.25</a:t>
            </a:r>
            <a:endParaRPr lang="en-US" sz="1200" dirty="0"/>
          </a:p>
        </p:txBody>
      </p:sp>
      <p:sp>
        <p:nvSpPr>
          <p:cNvPr id="20" name="Shape 17"/>
          <p:cNvSpPr/>
          <p:nvPr/>
        </p:nvSpPr>
        <p:spPr>
          <a:xfrm>
            <a:off x="6565392" y="2670048"/>
            <a:ext cx="4736592" cy="1097280"/>
          </a:xfrm>
          <a:prstGeom prst="roundRect">
            <a:avLst>
              <a:gd name="adj" fmla="val 8333"/>
            </a:avLst>
          </a:prstGeom>
          <a:solidFill>
            <a:srgbClr val="FFFFFF"/>
          </a:solidFill>
          <a:ln/>
        </p:spPr>
      </p:sp>
      <p:pic>
        <p:nvPicPr>
          <p:cNvPr id="21" name="Image 1" descr="/tmp/esd/math/family.png">    </p:cNvPr>
          <p:cNvPicPr>
            <a:picLocks noChangeAspect="1"/>
          </p:cNvPicPr>
          <p:nvPr/>
        </p:nvPicPr>
        <p:blipFill>
          <a:blip r:embed="rId2"/>
          <a:stretch>
            <a:fillRect/>
          </a:stretch>
        </p:blipFill>
        <p:spPr>
          <a:xfrm>
            <a:off x="8069084" y="2889504"/>
            <a:ext cx="1729208" cy="658368"/>
          </a:xfrm>
          <a:prstGeom prst="rect">
            <a:avLst/>
          </a:prstGeom>
        </p:spPr>
      </p:pic>
      <p:sp>
        <p:nvSpPr>
          <p:cNvPr id="22" name="Text 18"/>
          <p:cNvSpPr/>
          <p:nvPr/>
        </p:nvSpPr>
        <p:spPr>
          <a:xfrm>
            <a:off x="6565392" y="3931920"/>
            <a:ext cx="4736592" cy="566928"/>
          </a:xfrm>
          <a:prstGeom prst="rect">
            <a:avLst/>
          </a:prstGeom>
          <a:noFill/>
          <a:ln/>
        </p:spPr>
        <p:txBody>
          <a:bodyPr wrap="square" lIns="0" tIns="0" rIns="0" bIns="0" rtlCol="0" anchor="t"/>
          <a:lstStyle/>
          <a:p>
            <a:pPr indent="0" marL="0">
              <a:lnSpc>
                <a:spcPts val="1800"/>
              </a:lnSpc>
              <a:buNone/>
            </a:pPr>
            <a:r>
              <a:rPr lang="en-US" sz="1350" b="1" dirty="0">
                <a:solidFill>
                  <a:srgbClr val="000000"/>
                </a:solidFill>
                <a:latin typeface="Libre Franklin" pitchFamily="34" charset="0"/>
                <a:ea typeface="Libre Franklin" pitchFamily="34" charset="-122"/>
                <a:cs typeface="Libre Franklin" pitchFamily="34" charset="-120"/>
              </a:rPr>
              <a:t>Counts past visits with this family, then flips sign based on what the family prefers.</a:t>
            </a:r>
            <a:endParaRPr lang="en-US" sz="1350" dirty="0"/>
          </a:p>
        </p:txBody>
      </p:sp>
      <p:sp>
        <p:nvSpPr>
          <p:cNvPr id="23" name="Text 19"/>
          <p:cNvSpPr/>
          <p:nvPr/>
        </p:nvSpPr>
        <p:spPr>
          <a:xfrm>
            <a:off x="6565392" y="4590288"/>
            <a:ext cx="4736592" cy="1051560"/>
          </a:xfrm>
          <a:prstGeom prst="rect">
            <a:avLst/>
          </a:prstGeom>
          <a:noFill/>
          <a:ln/>
        </p:spPr>
        <p:txBody>
          <a:bodyPr wrap="square" lIns="0" tIns="0" rIns="0" bIns="0" rtlCol="0" anchor="t"/>
          <a:lstStyle/>
          <a:p>
            <a:pPr indent="0" marL="0">
              <a:lnSpc>
                <a:spcPts val="1700"/>
              </a:lnSpc>
              <a:buNone/>
            </a:pPr>
            <a:r>
              <a:rPr lang="en-US" sz="1250" dirty="0">
                <a:solidFill>
                  <a:srgbClr val="000000"/>
                </a:solidFill>
                <a:latin typeface="Libre Franklin Medium" pitchFamily="34" charset="0"/>
                <a:ea typeface="Libre Franklin Medium" pitchFamily="34" charset="-122"/>
                <a:cs typeface="Libre Franklin Medium" pitchFamily="34" charset="-120"/>
              </a:rPr>
              <a:t>Set the flag to plus one and a familiar person scores higher. Set it to minus one and a fresh person scores higher. The family decides, not the model.</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indent="0" marL="0">
              <a:buNone/>
            </a:pPr>
            <a:r>
              <a:rPr lang="en-US" sz="1100" b="1" spc="140" kern="0" dirty="0">
                <a:solidFill>
                  <a:srgbClr val="91BAF4"/>
                </a:solidFill>
                <a:latin typeface="Libre Franklin" pitchFamily="34" charset="0"/>
                <a:ea typeface="Libre Franklin" pitchFamily="34" charset="-122"/>
                <a:cs typeface="Libre Franklin" pitchFamily="34" charset="-120"/>
              </a:rPr>
              <a:t>THE FIVE PARTS, THREE TO FIVE</a:t>
            </a:r>
            <a:endParaRPr lang="en-US" sz="1100" dirty="0"/>
          </a:p>
        </p:txBody>
      </p:sp>
      <p:sp>
        <p:nvSpPr>
          <p:cNvPr id="3" name="Text 1"/>
          <p:cNvSpPr/>
          <p:nvPr/>
        </p:nvSpPr>
        <p:spPr>
          <a:xfrm>
            <a:off x="566928" y="658368"/>
            <a:ext cx="11064240" cy="566928"/>
          </a:xfrm>
          <a:prstGeom prst="rect">
            <a:avLst/>
          </a:prstGeom>
          <a:noFill/>
          <a:ln/>
        </p:spPr>
        <p:txBody>
          <a:bodyPr wrap="square" lIns="0" tIns="0" rIns="0" bIns="0" rtlCol="0" anchor="ctr"/>
          <a:lstStyle/>
          <a:p>
            <a:pPr indent="0" marL="0">
              <a:buNone/>
            </a:pPr>
            <a:r>
              <a:rPr lang="en-US" sz="3000" b="1" spc="-20" kern="0" dirty="0">
                <a:solidFill>
                  <a:srgbClr val="3366FF"/>
                </a:solidFill>
                <a:latin typeface="Libre Franklin" pitchFamily="34" charset="0"/>
                <a:ea typeface="Libre Franklin" pitchFamily="34" charset="-122"/>
                <a:cs typeface="Libre Franklin" pitchFamily="34" charset="-120"/>
              </a:rPr>
              <a:t>Travel, workload, and continuity</a:t>
            </a:r>
            <a:endParaRPr lang="en-US" sz="3000" dirty="0"/>
          </a:p>
        </p:txBody>
      </p:sp>
      <p:sp>
        <p:nvSpPr>
          <p:cNvPr id="4" name="Text 2"/>
          <p:cNvSpPr/>
          <p:nvPr/>
        </p:nvSpPr>
        <p:spPr>
          <a:xfrm>
            <a:off x="566928" y="6382512"/>
            <a:ext cx="5486400" cy="256032"/>
          </a:xfrm>
          <a:prstGeom prst="rect">
            <a:avLst/>
          </a:prstGeom>
          <a:noFill/>
          <a:ln/>
        </p:spPr>
        <p:txBody>
          <a:bodyPr wrap="square" lIns="0" tIns="0" rIns="0" bIns="0" rtlCol="0" anchor="ctr"/>
          <a:lstStyle/>
          <a:p>
            <a:pPr algn="l" indent="0" marL="0">
              <a:buNone/>
            </a:pPr>
            <a:r>
              <a:rPr lang="en-US" sz="900" dirty="0">
                <a:solidFill>
                  <a:srgbClr val="91BAF4"/>
                </a:solidFill>
                <a:latin typeface="Libre Franklin Medium" pitchFamily="34" charset="0"/>
                <a:ea typeface="Libre Franklin Medium" pitchFamily="34" charset="-122"/>
                <a:cs typeface="Libre Franklin Medium" pitchFamily="34" charset="-120"/>
              </a:rPr>
              <a:t>The Early Social Development Lab at UofSC</a:t>
            </a:r>
            <a:endParaRPr lang="en-US" sz="900" dirty="0"/>
          </a:p>
        </p:txBody>
      </p:sp>
      <p:sp>
        <p:nvSpPr>
          <p:cNvPr id="5" name="Text 3"/>
          <p:cNvSpPr/>
          <p:nvPr/>
        </p:nvSpPr>
        <p:spPr>
          <a:xfrm>
            <a:off x="10984687" y="6382512"/>
            <a:ext cx="640080" cy="256032"/>
          </a:xfrm>
          <a:prstGeom prst="rect">
            <a:avLst/>
          </a:prstGeom>
          <a:noFill/>
          <a:ln/>
        </p:spPr>
        <p:txBody>
          <a:bodyPr wrap="square" lIns="0" tIns="0" rIns="0" bIns="0" rtlCol="0" anchor="ctr"/>
          <a:lstStyle/>
          <a:p>
            <a:pPr algn="r" indent="0" marL="0">
              <a:buNone/>
            </a:pPr>
            <a:r>
              <a:rPr lang="en-US" sz="900" dirty="0">
                <a:solidFill>
                  <a:srgbClr val="91BAF4"/>
                </a:solidFill>
                <a:latin typeface="Libre Franklin Medium" pitchFamily="34" charset="0"/>
                <a:ea typeface="Libre Franklin Medium" pitchFamily="34" charset="-122"/>
                <a:cs typeface="Libre Franklin Medium" pitchFamily="34" charset="-120"/>
              </a:rPr>
              <a:t>9</a:t>
            </a:r>
            <a:endParaRPr lang="en-US" sz="900" dirty="0"/>
          </a:p>
        </p:txBody>
      </p:sp>
      <p:sp>
        <p:nvSpPr>
          <p:cNvPr id="6" name="Shape 4"/>
          <p:cNvSpPr/>
          <p:nvPr/>
        </p:nvSpPr>
        <p:spPr>
          <a:xfrm>
            <a:off x="566928" y="1645920"/>
            <a:ext cx="3529584" cy="4160520"/>
          </a:xfrm>
          <a:prstGeom prst="roundRect">
            <a:avLst>
              <a:gd name="adj" fmla="val 4145"/>
            </a:avLst>
          </a:prstGeom>
          <a:solidFill>
            <a:srgbClr val="E6EEFC"/>
          </a:solidFill>
          <a:ln/>
        </p:spPr>
      </p:sp>
      <p:sp>
        <p:nvSpPr>
          <p:cNvPr id="7" name="Shape 5"/>
          <p:cNvSpPr/>
          <p:nvPr/>
        </p:nvSpPr>
        <p:spPr>
          <a:xfrm>
            <a:off x="841248" y="1901952"/>
            <a:ext cx="475488" cy="475488"/>
          </a:xfrm>
          <a:prstGeom prst="ellipse">
            <a:avLst/>
          </a:prstGeom>
          <a:solidFill>
            <a:srgbClr val="3366FF"/>
          </a:solidFill>
          <a:ln/>
        </p:spPr>
      </p:sp>
      <p:sp>
        <p:nvSpPr>
          <p:cNvPr id="8" name="Text 6"/>
          <p:cNvSpPr/>
          <p:nvPr/>
        </p:nvSpPr>
        <p:spPr>
          <a:xfrm>
            <a:off x="841248" y="1901952"/>
            <a:ext cx="475488" cy="475488"/>
          </a:xfrm>
          <a:prstGeom prst="rect">
            <a:avLst/>
          </a:prstGeom>
          <a:noFill/>
          <a:ln/>
        </p:spPr>
        <p:txBody>
          <a:bodyPr wrap="square" lIns="0" tIns="0" rIns="0" bIns="0" rtlCol="0" anchor="ctr"/>
          <a:lstStyle/>
          <a:p>
            <a:pPr algn="ctr" indent="0" marL="0">
              <a:buNone/>
            </a:pPr>
            <a:r>
              <a:rPr lang="en-US" sz="1900" b="1" dirty="0">
                <a:solidFill>
                  <a:srgbClr val="F4F4F6"/>
                </a:solidFill>
                <a:latin typeface="Libre Franklin" pitchFamily="34" charset="0"/>
                <a:ea typeface="Libre Franklin" pitchFamily="34" charset="-122"/>
                <a:cs typeface="Libre Franklin" pitchFamily="34" charset="-120"/>
              </a:rPr>
              <a:t>3</a:t>
            </a:r>
            <a:endParaRPr lang="en-US" sz="1900" dirty="0"/>
          </a:p>
        </p:txBody>
      </p:sp>
      <p:sp>
        <p:nvSpPr>
          <p:cNvPr id="9" name="Text 7"/>
          <p:cNvSpPr/>
          <p:nvPr/>
        </p:nvSpPr>
        <p:spPr>
          <a:xfrm>
            <a:off x="1426464" y="1901952"/>
            <a:ext cx="2395728" cy="475488"/>
          </a:xfrm>
          <a:prstGeom prst="rect">
            <a:avLst/>
          </a:prstGeom>
          <a:noFill/>
          <a:ln/>
        </p:spPr>
        <p:txBody>
          <a:bodyPr wrap="square" lIns="0" tIns="0" rIns="0" bIns="0" rtlCol="0" anchor="ctr"/>
          <a:lstStyle/>
          <a:p>
            <a:pPr indent="0" marL="0">
              <a:buNone/>
            </a:pPr>
            <a:r>
              <a:rPr lang="en-US" sz="1900" b="1" dirty="0">
                <a:solidFill>
                  <a:srgbClr val="3366FF"/>
                </a:solidFill>
                <a:latin typeface="Libre Franklin" pitchFamily="34" charset="0"/>
                <a:ea typeface="Libre Franklin" pitchFamily="34" charset="-122"/>
                <a:cs typeface="Libre Franklin" pitchFamily="34" charset="-120"/>
              </a:rPr>
              <a:t>Travel</a:t>
            </a:r>
            <a:endParaRPr lang="en-US" sz="1900" dirty="0"/>
          </a:p>
        </p:txBody>
      </p:sp>
      <p:sp>
        <p:nvSpPr>
          <p:cNvPr id="10" name="Text 8"/>
          <p:cNvSpPr/>
          <p:nvPr/>
        </p:nvSpPr>
        <p:spPr>
          <a:xfrm>
            <a:off x="841248" y="2395728"/>
            <a:ext cx="2980944" cy="237744"/>
          </a:xfrm>
          <a:prstGeom prst="rect">
            <a:avLst/>
          </a:prstGeom>
          <a:noFill/>
          <a:ln/>
        </p:spPr>
        <p:txBody>
          <a:bodyPr wrap="square" lIns="0" tIns="0" rIns="0" bIns="0" rtlCol="0" anchor="ctr"/>
          <a:lstStyle/>
          <a:p>
            <a:pPr indent="0" marL="0">
              <a:buNone/>
            </a:pPr>
            <a:r>
              <a:rPr lang="en-US" sz="1050" b="1" spc="80" kern="0" dirty="0">
                <a:solidFill>
                  <a:srgbClr val="3366FF"/>
                </a:solidFill>
                <a:latin typeface="Libre Franklin" pitchFamily="34" charset="0"/>
                <a:ea typeface="Libre Franklin" pitchFamily="34" charset="-122"/>
                <a:cs typeface="Libre Franklin" pitchFamily="34" charset="-120"/>
              </a:rPr>
              <a:t>weight 0.20</a:t>
            </a:r>
            <a:endParaRPr lang="en-US" sz="1050" dirty="0"/>
          </a:p>
        </p:txBody>
      </p:sp>
      <p:sp>
        <p:nvSpPr>
          <p:cNvPr id="11" name="Shape 9"/>
          <p:cNvSpPr/>
          <p:nvPr/>
        </p:nvSpPr>
        <p:spPr>
          <a:xfrm>
            <a:off x="841248" y="2724912"/>
            <a:ext cx="2980944" cy="1005840"/>
          </a:xfrm>
          <a:prstGeom prst="roundRect">
            <a:avLst>
              <a:gd name="adj" fmla="val 9091"/>
            </a:avLst>
          </a:prstGeom>
          <a:solidFill>
            <a:srgbClr val="FFFFFF"/>
          </a:solidFill>
          <a:ln/>
        </p:spPr>
      </p:sp>
      <p:pic>
        <p:nvPicPr>
          <p:cNvPr id="12" name="Image 0" descr="/tmp/esd/math/distance.png">    </p:cNvPr>
          <p:cNvPicPr>
            <a:picLocks noChangeAspect="1"/>
          </p:cNvPicPr>
          <p:nvPr/>
        </p:nvPicPr>
        <p:blipFill>
          <a:blip r:embed="rId1"/>
          <a:stretch>
            <a:fillRect/>
          </a:stretch>
        </p:blipFill>
        <p:spPr>
          <a:xfrm>
            <a:off x="1630886" y="2944368"/>
            <a:ext cx="1401669" cy="566928"/>
          </a:xfrm>
          <a:prstGeom prst="rect">
            <a:avLst/>
          </a:prstGeom>
        </p:spPr>
      </p:pic>
      <p:sp>
        <p:nvSpPr>
          <p:cNvPr id="13" name="Text 10"/>
          <p:cNvSpPr/>
          <p:nvPr/>
        </p:nvSpPr>
        <p:spPr>
          <a:xfrm>
            <a:off x="841248" y="3877056"/>
            <a:ext cx="2980944" cy="685800"/>
          </a:xfrm>
          <a:prstGeom prst="rect">
            <a:avLst/>
          </a:prstGeom>
          <a:noFill/>
          <a:ln/>
        </p:spPr>
        <p:txBody>
          <a:bodyPr wrap="square" lIns="0" tIns="0" rIns="0" bIns="0" rtlCol="0" anchor="t"/>
          <a:lstStyle/>
          <a:p>
            <a:pPr indent="0" marL="0">
              <a:lnSpc>
                <a:spcPts val="1700"/>
              </a:lnSpc>
              <a:buNone/>
            </a:pPr>
            <a:r>
              <a:rPr lang="en-US" sz="1300" b="1" dirty="0">
                <a:solidFill>
                  <a:srgbClr val="000000"/>
                </a:solidFill>
                <a:latin typeface="Libre Franklin" pitchFamily="34" charset="0"/>
                <a:ea typeface="Libre Franklin" pitchFamily="34" charset="-122"/>
                <a:cs typeface="Libre Franklin" pitchFamily="34" charset="-120"/>
              </a:rPr>
              <a:t>Compares this drive to the longest drive in the eligible pool.</a:t>
            </a:r>
            <a:endParaRPr lang="en-US" sz="1300" dirty="0"/>
          </a:p>
        </p:txBody>
      </p:sp>
      <p:sp>
        <p:nvSpPr>
          <p:cNvPr id="14" name="Text 11"/>
          <p:cNvSpPr/>
          <p:nvPr/>
        </p:nvSpPr>
        <p:spPr>
          <a:xfrm>
            <a:off x="841248" y="4626864"/>
            <a:ext cx="2980944" cy="1005840"/>
          </a:xfrm>
          <a:prstGeom prst="rect">
            <a:avLst/>
          </a:prstGeom>
          <a:noFill/>
          <a:ln/>
        </p:spPr>
        <p:txBody>
          <a:bodyPr wrap="square" lIns="0" tIns="0" rIns="0" bIns="0" rtlCol="0" anchor="t"/>
          <a:lstStyle/>
          <a:p>
            <a:pPr indent="0" marL="0">
              <a:lnSpc>
                <a:spcPts val="1600"/>
              </a:lnSpc>
              <a:buNone/>
            </a:pPr>
            <a:r>
              <a:rPr lang="en-US" sz="1200" dirty="0">
                <a:solidFill>
                  <a:srgbClr val="000000"/>
                </a:solidFill>
                <a:latin typeface="Libre Franklin Medium" pitchFamily="34" charset="0"/>
                <a:ea typeface="Libre Franklin Medium" pitchFamily="34" charset="-122"/>
                <a:cs typeface="Libre Franklin Medium" pitchFamily="34" charset="-120"/>
              </a:rPr>
              <a:t>The shortest trip scores one. The longest scores zero. Everyone else sits in between.</a:t>
            </a:r>
            <a:endParaRPr lang="en-US" sz="1200" dirty="0"/>
          </a:p>
        </p:txBody>
      </p:sp>
      <p:sp>
        <p:nvSpPr>
          <p:cNvPr id="15" name="Shape 12"/>
          <p:cNvSpPr/>
          <p:nvPr/>
        </p:nvSpPr>
        <p:spPr>
          <a:xfrm>
            <a:off x="4370832" y="1645920"/>
            <a:ext cx="3529584" cy="4160520"/>
          </a:xfrm>
          <a:prstGeom prst="roundRect">
            <a:avLst>
              <a:gd name="adj" fmla="val 4145"/>
            </a:avLst>
          </a:prstGeom>
          <a:solidFill>
            <a:srgbClr val="E6EEFC"/>
          </a:solidFill>
          <a:ln/>
        </p:spPr>
      </p:sp>
      <p:sp>
        <p:nvSpPr>
          <p:cNvPr id="16" name="Shape 13"/>
          <p:cNvSpPr/>
          <p:nvPr/>
        </p:nvSpPr>
        <p:spPr>
          <a:xfrm>
            <a:off x="4645152" y="1901952"/>
            <a:ext cx="475488" cy="475488"/>
          </a:xfrm>
          <a:prstGeom prst="ellipse">
            <a:avLst/>
          </a:prstGeom>
          <a:solidFill>
            <a:srgbClr val="000000"/>
          </a:solidFill>
          <a:ln/>
        </p:spPr>
      </p:sp>
      <p:sp>
        <p:nvSpPr>
          <p:cNvPr id="17" name="Text 14"/>
          <p:cNvSpPr/>
          <p:nvPr/>
        </p:nvSpPr>
        <p:spPr>
          <a:xfrm>
            <a:off x="4645152" y="1901952"/>
            <a:ext cx="475488" cy="475488"/>
          </a:xfrm>
          <a:prstGeom prst="rect">
            <a:avLst/>
          </a:prstGeom>
          <a:noFill/>
          <a:ln/>
        </p:spPr>
        <p:txBody>
          <a:bodyPr wrap="square" lIns="0" tIns="0" rIns="0" bIns="0" rtlCol="0" anchor="ctr"/>
          <a:lstStyle/>
          <a:p>
            <a:pPr algn="ctr" indent="0" marL="0">
              <a:buNone/>
            </a:pPr>
            <a:r>
              <a:rPr lang="en-US" sz="1900" b="1" dirty="0">
                <a:solidFill>
                  <a:srgbClr val="F4F4F6"/>
                </a:solidFill>
                <a:latin typeface="Libre Franklin" pitchFamily="34" charset="0"/>
                <a:ea typeface="Libre Franklin" pitchFamily="34" charset="-122"/>
                <a:cs typeface="Libre Franklin" pitchFamily="34" charset="-120"/>
              </a:rPr>
              <a:t>4</a:t>
            </a:r>
            <a:endParaRPr lang="en-US" sz="1900" dirty="0"/>
          </a:p>
        </p:txBody>
      </p:sp>
      <p:sp>
        <p:nvSpPr>
          <p:cNvPr id="18" name="Text 15"/>
          <p:cNvSpPr/>
          <p:nvPr/>
        </p:nvSpPr>
        <p:spPr>
          <a:xfrm>
            <a:off x="5230368" y="1901952"/>
            <a:ext cx="2395728" cy="475488"/>
          </a:xfrm>
          <a:prstGeom prst="rect">
            <a:avLst/>
          </a:prstGeom>
          <a:noFill/>
          <a:ln/>
        </p:spPr>
        <p:txBody>
          <a:bodyPr wrap="square" lIns="0" tIns="0" rIns="0" bIns="0" rtlCol="0" anchor="ctr"/>
          <a:lstStyle/>
          <a:p>
            <a:pPr indent="0" marL="0">
              <a:buNone/>
            </a:pPr>
            <a:r>
              <a:rPr lang="en-US" sz="1900" b="1" dirty="0">
                <a:solidFill>
                  <a:srgbClr val="3366FF"/>
                </a:solidFill>
                <a:latin typeface="Libre Franklin" pitchFamily="34" charset="0"/>
                <a:ea typeface="Libre Franklin" pitchFamily="34" charset="-122"/>
                <a:cs typeface="Libre Franklin" pitchFamily="34" charset="-120"/>
              </a:rPr>
              <a:t>Workload</a:t>
            </a:r>
            <a:endParaRPr lang="en-US" sz="1900" dirty="0"/>
          </a:p>
        </p:txBody>
      </p:sp>
      <p:sp>
        <p:nvSpPr>
          <p:cNvPr id="19" name="Text 16"/>
          <p:cNvSpPr/>
          <p:nvPr/>
        </p:nvSpPr>
        <p:spPr>
          <a:xfrm>
            <a:off x="4645152" y="2395728"/>
            <a:ext cx="2980944" cy="237744"/>
          </a:xfrm>
          <a:prstGeom prst="rect">
            <a:avLst/>
          </a:prstGeom>
          <a:noFill/>
          <a:ln/>
        </p:spPr>
        <p:txBody>
          <a:bodyPr wrap="square" lIns="0" tIns="0" rIns="0" bIns="0" rtlCol="0" anchor="ctr"/>
          <a:lstStyle/>
          <a:p>
            <a:pPr indent="0" marL="0">
              <a:buNone/>
            </a:pPr>
            <a:r>
              <a:rPr lang="en-US" sz="1050" b="1" spc="80" kern="0" dirty="0">
                <a:solidFill>
                  <a:srgbClr val="000000"/>
                </a:solidFill>
                <a:latin typeface="Libre Franklin" pitchFamily="34" charset="0"/>
                <a:ea typeface="Libre Franklin" pitchFamily="34" charset="-122"/>
                <a:cs typeface="Libre Franklin" pitchFamily="34" charset="-120"/>
              </a:rPr>
              <a:t>weight 0.15</a:t>
            </a:r>
            <a:endParaRPr lang="en-US" sz="1050" dirty="0"/>
          </a:p>
        </p:txBody>
      </p:sp>
      <p:sp>
        <p:nvSpPr>
          <p:cNvPr id="20" name="Shape 17"/>
          <p:cNvSpPr/>
          <p:nvPr/>
        </p:nvSpPr>
        <p:spPr>
          <a:xfrm>
            <a:off x="4645152" y="2724912"/>
            <a:ext cx="2980944" cy="1005840"/>
          </a:xfrm>
          <a:prstGeom prst="roundRect">
            <a:avLst>
              <a:gd name="adj" fmla="val 9091"/>
            </a:avLst>
          </a:prstGeom>
          <a:solidFill>
            <a:srgbClr val="FFFFFF"/>
          </a:solidFill>
          <a:ln/>
        </p:spPr>
      </p:sp>
      <p:pic>
        <p:nvPicPr>
          <p:cNvPr id="21" name="Image 1" descr="/tmp/esd/math/workload.png">    </p:cNvPr>
          <p:cNvPicPr>
            <a:picLocks noChangeAspect="1"/>
          </p:cNvPicPr>
          <p:nvPr/>
        </p:nvPicPr>
        <p:blipFill>
          <a:blip r:embed="rId2"/>
          <a:stretch>
            <a:fillRect/>
          </a:stretch>
        </p:blipFill>
        <p:spPr>
          <a:xfrm>
            <a:off x="5400621" y="2898648"/>
            <a:ext cx="1470007" cy="658368"/>
          </a:xfrm>
          <a:prstGeom prst="rect">
            <a:avLst/>
          </a:prstGeom>
        </p:spPr>
      </p:pic>
      <p:sp>
        <p:nvSpPr>
          <p:cNvPr id="22" name="Text 18"/>
          <p:cNvSpPr/>
          <p:nvPr/>
        </p:nvSpPr>
        <p:spPr>
          <a:xfrm>
            <a:off x="4645152" y="3877056"/>
            <a:ext cx="2980944" cy="685800"/>
          </a:xfrm>
          <a:prstGeom prst="rect">
            <a:avLst/>
          </a:prstGeom>
          <a:noFill/>
          <a:ln/>
        </p:spPr>
        <p:txBody>
          <a:bodyPr wrap="square" lIns="0" tIns="0" rIns="0" bIns="0" rtlCol="0" anchor="t"/>
          <a:lstStyle/>
          <a:p>
            <a:pPr indent="0" marL="0">
              <a:lnSpc>
                <a:spcPts val="1700"/>
              </a:lnSpc>
              <a:buNone/>
            </a:pPr>
            <a:r>
              <a:rPr lang="en-US" sz="1300" b="1" dirty="0">
                <a:solidFill>
                  <a:srgbClr val="000000"/>
                </a:solidFill>
                <a:latin typeface="Libre Franklin" pitchFamily="34" charset="0"/>
                <a:ea typeface="Libre Franklin" pitchFamily="34" charset="-122"/>
                <a:cs typeface="Libre Franklin" pitchFamily="34" charset="-120"/>
              </a:rPr>
              <a:t>Compares visits done this period to the busiest person on the team.</a:t>
            </a:r>
            <a:endParaRPr lang="en-US" sz="1300" dirty="0"/>
          </a:p>
        </p:txBody>
      </p:sp>
      <p:sp>
        <p:nvSpPr>
          <p:cNvPr id="23" name="Text 19"/>
          <p:cNvSpPr/>
          <p:nvPr/>
        </p:nvSpPr>
        <p:spPr>
          <a:xfrm>
            <a:off x="4645152" y="4626864"/>
            <a:ext cx="2980944" cy="1005840"/>
          </a:xfrm>
          <a:prstGeom prst="rect">
            <a:avLst/>
          </a:prstGeom>
          <a:noFill/>
          <a:ln/>
        </p:spPr>
        <p:txBody>
          <a:bodyPr wrap="square" lIns="0" tIns="0" rIns="0" bIns="0" rtlCol="0" anchor="t"/>
          <a:lstStyle/>
          <a:p>
            <a:pPr indent="0" marL="0">
              <a:lnSpc>
                <a:spcPts val="1600"/>
              </a:lnSpc>
              <a:buNone/>
            </a:pPr>
            <a:r>
              <a:rPr lang="en-US" sz="1200" dirty="0">
                <a:solidFill>
                  <a:srgbClr val="000000"/>
                </a:solidFill>
                <a:latin typeface="Libre Franklin Medium" pitchFamily="34" charset="0"/>
                <a:ea typeface="Libre Franklin Medium" pitchFamily="34" charset="-122"/>
                <a:cs typeface="Libre Franklin Medium" pitchFamily="34" charset="-120"/>
              </a:rPr>
              <a:t>The busiest person scores zero, so the load spreads out over a review period rather than a single week.</a:t>
            </a:r>
            <a:endParaRPr lang="en-US" sz="1200" dirty="0"/>
          </a:p>
        </p:txBody>
      </p:sp>
      <p:sp>
        <p:nvSpPr>
          <p:cNvPr id="24" name="Shape 20"/>
          <p:cNvSpPr/>
          <p:nvPr/>
        </p:nvSpPr>
        <p:spPr>
          <a:xfrm>
            <a:off x="8174736" y="1645920"/>
            <a:ext cx="3529584" cy="4160520"/>
          </a:xfrm>
          <a:prstGeom prst="roundRect">
            <a:avLst>
              <a:gd name="adj" fmla="val 4145"/>
            </a:avLst>
          </a:prstGeom>
          <a:solidFill>
            <a:srgbClr val="E6EEFC"/>
          </a:solidFill>
          <a:ln/>
        </p:spPr>
      </p:sp>
      <p:sp>
        <p:nvSpPr>
          <p:cNvPr id="25" name="Shape 21"/>
          <p:cNvSpPr/>
          <p:nvPr/>
        </p:nvSpPr>
        <p:spPr>
          <a:xfrm>
            <a:off x="8449056" y="1901952"/>
            <a:ext cx="475488" cy="475488"/>
          </a:xfrm>
          <a:prstGeom prst="ellipse">
            <a:avLst/>
          </a:prstGeom>
          <a:solidFill>
            <a:srgbClr val="F57F00"/>
          </a:solidFill>
          <a:ln/>
        </p:spPr>
      </p:sp>
      <p:sp>
        <p:nvSpPr>
          <p:cNvPr id="26" name="Text 22"/>
          <p:cNvSpPr/>
          <p:nvPr/>
        </p:nvSpPr>
        <p:spPr>
          <a:xfrm>
            <a:off x="8449056" y="1901952"/>
            <a:ext cx="475488" cy="475488"/>
          </a:xfrm>
          <a:prstGeom prst="rect">
            <a:avLst/>
          </a:prstGeom>
          <a:noFill/>
          <a:ln/>
        </p:spPr>
        <p:txBody>
          <a:bodyPr wrap="square" lIns="0" tIns="0" rIns="0" bIns="0" rtlCol="0" anchor="ctr"/>
          <a:lstStyle/>
          <a:p>
            <a:pPr algn="ctr" indent="0" marL="0">
              <a:buNone/>
            </a:pPr>
            <a:r>
              <a:rPr lang="en-US" sz="1900" b="1" dirty="0">
                <a:solidFill>
                  <a:srgbClr val="F4F4F6"/>
                </a:solidFill>
                <a:latin typeface="Libre Franklin" pitchFamily="34" charset="0"/>
                <a:ea typeface="Libre Franklin" pitchFamily="34" charset="-122"/>
                <a:cs typeface="Libre Franklin" pitchFamily="34" charset="-120"/>
              </a:rPr>
              <a:t>5</a:t>
            </a:r>
            <a:endParaRPr lang="en-US" sz="1900" dirty="0"/>
          </a:p>
        </p:txBody>
      </p:sp>
      <p:sp>
        <p:nvSpPr>
          <p:cNvPr id="27" name="Text 23"/>
          <p:cNvSpPr/>
          <p:nvPr/>
        </p:nvSpPr>
        <p:spPr>
          <a:xfrm>
            <a:off x="9034272" y="1901952"/>
            <a:ext cx="2395728" cy="475488"/>
          </a:xfrm>
          <a:prstGeom prst="rect">
            <a:avLst/>
          </a:prstGeom>
          <a:noFill/>
          <a:ln/>
        </p:spPr>
        <p:txBody>
          <a:bodyPr wrap="square" lIns="0" tIns="0" rIns="0" bIns="0" rtlCol="0" anchor="ctr"/>
          <a:lstStyle/>
          <a:p>
            <a:pPr indent="0" marL="0">
              <a:buNone/>
            </a:pPr>
            <a:r>
              <a:rPr lang="en-US" sz="1900" b="1" dirty="0">
                <a:solidFill>
                  <a:srgbClr val="3366FF"/>
                </a:solidFill>
                <a:latin typeface="Libre Franklin" pitchFamily="34" charset="0"/>
                <a:ea typeface="Libre Franklin" pitchFamily="34" charset="-122"/>
                <a:cs typeface="Libre Franklin" pitchFamily="34" charset="-120"/>
              </a:rPr>
              <a:t>Continuity</a:t>
            </a:r>
            <a:endParaRPr lang="en-US" sz="1900" dirty="0"/>
          </a:p>
        </p:txBody>
      </p:sp>
      <p:sp>
        <p:nvSpPr>
          <p:cNvPr id="28" name="Text 24"/>
          <p:cNvSpPr/>
          <p:nvPr/>
        </p:nvSpPr>
        <p:spPr>
          <a:xfrm>
            <a:off x="8449056" y="2395728"/>
            <a:ext cx="2980944" cy="237744"/>
          </a:xfrm>
          <a:prstGeom prst="rect">
            <a:avLst/>
          </a:prstGeom>
          <a:noFill/>
          <a:ln/>
        </p:spPr>
        <p:txBody>
          <a:bodyPr wrap="square" lIns="0" tIns="0" rIns="0" bIns="0" rtlCol="0" anchor="ctr"/>
          <a:lstStyle/>
          <a:p>
            <a:pPr indent="0" marL="0">
              <a:buNone/>
            </a:pPr>
            <a:r>
              <a:rPr lang="en-US" sz="1050" b="1" spc="80" kern="0" dirty="0">
                <a:solidFill>
                  <a:srgbClr val="F57F00"/>
                </a:solidFill>
                <a:latin typeface="Libre Franklin" pitchFamily="34" charset="0"/>
                <a:ea typeface="Libre Franklin" pitchFamily="34" charset="-122"/>
                <a:cs typeface="Libre Franklin" pitchFamily="34" charset="-120"/>
              </a:rPr>
              <a:t>weight 0.10</a:t>
            </a:r>
            <a:endParaRPr lang="en-US" sz="1050" dirty="0"/>
          </a:p>
        </p:txBody>
      </p:sp>
      <p:sp>
        <p:nvSpPr>
          <p:cNvPr id="29" name="Shape 25"/>
          <p:cNvSpPr/>
          <p:nvPr/>
        </p:nvSpPr>
        <p:spPr>
          <a:xfrm>
            <a:off x="8449056" y="2724912"/>
            <a:ext cx="2980944" cy="1005840"/>
          </a:xfrm>
          <a:prstGeom prst="roundRect">
            <a:avLst>
              <a:gd name="adj" fmla="val 9091"/>
            </a:avLst>
          </a:prstGeom>
          <a:solidFill>
            <a:srgbClr val="FFFFFF"/>
          </a:solidFill>
          <a:ln/>
        </p:spPr>
      </p:sp>
      <p:pic>
        <p:nvPicPr>
          <p:cNvPr id="30" name="Image 2" descr="/tmp/esd/math/continuity.png">    </p:cNvPr>
          <p:cNvPicPr>
            <a:picLocks noChangeAspect="1"/>
          </p:cNvPicPr>
          <p:nvPr/>
        </p:nvPicPr>
        <p:blipFill>
          <a:blip r:embed="rId3"/>
          <a:stretch>
            <a:fillRect/>
          </a:stretch>
        </p:blipFill>
        <p:spPr>
          <a:xfrm>
            <a:off x="8767045" y="2862072"/>
            <a:ext cx="2344966" cy="731520"/>
          </a:xfrm>
          <a:prstGeom prst="rect">
            <a:avLst/>
          </a:prstGeom>
        </p:spPr>
      </p:pic>
      <p:sp>
        <p:nvSpPr>
          <p:cNvPr id="31" name="Text 26"/>
          <p:cNvSpPr/>
          <p:nvPr/>
        </p:nvSpPr>
        <p:spPr>
          <a:xfrm>
            <a:off x="8449056" y="3877056"/>
            <a:ext cx="2980944" cy="685800"/>
          </a:xfrm>
          <a:prstGeom prst="rect">
            <a:avLst/>
          </a:prstGeom>
          <a:noFill/>
          <a:ln/>
        </p:spPr>
        <p:txBody>
          <a:bodyPr wrap="square" lIns="0" tIns="0" rIns="0" bIns="0" rtlCol="0" anchor="t"/>
          <a:lstStyle/>
          <a:p>
            <a:pPr indent="0" marL="0">
              <a:lnSpc>
                <a:spcPts val="1700"/>
              </a:lnSpc>
              <a:buNone/>
            </a:pPr>
            <a:r>
              <a:rPr lang="en-US" sz="1300" b="1" dirty="0">
                <a:solidFill>
                  <a:srgbClr val="000000"/>
                </a:solidFill>
                <a:latin typeface="Libre Franklin" pitchFamily="34" charset="0"/>
                <a:ea typeface="Libre Franklin" pitchFamily="34" charset="-122"/>
                <a:cs typeface="Libre Franklin" pitchFamily="34" charset="-120"/>
              </a:rPr>
              <a:t>A small fixed bonus, about 0.05, for doing the last checkpoint.</a:t>
            </a:r>
            <a:endParaRPr lang="en-US" sz="1300" dirty="0"/>
          </a:p>
        </p:txBody>
      </p:sp>
      <p:sp>
        <p:nvSpPr>
          <p:cNvPr id="32" name="Text 27"/>
          <p:cNvSpPr/>
          <p:nvPr/>
        </p:nvSpPr>
        <p:spPr>
          <a:xfrm>
            <a:off x="8449056" y="4626864"/>
            <a:ext cx="2980944" cy="1005840"/>
          </a:xfrm>
          <a:prstGeom prst="rect">
            <a:avLst/>
          </a:prstGeom>
          <a:noFill/>
          <a:ln/>
        </p:spPr>
        <p:txBody>
          <a:bodyPr wrap="square" lIns="0" tIns="0" rIns="0" bIns="0" rtlCol="0" anchor="t"/>
          <a:lstStyle/>
          <a:p>
            <a:pPr indent="0" marL="0">
              <a:lnSpc>
                <a:spcPts val="1600"/>
              </a:lnSpc>
              <a:buNone/>
            </a:pPr>
            <a:r>
              <a:rPr lang="en-US" sz="1200" dirty="0">
                <a:solidFill>
                  <a:srgbClr val="000000"/>
                </a:solidFill>
                <a:latin typeface="Libre Franklin Medium" pitchFamily="34" charset="0"/>
                <a:ea typeface="Libre Franklin Medium" pitchFamily="34" charset="-122"/>
                <a:cs typeface="Libre Franklin Medium" pitchFamily="34" charset="-120"/>
              </a:rPr>
              <a:t>Deliberately small. It nudges toward a familiar face without ever overturning a fair rotation on its own.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indent="0" marL="0">
              <a:buNone/>
            </a:pPr>
            <a:r>
              <a:rPr lang="en-US" sz="1100" b="1" spc="140" kern="0" dirty="0">
                <a:solidFill>
                  <a:srgbClr val="91BAF4"/>
                </a:solidFill>
                <a:latin typeface="Libre Franklin" pitchFamily="34" charset="0"/>
                <a:ea typeface="Libre Franklin" pitchFamily="34" charset="-122"/>
                <a:cs typeface="Libre Franklin" pitchFamily="34" charset="-120"/>
              </a:rPr>
              <a:t>WORKED EXAMPLE, STEP ONE</a:t>
            </a:r>
            <a:endParaRPr lang="en-US" sz="1100" dirty="0"/>
          </a:p>
        </p:txBody>
      </p:sp>
      <p:sp>
        <p:nvSpPr>
          <p:cNvPr id="3" name="Text 1"/>
          <p:cNvSpPr/>
          <p:nvPr/>
        </p:nvSpPr>
        <p:spPr>
          <a:xfrm>
            <a:off x="566928" y="658368"/>
            <a:ext cx="11064240" cy="566928"/>
          </a:xfrm>
          <a:prstGeom prst="rect">
            <a:avLst/>
          </a:prstGeom>
          <a:noFill/>
          <a:ln/>
        </p:spPr>
        <p:txBody>
          <a:bodyPr wrap="square" lIns="0" tIns="0" rIns="0" bIns="0" rtlCol="0" anchor="ctr"/>
          <a:lstStyle/>
          <a:p>
            <a:pPr indent="0" marL="0">
              <a:buNone/>
            </a:pPr>
            <a:r>
              <a:rPr lang="en-US" sz="3000" b="1" spc="-20" kern="0" dirty="0">
                <a:solidFill>
                  <a:srgbClr val="3366FF"/>
                </a:solidFill>
                <a:latin typeface="Libre Franklin" pitchFamily="34" charset="0"/>
                <a:ea typeface="Libre Franklin" pitchFamily="34" charset="-122"/>
                <a:cs typeface="Libre Franklin" pitchFamily="34" charset="-120"/>
              </a:rPr>
              <a:t>Two eligible people, side by side</a:t>
            </a:r>
            <a:endParaRPr lang="en-US" sz="3000" dirty="0"/>
          </a:p>
        </p:txBody>
      </p:sp>
      <p:sp>
        <p:nvSpPr>
          <p:cNvPr id="4" name="Text 2"/>
          <p:cNvSpPr/>
          <p:nvPr/>
        </p:nvSpPr>
        <p:spPr>
          <a:xfrm>
            <a:off x="566928" y="6382512"/>
            <a:ext cx="5486400" cy="256032"/>
          </a:xfrm>
          <a:prstGeom prst="rect">
            <a:avLst/>
          </a:prstGeom>
          <a:noFill/>
          <a:ln/>
        </p:spPr>
        <p:txBody>
          <a:bodyPr wrap="square" lIns="0" tIns="0" rIns="0" bIns="0" rtlCol="0" anchor="ctr"/>
          <a:lstStyle/>
          <a:p>
            <a:pPr algn="l" indent="0" marL="0">
              <a:buNone/>
            </a:pPr>
            <a:r>
              <a:rPr lang="en-US" sz="900" dirty="0">
                <a:solidFill>
                  <a:srgbClr val="91BAF4"/>
                </a:solidFill>
                <a:latin typeface="Libre Franklin Medium" pitchFamily="34" charset="0"/>
                <a:ea typeface="Libre Franklin Medium" pitchFamily="34" charset="-122"/>
                <a:cs typeface="Libre Franklin Medium" pitchFamily="34" charset="-120"/>
              </a:rPr>
              <a:t>The Early Social Development Lab at UofSC</a:t>
            </a:r>
            <a:endParaRPr lang="en-US" sz="900" dirty="0"/>
          </a:p>
        </p:txBody>
      </p:sp>
      <p:sp>
        <p:nvSpPr>
          <p:cNvPr id="5" name="Text 3"/>
          <p:cNvSpPr/>
          <p:nvPr/>
        </p:nvSpPr>
        <p:spPr>
          <a:xfrm>
            <a:off x="10984687" y="6382512"/>
            <a:ext cx="640080" cy="256032"/>
          </a:xfrm>
          <a:prstGeom prst="rect">
            <a:avLst/>
          </a:prstGeom>
          <a:noFill/>
          <a:ln/>
        </p:spPr>
        <p:txBody>
          <a:bodyPr wrap="square" lIns="0" tIns="0" rIns="0" bIns="0" rtlCol="0" anchor="ctr"/>
          <a:lstStyle/>
          <a:p>
            <a:pPr algn="r" indent="0" marL="0">
              <a:buNone/>
            </a:pPr>
            <a:r>
              <a:rPr lang="en-US" sz="900" dirty="0">
                <a:solidFill>
                  <a:srgbClr val="91BAF4"/>
                </a:solidFill>
                <a:latin typeface="Libre Franklin Medium" pitchFamily="34" charset="0"/>
                <a:ea typeface="Libre Franklin Medium" pitchFamily="34" charset="-122"/>
                <a:cs typeface="Libre Franklin Medium" pitchFamily="34" charset="-120"/>
              </a:rPr>
              <a:t>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7498080" cy="914400"/>
        </p:xfrm>
        <a:graphic>
          <a:graphicData uri="http://schemas.openxmlformats.org/drawingml/2006/table">
            <a:tbl>
              <a:tblPr/>
              <a:tblGrid>
                <a:gridCol w="3383280"/>
                <a:gridCol w="1371600"/>
                <a:gridCol w="1371600"/>
                <a:gridCol w="1371600"/>
              </a:tblGrid>
              <a:tr h="365760">
                <a:tc>
                  <a:txBody>
                    <a:bodyPr/>
                    <a:lstStyle/>
                    <a:p>
                      <a:pPr indent="0" marL="0">
                        <a:buNone/>
                      </a:pPr>
                      <a:r>
                        <a:rPr lang="en-US" sz="1250" b="1" dirty="0">
                          <a:solidFill>
                            <a:srgbClr val="F4F4F6"/>
                          </a:solidFill>
                          <a:latin typeface="Libre Franklin" pitchFamily="34" charset="0"/>
                          <a:ea typeface="Libre Franklin" pitchFamily="34" charset="-122"/>
                          <a:cs typeface="Libre Franklin" pitchFamily="34" charset="-120"/>
                        </a:rPr>
                        <a:t>What we measure</a:t>
                      </a:r>
                      <a:endParaRPr lang="en-US" sz="1250" dirty="0">
                        <a:latin typeface="Libre Franklin" charset="0"/>
                        <a:ea typeface="Libre Franklin" charset="0"/>
                        <a:cs typeface="Libre Franklin"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250" b="1" dirty="0">
                          <a:solidFill>
                            <a:srgbClr val="F4F4F6"/>
                          </a:solidFill>
                          <a:latin typeface="Libre Franklin" pitchFamily="34" charset="0"/>
                          <a:ea typeface="Libre Franklin" pitchFamily="34" charset="-122"/>
                          <a:cs typeface="Libre Franklin" pitchFamily="34" charset="-120"/>
                        </a:rPr>
                        <a:t>Candidate A</a:t>
                      </a:r>
                      <a:endParaRPr lang="en-US" sz="1250" dirty="0">
                        <a:latin typeface="Libre Franklin" charset="0"/>
                        <a:ea typeface="Libre Franklin" charset="0"/>
                        <a:cs typeface="Libre Franklin"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250" b="1" dirty="0">
                          <a:solidFill>
                            <a:srgbClr val="F4F4F6"/>
                          </a:solidFill>
                          <a:latin typeface="Libre Franklin" pitchFamily="34" charset="0"/>
                          <a:ea typeface="Libre Franklin" pitchFamily="34" charset="-122"/>
                          <a:cs typeface="Libre Franklin" pitchFamily="34" charset="-120"/>
                        </a:rPr>
                        <a:t>Candidate B</a:t>
                      </a:r>
                      <a:endParaRPr lang="en-US" sz="1250" dirty="0">
                        <a:latin typeface="Libre Franklin" charset="0"/>
                        <a:ea typeface="Libre Franklin" charset="0"/>
                        <a:cs typeface="Libre Franklin"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250" b="1" dirty="0">
                          <a:solidFill>
                            <a:srgbClr val="F4F4F6"/>
                          </a:solidFill>
                          <a:latin typeface="Libre Franklin" pitchFamily="34" charset="0"/>
                          <a:ea typeface="Libre Franklin" pitchFamily="34" charset="-122"/>
                          <a:cs typeface="Libre Franklin" pitchFamily="34" charset="-120"/>
                        </a:rPr>
                        <a:t>Who it favours</a:t>
                      </a:r>
                      <a:endParaRPr lang="en-US" sz="1250" dirty="0">
                        <a:latin typeface="Libre Franklin" charset="0"/>
                        <a:ea typeface="Libre Franklin" charset="0"/>
                        <a:cs typeface="Libre Franklin"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3366FF"/>
                    </a:solidFill>
                  </a:tcPr>
                </a:tc>
              </a:tr>
              <a:tr h="324612">
                <a:tc>
                  <a:txBody>
                    <a:bodyPr/>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Days since last assignment</a:t>
                      </a:r>
                      <a:endParaRPr lang="en-US" sz="1150" dirty="0">
                        <a:latin typeface="Libre Franklin Medium" charset="0"/>
                        <a:ea typeface="Libre Franklin Medium" charset="0"/>
                        <a:cs typeface="Libre Franklin Medium"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4F4F6"/>
                    </a:solidFill>
                  </a:tcPr>
                </a:tc>
                <a:tc>
                  <a:txBody>
                    <a:bodyPr/>
                    <a:lstStyle/>
                    <a:p>
                      <a:pPr algn="ct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5</a:t>
                      </a:r>
                      <a:endParaRPr lang="en-US" sz="1150" dirty="0">
                        <a:latin typeface="Libre Franklin Medium" charset="0"/>
                        <a:ea typeface="Libre Franklin Medium" charset="0"/>
                        <a:cs typeface="Libre Franklin Medium"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4F4F6"/>
                    </a:solidFill>
                  </a:tcPr>
                </a:tc>
                <a:tc>
                  <a:txBody>
                    <a:bodyPr/>
                    <a:lstStyle/>
                    <a:p>
                      <a:pPr algn="ct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20</a:t>
                      </a:r>
                      <a:endParaRPr lang="en-US" sz="1150" dirty="0">
                        <a:latin typeface="Libre Franklin Medium" charset="0"/>
                        <a:ea typeface="Libre Franklin Medium" charset="0"/>
                        <a:cs typeface="Libre Franklin Medium"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4F4F6"/>
                    </a:solidFill>
                  </a:tcPr>
                </a:tc>
                <a:tc>
                  <a:txBody>
                    <a:bodyPr/>
                    <a:lstStyle/>
                    <a:p>
                      <a:pPr algn="ctr" indent="0" marL="0">
                        <a:buNone/>
                      </a:pPr>
                      <a:r>
                        <a:rPr lang="en-US" sz="1150" b="1" dirty="0">
                          <a:solidFill>
                            <a:srgbClr val="3366FF"/>
                          </a:solidFill>
                          <a:latin typeface="Libre Franklin" pitchFamily="34" charset="0"/>
                          <a:ea typeface="Libre Franklin" pitchFamily="34" charset="-122"/>
                          <a:cs typeface="Libre Franklin" pitchFamily="34" charset="-120"/>
                        </a:rPr>
                        <a:t>B</a:t>
                      </a:r>
                      <a:endParaRPr lang="en-US" sz="1150" dirty="0">
                        <a:latin typeface="Libre Franklin" charset="0"/>
                        <a:ea typeface="Libre Franklin" charset="0"/>
                        <a:cs typeface="Libre Franklin"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4F4F6"/>
                    </a:solidFill>
                  </a:tcPr>
                </a:tc>
              </a:tr>
              <a:tr h="324612">
                <a:tc>
                  <a:txBody>
                    <a:bodyPr/>
                    <a:lstStyle/>
                    <a:p>
                      <a:pPr indent="0" marL="0">
                        <a:buNone/>
                      </a:pPr>
                      <a:r>
                        <a:rPr lang="en-US" sz="1150" b="1" dirty="0">
                          <a:solidFill>
                            <a:srgbClr val="3366FF"/>
                          </a:solidFill>
                          <a:latin typeface="Libre Franklin" pitchFamily="34" charset="0"/>
                          <a:ea typeface="Libre Franklin" pitchFamily="34" charset="-122"/>
                          <a:cs typeface="Libre Franklin" pitchFamily="34" charset="-120"/>
                        </a:rPr>
                        <a:t>Recency score</a:t>
                      </a:r>
                      <a:endParaRPr lang="en-US" sz="1150" dirty="0">
                        <a:latin typeface="Libre Franklin" charset="0"/>
                        <a:ea typeface="Libre Franklin" charset="0"/>
                        <a:cs typeface="Libre Franklin"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00000"/>
                          </a:solidFill>
                          <a:latin typeface="Libre Franklin Medium" pitchFamily="34" charset="0"/>
                          <a:ea typeface="Libre Franklin Medium" pitchFamily="34" charset="-122"/>
                          <a:cs typeface="Libre Franklin Medium" pitchFamily="34" charset="-120"/>
                        </a:rPr>
                        <a:t>0.056</a:t>
                      </a:r>
                      <a:endParaRPr lang="en-US" sz="1150" dirty="0">
                        <a:latin typeface="Libre Franklin Medium" charset="0"/>
                        <a:ea typeface="Libre Franklin Medium" charset="0"/>
                        <a:cs typeface="Libre Franklin Medium"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00000"/>
                          </a:solidFill>
                          <a:latin typeface="Libre Franklin Medium" pitchFamily="34" charset="0"/>
                          <a:ea typeface="Libre Franklin Medium" pitchFamily="34" charset="-122"/>
                          <a:cs typeface="Libre Franklin Medium" pitchFamily="34" charset="-120"/>
                        </a:rPr>
                        <a:t>0.222</a:t>
                      </a:r>
                      <a:endParaRPr lang="en-US" sz="1150" dirty="0">
                        <a:latin typeface="Libre Franklin Medium" charset="0"/>
                        <a:ea typeface="Libre Franklin Medium" charset="0"/>
                        <a:cs typeface="Libre Franklin Medium"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3366FF"/>
                          </a:solidFill>
                          <a:latin typeface="Libre Franklin" pitchFamily="34" charset="0"/>
                          <a:ea typeface="Libre Franklin" pitchFamily="34" charset="-122"/>
                          <a:cs typeface="Libre Franklin" pitchFamily="34" charset="-120"/>
                        </a:rPr>
                        <a:t>B</a:t>
                      </a:r>
                      <a:endParaRPr lang="en-US" sz="1150" dirty="0">
                        <a:latin typeface="Libre Franklin" charset="0"/>
                        <a:ea typeface="Libre Franklin" charset="0"/>
                        <a:cs typeface="Libre Franklin"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FFFFF"/>
                    </a:solidFill>
                  </a:tcPr>
                </a:tc>
              </a:tr>
              <a:tr h="324612">
                <a:tc>
                  <a:txBody>
                    <a:bodyPr/>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Past visits with this family</a:t>
                      </a:r>
                      <a:endParaRPr lang="en-US" sz="1150" dirty="0">
                        <a:latin typeface="Libre Franklin Medium" charset="0"/>
                        <a:ea typeface="Libre Franklin Medium" charset="0"/>
                        <a:cs typeface="Libre Franklin Medium"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4F4F6"/>
                    </a:solidFill>
                  </a:tcPr>
                </a:tc>
                <a:tc>
                  <a:txBody>
                    <a:bodyPr/>
                    <a:lstStyle/>
                    <a:p>
                      <a:pPr algn="ct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1</a:t>
                      </a:r>
                      <a:endParaRPr lang="en-US" sz="1150" dirty="0">
                        <a:latin typeface="Libre Franklin Medium" charset="0"/>
                        <a:ea typeface="Libre Franklin Medium" charset="0"/>
                        <a:cs typeface="Libre Franklin Medium"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4F4F6"/>
                    </a:solidFill>
                  </a:tcPr>
                </a:tc>
                <a:tc>
                  <a:txBody>
                    <a:bodyPr/>
                    <a:lstStyle/>
                    <a:p>
                      <a:pPr algn="ct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0</a:t>
                      </a:r>
                      <a:endParaRPr lang="en-US" sz="1150" dirty="0">
                        <a:latin typeface="Libre Franklin Medium" charset="0"/>
                        <a:ea typeface="Libre Franklin Medium" charset="0"/>
                        <a:cs typeface="Libre Franklin Medium"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4F4F6"/>
                    </a:solidFill>
                  </a:tcPr>
                </a:tc>
                <a:tc>
                  <a:txBody>
                    <a:bodyPr/>
                    <a:lstStyle/>
                    <a:p>
                      <a:pPr algn="ctr" indent="0" marL="0">
                        <a:buNone/>
                      </a:pPr>
                      <a:r>
                        <a:rPr lang="en-US" sz="1150" b="1" dirty="0">
                          <a:solidFill>
                            <a:srgbClr val="F57F00"/>
                          </a:solidFill>
                          <a:latin typeface="Libre Franklin" pitchFamily="34" charset="0"/>
                          <a:ea typeface="Libre Franklin" pitchFamily="34" charset="-122"/>
                          <a:cs typeface="Libre Franklin" pitchFamily="34" charset="-120"/>
                        </a:rPr>
                        <a:t>A</a:t>
                      </a:r>
                      <a:endParaRPr lang="en-US" sz="1150" dirty="0">
                        <a:latin typeface="Libre Franklin" charset="0"/>
                        <a:ea typeface="Libre Franklin" charset="0"/>
                        <a:cs typeface="Libre Franklin"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4F4F6"/>
                    </a:solidFill>
                  </a:tcPr>
                </a:tc>
              </a:tr>
              <a:tr h="324612">
                <a:tc>
                  <a:txBody>
                    <a:bodyPr/>
                    <a:lstStyle/>
                    <a:p>
                      <a:pPr indent="0" marL="0">
                        <a:buNone/>
                      </a:pPr>
                      <a:r>
                        <a:rPr lang="en-US" sz="1150" b="1" dirty="0">
                          <a:solidFill>
                            <a:srgbClr val="3366FF"/>
                          </a:solidFill>
                          <a:latin typeface="Libre Franklin" pitchFamily="34" charset="0"/>
                          <a:ea typeface="Libre Franklin" pitchFamily="34" charset="-122"/>
                          <a:cs typeface="Libre Franklin" pitchFamily="34" charset="-120"/>
                        </a:rPr>
                        <a:t>Family history score (flag is plus one)</a:t>
                      </a:r>
                      <a:endParaRPr lang="en-US" sz="1150" dirty="0">
                        <a:latin typeface="Libre Franklin" charset="0"/>
                        <a:ea typeface="Libre Franklin" charset="0"/>
                        <a:cs typeface="Libre Franklin"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00000"/>
                          </a:solidFill>
                          <a:latin typeface="Libre Franklin Medium" pitchFamily="34" charset="0"/>
                          <a:ea typeface="Libre Franklin Medium" pitchFamily="34" charset="-122"/>
                          <a:cs typeface="Libre Franklin Medium" pitchFamily="34" charset="-120"/>
                        </a:rPr>
                        <a:t>0.500</a:t>
                      </a:r>
                      <a:endParaRPr lang="en-US" sz="1150" dirty="0">
                        <a:latin typeface="Libre Franklin Medium" charset="0"/>
                        <a:ea typeface="Libre Franklin Medium" charset="0"/>
                        <a:cs typeface="Libre Franklin Medium"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00000"/>
                          </a:solidFill>
                          <a:latin typeface="Libre Franklin Medium" pitchFamily="34" charset="0"/>
                          <a:ea typeface="Libre Franklin Medium" pitchFamily="34" charset="-122"/>
                          <a:cs typeface="Libre Franklin Medium" pitchFamily="34" charset="-120"/>
                        </a:rPr>
                        <a:t>1.000</a:t>
                      </a:r>
                      <a:endParaRPr lang="en-US" sz="1150" dirty="0">
                        <a:latin typeface="Libre Franklin Medium" charset="0"/>
                        <a:ea typeface="Libre Franklin Medium" charset="0"/>
                        <a:cs typeface="Libre Franklin Medium"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3366FF"/>
                          </a:solidFill>
                          <a:latin typeface="Libre Franklin" pitchFamily="34" charset="0"/>
                          <a:ea typeface="Libre Franklin" pitchFamily="34" charset="-122"/>
                          <a:cs typeface="Libre Franklin" pitchFamily="34" charset="-120"/>
                        </a:rPr>
                        <a:t>B</a:t>
                      </a:r>
                      <a:endParaRPr lang="en-US" sz="1150" dirty="0">
                        <a:latin typeface="Libre Franklin" charset="0"/>
                        <a:ea typeface="Libre Franklin" charset="0"/>
                        <a:cs typeface="Libre Franklin"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FFFFF"/>
                    </a:solidFill>
                  </a:tcPr>
                </a:tc>
              </a:tr>
              <a:tr h="324612">
                <a:tc>
                  <a:txBody>
                    <a:bodyPr/>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Round trip miles</a:t>
                      </a:r>
                      <a:endParaRPr lang="en-US" sz="1150" dirty="0">
                        <a:latin typeface="Libre Franklin Medium" charset="0"/>
                        <a:ea typeface="Libre Franklin Medium" charset="0"/>
                        <a:cs typeface="Libre Franklin Medium"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4F4F6"/>
                    </a:solidFill>
                  </a:tcPr>
                </a:tc>
                <a:tc>
                  <a:txBody>
                    <a:bodyPr/>
                    <a:lstStyle/>
                    <a:p>
                      <a:pPr algn="ct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8</a:t>
                      </a:r>
                      <a:endParaRPr lang="en-US" sz="1150" dirty="0">
                        <a:latin typeface="Libre Franklin Medium" charset="0"/>
                        <a:ea typeface="Libre Franklin Medium" charset="0"/>
                        <a:cs typeface="Libre Franklin Medium"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4F4F6"/>
                    </a:solidFill>
                  </a:tcPr>
                </a:tc>
                <a:tc>
                  <a:txBody>
                    <a:bodyPr/>
                    <a:lstStyle/>
                    <a:p>
                      <a:pPr algn="ct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22</a:t>
                      </a:r>
                      <a:endParaRPr lang="en-US" sz="1150" dirty="0">
                        <a:latin typeface="Libre Franklin Medium" charset="0"/>
                        <a:ea typeface="Libre Franklin Medium" charset="0"/>
                        <a:cs typeface="Libre Franklin Medium"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4F4F6"/>
                    </a:solidFill>
                  </a:tcPr>
                </a:tc>
                <a:tc>
                  <a:txBody>
                    <a:bodyPr/>
                    <a:lstStyle/>
                    <a:p>
                      <a:pPr algn="ctr" indent="0" marL="0">
                        <a:buNone/>
                      </a:pPr>
                      <a:r>
                        <a:rPr lang="en-US" sz="1150" b="1" dirty="0">
                          <a:solidFill>
                            <a:srgbClr val="F57F00"/>
                          </a:solidFill>
                          <a:latin typeface="Libre Franklin" pitchFamily="34" charset="0"/>
                          <a:ea typeface="Libre Franklin" pitchFamily="34" charset="-122"/>
                          <a:cs typeface="Libre Franklin" pitchFamily="34" charset="-120"/>
                        </a:rPr>
                        <a:t>A</a:t>
                      </a:r>
                      <a:endParaRPr lang="en-US" sz="1150" dirty="0">
                        <a:latin typeface="Libre Franklin" charset="0"/>
                        <a:ea typeface="Libre Franklin" charset="0"/>
                        <a:cs typeface="Libre Franklin"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4F4F6"/>
                    </a:solidFill>
                  </a:tcPr>
                </a:tc>
              </a:tr>
              <a:tr h="324612">
                <a:tc>
                  <a:txBody>
                    <a:bodyPr/>
                    <a:lstStyle/>
                    <a:p>
                      <a:pPr indent="0" marL="0">
                        <a:buNone/>
                      </a:pPr>
                      <a:r>
                        <a:rPr lang="en-US" sz="1150" b="1" dirty="0">
                          <a:solidFill>
                            <a:srgbClr val="3366FF"/>
                          </a:solidFill>
                          <a:latin typeface="Libre Franklin" pitchFamily="34" charset="0"/>
                          <a:ea typeface="Libre Franklin" pitchFamily="34" charset="-122"/>
                          <a:cs typeface="Libre Franklin" pitchFamily="34" charset="-120"/>
                        </a:rPr>
                        <a:t>Travel score</a:t>
                      </a:r>
                      <a:endParaRPr lang="en-US" sz="1150" dirty="0">
                        <a:latin typeface="Libre Franklin" charset="0"/>
                        <a:ea typeface="Libre Franklin" charset="0"/>
                        <a:cs typeface="Libre Franklin"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00000"/>
                          </a:solidFill>
                          <a:latin typeface="Libre Franklin Medium" pitchFamily="34" charset="0"/>
                          <a:ea typeface="Libre Franklin Medium" pitchFamily="34" charset="-122"/>
                          <a:cs typeface="Libre Franklin Medium" pitchFamily="34" charset="-120"/>
                        </a:rPr>
                        <a:t>0.636</a:t>
                      </a:r>
                      <a:endParaRPr lang="en-US" sz="1150" dirty="0">
                        <a:latin typeface="Libre Franklin Medium" charset="0"/>
                        <a:ea typeface="Libre Franklin Medium" charset="0"/>
                        <a:cs typeface="Libre Franklin Medium"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00000"/>
                          </a:solidFill>
                          <a:latin typeface="Libre Franklin Medium" pitchFamily="34" charset="0"/>
                          <a:ea typeface="Libre Franklin Medium" pitchFamily="34" charset="-122"/>
                          <a:cs typeface="Libre Franklin Medium" pitchFamily="34" charset="-120"/>
                        </a:rPr>
                        <a:t>0.000</a:t>
                      </a:r>
                      <a:endParaRPr lang="en-US" sz="1150" dirty="0">
                        <a:latin typeface="Libre Franklin Medium" charset="0"/>
                        <a:ea typeface="Libre Franklin Medium" charset="0"/>
                        <a:cs typeface="Libre Franklin Medium"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57F00"/>
                          </a:solidFill>
                          <a:latin typeface="Libre Franklin" pitchFamily="34" charset="0"/>
                          <a:ea typeface="Libre Franklin" pitchFamily="34" charset="-122"/>
                          <a:cs typeface="Libre Franklin" pitchFamily="34" charset="-120"/>
                        </a:rPr>
                        <a:t>A</a:t>
                      </a:r>
                      <a:endParaRPr lang="en-US" sz="1150" dirty="0">
                        <a:latin typeface="Libre Franklin" charset="0"/>
                        <a:ea typeface="Libre Franklin" charset="0"/>
                        <a:cs typeface="Libre Franklin"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FFFFF"/>
                    </a:solidFill>
                  </a:tcPr>
                </a:tc>
              </a:tr>
              <a:tr h="324612">
                <a:tc>
                  <a:txBody>
                    <a:bodyPr/>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Visits already this period</a:t>
                      </a:r>
                      <a:endParaRPr lang="en-US" sz="1150" dirty="0">
                        <a:latin typeface="Libre Franklin Medium" charset="0"/>
                        <a:ea typeface="Libre Franklin Medium" charset="0"/>
                        <a:cs typeface="Libre Franklin Medium"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4F4F6"/>
                    </a:solidFill>
                  </a:tcPr>
                </a:tc>
                <a:tc>
                  <a:txBody>
                    <a:bodyPr/>
                    <a:lstStyle/>
                    <a:p>
                      <a:pPr algn="ct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6</a:t>
                      </a:r>
                      <a:endParaRPr lang="en-US" sz="1150" dirty="0">
                        <a:latin typeface="Libre Franklin Medium" charset="0"/>
                        <a:ea typeface="Libre Franklin Medium" charset="0"/>
                        <a:cs typeface="Libre Franklin Medium"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4F4F6"/>
                    </a:solidFill>
                  </a:tcPr>
                </a:tc>
                <a:tc>
                  <a:txBody>
                    <a:bodyPr/>
                    <a:lstStyle/>
                    <a:p>
                      <a:pPr algn="ct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3</a:t>
                      </a:r>
                      <a:endParaRPr lang="en-US" sz="1150" dirty="0">
                        <a:latin typeface="Libre Franklin Medium" charset="0"/>
                        <a:ea typeface="Libre Franklin Medium" charset="0"/>
                        <a:cs typeface="Libre Franklin Medium"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4F4F6"/>
                    </a:solidFill>
                  </a:tcPr>
                </a:tc>
                <a:tc>
                  <a:txBody>
                    <a:bodyPr/>
                    <a:lstStyle/>
                    <a:p>
                      <a:pPr algn="ctr" indent="0" marL="0">
                        <a:buNone/>
                      </a:pPr>
                      <a:r>
                        <a:rPr lang="en-US" sz="1150" b="1" dirty="0">
                          <a:solidFill>
                            <a:srgbClr val="3366FF"/>
                          </a:solidFill>
                          <a:latin typeface="Libre Franklin" pitchFamily="34" charset="0"/>
                          <a:ea typeface="Libre Franklin" pitchFamily="34" charset="-122"/>
                          <a:cs typeface="Libre Franklin" pitchFamily="34" charset="-120"/>
                        </a:rPr>
                        <a:t>B</a:t>
                      </a:r>
                      <a:endParaRPr lang="en-US" sz="1150" dirty="0">
                        <a:latin typeface="Libre Franklin" charset="0"/>
                        <a:ea typeface="Libre Franklin" charset="0"/>
                        <a:cs typeface="Libre Franklin"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4F4F6"/>
                    </a:solidFill>
                  </a:tcPr>
                </a:tc>
              </a:tr>
              <a:tr h="324612">
                <a:tc>
                  <a:txBody>
                    <a:bodyPr/>
                    <a:lstStyle/>
                    <a:p>
                      <a:pPr indent="0" marL="0">
                        <a:buNone/>
                      </a:pPr>
                      <a:r>
                        <a:rPr lang="en-US" sz="1150" b="1" dirty="0">
                          <a:solidFill>
                            <a:srgbClr val="3366FF"/>
                          </a:solidFill>
                          <a:latin typeface="Libre Franklin" pitchFamily="34" charset="0"/>
                          <a:ea typeface="Libre Franklin" pitchFamily="34" charset="-122"/>
                          <a:cs typeface="Libre Franklin" pitchFamily="34" charset="-120"/>
                        </a:rPr>
                        <a:t>Workload score</a:t>
                      </a:r>
                      <a:endParaRPr lang="en-US" sz="1150" dirty="0">
                        <a:latin typeface="Libre Franklin" charset="0"/>
                        <a:ea typeface="Libre Franklin" charset="0"/>
                        <a:cs typeface="Libre Franklin"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00000"/>
                          </a:solidFill>
                          <a:latin typeface="Libre Franklin Medium" pitchFamily="34" charset="0"/>
                          <a:ea typeface="Libre Franklin Medium" pitchFamily="34" charset="-122"/>
                          <a:cs typeface="Libre Franklin Medium" pitchFamily="34" charset="-120"/>
                        </a:rPr>
                        <a:t>0.000</a:t>
                      </a:r>
                      <a:endParaRPr lang="en-US" sz="1150" dirty="0">
                        <a:latin typeface="Libre Franklin Medium" charset="0"/>
                        <a:ea typeface="Libre Franklin Medium" charset="0"/>
                        <a:cs typeface="Libre Franklin Medium"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00000"/>
                          </a:solidFill>
                          <a:latin typeface="Libre Franklin Medium" pitchFamily="34" charset="0"/>
                          <a:ea typeface="Libre Franklin Medium" pitchFamily="34" charset="-122"/>
                          <a:cs typeface="Libre Franklin Medium" pitchFamily="34" charset="-120"/>
                        </a:rPr>
                        <a:t>0.500</a:t>
                      </a:r>
                      <a:endParaRPr lang="en-US" sz="1150" dirty="0">
                        <a:latin typeface="Libre Franklin Medium" charset="0"/>
                        <a:ea typeface="Libre Franklin Medium" charset="0"/>
                        <a:cs typeface="Libre Franklin Medium"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3366FF"/>
                          </a:solidFill>
                          <a:latin typeface="Libre Franklin" pitchFamily="34" charset="0"/>
                          <a:ea typeface="Libre Franklin" pitchFamily="34" charset="-122"/>
                          <a:cs typeface="Libre Franklin" pitchFamily="34" charset="-120"/>
                        </a:rPr>
                        <a:t>B</a:t>
                      </a:r>
                      <a:endParaRPr lang="en-US" sz="1150" dirty="0">
                        <a:latin typeface="Libre Franklin" charset="0"/>
                        <a:ea typeface="Libre Franklin" charset="0"/>
                        <a:cs typeface="Libre Franklin"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FFFFF"/>
                    </a:solidFill>
                  </a:tcPr>
                </a:tc>
              </a:tr>
              <a:tr h="324612">
                <a:tc>
                  <a:txBody>
                    <a:bodyPr/>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Did the previous checkpoint</a:t>
                      </a:r>
                      <a:endParaRPr lang="en-US" sz="1150" dirty="0">
                        <a:latin typeface="Libre Franklin Medium" charset="0"/>
                        <a:ea typeface="Libre Franklin Medium" charset="0"/>
                        <a:cs typeface="Libre Franklin Medium"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4F4F6"/>
                    </a:solidFill>
                  </a:tcPr>
                </a:tc>
                <a:tc>
                  <a:txBody>
                    <a:bodyPr/>
                    <a:lstStyle/>
                    <a:p>
                      <a:pPr algn="ct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Yes</a:t>
                      </a:r>
                      <a:endParaRPr lang="en-US" sz="1150" dirty="0">
                        <a:latin typeface="Libre Franklin Medium" charset="0"/>
                        <a:ea typeface="Libre Franklin Medium" charset="0"/>
                        <a:cs typeface="Libre Franklin Medium"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4F4F6"/>
                    </a:solidFill>
                  </a:tcPr>
                </a:tc>
                <a:tc>
                  <a:txBody>
                    <a:bodyPr/>
                    <a:lstStyle/>
                    <a:p>
                      <a:pPr algn="ct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No</a:t>
                      </a:r>
                      <a:endParaRPr lang="en-US" sz="1150" dirty="0">
                        <a:latin typeface="Libre Franklin Medium" charset="0"/>
                        <a:ea typeface="Libre Franklin Medium" charset="0"/>
                        <a:cs typeface="Libre Franklin Medium"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4F4F6"/>
                    </a:solidFill>
                  </a:tcPr>
                </a:tc>
                <a:tc>
                  <a:txBody>
                    <a:bodyPr/>
                    <a:lstStyle/>
                    <a:p>
                      <a:pPr algn="ctr" indent="0" marL="0">
                        <a:buNone/>
                      </a:pPr>
                      <a:r>
                        <a:rPr lang="en-US" sz="1150" b="1" dirty="0">
                          <a:solidFill>
                            <a:srgbClr val="F57F00"/>
                          </a:solidFill>
                          <a:latin typeface="Libre Franklin" pitchFamily="34" charset="0"/>
                          <a:ea typeface="Libre Franklin" pitchFamily="34" charset="-122"/>
                          <a:cs typeface="Libre Franklin" pitchFamily="34" charset="-120"/>
                        </a:rPr>
                        <a:t>A</a:t>
                      </a:r>
                      <a:endParaRPr lang="en-US" sz="1150" dirty="0">
                        <a:latin typeface="Libre Franklin" charset="0"/>
                        <a:ea typeface="Libre Franklin" charset="0"/>
                        <a:cs typeface="Libre Franklin"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4F4F6"/>
                    </a:solidFill>
                  </a:tcPr>
                </a:tc>
              </a:tr>
              <a:tr h="324612">
                <a:tc>
                  <a:txBody>
                    <a:bodyPr/>
                    <a:lstStyle/>
                    <a:p>
                      <a:pPr indent="0" marL="0">
                        <a:buNone/>
                      </a:pPr>
                      <a:r>
                        <a:rPr lang="en-US" sz="1150" b="1" dirty="0">
                          <a:solidFill>
                            <a:srgbClr val="3366FF"/>
                          </a:solidFill>
                          <a:latin typeface="Libre Franklin" pitchFamily="34" charset="0"/>
                          <a:ea typeface="Libre Franklin" pitchFamily="34" charset="-122"/>
                          <a:cs typeface="Libre Franklin" pitchFamily="34" charset="-120"/>
                        </a:rPr>
                        <a:t>Continuity bonus</a:t>
                      </a:r>
                      <a:endParaRPr lang="en-US" sz="1150" dirty="0">
                        <a:latin typeface="Libre Franklin" charset="0"/>
                        <a:ea typeface="Libre Franklin" charset="0"/>
                        <a:cs typeface="Libre Franklin"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00000"/>
                          </a:solidFill>
                          <a:latin typeface="Libre Franklin Medium" pitchFamily="34" charset="0"/>
                          <a:ea typeface="Libre Franklin Medium" pitchFamily="34" charset="-122"/>
                          <a:cs typeface="Libre Franklin Medium" pitchFamily="34" charset="-120"/>
                        </a:rPr>
                        <a:t>0.050</a:t>
                      </a:r>
                      <a:endParaRPr lang="en-US" sz="1150" dirty="0">
                        <a:latin typeface="Libre Franklin Medium" charset="0"/>
                        <a:ea typeface="Libre Franklin Medium" charset="0"/>
                        <a:cs typeface="Libre Franklin Medium"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00000"/>
                          </a:solidFill>
                          <a:latin typeface="Libre Franklin Medium" pitchFamily="34" charset="0"/>
                          <a:ea typeface="Libre Franklin Medium" pitchFamily="34" charset="-122"/>
                          <a:cs typeface="Libre Franklin Medium" pitchFamily="34" charset="-120"/>
                        </a:rPr>
                        <a:t>0.000</a:t>
                      </a:r>
                      <a:endParaRPr lang="en-US" sz="1150" dirty="0">
                        <a:latin typeface="Libre Franklin Medium" charset="0"/>
                        <a:ea typeface="Libre Franklin Medium" charset="0"/>
                        <a:cs typeface="Libre Franklin Medium"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57F00"/>
                          </a:solidFill>
                          <a:latin typeface="Libre Franklin" pitchFamily="34" charset="0"/>
                          <a:ea typeface="Libre Franklin" pitchFamily="34" charset="-122"/>
                          <a:cs typeface="Libre Franklin" pitchFamily="34" charset="-120"/>
                        </a:rPr>
                        <a:t>A</a:t>
                      </a:r>
                      <a:endParaRPr lang="en-US" sz="1150" dirty="0">
                        <a:latin typeface="Libre Franklin" charset="0"/>
                        <a:ea typeface="Libre Franklin" charset="0"/>
                        <a:cs typeface="Libre Franklin" charset="0"/>
                      </a:endParaRPr>
                    </a:p>
                  </a:txBody>
                  <a:tcPr marL="88900" marR="88900" marT="25400" marB="254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FFFFF"/>
                    </a:solidFill>
                  </a:tcPr>
                </a:tc>
              </a:tr>
            </a:tbl>
          </a:graphicData>
        </a:graphic>
      </p:graphicFrame>
      <p:sp>
        <p:nvSpPr>
          <p:cNvPr id="7" name="Shape 4"/>
          <p:cNvSpPr/>
          <p:nvPr/>
        </p:nvSpPr>
        <p:spPr>
          <a:xfrm>
            <a:off x="8366760" y="1645920"/>
            <a:ext cx="3246120" cy="1600200"/>
          </a:xfrm>
          <a:prstGeom prst="roundRect">
            <a:avLst>
              <a:gd name="adj" fmla="val 8000"/>
            </a:avLst>
          </a:prstGeom>
          <a:solidFill>
            <a:srgbClr val="E6EEFC"/>
          </a:solidFill>
          <a:ln/>
        </p:spPr>
      </p:sp>
      <p:sp>
        <p:nvSpPr>
          <p:cNvPr id="8" name="Text 5"/>
          <p:cNvSpPr/>
          <p:nvPr/>
        </p:nvSpPr>
        <p:spPr>
          <a:xfrm>
            <a:off x="8613648" y="1828800"/>
            <a:ext cx="2743200" cy="274320"/>
          </a:xfrm>
          <a:prstGeom prst="rect">
            <a:avLst/>
          </a:prstGeom>
          <a:noFill/>
          <a:ln/>
        </p:spPr>
        <p:txBody>
          <a:bodyPr wrap="square" lIns="0" tIns="0" rIns="0" bIns="0" rtlCol="0" anchor="ctr"/>
          <a:lstStyle/>
          <a:p>
            <a:pPr indent="0" marL="0">
              <a:buNone/>
            </a:pPr>
            <a:r>
              <a:rPr lang="en-US" sz="1350" b="1" dirty="0">
                <a:solidFill>
                  <a:srgbClr val="3366FF"/>
                </a:solidFill>
                <a:latin typeface="Libre Franklin" pitchFamily="34" charset="0"/>
                <a:ea typeface="Libre Franklin" pitchFamily="34" charset="-122"/>
                <a:cs typeface="Libre Franklin" pitchFamily="34" charset="-120"/>
              </a:rPr>
              <a:t>The weights in force</a:t>
            </a:r>
            <a:endParaRPr lang="en-US" sz="1350" dirty="0"/>
          </a:p>
        </p:txBody>
      </p:sp>
      <p:pic>
        <p:nvPicPr>
          <p:cNvPr id="9" name="Image 0" descr="/tmp/esd/math/example_weights.png">    </p:cNvPr>
          <p:cNvPicPr>
            <a:picLocks noChangeAspect="1"/>
          </p:cNvPicPr>
          <p:nvPr/>
        </p:nvPicPr>
        <p:blipFill>
          <a:blip r:embed="rId1"/>
          <a:stretch>
            <a:fillRect/>
          </a:stretch>
        </p:blipFill>
        <p:spPr>
          <a:xfrm>
            <a:off x="8429598" y="2231136"/>
            <a:ext cx="3120443" cy="201168"/>
          </a:xfrm>
          <a:prstGeom prst="rect">
            <a:avLst/>
          </a:prstGeom>
        </p:spPr>
      </p:pic>
      <p:sp>
        <p:nvSpPr>
          <p:cNvPr id="10" name="Text 6"/>
          <p:cNvSpPr/>
          <p:nvPr/>
        </p:nvSpPr>
        <p:spPr>
          <a:xfrm>
            <a:off x="8613648" y="2523744"/>
            <a:ext cx="2743200" cy="566928"/>
          </a:xfrm>
          <a:prstGeom prst="rect">
            <a:avLst/>
          </a:prstGeom>
          <a:noFill/>
          <a:ln/>
        </p:spPr>
        <p:txBody>
          <a:bodyPr wrap="square" lIns="0" tIns="0" rIns="0" bIns="0" rtlCol="0" anchor="t"/>
          <a:lstStyle/>
          <a:p>
            <a:pPr indent="0" marL="0">
              <a:lnSpc>
                <a:spcPts val="1400"/>
              </a:lnSpc>
              <a:buNone/>
            </a:pPr>
            <a:r>
              <a:rPr lang="en-US" sz="1100" dirty="0">
                <a:solidFill>
                  <a:srgbClr val="000000"/>
                </a:solidFill>
                <a:latin typeface="Libre Franklin Medium" pitchFamily="34" charset="0"/>
                <a:ea typeface="Libre Franklin Medium" pitchFamily="34" charset="-122"/>
                <a:cs typeface="Libre Franklin Medium" pitchFamily="34" charset="-120"/>
              </a:rPr>
              <a:t>Read left to right: recency, family history, travel, workload, continuity.</a:t>
            </a:r>
            <a:endParaRPr lang="en-US" sz="1100" dirty="0"/>
          </a:p>
        </p:txBody>
      </p:sp>
      <p:sp>
        <p:nvSpPr>
          <p:cNvPr id="11" name="Shape 7"/>
          <p:cNvSpPr/>
          <p:nvPr/>
        </p:nvSpPr>
        <p:spPr>
          <a:xfrm>
            <a:off x="8366760" y="3401568"/>
            <a:ext cx="3246120" cy="2404872"/>
          </a:xfrm>
          <a:prstGeom prst="roundRect">
            <a:avLst>
              <a:gd name="adj" fmla="val 5323"/>
            </a:avLst>
          </a:prstGeom>
          <a:solidFill>
            <a:srgbClr val="F4F4F6"/>
          </a:solidFill>
          <a:ln w="15875">
            <a:solidFill>
              <a:srgbClr val="F57F00"/>
            </a:solidFill>
            <a:prstDash val="solid"/>
          </a:ln>
        </p:spPr>
      </p:sp>
      <p:sp>
        <p:nvSpPr>
          <p:cNvPr id="12" name="Text 8"/>
          <p:cNvSpPr/>
          <p:nvPr/>
        </p:nvSpPr>
        <p:spPr>
          <a:xfrm>
            <a:off x="8613648" y="3602736"/>
            <a:ext cx="2743200" cy="274320"/>
          </a:xfrm>
          <a:prstGeom prst="rect">
            <a:avLst/>
          </a:prstGeom>
          <a:noFill/>
          <a:ln/>
        </p:spPr>
        <p:txBody>
          <a:bodyPr wrap="square" lIns="0" tIns="0" rIns="0" bIns="0" rtlCol="0" anchor="ctr"/>
          <a:lstStyle/>
          <a:p>
            <a:pPr indent="0" marL="0">
              <a:buNone/>
            </a:pPr>
            <a:r>
              <a:rPr lang="en-US" sz="1350" b="1" dirty="0">
                <a:solidFill>
                  <a:srgbClr val="F57F00"/>
                </a:solidFill>
                <a:latin typeface="Libre Franklin" pitchFamily="34" charset="0"/>
                <a:ea typeface="Libre Franklin" pitchFamily="34" charset="-122"/>
                <a:cs typeface="Libre Franklin" pitchFamily="34" charset="-120"/>
              </a:rPr>
              <a:t>Split decision</a:t>
            </a:r>
            <a:endParaRPr lang="en-US" sz="1350" dirty="0"/>
          </a:p>
        </p:txBody>
      </p:sp>
      <p:sp>
        <p:nvSpPr>
          <p:cNvPr id="13" name="Text 9"/>
          <p:cNvSpPr/>
          <p:nvPr/>
        </p:nvSpPr>
        <p:spPr>
          <a:xfrm>
            <a:off x="8613648" y="3931920"/>
            <a:ext cx="2743200" cy="1280160"/>
          </a:xfrm>
          <a:prstGeom prst="rect">
            <a:avLst/>
          </a:prstGeom>
          <a:noFill/>
          <a:ln/>
        </p:spPr>
        <p:txBody>
          <a:bodyPr wrap="square" lIns="0" tIns="0" rIns="0" bIns="0" rtlCol="0" anchor="t"/>
          <a:lstStyle/>
          <a:p>
            <a:pPr indent="0" marL="0">
              <a:lnSpc>
                <a:spcPts val="1600"/>
              </a:lnSpc>
              <a:buNone/>
            </a:pPr>
            <a:r>
              <a:rPr lang="en-US" sz="1200" dirty="0">
                <a:solidFill>
                  <a:srgbClr val="000000"/>
                </a:solidFill>
                <a:latin typeface="Libre Franklin Medium" pitchFamily="34" charset="0"/>
                <a:ea typeface="Libre Franklin Medium" pitchFamily="34" charset="-122"/>
                <a:cs typeface="Libre Franklin Medium" pitchFamily="34" charset="-120"/>
              </a:rPr>
              <a:t>A wins on travel and continuity. B wins on recency, family history, and workload. Nobody wins outright, which is exactly the case a single number is built for.</a:t>
            </a:r>
            <a:endParaRPr lang="en-US" sz="1200" dirty="0"/>
          </a:p>
        </p:txBody>
      </p:sp>
      <p:sp>
        <p:nvSpPr>
          <p:cNvPr id="14" name="Text 10"/>
          <p:cNvSpPr/>
          <p:nvPr/>
        </p:nvSpPr>
        <p:spPr>
          <a:xfrm>
            <a:off x="8613648" y="5358384"/>
            <a:ext cx="2743200" cy="274320"/>
          </a:xfrm>
          <a:prstGeom prst="rect">
            <a:avLst/>
          </a:prstGeom>
          <a:noFill/>
          <a:ln/>
        </p:spPr>
        <p:txBody>
          <a:bodyPr wrap="square" lIns="0" tIns="0" rIns="0" bIns="0" rtlCol="0" anchor="ctr"/>
          <a:lstStyle/>
          <a:p>
            <a:pPr indent="0" marL="0">
              <a:buNone/>
            </a:pPr>
            <a:r>
              <a:rPr lang="en-US" sz="1050" i="1" dirty="0">
                <a:solidFill>
                  <a:srgbClr val="000000"/>
                </a:solidFill>
                <a:latin typeface="Libre Franklin Medium" pitchFamily="34" charset="0"/>
                <a:ea typeface="Libre Franklin Medium" pitchFamily="34" charset="-122"/>
                <a:cs typeface="Libre Franklin Medium" pitchFamily="34" charset="-120"/>
              </a:rPr>
              <a:t>Illustration only, not a real assignment.</a:t>
            </a:r>
            <a:endParaRPr lang="en-US" sz="1050" dirty="0"/>
          </a:p>
        </p:txBody>
      </p:sp>
      <p:sp>
        <p:nvSpPr>
          <p:cNvPr id="15" name="Text 11"/>
          <p:cNvSpPr/>
          <p:nvPr/>
        </p:nvSpPr>
        <p:spPr>
          <a:xfrm>
            <a:off x="566928" y="5394960"/>
            <a:ext cx="7498080" cy="365760"/>
          </a:xfrm>
          <a:prstGeom prst="rect">
            <a:avLst/>
          </a:prstGeom>
          <a:noFill/>
          <a:ln/>
        </p:spPr>
        <p:txBody>
          <a:bodyPr wrap="square" lIns="0" tIns="0" rIns="0" bIns="0" rtlCol="0" anchor="ctr"/>
          <a:lstStyle/>
          <a:p>
            <a:pPr indent="0" marL="0">
              <a:buNone/>
            </a:pPr>
            <a:r>
              <a:rPr lang="en-US" sz="1200" dirty="0">
                <a:solidFill>
                  <a:srgbClr val="3366FF"/>
                </a:solidFill>
                <a:latin typeface="Libre Franklin Medium" pitchFamily="34" charset="0"/>
                <a:ea typeface="Libre Franklin Medium" pitchFamily="34" charset="-122"/>
                <a:cs typeface="Libre Franklin Medium" pitchFamily="34" charset="-120"/>
              </a:rPr>
              <a:t>Rows in blue are the five part scores. Everything above them is the raw measurement they come from.</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indent="0" marL="0">
              <a:buNone/>
            </a:pPr>
            <a:r>
              <a:rPr lang="en-US" sz="1100" b="1" spc="140" kern="0" dirty="0">
                <a:solidFill>
                  <a:srgbClr val="91BAF4"/>
                </a:solidFill>
                <a:latin typeface="Libre Franklin" pitchFamily="34" charset="0"/>
                <a:ea typeface="Libre Franklin" pitchFamily="34" charset="-122"/>
                <a:cs typeface="Libre Franklin" pitchFamily="34" charset="-120"/>
              </a:rPr>
              <a:t>WORKED EXAMPLE, STEP TWO</a:t>
            </a:r>
            <a:endParaRPr lang="en-US" sz="1100" dirty="0"/>
          </a:p>
        </p:txBody>
      </p:sp>
      <p:sp>
        <p:nvSpPr>
          <p:cNvPr id="3" name="Text 1"/>
          <p:cNvSpPr/>
          <p:nvPr/>
        </p:nvSpPr>
        <p:spPr>
          <a:xfrm>
            <a:off x="566928" y="658368"/>
            <a:ext cx="11064240" cy="566928"/>
          </a:xfrm>
          <a:prstGeom prst="rect">
            <a:avLst/>
          </a:prstGeom>
          <a:noFill/>
          <a:ln/>
        </p:spPr>
        <p:txBody>
          <a:bodyPr wrap="square" lIns="0" tIns="0" rIns="0" bIns="0" rtlCol="0" anchor="ctr"/>
          <a:lstStyle/>
          <a:p>
            <a:pPr indent="0" marL="0">
              <a:buNone/>
            </a:pPr>
            <a:r>
              <a:rPr lang="en-US" sz="3000" b="1" spc="-20" kern="0" dirty="0">
                <a:solidFill>
                  <a:srgbClr val="3366FF"/>
                </a:solidFill>
                <a:latin typeface="Libre Franklin" pitchFamily="34" charset="0"/>
                <a:ea typeface="Libre Franklin" pitchFamily="34" charset="-122"/>
                <a:cs typeface="Libre Franklin" pitchFamily="34" charset="-120"/>
              </a:rPr>
              <a:t>Multiply, add, compare</a:t>
            </a:r>
            <a:endParaRPr lang="en-US" sz="3000" dirty="0"/>
          </a:p>
        </p:txBody>
      </p:sp>
      <p:sp>
        <p:nvSpPr>
          <p:cNvPr id="4" name="Text 2"/>
          <p:cNvSpPr/>
          <p:nvPr/>
        </p:nvSpPr>
        <p:spPr>
          <a:xfrm>
            <a:off x="566928" y="6382512"/>
            <a:ext cx="5486400" cy="256032"/>
          </a:xfrm>
          <a:prstGeom prst="rect">
            <a:avLst/>
          </a:prstGeom>
          <a:noFill/>
          <a:ln/>
        </p:spPr>
        <p:txBody>
          <a:bodyPr wrap="square" lIns="0" tIns="0" rIns="0" bIns="0" rtlCol="0" anchor="ctr"/>
          <a:lstStyle/>
          <a:p>
            <a:pPr algn="l" indent="0" marL="0">
              <a:buNone/>
            </a:pPr>
            <a:r>
              <a:rPr lang="en-US" sz="900" dirty="0">
                <a:solidFill>
                  <a:srgbClr val="91BAF4"/>
                </a:solidFill>
                <a:latin typeface="Libre Franklin Medium" pitchFamily="34" charset="0"/>
                <a:ea typeface="Libre Franklin Medium" pitchFamily="34" charset="-122"/>
                <a:cs typeface="Libre Franklin Medium" pitchFamily="34" charset="-120"/>
              </a:rPr>
              <a:t>The Early Social Development Lab at UofSC</a:t>
            </a:r>
            <a:endParaRPr lang="en-US" sz="900" dirty="0"/>
          </a:p>
        </p:txBody>
      </p:sp>
      <p:sp>
        <p:nvSpPr>
          <p:cNvPr id="5" name="Text 3"/>
          <p:cNvSpPr/>
          <p:nvPr/>
        </p:nvSpPr>
        <p:spPr>
          <a:xfrm>
            <a:off x="10984687" y="6382512"/>
            <a:ext cx="640080" cy="256032"/>
          </a:xfrm>
          <a:prstGeom prst="rect">
            <a:avLst/>
          </a:prstGeom>
          <a:noFill/>
          <a:ln/>
        </p:spPr>
        <p:txBody>
          <a:bodyPr wrap="square" lIns="0" tIns="0" rIns="0" bIns="0" rtlCol="0" anchor="ctr"/>
          <a:lstStyle/>
          <a:p>
            <a:pPr algn="r" indent="0" marL="0">
              <a:buNone/>
            </a:pPr>
            <a:r>
              <a:rPr lang="en-US" sz="900" dirty="0">
                <a:solidFill>
                  <a:srgbClr val="91BAF4"/>
                </a:solidFill>
                <a:latin typeface="Libre Franklin Medium" pitchFamily="34" charset="0"/>
                <a:ea typeface="Libre Franklin Medium" pitchFamily="34" charset="-122"/>
                <a:cs typeface="Libre Franklin Medium" pitchFamily="34" charset="-120"/>
              </a:rPr>
              <a:t>11</a:t>
            </a:r>
            <a:endParaRPr lang="en-US" sz="900" dirty="0"/>
          </a:p>
        </p:txBody>
      </p:sp>
      <p:sp>
        <p:nvSpPr>
          <p:cNvPr id="6" name="Shape 4"/>
          <p:cNvSpPr/>
          <p:nvPr/>
        </p:nvSpPr>
        <p:spPr>
          <a:xfrm>
            <a:off x="566928" y="1691640"/>
            <a:ext cx="11064240" cy="1170432"/>
          </a:xfrm>
          <a:prstGeom prst="roundRect">
            <a:avLst>
              <a:gd name="adj" fmla="val 10938"/>
            </a:avLst>
          </a:prstGeom>
          <a:solidFill>
            <a:srgbClr val="F4F4F6"/>
          </a:solidFill>
          <a:ln w="12700">
            <a:solidFill>
              <a:srgbClr val="91BAF4"/>
            </a:solidFill>
            <a:prstDash val="solid"/>
          </a:ln>
        </p:spPr>
      </p:sp>
      <p:sp>
        <p:nvSpPr>
          <p:cNvPr id="7" name="Text 5"/>
          <p:cNvSpPr/>
          <p:nvPr/>
        </p:nvSpPr>
        <p:spPr>
          <a:xfrm>
            <a:off x="877824" y="1847088"/>
            <a:ext cx="2743200" cy="237744"/>
          </a:xfrm>
          <a:prstGeom prst="rect">
            <a:avLst/>
          </a:prstGeom>
          <a:noFill/>
          <a:ln/>
        </p:spPr>
        <p:txBody>
          <a:bodyPr wrap="square" lIns="0" tIns="0" rIns="0" bIns="0" rtlCol="0" anchor="ctr"/>
          <a:lstStyle/>
          <a:p>
            <a:pPr indent="0" marL="0">
              <a:buNone/>
            </a:pPr>
            <a:r>
              <a:rPr lang="en-US" sz="1050" b="1" spc="160" kern="0" dirty="0">
                <a:solidFill>
                  <a:srgbClr val="000000"/>
                </a:solidFill>
                <a:latin typeface="Libre Franklin" pitchFamily="34" charset="0"/>
                <a:ea typeface="Libre Franklin" pitchFamily="34" charset="-122"/>
                <a:cs typeface="Libre Franklin" pitchFamily="34" charset="-120"/>
              </a:rPr>
              <a:t>CANDIDATE A</a:t>
            </a:r>
            <a:endParaRPr lang="en-US" sz="1050" dirty="0"/>
          </a:p>
        </p:txBody>
      </p:sp>
      <p:pic>
        <p:nvPicPr>
          <p:cNvPr id="8" name="Image 0" descr="/tmp/esd/math/example_a.png">    </p:cNvPr>
          <p:cNvPicPr>
            <a:picLocks noChangeAspect="1"/>
          </p:cNvPicPr>
          <p:nvPr/>
        </p:nvPicPr>
        <p:blipFill>
          <a:blip r:embed="rId1"/>
          <a:stretch>
            <a:fillRect/>
          </a:stretch>
        </p:blipFill>
        <p:spPr>
          <a:xfrm>
            <a:off x="877824" y="2212848"/>
            <a:ext cx="6651728" cy="292608"/>
          </a:xfrm>
          <a:prstGeom prst="rect">
            <a:avLst/>
          </a:prstGeom>
        </p:spPr>
      </p:pic>
      <p:sp>
        <p:nvSpPr>
          <p:cNvPr id="9" name="Shape 6"/>
          <p:cNvSpPr/>
          <p:nvPr/>
        </p:nvSpPr>
        <p:spPr>
          <a:xfrm>
            <a:off x="566928" y="3035808"/>
            <a:ext cx="11064240" cy="1170432"/>
          </a:xfrm>
          <a:prstGeom prst="roundRect">
            <a:avLst>
              <a:gd name="adj" fmla="val 10938"/>
            </a:avLst>
          </a:prstGeom>
          <a:solidFill>
            <a:srgbClr val="E6EEFC"/>
          </a:solidFill>
          <a:ln w="19050">
            <a:solidFill>
              <a:srgbClr val="3366FF"/>
            </a:solidFill>
            <a:prstDash val="solid"/>
          </a:ln>
        </p:spPr>
      </p:sp>
      <p:sp>
        <p:nvSpPr>
          <p:cNvPr id="10" name="Text 7"/>
          <p:cNvSpPr/>
          <p:nvPr/>
        </p:nvSpPr>
        <p:spPr>
          <a:xfrm>
            <a:off x="877824" y="3191256"/>
            <a:ext cx="2743200" cy="237744"/>
          </a:xfrm>
          <a:prstGeom prst="rect">
            <a:avLst/>
          </a:prstGeom>
          <a:noFill/>
          <a:ln/>
        </p:spPr>
        <p:txBody>
          <a:bodyPr wrap="square" lIns="0" tIns="0" rIns="0" bIns="0" rtlCol="0" anchor="ctr"/>
          <a:lstStyle/>
          <a:p>
            <a:pPr indent="0" marL="0">
              <a:buNone/>
            </a:pPr>
            <a:r>
              <a:rPr lang="en-US" sz="1050" b="1" spc="160" kern="0" dirty="0">
                <a:solidFill>
                  <a:srgbClr val="3366FF"/>
                </a:solidFill>
                <a:latin typeface="Libre Franklin" pitchFamily="34" charset="0"/>
                <a:ea typeface="Libre Franklin" pitchFamily="34" charset="-122"/>
                <a:cs typeface="Libre Franklin" pitchFamily="34" charset="-120"/>
              </a:rPr>
              <a:t>CANDIDATE B</a:t>
            </a:r>
            <a:endParaRPr lang="en-US" sz="1050" dirty="0"/>
          </a:p>
        </p:txBody>
      </p:sp>
      <p:pic>
        <p:nvPicPr>
          <p:cNvPr id="11" name="Image 1" descr="/tmp/esd/math/example_b.png">    </p:cNvPr>
          <p:cNvPicPr>
            <a:picLocks noChangeAspect="1"/>
          </p:cNvPicPr>
          <p:nvPr/>
        </p:nvPicPr>
        <p:blipFill>
          <a:blip r:embed="rId2"/>
          <a:stretch>
            <a:fillRect/>
          </a:stretch>
        </p:blipFill>
        <p:spPr>
          <a:xfrm>
            <a:off x="877824" y="3557016"/>
            <a:ext cx="6658533" cy="292608"/>
          </a:xfrm>
          <a:prstGeom prst="rect">
            <a:avLst/>
          </a:prstGeom>
        </p:spPr>
      </p:pic>
      <p:sp>
        <p:nvSpPr>
          <p:cNvPr id="12" name="Shape 8"/>
          <p:cNvSpPr/>
          <p:nvPr/>
        </p:nvSpPr>
        <p:spPr>
          <a:xfrm>
            <a:off x="10104120" y="3246120"/>
            <a:ext cx="1234440" cy="384048"/>
          </a:xfrm>
          <a:prstGeom prst="roundRect">
            <a:avLst>
              <a:gd name="adj" fmla="val 23810"/>
            </a:avLst>
          </a:prstGeom>
          <a:solidFill>
            <a:srgbClr val="3366FF"/>
          </a:solidFill>
          <a:ln/>
        </p:spPr>
      </p:sp>
      <p:sp>
        <p:nvSpPr>
          <p:cNvPr id="13" name="Text 9"/>
          <p:cNvSpPr/>
          <p:nvPr/>
        </p:nvSpPr>
        <p:spPr>
          <a:xfrm>
            <a:off x="10104120" y="3246120"/>
            <a:ext cx="1234440" cy="384048"/>
          </a:xfrm>
          <a:prstGeom prst="rect">
            <a:avLst/>
          </a:prstGeom>
          <a:noFill/>
          <a:ln/>
        </p:spPr>
        <p:txBody>
          <a:bodyPr wrap="square" lIns="0" tIns="0" rIns="0" bIns="0" rtlCol="0" anchor="ctr"/>
          <a:lstStyle/>
          <a:p>
            <a:pPr algn="ctr" indent="0" marL="0">
              <a:buNone/>
            </a:pPr>
            <a:r>
              <a:rPr lang="en-US" sz="1050" b="1" dirty="0">
                <a:solidFill>
                  <a:srgbClr val="F4F4F6"/>
                </a:solidFill>
                <a:latin typeface="Libre Franklin" pitchFamily="34" charset="0"/>
                <a:ea typeface="Libre Franklin" pitchFamily="34" charset="-122"/>
                <a:cs typeface="Libre Franklin" pitchFamily="34" charset="-120"/>
              </a:rPr>
              <a:t>SELECTED</a:t>
            </a:r>
            <a:endParaRPr lang="en-US" sz="1050" dirty="0"/>
          </a:p>
        </p:txBody>
      </p:sp>
      <p:sp>
        <p:nvSpPr>
          <p:cNvPr id="14" name="Shape 10"/>
          <p:cNvSpPr/>
          <p:nvPr/>
        </p:nvSpPr>
        <p:spPr>
          <a:xfrm>
            <a:off x="566928" y="4434840"/>
            <a:ext cx="11064240" cy="1325880"/>
          </a:xfrm>
          <a:prstGeom prst="roundRect">
            <a:avLst>
              <a:gd name="adj" fmla="val 9655"/>
            </a:avLst>
          </a:prstGeom>
          <a:solidFill>
            <a:srgbClr val="FFFFFF"/>
          </a:solidFill>
          <a:ln w="12700">
            <a:solidFill>
              <a:srgbClr val="91BAF4"/>
            </a:solidFill>
            <a:prstDash val="solid"/>
          </a:ln>
        </p:spPr>
      </p:sp>
      <p:sp>
        <p:nvSpPr>
          <p:cNvPr id="15" name="Shape 11"/>
          <p:cNvSpPr/>
          <p:nvPr/>
        </p:nvSpPr>
        <p:spPr>
          <a:xfrm>
            <a:off x="877824" y="4718304"/>
            <a:ext cx="182880" cy="182880"/>
          </a:xfrm>
          <a:prstGeom prst="ellipse">
            <a:avLst/>
          </a:prstGeom>
          <a:solidFill>
            <a:srgbClr val="F57F00"/>
          </a:solidFill>
          <a:ln/>
        </p:spPr>
      </p:sp>
      <p:sp>
        <p:nvSpPr>
          <p:cNvPr id="16" name="Text 12"/>
          <p:cNvSpPr/>
          <p:nvPr/>
        </p:nvSpPr>
        <p:spPr>
          <a:xfrm>
            <a:off x="1170432" y="4663440"/>
            <a:ext cx="3657600" cy="292608"/>
          </a:xfrm>
          <a:prstGeom prst="rect">
            <a:avLst/>
          </a:prstGeom>
          <a:noFill/>
          <a:ln/>
        </p:spPr>
        <p:txBody>
          <a:bodyPr wrap="square" lIns="0" tIns="0" rIns="0" bIns="0" rtlCol="0" anchor="ctr"/>
          <a:lstStyle/>
          <a:p>
            <a:pPr indent="0" marL="0">
              <a:buNone/>
            </a:pPr>
            <a:r>
              <a:rPr lang="en-US" sz="1400" b="1" dirty="0">
                <a:solidFill>
                  <a:srgbClr val="000000"/>
                </a:solidFill>
                <a:latin typeface="Libre Franklin" pitchFamily="34" charset="0"/>
                <a:ea typeface="Libre Franklin" pitchFamily="34" charset="-122"/>
                <a:cs typeface="Libre Franklin" pitchFamily="34" charset="-120"/>
              </a:rPr>
              <a:t>What this shows</a:t>
            </a:r>
            <a:endParaRPr lang="en-US" sz="1400" dirty="0"/>
          </a:p>
        </p:txBody>
      </p:sp>
      <p:sp>
        <p:nvSpPr>
          <p:cNvPr id="17" name="Text 13"/>
          <p:cNvSpPr/>
          <p:nvPr/>
        </p:nvSpPr>
        <p:spPr>
          <a:xfrm>
            <a:off x="1170432" y="4992624"/>
            <a:ext cx="10149840" cy="685800"/>
          </a:xfrm>
          <a:prstGeom prst="rect">
            <a:avLst/>
          </a:prstGeom>
          <a:noFill/>
          <a:ln/>
        </p:spPr>
        <p:txBody>
          <a:bodyPr wrap="square" lIns="0" tIns="0" rIns="0" bIns="0" rtlCol="0" anchor="t"/>
          <a:lstStyle/>
          <a:p>
            <a:pPr indent="0" marL="0">
              <a:lnSpc>
                <a:spcPts val="1700"/>
              </a:lnSpc>
              <a:buNone/>
            </a:pPr>
            <a:r>
              <a:rPr lang="en-US" sz="1250" dirty="0">
                <a:solidFill>
                  <a:srgbClr val="000000"/>
                </a:solidFill>
                <a:latin typeface="Libre Franklin Medium" pitchFamily="34" charset="0"/>
                <a:ea typeface="Libre Franklin Medium" pitchFamily="34" charset="-122"/>
                <a:cs typeface="Libre Franklin Medium" pitchFamily="34" charset="-120"/>
              </a:rPr>
              <a:t>Candidate B takes it by 0.118. A longer gap since the last visit, a lighter caseload, and a clean slate with this family together outweigh B's much longer drive. Continuity alone was never going to carry Candidate A, and that is the point of scoring all five parts at once instead of ranking them one after another.</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indent="0" marL="0">
              <a:buNone/>
            </a:pPr>
            <a:r>
              <a:rPr lang="en-US" sz="1100" b="1" spc="140" kern="0" dirty="0">
                <a:solidFill>
                  <a:srgbClr val="91BAF4"/>
                </a:solidFill>
                <a:latin typeface="Libre Franklin" pitchFamily="34" charset="0"/>
                <a:ea typeface="Libre Franklin" pitchFamily="34" charset="-122"/>
                <a:cs typeface="Libre Franklin" pitchFamily="34" charset="-120"/>
              </a:rPr>
              <a:t>LAYER 3</a:t>
            </a:r>
            <a:endParaRPr lang="en-US" sz="1100" dirty="0"/>
          </a:p>
        </p:txBody>
      </p:sp>
      <p:sp>
        <p:nvSpPr>
          <p:cNvPr id="3" name="Text 1"/>
          <p:cNvSpPr/>
          <p:nvPr/>
        </p:nvSpPr>
        <p:spPr>
          <a:xfrm>
            <a:off x="566928" y="658368"/>
            <a:ext cx="11064240" cy="566928"/>
          </a:xfrm>
          <a:prstGeom prst="rect">
            <a:avLst/>
          </a:prstGeom>
          <a:noFill/>
          <a:ln/>
        </p:spPr>
        <p:txBody>
          <a:bodyPr wrap="square" lIns="0" tIns="0" rIns="0" bIns="0" rtlCol="0" anchor="ctr"/>
          <a:lstStyle/>
          <a:p>
            <a:pPr indent="0" marL="0">
              <a:buNone/>
            </a:pPr>
            <a:r>
              <a:rPr lang="en-US" sz="3000" b="1" spc="-20" kern="0" dirty="0">
                <a:solidFill>
                  <a:srgbClr val="3366FF"/>
                </a:solidFill>
                <a:latin typeface="Libre Franklin" pitchFamily="34" charset="0"/>
                <a:ea typeface="Libre Franklin" pitchFamily="34" charset="-122"/>
                <a:cs typeface="Libre Franklin" pitchFamily="34" charset="-120"/>
              </a:rPr>
              <a:t>What happens when two scores are almost equal</a:t>
            </a:r>
            <a:endParaRPr lang="en-US" sz="3000" dirty="0"/>
          </a:p>
        </p:txBody>
      </p:sp>
      <p:sp>
        <p:nvSpPr>
          <p:cNvPr id="4" name="Text 2"/>
          <p:cNvSpPr/>
          <p:nvPr/>
        </p:nvSpPr>
        <p:spPr>
          <a:xfrm>
            <a:off x="566928" y="6382512"/>
            <a:ext cx="5486400" cy="256032"/>
          </a:xfrm>
          <a:prstGeom prst="rect">
            <a:avLst/>
          </a:prstGeom>
          <a:noFill/>
          <a:ln/>
        </p:spPr>
        <p:txBody>
          <a:bodyPr wrap="square" lIns="0" tIns="0" rIns="0" bIns="0" rtlCol="0" anchor="ctr"/>
          <a:lstStyle/>
          <a:p>
            <a:pPr algn="l" indent="0" marL="0">
              <a:buNone/>
            </a:pPr>
            <a:r>
              <a:rPr lang="en-US" sz="900" dirty="0">
                <a:solidFill>
                  <a:srgbClr val="91BAF4"/>
                </a:solidFill>
                <a:latin typeface="Libre Franklin Medium" pitchFamily="34" charset="0"/>
                <a:ea typeface="Libre Franklin Medium" pitchFamily="34" charset="-122"/>
                <a:cs typeface="Libre Franklin Medium" pitchFamily="34" charset="-120"/>
              </a:rPr>
              <a:t>The Early Social Development Lab at UofSC</a:t>
            </a:r>
            <a:endParaRPr lang="en-US" sz="900" dirty="0"/>
          </a:p>
        </p:txBody>
      </p:sp>
      <p:sp>
        <p:nvSpPr>
          <p:cNvPr id="5" name="Text 3"/>
          <p:cNvSpPr/>
          <p:nvPr/>
        </p:nvSpPr>
        <p:spPr>
          <a:xfrm>
            <a:off x="10984687" y="6382512"/>
            <a:ext cx="640080" cy="256032"/>
          </a:xfrm>
          <a:prstGeom prst="rect">
            <a:avLst/>
          </a:prstGeom>
          <a:noFill/>
          <a:ln/>
        </p:spPr>
        <p:txBody>
          <a:bodyPr wrap="square" lIns="0" tIns="0" rIns="0" bIns="0" rtlCol="0" anchor="ctr"/>
          <a:lstStyle/>
          <a:p>
            <a:pPr algn="r" indent="0" marL="0">
              <a:buNone/>
            </a:pPr>
            <a:r>
              <a:rPr lang="en-US" sz="900" dirty="0">
                <a:solidFill>
                  <a:srgbClr val="91BAF4"/>
                </a:solidFill>
                <a:latin typeface="Libre Franklin Medium" pitchFamily="34" charset="0"/>
                <a:ea typeface="Libre Franklin Medium" pitchFamily="34" charset="-122"/>
                <a:cs typeface="Libre Franklin Medium" pitchFamily="34" charset="-120"/>
              </a:rPr>
              <a:t>12</a:t>
            </a:r>
            <a:endParaRPr lang="en-US" sz="900" dirty="0"/>
          </a:p>
        </p:txBody>
      </p:sp>
      <p:sp>
        <p:nvSpPr>
          <p:cNvPr id="6" name="Shape 4"/>
          <p:cNvSpPr/>
          <p:nvPr/>
        </p:nvSpPr>
        <p:spPr>
          <a:xfrm>
            <a:off x="566928" y="1645920"/>
            <a:ext cx="5120640" cy="1371600"/>
          </a:xfrm>
          <a:prstGeom prst="roundRect">
            <a:avLst>
              <a:gd name="adj" fmla="val 9333"/>
            </a:avLst>
          </a:prstGeom>
          <a:solidFill>
            <a:srgbClr val="E6EEFC"/>
          </a:solidFill>
          <a:ln/>
        </p:spPr>
      </p:sp>
      <p:sp>
        <p:nvSpPr>
          <p:cNvPr id="7" name="Text 5"/>
          <p:cNvSpPr/>
          <p:nvPr/>
        </p:nvSpPr>
        <p:spPr>
          <a:xfrm>
            <a:off x="859536" y="1810512"/>
            <a:ext cx="4480560" cy="237744"/>
          </a:xfrm>
          <a:prstGeom prst="rect">
            <a:avLst/>
          </a:prstGeom>
          <a:noFill/>
          <a:ln/>
        </p:spPr>
        <p:txBody>
          <a:bodyPr wrap="square" lIns="0" tIns="0" rIns="0" bIns="0" rtlCol="0" anchor="ctr"/>
          <a:lstStyle/>
          <a:p>
            <a:pPr indent="0" marL="0">
              <a:buNone/>
            </a:pPr>
            <a:r>
              <a:rPr lang="en-US" sz="1050" b="1" spc="140" kern="0" dirty="0">
                <a:solidFill>
                  <a:srgbClr val="3366FF"/>
                </a:solidFill>
                <a:latin typeface="Libre Franklin" pitchFamily="34" charset="0"/>
                <a:ea typeface="Libre Franklin" pitchFamily="34" charset="-122"/>
                <a:cs typeface="Libre Franklin" pitchFamily="34" charset="-120"/>
              </a:rPr>
              <a:t>STEP ONE  •  DETECT</a:t>
            </a:r>
            <a:endParaRPr lang="en-US" sz="1050" dirty="0"/>
          </a:p>
        </p:txBody>
      </p:sp>
      <p:pic>
        <p:nvPicPr>
          <p:cNvPr id="8" name="Image 0" descr="/tmp/esd/math/tie.png">    </p:cNvPr>
          <p:cNvPicPr>
            <a:picLocks noChangeAspect="1"/>
          </p:cNvPicPr>
          <p:nvPr/>
        </p:nvPicPr>
        <p:blipFill>
          <a:blip r:embed="rId1"/>
          <a:stretch>
            <a:fillRect/>
          </a:stretch>
        </p:blipFill>
        <p:spPr>
          <a:xfrm>
            <a:off x="2293919" y="2267712"/>
            <a:ext cx="1666659" cy="365760"/>
          </a:xfrm>
          <a:prstGeom prst="rect">
            <a:avLst/>
          </a:prstGeom>
        </p:spPr>
      </p:pic>
      <p:sp>
        <p:nvSpPr>
          <p:cNvPr id="9" name="Shape 6"/>
          <p:cNvSpPr/>
          <p:nvPr/>
        </p:nvSpPr>
        <p:spPr>
          <a:xfrm>
            <a:off x="6007608" y="1645920"/>
            <a:ext cx="5623560" cy="1371600"/>
          </a:xfrm>
          <a:prstGeom prst="roundRect">
            <a:avLst>
              <a:gd name="adj" fmla="val 9333"/>
            </a:avLst>
          </a:prstGeom>
          <a:solidFill>
            <a:srgbClr val="F4F4F6"/>
          </a:solidFill>
          <a:ln w="12700">
            <a:solidFill>
              <a:srgbClr val="91BAF4"/>
            </a:solidFill>
            <a:prstDash val="solid"/>
          </a:ln>
        </p:spPr>
      </p:sp>
      <p:sp>
        <p:nvSpPr>
          <p:cNvPr id="10" name="Text 7"/>
          <p:cNvSpPr/>
          <p:nvPr/>
        </p:nvSpPr>
        <p:spPr>
          <a:xfrm>
            <a:off x="6300216" y="1810512"/>
            <a:ext cx="5029200" cy="237744"/>
          </a:xfrm>
          <a:prstGeom prst="rect">
            <a:avLst/>
          </a:prstGeom>
          <a:noFill/>
          <a:ln/>
        </p:spPr>
        <p:txBody>
          <a:bodyPr wrap="square" lIns="0" tIns="0" rIns="0" bIns="0" rtlCol="0" anchor="ctr"/>
          <a:lstStyle/>
          <a:p>
            <a:pPr indent="0" marL="0">
              <a:buNone/>
            </a:pPr>
            <a:r>
              <a:rPr lang="en-US" sz="1050" b="1" spc="140" kern="0" dirty="0">
                <a:solidFill>
                  <a:srgbClr val="000000"/>
                </a:solidFill>
                <a:latin typeface="Libre Franklin" pitchFamily="34" charset="0"/>
                <a:ea typeface="Libre Franklin" pitchFamily="34" charset="-122"/>
                <a:cs typeface="Libre Franklin" pitchFamily="34" charset="-120"/>
              </a:rPr>
              <a:t>WHAT IT MEANS</a:t>
            </a:r>
            <a:endParaRPr lang="en-US" sz="1050" dirty="0"/>
          </a:p>
        </p:txBody>
      </p:sp>
      <p:sp>
        <p:nvSpPr>
          <p:cNvPr id="11" name="Text 8"/>
          <p:cNvSpPr/>
          <p:nvPr/>
        </p:nvSpPr>
        <p:spPr>
          <a:xfrm>
            <a:off x="6300216" y="2121408"/>
            <a:ext cx="5029200" cy="731520"/>
          </a:xfrm>
          <a:prstGeom prst="rect">
            <a:avLst/>
          </a:prstGeom>
          <a:noFill/>
          <a:ln/>
        </p:spPr>
        <p:txBody>
          <a:bodyPr wrap="square" lIns="0" tIns="0" rIns="0" bIns="0" rtlCol="0" anchor="t"/>
          <a:lstStyle/>
          <a:p>
            <a:pPr indent="0" marL="0">
              <a:lnSpc>
                <a:spcPts val="1700"/>
              </a:lnSpc>
              <a:buNone/>
            </a:pPr>
            <a:r>
              <a:rPr lang="en-US" sz="1250" dirty="0">
                <a:solidFill>
                  <a:srgbClr val="000000"/>
                </a:solidFill>
                <a:latin typeface="Libre Franklin Medium" pitchFamily="34" charset="0"/>
                <a:ea typeface="Libre Franklin Medium" pitchFamily="34" charset="-122"/>
                <a:cs typeface="Libre Franklin Medium" pitchFamily="34" charset="-120"/>
              </a:rPr>
              <a:t>If the top two scores sit inside the tolerance, the ranking is not meaningful and the model stops pretending it is.</a:t>
            </a:r>
            <a:endParaRPr lang="en-US" sz="1250" dirty="0"/>
          </a:p>
        </p:txBody>
      </p:sp>
      <p:sp>
        <p:nvSpPr>
          <p:cNvPr id="12" name="Shape 9"/>
          <p:cNvSpPr/>
          <p:nvPr/>
        </p:nvSpPr>
        <p:spPr>
          <a:xfrm>
            <a:off x="566928" y="3200400"/>
            <a:ext cx="11064240" cy="1572768"/>
          </a:xfrm>
          <a:prstGeom prst="roundRect">
            <a:avLst>
              <a:gd name="adj" fmla="val 8140"/>
            </a:avLst>
          </a:prstGeom>
          <a:solidFill>
            <a:srgbClr val="E6EEFC"/>
          </a:solidFill>
          <a:ln/>
        </p:spPr>
      </p:sp>
      <p:sp>
        <p:nvSpPr>
          <p:cNvPr id="13" name="Text 10"/>
          <p:cNvSpPr/>
          <p:nvPr/>
        </p:nvSpPr>
        <p:spPr>
          <a:xfrm>
            <a:off x="859536" y="3346704"/>
            <a:ext cx="5486400" cy="237744"/>
          </a:xfrm>
          <a:prstGeom prst="rect">
            <a:avLst/>
          </a:prstGeom>
          <a:noFill/>
          <a:ln/>
        </p:spPr>
        <p:txBody>
          <a:bodyPr wrap="square" lIns="0" tIns="0" rIns="0" bIns="0" rtlCol="0" anchor="ctr"/>
          <a:lstStyle/>
          <a:p>
            <a:pPr indent="0" marL="0">
              <a:buNone/>
            </a:pPr>
            <a:r>
              <a:rPr lang="en-US" sz="1050" b="1" spc="140" kern="0" dirty="0">
                <a:solidFill>
                  <a:srgbClr val="3366FF"/>
                </a:solidFill>
                <a:latin typeface="Libre Franklin" pitchFamily="34" charset="0"/>
                <a:ea typeface="Libre Franklin" pitchFamily="34" charset="-122"/>
                <a:cs typeface="Libre Franklin" pitchFamily="34" charset="-120"/>
              </a:rPr>
              <a:t>STEP TWO  •  RESOLVE ON FAMILY HISTORY</a:t>
            </a:r>
            <a:endParaRPr lang="en-US" sz="1050" dirty="0"/>
          </a:p>
        </p:txBody>
      </p:sp>
      <p:pic>
        <p:nvPicPr>
          <p:cNvPr id="14" name="Image 1" descr="/tmp/esd/math/winner.png">    </p:cNvPr>
          <p:cNvPicPr>
            <a:picLocks noChangeAspect="1"/>
          </p:cNvPicPr>
          <p:nvPr/>
        </p:nvPicPr>
        <p:blipFill>
          <a:blip r:embed="rId2"/>
          <a:stretch>
            <a:fillRect/>
          </a:stretch>
        </p:blipFill>
        <p:spPr>
          <a:xfrm>
            <a:off x="3723491" y="3712464"/>
            <a:ext cx="4744712" cy="896112"/>
          </a:xfrm>
          <a:prstGeom prst="rect">
            <a:avLst/>
          </a:prstGeom>
        </p:spPr>
      </p:pic>
      <p:sp>
        <p:nvSpPr>
          <p:cNvPr id="15" name="Shape 11"/>
          <p:cNvSpPr/>
          <p:nvPr/>
        </p:nvSpPr>
        <p:spPr>
          <a:xfrm>
            <a:off x="566928" y="4956048"/>
            <a:ext cx="3529584" cy="1170432"/>
          </a:xfrm>
          <a:prstGeom prst="roundRect">
            <a:avLst>
              <a:gd name="adj" fmla="val 9375"/>
            </a:avLst>
          </a:prstGeom>
          <a:solidFill>
            <a:srgbClr val="FFFFFF"/>
          </a:solidFill>
          <a:ln w="15875">
            <a:solidFill>
              <a:srgbClr val="3366FF"/>
            </a:solidFill>
            <a:prstDash val="solid"/>
          </a:ln>
        </p:spPr>
      </p:sp>
      <p:sp>
        <p:nvSpPr>
          <p:cNvPr id="16" name="Text 12"/>
          <p:cNvSpPr/>
          <p:nvPr/>
        </p:nvSpPr>
        <p:spPr>
          <a:xfrm>
            <a:off x="804672" y="5102352"/>
            <a:ext cx="3054096" cy="274320"/>
          </a:xfrm>
          <a:prstGeom prst="rect">
            <a:avLst/>
          </a:prstGeom>
          <a:noFill/>
          <a:ln/>
        </p:spPr>
        <p:txBody>
          <a:bodyPr wrap="square" lIns="0" tIns="0" rIns="0" bIns="0" rtlCol="0" anchor="ctr"/>
          <a:lstStyle/>
          <a:p>
            <a:pPr indent="0" marL="0">
              <a:buNone/>
            </a:pPr>
            <a:r>
              <a:rPr lang="en-US" sz="1300" b="1" dirty="0">
                <a:solidFill>
                  <a:srgbClr val="3366FF"/>
                </a:solidFill>
                <a:latin typeface="Libre Franklin" pitchFamily="34" charset="0"/>
                <a:ea typeface="Libre Franklin" pitchFamily="34" charset="-122"/>
                <a:cs typeface="Libre Franklin" pitchFamily="34" charset="-120"/>
              </a:rPr>
              <a:t>Family wants a new face</a:t>
            </a:r>
            <a:endParaRPr lang="en-US" sz="1300" dirty="0"/>
          </a:p>
        </p:txBody>
      </p:sp>
      <p:sp>
        <p:nvSpPr>
          <p:cNvPr id="17" name="Text 13"/>
          <p:cNvSpPr/>
          <p:nvPr/>
        </p:nvSpPr>
        <p:spPr>
          <a:xfrm>
            <a:off x="804672" y="5413248"/>
            <a:ext cx="3054096" cy="640080"/>
          </a:xfrm>
          <a:prstGeom prst="rect">
            <a:avLst/>
          </a:prstGeom>
          <a:noFill/>
          <a:ln/>
        </p:spPr>
        <p:txBody>
          <a:bodyPr wrap="square" lIns="0" tIns="0" rIns="0" bIns="0" rtlCol="0" anchor="t"/>
          <a:lstStyle/>
          <a:p>
            <a:pPr indent="0" marL="0">
              <a:lnSpc>
                <a:spcPts val="1500"/>
              </a:lnSpc>
              <a:buNone/>
            </a:pPr>
            <a:r>
              <a:rPr lang="en-US" sz="1150" dirty="0">
                <a:solidFill>
                  <a:srgbClr val="000000"/>
                </a:solidFill>
                <a:latin typeface="Libre Franklin Medium" pitchFamily="34" charset="0"/>
                <a:ea typeface="Libre Franklin Medium" pitchFamily="34" charset="-122"/>
                <a:cs typeface="Libre Franklin Medium" pitchFamily="34" charset="-120"/>
              </a:rPr>
              <a:t>The person with the fewest past visits wins the tie.</a:t>
            </a:r>
            <a:endParaRPr lang="en-US" sz="1150" dirty="0"/>
          </a:p>
        </p:txBody>
      </p:sp>
      <p:sp>
        <p:nvSpPr>
          <p:cNvPr id="18" name="Shape 14"/>
          <p:cNvSpPr/>
          <p:nvPr/>
        </p:nvSpPr>
        <p:spPr>
          <a:xfrm>
            <a:off x="4370832" y="4956048"/>
            <a:ext cx="3529584" cy="1170432"/>
          </a:xfrm>
          <a:prstGeom prst="roundRect">
            <a:avLst>
              <a:gd name="adj" fmla="val 9375"/>
            </a:avLst>
          </a:prstGeom>
          <a:solidFill>
            <a:srgbClr val="FFFFFF"/>
          </a:solidFill>
          <a:ln w="15875">
            <a:solidFill>
              <a:srgbClr val="000000"/>
            </a:solidFill>
            <a:prstDash val="solid"/>
          </a:ln>
        </p:spPr>
      </p:sp>
      <p:sp>
        <p:nvSpPr>
          <p:cNvPr id="19" name="Text 15"/>
          <p:cNvSpPr/>
          <p:nvPr/>
        </p:nvSpPr>
        <p:spPr>
          <a:xfrm>
            <a:off x="4608576" y="5102352"/>
            <a:ext cx="3054096" cy="274320"/>
          </a:xfrm>
          <a:prstGeom prst="rect">
            <a:avLst/>
          </a:prstGeom>
          <a:noFill/>
          <a:ln/>
        </p:spPr>
        <p:txBody>
          <a:bodyPr wrap="square" lIns="0" tIns="0" rIns="0" bIns="0" rtlCol="0" anchor="ctr"/>
          <a:lstStyle/>
          <a:p>
            <a:pPr indent="0" marL="0">
              <a:buNone/>
            </a:pPr>
            <a:r>
              <a:rPr lang="en-US" sz="1300" b="1" dirty="0">
                <a:solidFill>
                  <a:srgbClr val="000000"/>
                </a:solidFill>
                <a:latin typeface="Libre Franklin" pitchFamily="34" charset="0"/>
                <a:ea typeface="Libre Franklin" pitchFamily="34" charset="-122"/>
                <a:cs typeface="Libre Franklin" pitchFamily="34" charset="-120"/>
              </a:rPr>
              <a:t>Family wants the same face</a:t>
            </a:r>
            <a:endParaRPr lang="en-US" sz="1300" dirty="0"/>
          </a:p>
        </p:txBody>
      </p:sp>
      <p:sp>
        <p:nvSpPr>
          <p:cNvPr id="20" name="Text 16"/>
          <p:cNvSpPr/>
          <p:nvPr/>
        </p:nvSpPr>
        <p:spPr>
          <a:xfrm>
            <a:off x="4608576" y="5413248"/>
            <a:ext cx="3054096" cy="640080"/>
          </a:xfrm>
          <a:prstGeom prst="rect">
            <a:avLst/>
          </a:prstGeom>
          <a:noFill/>
          <a:ln/>
        </p:spPr>
        <p:txBody>
          <a:bodyPr wrap="square" lIns="0" tIns="0" rIns="0" bIns="0" rtlCol="0" anchor="t"/>
          <a:lstStyle/>
          <a:p>
            <a:pPr indent="0" marL="0">
              <a:lnSpc>
                <a:spcPts val="1500"/>
              </a:lnSpc>
              <a:buNone/>
            </a:pPr>
            <a:r>
              <a:rPr lang="en-US" sz="1150" dirty="0">
                <a:solidFill>
                  <a:srgbClr val="000000"/>
                </a:solidFill>
                <a:latin typeface="Libre Franklin Medium" pitchFamily="34" charset="0"/>
                <a:ea typeface="Libre Franklin Medium" pitchFamily="34" charset="-122"/>
                <a:cs typeface="Libre Franklin Medium" pitchFamily="34" charset="-120"/>
              </a:rPr>
              <a:t>The person with the most past visits wins the tie.</a:t>
            </a:r>
            <a:endParaRPr lang="en-US" sz="1150" dirty="0"/>
          </a:p>
        </p:txBody>
      </p:sp>
      <p:sp>
        <p:nvSpPr>
          <p:cNvPr id="21" name="Shape 17"/>
          <p:cNvSpPr/>
          <p:nvPr/>
        </p:nvSpPr>
        <p:spPr>
          <a:xfrm>
            <a:off x="8174736" y="4956048"/>
            <a:ext cx="3529584" cy="1170432"/>
          </a:xfrm>
          <a:prstGeom prst="roundRect">
            <a:avLst>
              <a:gd name="adj" fmla="val 9375"/>
            </a:avLst>
          </a:prstGeom>
          <a:solidFill>
            <a:srgbClr val="FFFFFF"/>
          </a:solidFill>
          <a:ln w="15875">
            <a:solidFill>
              <a:srgbClr val="F57F00"/>
            </a:solidFill>
            <a:prstDash val="solid"/>
          </a:ln>
        </p:spPr>
      </p:sp>
      <p:sp>
        <p:nvSpPr>
          <p:cNvPr id="22" name="Text 18"/>
          <p:cNvSpPr/>
          <p:nvPr/>
        </p:nvSpPr>
        <p:spPr>
          <a:xfrm>
            <a:off x="8412480" y="5102352"/>
            <a:ext cx="3054096" cy="274320"/>
          </a:xfrm>
          <a:prstGeom prst="rect">
            <a:avLst/>
          </a:prstGeom>
          <a:noFill/>
          <a:ln/>
        </p:spPr>
        <p:txBody>
          <a:bodyPr wrap="square" lIns="0" tIns="0" rIns="0" bIns="0" rtlCol="0" anchor="ctr"/>
          <a:lstStyle/>
          <a:p>
            <a:pPr indent="0" marL="0">
              <a:buNone/>
            </a:pPr>
            <a:r>
              <a:rPr lang="en-US" sz="1300" b="1" dirty="0">
                <a:solidFill>
                  <a:srgbClr val="F57F00"/>
                </a:solidFill>
                <a:latin typeface="Libre Franklin" pitchFamily="34" charset="0"/>
                <a:ea typeface="Libre Franklin" pitchFamily="34" charset="-122"/>
                <a:cs typeface="Libre Franklin" pitchFamily="34" charset="-120"/>
              </a:rPr>
              <a:t>Close but not tied</a:t>
            </a:r>
            <a:endParaRPr lang="en-US" sz="1300" dirty="0"/>
          </a:p>
        </p:txBody>
      </p:sp>
      <p:sp>
        <p:nvSpPr>
          <p:cNvPr id="23" name="Text 19"/>
          <p:cNvSpPr/>
          <p:nvPr/>
        </p:nvSpPr>
        <p:spPr>
          <a:xfrm>
            <a:off x="8412480" y="5413248"/>
            <a:ext cx="3054096" cy="640080"/>
          </a:xfrm>
          <a:prstGeom prst="rect">
            <a:avLst/>
          </a:prstGeom>
          <a:noFill/>
          <a:ln/>
        </p:spPr>
        <p:txBody>
          <a:bodyPr wrap="square" lIns="0" tIns="0" rIns="0" bIns="0" rtlCol="0" anchor="t"/>
          <a:lstStyle/>
          <a:p>
            <a:pPr indent="0" marL="0">
              <a:lnSpc>
                <a:spcPts val="1500"/>
              </a:lnSpc>
              <a:buNone/>
            </a:pPr>
            <a:r>
              <a:rPr lang="en-US" sz="1150" dirty="0">
                <a:solidFill>
                  <a:srgbClr val="000000"/>
                </a:solidFill>
                <a:latin typeface="Libre Franklin Medium" pitchFamily="34" charset="0"/>
                <a:ea typeface="Libre Franklin Medium" pitchFamily="34" charset="-122"/>
                <a:cs typeface="Libre Franklin Medium" pitchFamily="34" charset="-120"/>
              </a:rPr>
              <a:t>Still assign, but flag it so a coordinator can look before it is confirmed.</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indent="0" marL="0">
              <a:buNone/>
            </a:pPr>
            <a:r>
              <a:rPr lang="en-US" sz="1100" b="1" spc="140" kern="0" dirty="0">
                <a:solidFill>
                  <a:srgbClr val="91BAF4"/>
                </a:solidFill>
                <a:latin typeface="Libre Franklin" pitchFamily="34" charset="0"/>
                <a:ea typeface="Libre Franklin" pitchFamily="34" charset="-122"/>
                <a:cs typeface="Libre Franklin" pitchFamily="34" charset="-120"/>
              </a:rPr>
              <a:t>SAFETY STOPS</a:t>
            </a:r>
            <a:endParaRPr lang="en-US" sz="1100" dirty="0"/>
          </a:p>
        </p:txBody>
      </p:sp>
      <p:sp>
        <p:nvSpPr>
          <p:cNvPr id="3" name="Text 1"/>
          <p:cNvSpPr/>
          <p:nvPr/>
        </p:nvSpPr>
        <p:spPr>
          <a:xfrm>
            <a:off x="566928" y="658368"/>
            <a:ext cx="11064240" cy="566928"/>
          </a:xfrm>
          <a:prstGeom prst="rect">
            <a:avLst/>
          </a:prstGeom>
          <a:noFill/>
          <a:ln/>
        </p:spPr>
        <p:txBody>
          <a:bodyPr wrap="square" lIns="0" tIns="0" rIns="0" bIns="0" rtlCol="0" anchor="ctr"/>
          <a:lstStyle/>
          <a:p>
            <a:pPr indent="0" marL="0">
              <a:buNone/>
            </a:pPr>
            <a:r>
              <a:rPr lang="en-US" sz="3000" b="1" spc="-20" kern="0" dirty="0">
                <a:solidFill>
                  <a:srgbClr val="3366FF"/>
                </a:solidFill>
                <a:latin typeface="Libre Franklin" pitchFamily="34" charset="0"/>
                <a:ea typeface="Libre Franklin" pitchFamily="34" charset="-122"/>
                <a:cs typeface="Libre Franklin" pitchFamily="34" charset="-120"/>
              </a:rPr>
              <a:t>When a person decides instead of the score</a:t>
            </a:r>
            <a:endParaRPr lang="en-US" sz="3000" dirty="0"/>
          </a:p>
        </p:txBody>
      </p:sp>
      <p:sp>
        <p:nvSpPr>
          <p:cNvPr id="4" name="Text 2"/>
          <p:cNvSpPr/>
          <p:nvPr/>
        </p:nvSpPr>
        <p:spPr>
          <a:xfrm>
            <a:off x="566928" y="6382512"/>
            <a:ext cx="5486400" cy="256032"/>
          </a:xfrm>
          <a:prstGeom prst="rect">
            <a:avLst/>
          </a:prstGeom>
          <a:noFill/>
          <a:ln/>
        </p:spPr>
        <p:txBody>
          <a:bodyPr wrap="square" lIns="0" tIns="0" rIns="0" bIns="0" rtlCol="0" anchor="ctr"/>
          <a:lstStyle/>
          <a:p>
            <a:pPr algn="l" indent="0" marL="0">
              <a:buNone/>
            </a:pPr>
            <a:r>
              <a:rPr lang="en-US" sz="900" dirty="0">
                <a:solidFill>
                  <a:srgbClr val="91BAF4"/>
                </a:solidFill>
                <a:latin typeface="Libre Franklin Medium" pitchFamily="34" charset="0"/>
                <a:ea typeface="Libre Franklin Medium" pitchFamily="34" charset="-122"/>
                <a:cs typeface="Libre Franklin Medium" pitchFamily="34" charset="-120"/>
              </a:rPr>
              <a:t>The Early Social Development Lab at UofSC</a:t>
            </a:r>
            <a:endParaRPr lang="en-US" sz="900" dirty="0"/>
          </a:p>
        </p:txBody>
      </p:sp>
      <p:sp>
        <p:nvSpPr>
          <p:cNvPr id="5" name="Text 3"/>
          <p:cNvSpPr/>
          <p:nvPr/>
        </p:nvSpPr>
        <p:spPr>
          <a:xfrm>
            <a:off x="10984687" y="6382512"/>
            <a:ext cx="640080" cy="256032"/>
          </a:xfrm>
          <a:prstGeom prst="rect">
            <a:avLst/>
          </a:prstGeom>
          <a:noFill/>
          <a:ln/>
        </p:spPr>
        <p:txBody>
          <a:bodyPr wrap="square" lIns="0" tIns="0" rIns="0" bIns="0" rtlCol="0" anchor="ctr"/>
          <a:lstStyle/>
          <a:p>
            <a:pPr algn="r" indent="0" marL="0">
              <a:buNone/>
            </a:pPr>
            <a:r>
              <a:rPr lang="en-US" sz="900" dirty="0">
                <a:solidFill>
                  <a:srgbClr val="91BAF4"/>
                </a:solidFill>
                <a:latin typeface="Libre Franklin Medium" pitchFamily="34" charset="0"/>
                <a:ea typeface="Libre Franklin Medium" pitchFamily="34" charset="-122"/>
                <a:cs typeface="Libre Franklin Medium" pitchFamily="34" charset="-120"/>
              </a:rPr>
              <a:t>13</a:t>
            </a:r>
            <a:endParaRPr lang="en-US" sz="900" dirty="0"/>
          </a:p>
        </p:txBody>
      </p:sp>
      <p:sp>
        <p:nvSpPr>
          <p:cNvPr id="6" name="Shape 4"/>
          <p:cNvSpPr/>
          <p:nvPr/>
        </p:nvSpPr>
        <p:spPr>
          <a:xfrm>
            <a:off x="566928" y="1691640"/>
            <a:ext cx="11064240" cy="1097280"/>
          </a:xfrm>
          <a:prstGeom prst="roundRect">
            <a:avLst>
              <a:gd name="adj" fmla="val 11667"/>
            </a:avLst>
          </a:prstGeom>
          <a:solidFill>
            <a:srgbClr val="F4F4F6"/>
          </a:solidFill>
          <a:ln w="15875">
            <a:solidFill>
              <a:srgbClr val="D74E2D"/>
            </a:solidFill>
            <a:prstDash val="solid"/>
          </a:ln>
        </p:spPr>
      </p:sp>
      <p:sp>
        <p:nvSpPr>
          <p:cNvPr id="7" name="Shape 5"/>
          <p:cNvSpPr/>
          <p:nvPr/>
        </p:nvSpPr>
        <p:spPr>
          <a:xfrm>
            <a:off x="841248" y="2020824"/>
            <a:ext cx="713232" cy="438912"/>
          </a:xfrm>
          <a:prstGeom prst="roundRect">
            <a:avLst>
              <a:gd name="adj" fmla="val 20833"/>
            </a:avLst>
          </a:prstGeom>
          <a:solidFill>
            <a:srgbClr val="D74E2D"/>
          </a:solidFill>
          <a:ln/>
        </p:spPr>
      </p:sp>
      <p:sp>
        <p:nvSpPr>
          <p:cNvPr id="8" name="Text 6"/>
          <p:cNvSpPr/>
          <p:nvPr/>
        </p:nvSpPr>
        <p:spPr>
          <a:xfrm>
            <a:off x="841248" y="2020824"/>
            <a:ext cx="713232" cy="438912"/>
          </a:xfrm>
          <a:prstGeom prst="rect">
            <a:avLst/>
          </a:prstGeom>
          <a:noFill/>
          <a:ln/>
        </p:spPr>
        <p:txBody>
          <a:bodyPr wrap="square" lIns="0" tIns="0" rIns="0" bIns="0" rtlCol="0" anchor="ctr"/>
          <a:lstStyle/>
          <a:p>
            <a:pPr algn="ctr" indent="0" marL="0">
              <a:buNone/>
            </a:pPr>
            <a:r>
              <a:rPr lang="en-US" sz="1200" b="1" dirty="0">
                <a:solidFill>
                  <a:srgbClr val="F4F4F6"/>
                </a:solidFill>
                <a:latin typeface="Libre Franklin" pitchFamily="34" charset="0"/>
                <a:ea typeface="Libre Franklin" pitchFamily="34" charset="-122"/>
                <a:cs typeface="Libre Franklin" pitchFamily="34" charset="-120"/>
              </a:rPr>
              <a:t>YES</a:t>
            </a:r>
            <a:endParaRPr lang="en-US" sz="1200" dirty="0"/>
          </a:p>
        </p:txBody>
      </p:sp>
      <p:sp>
        <p:nvSpPr>
          <p:cNvPr id="9" name="Text 7"/>
          <p:cNvSpPr/>
          <p:nvPr/>
        </p:nvSpPr>
        <p:spPr>
          <a:xfrm>
            <a:off x="1737360" y="1837944"/>
            <a:ext cx="4480560" cy="804672"/>
          </a:xfrm>
          <a:prstGeom prst="rect">
            <a:avLst/>
          </a:prstGeom>
          <a:noFill/>
          <a:ln/>
        </p:spPr>
        <p:txBody>
          <a:bodyPr wrap="square" lIns="0" tIns="0" rIns="0" bIns="0" rtlCol="0" anchor="ctr"/>
          <a:lstStyle/>
          <a:p>
            <a:pPr indent="0" marL="0">
              <a:lnSpc>
                <a:spcPts val="1900"/>
              </a:lnSpc>
              <a:buNone/>
            </a:pPr>
            <a:r>
              <a:rPr lang="en-US" sz="1500" b="1" dirty="0">
                <a:solidFill>
                  <a:srgbClr val="000000"/>
                </a:solidFill>
                <a:latin typeface="Libre Franklin" pitchFamily="34" charset="0"/>
                <a:ea typeface="Libre Franklin" pitchFamily="34" charset="-122"/>
                <a:cs typeface="Libre Franklin" pitchFamily="34" charset="-120"/>
              </a:rPr>
              <a:t>Does the family have a dual relationship flag?</a:t>
            </a:r>
            <a:endParaRPr lang="en-US" sz="1500" dirty="0"/>
          </a:p>
        </p:txBody>
      </p:sp>
      <p:sp>
        <p:nvSpPr>
          <p:cNvPr id="10" name="Shape 8"/>
          <p:cNvSpPr/>
          <p:nvPr/>
        </p:nvSpPr>
        <p:spPr>
          <a:xfrm>
            <a:off x="6327648" y="1965960"/>
            <a:ext cx="14630" cy="548640"/>
          </a:xfrm>
          <a:prstGeom prst="rect">
            <a:avLst/>
          </a:prstGeom>
          <a:solidFill>
            <a:srgbClr val="D74E2D"/>
          </a:solidFill>
          <a:ln/>
        </p:spPr>
      </p:sp>
      <p:sp>
        <p:nvSpPr>
          <p:cNvPr id="11" name="Text 9"/>
          <p:cNvSpPr/>
          <p:nvPr/>
        </p:nvSpPr>
        <p:spPr>
          <a:xfrm>
            <a:off x="6601968" y="1837944"/>
            <a:ext cx="4754880" cy="804672"/>
          </a:xfrm>
          <a:prstGeom prst="rect">
            <a:avLst/>
          </a:prstGeom>
          <a:noFill/>
          <a:ln/>
        </p:spPr>
        <p:txBody>
          <a:bodyPr wrap="square" lIns="0" tIns="0" rIns="0" bIns="0" rtlCol="0" anchor="ctr"/>
          <a:lstStyle/>
          <a:p>
            <a:pPr indent="0" marL="0">
              <a:lnSpc>
                <a:spcPts val="1700"/>
              </a:lnSpc>
              <a:buNone/>
            </a:pPr>
            <a:r>
              <a:rPr lang="en-US" sz="1250" dirty="0">
                <a:solidFill>
                  <a:srgbClr val="000000"/>
                </a:solidFill>
                <a:latin typeface="Libre Franklin Medium" pitchFamily="34" charset="0"/>
                <a:ea typeface="Libre Franklin Medium" pitchFamily="34" charset="-122"/>
                <a:cs typeface="Libre Franklin Medium" pitchFamily="34" charset="-120"/>
              </a:rPr>
              <a:t>Remove that person from the pool. No score is computed for them at all.</a:t>
            </a:r>
            <a:endParaRPr lang="en-US" sz="1250" dirty="0"/>
          </a:p>
        </p:txBody>
      </p:sp>
      <p:sp>
        <p:nvSpPr>
          <p:cNvPr id="12" name="Shape 10"/>
          <p:cNvSpPr/>
          <p:nvPr/>
        </p:nvSpPr>
        <p:spPr>
          <a:xfrm>
            <a:off x="566928" y="2990088"/>
            <a:ext cx="11064240" cy="1097280"/>
          </a:xfrm>
          <a:prstGeom prst="roundRect">
            <a:avLst>
              <a:gd name="adj" fmla="val 11667"/>
            </a:avLst>
          </a:prstGeom>
          <a:solidFill>
            <a:srgbClr val="F4F4F6"/>
          </a:solidFill>
          <a:ln w="15875">
            <a:solidFill>
              <a:srgbClr val="F57F00"/>
            </a:solidFill>
            <a:prstDash val="solid"/>
          </a:ln>
        </p:spPr>
      </p:sp>
      <p:sp>
        <p:nvSpPr>
          <p:cNvPr id="13" name="Shape 11"/>
          <p:cNvSpPr/>
          <p:nvPr/>
        </p:nvSpPr>
        <p:spPr>
          <a:xfrm>
            <a:off x="841248" y="3319272"/>
            <a:ext cx="713232" cy="438912"/>
          </a:xfrm>
          <a:prstGeom prst="roundRect">
            <a:avLst>
              <a:gd name="adj" fmla="val 20833"/>
            </a:avLst>
          </a:prstGeom>
          <a:solidFill>
            <a:srgbClr val="F57F00"/>
          </a:solidFill>
          <a:ln/>
        </p:spPr>
      </p:sp>
      <p:sp>
        <p:nvSpPr>
          <p:cNvPr id="14" name="Text 12"/>
          <p:cNvSpPr/>
          <p:nvPr/>
        </p:nvSpPr>
        <p:spPr>
          <a:xfrm>
            <a:off x="841248" y="3319272"/>
            <a:ext cx="713232" cy="438912"/>
          </a:xfrm>
          <a:prstGeom prst="rect">
            <a:avLst/>
          </a:prstGeom>
          <a:noFill/>
          <a:ln/>
        </p:spPr>
        <p:txBody>
          <a:bodyPr wrap="square" lIns="0" tIns="0" rIns="0" bIns="0" rtlCol="0" anchor="ctr"/>
          <a:lstStyle/>
          <a:p>
            <a:pPr algn="ctr" indent="0" marL="0">
              <a:buNone/>
            </a:pPr>
            <a:r>
              <a:rPr lang="en-US" sz="1200" b="1" dirty="0">
                <a:solidFill>
                  <a:srgbClr val="F4F4F6"/>
                </a:solidFill>
                <a:latin typeface="Libre Franklin" pitchFamily="34" charset="0"/>
                <a:ea typeface="Libre Franklin" pitchFamily="34" charset="-122"/>
                <a:cs typeface="Libre Franklin" pitchFamily="34" charset="-120"/>
              </a:rPr>
              <a:t>YES</a:t>
            </a:r>
            <a:endParaRPr lang="en-US" sz="1200" dirty="0"/>
          </a:p>
        </p:txBody>
      </p:sp>
      <p:sp>
        <p:nvSpPr>
          <p:cNvPr id="15" name="Text 13"/>
          <p:cNvSpPr/>
          <p:nvPr/>
        </p:nvSpPr>
        <p:spPr>
          <a:xfrm>
            <a:off x="1737360" y="3136392"/>
            <a:ext cx="4480560" cy="804672"/>
          </a:xfrm>
          <a:prstGeom prst="rect">
            <a:avLst/>
          </a:prstGeom>
          <a:noFill/>
          <a:ln/>
        </p:spPr>
        <p:txBody>
          <a:bodyPr wrap="square" lIns="0" tIns="0" rIns="0" bIns="0" rtlCol="0" anchor="ctr"/>
          <a:lstStyle/>
          <a:p>
            <a:pPr indent="0" marL="0">
              <a:lnSpc>
                <a:spcPts val="1900"/>
              </a:lnSpc>
              <a:buNone/>
            </a:pPr>
            <a:r>
              <a:rPr lang="en-US" sz="1500" b="1" dirty="0">
                <a:solidFill>
                  <a:srgbClr val="000000"/>
                </a:solidFill>
                <a:latin typeface="Libre Franklin" pitchFamily="34" charset="0"/>
                <a:ea typeface="Libre Franklin" pitchFamily="34" charset="-122"/>
                <a:cs typeface="Libre Franklin" pitchFamily="34" charset="-120"/>
              </a:rPr>
              <a:t>Is there a PI hold on the family record?</a:t>
            </a:r>
            <a:endParaRPr lang="en-US" sz="1500" dirty="0"/>
          </a:p>
        </p:txBody>
      </p:sp>
      <p:sp>
        <p:nvSpPr>
          <p:cNvPr id="16" name="Shape 14"/>
          <p:cNvSpPr/>
          <p:nvPr/>
        </p:nvSpPr>
        <p:spPr>
          <a:xfrm>
            <a:off x="6327648" y="3264408"/>
            <a:ext cx="14630" cy="548640"/>
          </a:xfrm>
          <a:prstGeom prst="rect">
            <a:avLst/>
          </a:prstGeom>
          <a:solidFill>
            <a:srgbClr val="F57F00"/>
          </a:solidFill>
          <a:ln/>
        </p:spPr>
      </p:sp>
      <p:sp>
        <p:nvSpPr>
          <p:cNvPr id="17" name="Text 15"/>
          <p:cNvSpPr/>
          <p:nvPr/>
        </p:nvSpPr>
        <p:spPr>
          <a:xfrm>
            <a:off x="6601968" y="3136392"/>
            <a:ext cx="4754880" cy="804672"/>
          </a:xfrm>
          <a:prstGeom prst="rect">
            <a:avLst/>
          </a:prstGeom>
          <a:noFill/>
          <a:ln/>
        </p:spPr>
        <p:txBody>
          <a:bodyPr wrap="square" lIns="0" tIns="0" rIns="0" bIns="0" rtlCol="0" anchor="ctr"/>
          <a:lstStyle/>
          <a:p>
            <a:pPr indent="0" marL="0">
              <a:lnSpc>
                <a:spcPts val="1700"/>
              </a:lnSpc>
              <a:buNone/>
            </a:pPr>
            <a:r>
              <a:rPr lang="en-US" sz="1250" dirty="0">
                <a:solidFill>
                  <a:srgbClr val="000000"/>
                </a:solidFill>
                <a:latin typeface="Libre Franklin Medium" pitchFamily="34" charset="0"/>
                <a:ea typeface="Libre Franklin Medium" pitchFamily="34" charset="-122"/>
                <a:cs typeface="Libre Franklin Medium" pitchFamily="34" charset="-120"/>
              </a:rPr>
              <a:t>Pause the automatic pick and route the visit to the PI for a manual decision.</a:t>
            </a:r>
            <a:endParaRPr lang="en-US" sz="1250" dirty="0"/>
          </a:p>
        </p:txBody>
      </p:sp>
      <p:sp>
        <p:nvSpPr>
          <p:cNvPr id="18" name="Shape 16"/>
          <p:cNvSpPr/>
          <p:nvPr/>
        </p:nvSpPr>
        <p:spPr>
          <a:xfrm>
            <a:off x="566928" y="4288536"/>
            <a:ext cx="11064240" cy="1097280"/>
          </a:xfrm>
          <a:prstGeom prst="roundRect">
            <a:avLst>
              <a:gd name="adj" fmla="val 11667"/>
            </a:avLst>
          </a:prstGeom>
          <a:solidFill>
            <a:srgbClr val="E6EEFC"/>
          </a:solidFill>
          <a:ln w="15875">
            <a:solidFill>
              <a:srgbClr val="3366FF"/>
            </a:solidFill>
            <a:prstDash val="solid"/>
          </a:ln>
        </p:spPr>
      </p:sp>
      <p:sp>
        <p:nvSpPr>
          <p:cNvPr id="19" name="Shape 17"/>
          <p:cNvSpPr/>
          <p:nvPr/>
        </p:nvSpPr>
        <p:spPr>
          <a:xfrm>
            <a:off x="841248" y="4617720"/>
            <a:ext cx="713232" cy="438912"/>
          </a:xfrm>
          <a:prstGeom prst="roundRect">
            <a:avLst>
              <a:gd name="adj" fmla="val 20833"/>
            </a:avLst>
          </a:prstGeom>
          <a:solidFill>
            <a:srgbClr val="3366FF"/>
          </a:solidFill>
          <a:ln/>
        </p:spPr>
      </p:sp>
      <p:sp>
        <p:nvSpPr>
          <p:cNvPr id="20" name="Text 18"/>
          <p:cNvSpPr/>
          <p:nvPr/>
        </p:nvSpPr>
        <p:spPr>
          <a:xfrm>
            <a:off x="841248" y="4617720"/>
            <a:ext cx="713232" cy="438912"/>
          </a:xfrm>
          <a:prstGeom prst="rect">
            <a:avLst/>
          </a:prstGeom>
          <a:noFill/>
          <a:ln/>
        </p:spPr>
        <p:txBody>
          <a:bodyPr wrap="square" lIns="0" tIns="0" rIns="0" bIns="0" rtlCol="0" anchor="ctr"/>
          <a:lstStyle/>
          <a:p>
            <a:pPr algn="ctr" indent="0" marL="0">
              <a:buNone/>
            </a:pPr>
            <a:r>
              <a:rPr lang="en-US" sz="1200" b="1" dirty="0">
                <a:solidFill>
                  <a:srgbClr val="F4F4F6"/>
                </a:solidFill>
                <a:latin typeface="Libre Franklin" pitchFamily="34" charset="0"/>
                <a:ea typeface="Libre Franklin" pitchFamily="34" charset="-122"/>
                <a:cs typeface="Libre Franklin" pitchFamily="34" charset="-120"/>
              </a:rPr>
              <a:t>GO</a:t>
            </a:r>
            <a:endParaRPr lang="en-US" sz="1200" dirty="0"/>
          </a:p>
        </p:txBody>
      </p:sp>
      <p:sp>
        <p:nvSpPr>
          <p:cNvPr id="21" name="Text 19"/>
          <p:cNvSpPr/>
          <p:nvPr/>
        </p:nvSpPr>
        <p:spPr>
          <a:xfrm>
            <a:off x="1737360" y="4434840"/>
            <a:ext cx="4480560" cy="804672"/>
          </a:xfrm>
          <a:prstGeom prst="rect">
            <a:avLst/>
          </a:prstGeom>
          <a:noFill/>
          <a:ln/>
        </p:spPr>
        <p:txBody>
          <a:bodyPr wrap="square" lIns="0" tIns="0" rIns="0" bIns="0" rtlCol="0" anchor="ctr"/>
          <a:lstStyle/>
          <a:p>
            <a:pPr indent="0" marL="0">
              <a:lnSpc>
                <a:spcPts val="1900"/>
              </a:lnSpc>
              <a:buNone/>
            </a:pPr>
            <a:r>
              <a:rPr lang="en-US" sz="1500" b="1" dirty="0">
                <a:solidFill>
                  <a:srgbClr val="000000"/>
                </a:solidFill>
                <a:latin typeface="Libre Franklin" pitchFamily="34" charset="0"/>
                <a:ea typeface="Libre Franklin" pitchFamily="34" charset="-122"/>
                <a:cs typeface="Libre Franklin" pitchFamily="34" charset="-120"/>
              </a:rPr>
              <a:t>Neither flag is set</a:t>
            </a:r>
            <a:endParaRPr lang="en-US" sz="1500" dirty="0"/>
          </a:p>
        </p:txBody>
      </p:sp>
      <p:sp>
        <p:nvSpPr>
          <p:cNvPr id="22" name="Shape 20"/>
          <p:cNvSpPr/>
          <p:nvPr/>
        </p:nvSpPr>
        <p:spPr>
          <a:xfrm>
            <a:off x="6327648" y="4562856"/>
            <a:ext cx="14630" cy="548640"/>
          </a:xfrm>
          <a:prstGeom prst="rect">
            <a:avLst/>
          </a:prstGeom>
          <a:solidFill>
            <a:srgbClr val="3366FF"/>
          </a:solidFill>
          <a:ln/>
        </p:spPr>
      </p:sp>
      <p:sp>
        <p:nvSpPr>
          <p:cNvPr id="23" name="Text 21"/>
          <p:cNvSpPr/>
          <p:nvPr/>
        </p:nvSpPr>
        <p:spPr>
          <a:xfrm>
            <a:off x="6601968" y="4434840"/>
            <a:ext cx="4754880" cy="804672"/>
          </a:xfrm>
          <a:prstGeom prst="rect">
            <a:avLst/>
          </a:prstGeom>
          <a:noFill/>
          <a:ln/>
        </p:spPr>
        <p:txBody>
          <a:bodyPr wrap="square" lIns="0" tIns="0" rIns="0" bIns="0" rtlCol="0" anchor="ctr"/>
          <a:lstStyle/>
          <a:p>
            <a:pPr indent="0" marL="0">
              <a:lnSpc>
                <a:spcPts val="1700"/>
              </a:lnSpc>
              <a:buNone/>
            </a:pPr>
            <a:r>
              <a:rPr lang="en-US" sz="1250" dirty="0">
                <a:solidFill>
                  <a:srgbClr val="000000"/>
                </a:solidFill>
                <a:latin typeface="Libre Franklin Medium" pitchFamily="34" charset="0"/>
                <a:ea typeface="Libre Franklin Medium" pitchFamily="34" charset="-122"/>
                <a:cs typeface="Libre Franklin Medium" pitchFamily="34" charset="-120"/>
              </a:rPr>
              <a:t>Score the eligible pool, pick the top person, and confirm automatically.</a:t>
            </a:r>
            <a:endParaRPr lang="en-US" sz="1250" dirty="0"/>
          </a:p>
        </p:txBody>
      </p:sp>
      <p:sp>
        <p:nvSpPr>
          <p:cNvPr id="24" name="Shape 22"/>
          <p:cNvSpPr/>
          <p:nvPr/>
        </p:nvSpPr>
        <p:spPr>
          <a:xfrm>
            <a:off x="566928" y="5596128"/>
            <a:ext cx="11064240" cy="603504"/>
          </a:xfrm>
          <a:prstGeom prst="roundRect">
            <a:avLst>
              <a:gd name="adj" fmla="val 18182"/>
            </a:avLst>
          </a:prstGeom>
          <a:solidFill>
            <a:srgbClr val="3366FF"/>
          </a:solidFill>
          <a:ln/>
        </p:spPr>
      </p:sp>
      <p:sp>
        <p:nvSpPr>
          <p:cNvPr id="25" name="Text 23"/>
          <p:cNvSpPr/>
          <p:nvPr/>
        </p:nvSpPr>
        <p:spPr>
          <a:xfrm>
            <a:off x="877824" y="5596128"/>
            <a:ext cx="10424160" cy="603504"/>
          </a:xfrm>
          <a:prstGeom prst="rect">
            <a:avLst/>
          </a:prstGeom>
          <a:noFill/>
          <a:ln/>
        </p:spPr>
        <p:txBody>
          <a:bodyPr wrap="square" lIns="0" tIns="0" rIns="0" bIns="0" rtlCol="0" anchor="ctr"/>
          <a:lstStyle/>
          <a:p>
            <a:pPr indent="0" marL="0">
              <a:buNone/>
            </a:pPr>
            <a:r>
              <a:rPr lang="en-US" sz="1350" b="1" dirty="0">
                <a:solidFill>
                  <a:srgbClr val="F4F4F6"/>
                </a:solidFill>
                <a:latin typeface="Libre Franklin" pitchFamily="34" charset="0"/>
                <a:ea typeface="Libre Franklin" pitchFamily="34" charset="-122"/>
                <a:cs typeface="Libre Franklin" pitchFamily="34" charset="-120"/>
              </a:rPr>
              <a:t>These checks run before scoring, never after. A family concern is a stop sign, not a penalty term.</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37744"/>
          </a:xfrm>
          <a:prstGeom prst="rect">
            <a:avLst/>
          </a:prstGeom>
          <a:noFill/>
          <a:ln/>
        </p:spPr>
        <p:txBody>
          <a:bodyPr wrap="square" lIns="0" tIns="0" rIns="0" bIns="0" rtlCol="0" anchor="ctr"/>
          <a:lstStyle/>
          <a:p>
            <a:pPr indent="0" marL="0">
              <a:buNone/>
            </a:pPr>
            <a:r>
              <a:rPr lang="en-US" sz="1100" b="1" spc="140" kern="0" dirty="0">
                <a:solidFill>
                  <a:srgbClr val="91BAF4"/>
                </a:solidFill>
                <a:latin typeface="Libre Franklin" pitchFamily="34" charset="0"/>
                <a:ea typeface="Libre Franklin" pitchFamily="34" charset="-122"/>
                <a:cs typeface="Libre Franklin" pitchFamily="34" charset="-120"/>
              </a:rPr>
              <a:t>WHAT IT NEEDS TO RUN</a:t>
            </a:r>
            <a:endParaRPr lang="en-US" sz="1100" dirty="0"/>
          </a:p>
        </p:txBody>
      </p:sp>
      <p:sp>
        <p:nvSpPr>
          <p:cNvPr id="3" name="Text 1"/>
          <p:cNvSpPr/>
          <p:nvPr/>
        </p:nvSpPr>
        <p:spPr>
          <a:xfrm>
            <a:off x="566928" y="658368"/>
            <a:ext cx="11064240" cy="566928"/>
          </a:xfrm>
          <a:prstGeom prst="rect">
            <a:avLst/>
          </a:prstGeom>
          <a:noFill/>
          <a:ln/>
        </p:spPr>
        <p:txBody>
          <a:bodyPr wrap="square" lIns="0" tIns="0" rIns="0" bIns="0" rtlCol="0" anchor="ctr"/>
          <a:lstStyle/>
          <a:p>
            <a:pPr indent="0" marL="0">
              <a:buNone/>
            </a:pPr>
            <a:r>
              <a:rPr lang="en-US" sz="3000" b="1" spc="-20" kern="0" dirty="0">
                <a:solidFill>
                  <a:srgbClr val="3366FF"/>
                </a:solidFill>
                <a:latin typeface="Libre Franklin" pitchFamily="34" charset="0"/>
                <a:ea typeface="Libre Franklin" pitchFamily="34" charset="-122"/>
                <a:cs typeface="Libre Franklin" pitchFamily="34" charset="-120"/>
              </a:rPr>
              <a:t>Eight tables feed the whole model</a:t>
            </a:r>
            <a:endParaRPr lang="en-US" sz="3000" dirty="0"/>
          </a:p>
        </p:txBody>
      </p:sp>
      <p:sp>
        <p:nvSpPr>
          <p:cNvPr id="4" name="Text 2"/>
          <p:cNvSpPr/>
          <p:nvPr/>
        </p:nvSpPr>
        <p:spPr>
          <a:xfrm>
            <a:off x="566928" y="6382512"/>
            <a:ext cx="5486400" cy="256032"/>
          </a:xfrm>
          <a:prstGeom prst="rect">
            <a:avLst/>
          </a:prstGeom>
          <a:noFill/>
          <a:ln/>
        </p:spPr>
        <p:txBody>
          <a:bodyPr wrap="square" lIns="0" tIns="0" rIns="0" bIns="0" rtlCol="0" anchor="ctr"/>
          <a:lstStyle/>
          <a:p>
            <a:pPr algn="l" indent="0" marL="0">
              <a:buNone/>
            </a:pPr>
            <a:r>
              <a:rPr lang="en-US" sz="900" dirty="0">
                <a:solidFill>
                  <a:srgbClr val="91BAF4"/>
                </a:solidFill>
                <a:latin typeface="Libre Franklin Medium" pitchFamily="34" charset="0"/>
                <a:ea typeface="Libre Franklin Medium" pitchFamily="34" charset="-122"/>
                <a:cs typeface="Libre Franklin Medium" pitchFamily="34" charset="-120"/>
              </a:rPr>
              <a:t>The Early Social Development Lab at UofSC</a:t>
            </a:r>
            <a:endParaRPr lang="en-US" sz="900" dirty="0"/>
          </a:p>
        </p:txBody>
      </p:sp>
      <p:sp>
        <p:nvSpPr>
          <p:cNvPr id="5" name="Text 3"/>
          <p:cNvSpPr/>
          <p:nvPr/>
        </p:nvSpPr>
        <p:spPr>
          <a:xfrm>
            <a:off x="10984687" y="6382512"/>
            <a:ext cx="640080" cy="256032"/>
          </a:xfrm>
          <a:prstGeom prst="rect">
            <a:avLst/>
          </a:prstGeom>
          <a:noFill/>
          <a:ln/>
        </p:spPr>
        <p:txBody>
          <a:bodyPr wrap="square" lIns="0" tIns="0" rIns="0" bIns="0" rtlCol="0" anchor="ctr"/>
          <a:lstStyle/>
          <a:p>
            <a:pPr algn="r" indent="0" marL="0">
              <a:buNone/>
            </a:pPr>
            <a:r>
              <a:rPr lang="en-US" sz="900" dirty="0">
                <a:solidFill>
                  <a:srgbClr val="91BAF4"/>
                </a:solidFill>
                <a:latin typeface="Libre Franklin Medium" pitchFamily="34" charset="0"/>
                <a:ea typeface="Libre Franklin Medium" pitchFamily="34" charset="-122"/>
                <a:cs typeface="Libre Franklin Medium" pitchFamily="34" charset="-120"/>
              </a:rPr>
              <a:t>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64240" cy="914400"/>
        </p:xfrm>
        <a:graphic>
          <a:graphicData uri="http://schemas.openxmlformats.org/drawingml/2006/table">
            <a:tbl>
              <a:tblPr/>
              <a:tblGrid>
                <a:gridCol w="2651760"/>
                <a:gridCol w="4754880"/>
                <a:gridCol w="3657600"/>
              </a:tblGrid>
              <a:tr h="384048">
                <a:tc>
                  <a:txBody>
                    <a:bodyPr/>
                    <a:lstStyle/>
                    <a:p>
                      <a:pPr indent="0" marL="0">
                        <a:buNone/>
                      </a:pPr>
                      <a:r>
                        <a:rPr lang="en-US" sz="1250" b="1" dirty="0">
                          <a:solidFill>
                            <a:srgbClr val="F4F4F6"/>
                          </a:solidFill>
                          <a:latin typeface="Libre Franklin" pitchFamily="34" charset="0"/>
                          <a:ea typeface="Libre Franklin" pitchFamily="34" charset="-122"/>
                          <a:cs typeface="Libre Franklin" pitchFamily="34" charset="-120"/>
                        </a:rPr>
                        <a:t>Table</a:t>
                      </a:r>
                      <a:endParaRPr lang="en-US" sz="1250" dirty="0">
                        <a:latin typeface="Libre Franklin" charset="0"/>
                        <a:ea typeface="Libre Franklin" charset="0"/>
                        <a:cs typeface="Libre Franklin" charset="0"/>
                      </a:endParaRPr>
                    </a:p>
                  </a:txBody>
                  <a:tcPr marL="101600" marR="101600" marT="38100" marB="381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3366FF"/>
                    </a:solidFill>
                  </a:tcPr>
                </a:tc>
                <a:tc>
                  <a:txBody>
                    <a:bodyPr/>
                    <a:lstStyle/>
                    <a:p>
                      <a:pPr indent="0" marL="0">
                        <a:buNone/>
                      </a:pPr>
                      <a:r>
                        <a:rPr lang="en-US" sz="1250" b="1" dirty="0">
                          <a:solidFill>
                            <a:srgbClr val="F4F4F6"/>
                          </a:solidFill>
                          <a:latin typeface="Libre Franklin" pitchFamily="34" charset="0"/>
                          <a:ea typeface="Libre Franklin" pitchFamily="34" charset="-122"/>
                          <a:cs typeface="Libre Franklin" pitchFamily="34" charset="-120"/>
                        </a:rPr>
                        <a:t>Key fields</a:t>
                      </a:r>
                      <a:endParaRPr lang="en-US" sz="1250" dirty="0">
                        <a:latin typeface="Libre Franklin" charset="0"/>
                        <a:ea typeface="Libre Franklin" charset="0"/>
                        <a:cs typeface="Libre Franklin" charset="0"/>
                      </a:endParaRPr>
                    </a:p>
                  </a:txBody>
                  <a:tcPr marL="101600" marR="101600" marT="38100" marB="381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3366FF"/>
                    </a:solidFill>
                  </a:tcPr>
                </a:tc>
                <a:tc>
                  <a:txBody>
                    <a:bodyPr/>
                    <a:lstStyle/>
                    <a:p>
                      <a:pPr indent="0" marL="0">
                        <a:buNone/>
                      </a:pPr>
                      <a:r>
                        <a:rPr lang="en-US" sz="1250" b="1" dirty="0">
                          <a:solidFill>
                            <a:srgbClr val="F4F4F6"/>
                          </a:solidFill>
                          <a:latin typeface="Libre Franklin" pitchFamily="34" charset="0"/>
                          <a:ea typeface="Libre Franklin" pitchFamily="34" charset="-122"/>
                          <a:cs typeface="Libre Franklin" pitchFamily="34" charset="-120"/>
                        </a:rPr>
                        <a:t>Feeds</a:t>
                      </a:r>
                      <a:endParaRPr lang="en-US" sz="1250" dirty="0">
                        <a:latin typeface="Libre Franklin" charset="0"/>
                        <a:ea typeface="Libre Franklin" charset="0"/>
                        <a:cs typeface="Libre Franklin" charset="0"/>
                      </a:endParaRPr>
                    </a:p>
                  </a:txBody>
                  <a:tcPr marL="101600" marR="101600" marT="38100" marB="381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3366FF"/>
                    </a:solidFill>
                  </a:tcPr>
                </a:tc>
              </a:tr>
              <a:tr h="402336">
                <a:tc>
                  <a:txBody>
                    <a:bodyPr/>
                    <a:lstStyle/>
                    <a:p>
                      <a:pPr indent="0" marL="0">
                        <a:buNone/>
                      </a:pPr>
                      <a:r>
                        <a:rPr lang="en-US" sz="1200" b="1" dirty="0">
                          <a:solidFill>
                            <a:srgbClr val="3366FF"/>
                          </a:solidFill>
                          <a:latin typeface="Libre Franklin" pitchFamily="34" charset="0"/>
                          <a:ea typeface="Libre Franklin" pitchFamily="34" charset="-122"/>
                          <a:cs typeface="Libre Franklin" pitchFamily="34" charset="-120"/>
                        </a:rPr>
                        <a:t>availability</a:t>
                      </a:r>
                      <a:endParaRPr lang="en-US" sz="1200" dirty="0">
                        <a:latin typeface="Libre Franklin" charset="0"/>
                        <a:ea typeface="Libre Franklin" charset="0"/>
                        <a:cs typeface="Libre Franklin" charset="0"/>
                      </a:endParaRPr>
                    </a:p>
                  </a:txBody>
                  <a:tcPr marL="101600" marR="101600" marT="38100" marB="381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4F4F6"/>
                    </a:solidFill>
                  </a:tcPr>
                </a:tc>
                <a:tc>
                  <a:txBody>
                    <a:bodyPr/>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candidate id, date start, date end</a:t>
                      </a:r>
                      <a:endParaRPr lang="en-US" sz="1150" dirty="0">
                        <a:latin typeface="Libre Franklin Medium" charset="0"/>
                        <a:ea typeface="Libre Franklin Medium" charset="0"/>
                        <a:cs typeface="Libre Franklin Medium" charset="0"/>
                      </a:endParaRPr>
                    </a:p>
                  </a:txBody>
                  <a:tcPr marL="101600" marR="101600" marT="38100" marB="381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4F4F6"/>
                    </a:solidFill>
                  </a:tcPr>
                </a:tc>
                <a:tc>
                  <a:txBody>
                    <a:bodyPr/>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Layer 1 open slot check</a:t>
                      </a:r>
                      <a:endParaRPr lang="en-US" sz="1150" dirty="0">
                        <a:latin typeface="Libre Franklin Medium" charset="0"/>
                        <a:ea typeface="Libre Franklin Medium" charset="0"/>
                        <a:cs typeface="Libre Franklin Medium" charset="0"/>
                      </a:endParaRPr>
                    </a:p>
                  </a:txBody>
                  <a:tcPr marL="101600" marR="101600" marT="38100" marB="381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4F4F6"/>
                    </a:solidFill>
                  </a:tcPr>
                </a:tc>
              </a:tr>
              <a:tr h="402336">
                <a:tc>
                  <a:txBody>
                    <a:bodyPr/>
                    <a:lstStyle/>
                    <a:p>
                      <a:pPr indent="0" marL="0">
                        <a:buNone/>
                      </a:pPr>
                      <a:r>
                        <a:rPr lang="en-US" sz="1200" b="1" dirty="0">
                          <a:solidFill>
                            <a:srgbClr val="3366FF"/>
                          </a:solidFill>
                          <a:latin typeface="Libre Franklin" pitchFamily="34" charset="0"/>
                          <a:ea typeface="Libre Franklin" pitchFamily="34" charset="-122"/>
                          <a:cs typeface="Libre Franklin" pitchFamily="34" charset="-120"/>
                        </a:rPr>
                        <a:t>family exclusions</a:t>
                      </a:r>
                      <a:endParaRPr lang="en-US" sz="1200" dirty="0">
                        <a:latin typeface="Libre Franklin" charset="0"/>
                        <a:ea typeface="Libre Franklin" charset="0"/>
                        <a:cs typeface="Libre Franklin" charset="0"/>
                      </a:endParaRPr>
                    </a:p>
                  </a:txBody>
                  <a:tcPr marL="101600" marR="101600" marT="38100" marB="381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family id, excluded candidate id, reason</a:t>
                      </a:r>
                      <a:endParaRPr lang="en-US" sz="1150" dirty="0">
                        <a:latin typeface="Libre Franklin Medium" charset="0"/>
                        <a:ea typeface="Libre Franklin Medium" charset="0"/>
                        <a:cs typeface="Libre Franklin Medium" charset="0"/>
                      </a:endParaRPr>
                    </a:p>
                  </a:txBody>
                  <a:tcPr marL="101600" marR="101600" marT="38100" marB="381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Layer 1 conflict check</a:t>
                      </a:r>
                      <a:endParaRPr lang="en-US" sz="1150" dirty="0">
                        <a:latin typeface="Libre Franklin Medium" charset="0"/>
                        <a:ea typeface="Libre Franklin Medium" charset="0"/>
                        <a:cs typeface="Libre Franklin Medium" charset="0"/>
                      </a:endParaRPr>
                    </a:p>
                  </a:txBody>
                  <a:tcPr marL="101600" marR="101600" marT="38100" marB="381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3366FF"/>
                          </a:solidFill>
                          <a:latin typeface="Libre Franklin" pitchFamily="34" charset="0"/>
                          <a:ea typeface="Libre Franklin" pitchFamily="34" charset="-122"/>
                          <a:cs typeface="Libre Franklin" pitchFamily="34" charset="-120"/>
                        </a:rPr>
                        <a:t>certifications</a:t>
                      </a:r>
                      <a:endParaRPr lang="en-US" sz="1200" dirty="0">
                        <a:latin typeface="Libre Franklin" charset="0"/>
                        <a:ea typeface="Libre Franklin" charset="0"/>
                        <a:cs typeface="Libre Franklin" charset="0"/>
                      </a:endParaRPr>
                    </a:p>
                  </a:txBody>
                  <a:tcPr marL="101600" marR="101600" marT="38100" marB="381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4F4F6"/>
                    </a:solidFill>
                  </a:tcPr>
                </a:tc>
                <a:tc>
                  <a:txBody>
                    <a:bodyPr/>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candidate id, visit type, certified</a:t>
                      </a:r>
                      <a:endParaRPr lang="en-US" sz="1150" dirty="0">
                        <a:latin typeface="Libre Franklin Medium" charset="0"/>
                        <a:ea typeface="Libre Franklin Medium" charset="0"/>
                        <a:cs typeface="Libre Franklin Medium" charset="0"/>
                      </a:endParaRPr>
                    </a:p>
                  </a:txBody>
                  <a:tcPr marL="101600" marR="101600" marT="38100" marB="381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4F4F6"/>
                    </a:solidFill>
                  </a:tcPr>
                </a:tc>
                <a:tc>
                  <a:txBody>
                    <a:bodyPr/>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Layer 1 credential check</a:t>
                      </a:r>
                      <a:endParaRPr lang="en-US" sz="1150" dirty="0">
                        <a:latin typeface="Libre Franklin Medium" charset="0"/>
                        <a:ea typeface="Libre Franklin Medium" charset="0"/>
                        <a:cs typeface="Libre Franklin Medium" charset="0"/>
                      </a:endParaRPr>
                    </a:p>
                  </a:txBody>
                  <a:tcPr marL="101600" marR="101600" marT="38100" marB="381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4F4F6"/>
                    </a:solidFill>
                  </a:tcPr>
                </a:tc>
              </a:tr>
              <a:tr h="402336">
                <a:tc>
                  <a:txBody>
                    <a:bodyPr/>
                    <a:lstStyle/>
                    <a:p>
                      <a:pPr indent="0" marL="0">
                        <a:buNone/>
                      </a:pPr>
                      <a:r>
                        <a:rPr lang="en-US" sz="1200" b="1" dirty="0">
                          <a:solidFill>
                            <a:srgbClr val="3366FF"/>
                          </a:solidFill>
                          <a:latin typeface="Libre Franklin" pitchFamily="34" charset="0"/>
                          <a:ea typeface="Libre Franklin" pitchFamily="34" charset="-122"/>
                          <a:cs typeface="Libre Franklin" pitchFamily="34" charset="-120"/>
                        </a:rPr>
                        <a:t>visit history</a:t>
                      </a:r>
                      <a:endParaRPr lang="en-US" sz="1200" dirty="0">
                        <a:latin typeface="Libre Franklin" charset="0"/>
                        <a:ea typeface="Libre Franklin" charset="0"/>
                        <a:cs typeface="Libre Franklin" charset="0"/>
                      </a:endParaRPr>
                    </a:p>
                  </a:txBody>
                  <a:tcPr marL="101600" marR="101600" marT="38100" marB="381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visit id, family id, candidate id, date, visit type</a:t>
                      </a:r>
                      <a:endParaRPr lang="en-US" sz="1150" dirty="0">
                        <a:latin typeface="Libre Franklin Medium" charset="0"/>
                        <a:ea typeface="Libre Franklin Medium" charset="0"/>
                        <a:cs typeface="Libre Franklin Medium" charset="0"/>
                      </a:endParaRPr>
                    </a:p>
                  </a:txBody>
                  <a:tcPr marL="101600" marR="101600" marT="38100" marB="381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Recency, family history, continuity</a:t>
                      </a:r>
                      <a:endParaRPr lang="en-US" sz="1150" dirty="0">
                        <a:latin typeface="Libre Franklin Medium" charset="0"/>
                        <a:ea typeface="Libre Franklin Medium" charset="0"/>
                        <a:cs typeface="Libre Franklin Medium" charset="0"/>
                      </a:endParaRPr>
                    </a:p>
                  </a:txBody>
                  <a:tcPr marL="101600" marR="101600" marT="38100" marB="381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3366FF"/>
                          </a:solidFill>
                          <a:latin typeface="Libre Franklin" pitchFamily="34" charset="0"/>
                          <a:ea typeface="Libre Franklin" pitchFamily="34" charset="-122"/>
                          <a:cs typeface="Libre Franklin" pitchFamily="34" charset="-120"/>
                        </a:rPr>
                        <a:t>distance matrix</a:t>
                      </a:r>
                      <a:endParaRPr lang="en-US" sz="1200" dirty="0">
                        <a:latin typeface="Libre Franklin" charset="0"/>
                        <a:ea typeface="Libre Franklin" charset="0"/>
                        <a:cs typeface="Libre Franklin" charset="0"/>
                      </a:endParaRPr>
                    </a:p>
                  </a:txBody>
                  <a:tcPr marL="101600" marR="101600" marT="38100" marB="381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4F4F6"/>
                    </a:solidFill>
                  </a:tcPr>
                </a:tc>
                <a:tc>
                  <a:txBody>
                    <a:bodyPr/>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candidate id, family id, distance miles</a:t>
                      </a:r>
                      <a:endParaRPr lang="en-US" sz="1150" dirty="0">
                        <a:latin typeface="Libre Franklin Medium" charset="0"/>
                        <a:ea typeface="Libre Franklin Medium" charset="0"/>
                        <a:cs typeface="Libre Franklin Medium" charset="0"/>
                      </a:endParaRPr>
                    </a:p>
                  </a:txBody>
                  <a:tcPr marL="101600" marR="101600" marT="38100" marB="381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4F4F6"/>
                    </a:solidFill>
                  </a:tcPr>
                </a:tc>
                <a:tc>
                  <a:txBody>
                    <a:bodyPr/>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Travel score</a:t>
                      </a:r>
                      <a:endParaRPr lang="en-US" sz="1150" dirty="0">
                        <a:latin typeface="Libre Franklin Medium" charset="0"/>
                        <a:ea typeface="Libre Franklin Medium" charset="0"/>
                        <a:cs typeface="Libre Franklin Medium" charset="0"/>
                      </a:endParaRPr>
                    </a:p>
                  </a:txBody>
                  <a:tcPr marL="101600" marR="101600" marT="38100" marB="381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4F4F6"/>
                    </a:solidFill>
                  </a:tcPr>
                </a:tc>
              </a:tr>
              <a:tr h="402336">
                <a:tc>
                  <a:txBody>
                    <a:bodyPr/>
                    <a:lstStyle/>
                    <a:p>
                      <a:pPr indent="0" marL="0">
                        <a:buNone/>
                      </a:pPr>
                      <a:r>
                        <a:rPr lang="en-US" sz="1200" b="1" dirty="0">
                          <a:solidFill>
                            <a:srgbClr val="3366FF"/>
                          </a:solidFill>
                          <a:latin typeface="Libre Franklin" pitchFamily="34" charset="0"/>
                          <a:ea typeface="Libre Franklin" pitchFamily="34" charset="-122"/>
                          <a:cs typeface="Libre Franklin" pitchFamily="34" charset="-120"/>
                        </a:rPr>
                        <a:t>workload period</a:t>
                      </a:r>
                      <a:endParaRPr lang="en-US" sz="1200" dirty="0">
                        <a:latin typeface="Libre Franklin" charset="0"/>
                        <a:ea typeface="Libre Franklin" charset="0"/>
                        <a:cs typeface="Libre Franklin" charset="0"/>
                      </a:endParaRPr>
                    </a:p>
                  </a:txBody>
                  <a:tcPr marL="101600" marR="101600" marT="38100" marB="381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candidate id, period, visit count</a:t>
                      </a:r>
                      <a:endParaRPr lang="en-US" sz="1150" dirty="0">
                        <a:latin typeface="Libre Franklin Medium" charset="0"/>
                        <a:ea typeface="Libre Franklin Medium" charset="0"/>
                        <a:cs typeface="Libre Franklin Medium" charset="0"/>
                      </a:endParaRPr>
                    </a:p>
                  </a:txBody>
                  <a:tcPr marL="101600" marR="101600" marT="38100" marB="381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Workload score</a:t>
                      </a:r>
                      <a:endParaRPr lang="en-US" sz="1150" dirty="0">
                        <a:latin typeface="Libre Franklin Medium" charset="0"/>
                        <a:ea typeface="Libre Franklin Medium" charset="0"/>
                        <a:cs typeface="Libre Franklin Medium" charset="0"/>
                      </a:endParaRPr>
                    </a:p>
                  </a:txBody>
                  <a:tcPr marL="101600" marR="101600" marT="38100" marB="381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3366FF"/>
                          </a:solidFill>
                          <a:latin typeface="Libre Franklin" pitchFamily="34" charset="0"/>
                          <a:ea typeface="Libre Franklin" pitchFamily="34" charset="-122"/>
                          <a:cs typeface="Libre Franklin" pitchFamily="34" charset="-120"/>
                        </a:rPr>
                        <a:t>family continuity flag</a:t>
                      </a:r>
                      <a:endParaRPr lang="en-US" sz="1200" dirty="0">
                        <a:latin typeface="Libre Franklin" charset="0"/>
                        <a:ea typeface="Libre Franklin" charset="0"/>
                        <a:cs typeface="Libre Franklin" charset="0"/>
                      </a:endParaRPr>
                    </a:p>
                  </a:txBody>
                  <a:tcPr marL="101600" marR="101600" marT="38100" marB="381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4F4F6"/>
                    </a:solidFill>
                  </a:tcPr>
                </a:tc>
                <a:tc>
                  <a:txBody>
                    <a:bodyPr/>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family id, sigma, preferred candidate id</a:t>
                      </a:r>
                      <a:endParaRPr lang="en-US" sz="1150" dirty="0">
                        <a:latin typeface="Libre Franklin Medium" charset="0"/>
                        <a:ea typeface="Libre Franklin Medium" charset="0"/>
                        <a:cs typeface="Libre Franklin Medium" charset="0"/>
                      </a:endParaRPr>
                    </a:p>
                  </a:txBody>
                  <a:tcPr marL="101600" marR="101600" marT="38100" marB="381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4F4F6"/>
                    </a:solidFill>
                  </a:tcPr>
                </a:tc>
                <a:tc>
                  <a:txBody>
                    <a:bodyPr/>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Family preference and overrides</a:t>
                      </a:r>
                      <a:endParaRPr lang="en-US" sz="1150" dirty="0">
                        <a:latin typeface="Libre Franklin Medium" charset="0"/>
                        <a:ea typeface="Libre Franklin Medium" charset="0"/>
                        <a:cs typeface="Libre Franklin Medium" charset="0"/>
                      </a:endParaRPr>
                    </a:p>
                  </a:txBody>
                  <a:tcPr marL="101600" marR="101600" marT="38100" marB="381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4F4F6"/>
                    </a:solidFill>
                  </a:tcPr>
                </a:tc>
              </a:tr>
              <a:tr h="402336">
                <a:tc>
                  <a:txBody>
                    <a:bodyPr/>
                    <a:lstStyle/>
                    <a:p>
                      <a:pPr indent="0" marL="0">
                        <a:buNone/>
                      </a:pPr>
                      <a:r>
                        <a:rPr lang="en-US" sz="1200" b="1" dirty="0">
                          <a:solidFill>
                            <a:srgbClr val="3366FF"/>
                          </a:solidFill>
                          <a:latin typeface="Libre Franklin" pitchFamily="34" charset="0"/>
                          <a:ea typeface="Libre Franklin" pitchFamily="34" charset="-122"/>
                          <a:cs typeface="Libre Franklin" pitchFamily="34" charset="-120"/>
                        </a:rPr>
                        <a:t>scoring weights</a:t>
                      </a:r>
                      <a:endParaRPr lang="en-US" sz="1200" dirty="0">
                        <a:latin typeface="Libre Franklin" charset="0"/>
                        <a:ea typeface="Libre Franklin" charset="0"/>
                        <a:cs typeface="Libre Franklin" charset="0"/>
                      </a:endParaRPr>
                    </a:p>
                  </a:txBody>
                  <a:tcPr marL="101600" marR="101600" marT="38100" marB="381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w1 to w5, effective date</a:t>
                      </a:r>
                      <a:endParaRPr lang="en-US" sz="1150" dirty="0">
                        <a:latin typeface="Libre Franklin Medium" charset="0"/>
                        <a:ea typeface="Libre Franklin Medium" charset="0"/>
                        <a:cs typeface="Libre Franklin Medium" charset="0"/>
                      </a:endParaRPr>
                    </a:p>
                  </a:txBody>
                  <a:tcPr marL="101600" marR="101600" marT="38100" marB="381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FFFFF"/>
                    </a:solidFill>
                  </a:tcPr>
                </a:tc>
                <a:tc>
                  <a:txBody>
                    <a:bodyPr/>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Versioned policy settings</a:t>
                      </a:r>
                      <a:endParaRPr lang="en-US" sz="1150" dirty="0">
                        <a:latin typeface="Libre Franklin Medium" charset="0"/>
                        <a:ea typeface="Libre Franklin Medium" charset="0"/>
                        <a:cs typeface="Libre Franklin Medium" charset="0"/>
                      </a:endParaRPr>
                    </a:p>
                  </a:txBody>
                  <a:tcPr marL="101600" marR="101600" marT="38100" marB="38100" anchor="ctr">
                    <a:lnL w="8890" cap="flat" cmpd="sng" algn="ctr">
                      <a:solidFill>
                        <a:srgbClr val="91BAF4"/>
                      </a:solidFill>
                      <a:prstDash val="solid"/>
                      <a:round/>
                      <a:headEnd type="none" w="med" len="med"/>
                      <a:tailEnd type="none" w="med" len="med"/>
                    </a:lnL>
                    <a:lnR w="8890" cap="flat" cmpd="sng" algn="ctr">
                      <a:solidFill>
                        <a:srgbClr val="91BAF4"/>
                      </a:solidFill>
                      <a:prstDash val="solid"/>
                      <a:round/>
                      <a:headEnd type="none" w="med" len="med"/>
                      <a:tailEnd type="none" w="med" len="med"/>
                    </a:lnR>
                    <a:lnT w="8890" cap="flat" cmpd="sng" algn="ctr">
                      <a:solidFill>
                        <a:srgbClr val="91BAF4"/>
                      </a:solidFill>
                      <a:prstDash val="solid"/>
                      <a:round/>
                      <a:headEnd type="none" w="med" len="med"/>
                      <a:tailEnd type="none" w="med" len="med"/>
                    </a:lnT>
                    <a:lnB w="8890" cap="flat" cmpd="sng" algn="ctr">
                      <a:solidFill>
                        <a:srgbClr val="91BAF4"/>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5486400"/>
            <a:ext cx="11064240" cy="457200"/>
          </a:xfrm>
          <a:prstGeom prst="rect">
            <a:avLst/>
          </a:prstGeom>
          <a:noFill/>
          <a:ln/>
        </p:spPr>
        <p:txBody>
          <a:bodyPr wrap="square" lIns="0" tIns="0" rIns="0" bIns="0" rtlCol="0" anchor="t"/>
          <a:lstStyle/>
          <a:p>
            <a:pPr indent="0" marL="0">
              <a:lnSpc>
                <a:spcPts val="1700"/>
              </a:lnSpc>
              <a:buNone/>
            </a:pPr>
            <a:r>
              <a:rPr lang="en-US" sz="1300" dirty="0">
                <a:solidFill>
                  <a:srgbClr val="3366FF"/>
                </a:solidFill>
                <a:latin typeface="Libre Franklin Medium" pitchFamily="34" charset="0"/>
                <a:ea typeface="Libre Franklin Medium" pitchFamily="34" charset="-122"/>
                <a:cs typeface="Libre Franklin Medium" pitchFamily="34" charset="-120"/>
              </a:rPr>
              <a:t>Only the last two tables are new policy. The first six are records the lab already keeps, which is why this can be built without changing how anyone works day to day.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3366FF"/>
        </a:solidFill>
      </p:bgPr>
    </p:bg>
    <p:spTree>
      <p:nvGrpSpPr>
        <p:cNvPr id="1" name=""/>
        <p:cNvGrpSpPr/>
        <p:nvPr/>
      </p:nvGrpSpPr>
      <p:grpSpPr>
        <a:xfrm>
          <a:off x="0" y="0"/>
          <a:ext cx="0" cy="0"/>
          <a:chOff x="0" y="0"/>
          <a:chExt cx="0" cy="0"/>
        </a:xfrm>
      </p:grpSpPr>
      <p:pic>
        <p:nvPicPr>
          <p:cNvPr id="2" name="Image 0" descr="/sessions/keen-gracious-keller/mnt/.claude/skills/esd-lab/assets/patterns/pattern-icon-band-white.png">    </p:cNvPr>
          <p:cNvPicPr>
            <a:picLocks noChangeAspect="1"/>
          </p:cNvPicPr>
          <p:nvPr/>
        </p:nvPicPr>
        <p:blipFill>
          <a:blip r:embed="rId1">
            <a:alphaModFix amt="14000"/>
          </a:blip>
          <a:srcRect l="0" r="0" t="0" b="0"/>
          <a:stretch/>
        </p:blipFill>
        <p:spPr>
          <a:xfrm>
            <a:off x="0" y="6053328"/>
            <a:ext cx="12191695" cy="804672"/>
          </a:xfrm>
          <a:prstGeom prst="rect">
            <a:avLst/>
          </a:prstGeom>
        </p:spPr>
      </p:pic>
      <p:pic>
        <p:nvPicPr>
          <p:cNvPr id="3" name="Image 1" descr="/sessions/keen-gracious-keller/mnt/.claude/skills/esd-lab/assets/logos/logo-horizontal-cool-white.png">    </p:cNvPr>
          <p:cNvPicPr>
            <a:picLocks noChangeAspect="1"/>
          </p:cNvPicPr>
          <p:nvPr/>
        </p:nvPicPr>
        <p:blipFill>
          <a:blip r:embed="rId2"/>
          <a:stretch>
            <a:fillRect/>
          </a:stretch>
        </p:blipFill>
        <p:spPr>
          <a:xfrm>
            <a:off x="566928" y="457200"/>
            <a:ext cx="1170432" cy="548640"/>
          </a:xfrm>
          <a:prstGeom prst="rect">
            <a:avLst/>
          </a:prstGeom>
        </p:spPr>
      </p:pic>
      <p:sp>
        <p:nvSpPr>
          <p:cNvPr id="4" name="Text 0"/>
          <p:cNvSpPr/>
          <p:nvPr/>
        </p:nvSpPr>
        <p:spPr>
          <a:xfrm>
            <a:off x="566928" y="1371600"/>
            <a:ext cx="8229600" cy="274320"/>
          </a:xfrm>
          <a:prstGeom prst="rect">
            <a:avLst/>
          </a:prstGeom>
          <a:noFill/>
          <a:ln/>
        </p:spPr>
        <p:txBody>
          <a:bodyPr wrap="square" lIns="0" tIns="0" rIns="0" bIns="0" rtlCol="0" anchor="ctr"/>
          <a:lstStyle/>
          <a:p>
            <a:pPr indent="0" marL="0">
              <a:buNone/>
            </a:pPr>
            <a:r>
              <a:rPr lang="en-US" sz="1200" b="1" spc="220" kern="0" dirty="0">
                <a:solidFill>
                  <a:srgbClr val="91BAF4"/>
                </a:solidFill>
                <a:latin typeface="Libre Franklin" pitchFamily="34" charset="0"/>
                <a:ea typeface="Libre Franklin" pitchFamily="34" charset="-122"/>
                <a:cs typeface="Libre Franklin" pitchFamily="34" charset="-120"/>
              </a:rPr>
              <a:t>THE WHOLE RULE, IN ONE LINE</a:t>
            </a:r>
            <a:endParaRPr lang="en-US" sz="1200" dirty="0"/>
          </a:p>
        </p:txBody>
      </p:sp>
      <p:sp>
        <p:nvSpPr>
          <p:cNvPr id="5" name="Text 1"/>
          <p:cNvSpPr/>
          <p:nvPr/>
        </p:nvSpPr>
        <p:spPr>
          <a:xfrm>
            <a:off x="566928" y="1737360"/>
            <a:ext cx="10515600" cy="1005840"/>
          </a:xfrm>
          <a:prstGeom prst="rect">
            <a:avLst/>
          </a:prstGeom>
          <a:noFill/>
          <a:ln/>
        </p:spPr>
        <p:txBody>
          <a:bodyPr wrap="square" lIns="0" tIns="0" rIns="0" bIns="0" rtlCol="0" anchor="t"/>
          <a:lstStyle/>
          <a:p>
            <a:pPr indent="0" marL="0">
              <a:lnSpc>
                <a:spcPts val="3600"/>
              </a:lnSpc>
              <a:buNone/>
            </a:pPr>
            <a:r>
              <a:rPr lang="en-US" sz="2800" b="1" spc="-20" kern="0" dirty="0">
                <a:solidFill>
                  <a:srgbClr val="F4F4F6"/>
                </a:solidFill>
                <a:latin typeface="Libre Franklin" pitchFamily="34" charset="0"/>
                <a:ea typeface="Libre Franklin" pitchFamily="34" charset="-122"/>
                <a:cs typeface="Libre Franklin" pitchFamily="34" charset="-120"/>
              </a:rPr>
              <a:t>No feasible pool, no assignment.</a:t>
            </a:r>
            <a:endParaRPr lang="en-US" sz="2800" dirty="0"/>
          </a:p>
          <a:p>
            <a:pPr indent="0" marL="0">
              <a:lnSpc>
                <a:spcPts val="3600"/>
              </a:lnSpc>
              <a:buNone/>
            </a:pPr>
            <a:r>
              <a:rPr lang="en-US" sz="2800" b="1" spc="-20" kern="0" dirty="0">
                <a:solidFill>
                  <a:srgbClr val="F4F4F6"/>
                </a:solidFill>
                <a:latin typeface="Libre Franklin" pitchFamily="34" charset="0"/>
                <a:ea typeface="Libre Franklin" pitchFamily="34" charset="-122"/>
                <a:cs typeface="Libre Franklin" pitchFamily="34" charset="-120"/>
              </a:rPr>
              <a:t>No assignment without a score you can read.</a:t>
            </a:r>
            <a:endParaRPr lang="en-US" sz="2800" dirty="0"/>
          </a:p>
        </p:txBody>
      </p:sp>
      <p:sp>
        <p:nvSpPr>
          <p:cNvPr id="6" name="Shape 2"/>
          <p:cNvSpPr/>
          <p:nvPr/>
        </p:nvSpPr>
        <p:spPr>
          <a:xfrm>
            <a:off x="566928" y="2880360"/>
            <a:ext cx="11064240" cy="1371600"/>
          </a:xfrm>
          <a:prstGeom prst="roundRect">
            <a:avLst>
              <a:gd name="adj" fmla="val 10667"/>
            </a:avLst>
          </a:prstGeom>
          <a:solidFill>
            <a:srgbClr val="F4F4F6"/>
          </a:solidFill>
          <a:ln/>
        </p:spPr>
      </p:sp>
      <p:pic>
        <p:nvPicPr>
          <p:cNvPr id="7" name="Image 2" descr="/tmp/esd/math/final.png">    </p:cNvPr>
          <p:cNvPicPr>
            <a:picLocks noChangeAspect="1"/>
          </p:cNvPicPr>
          <p:nvPr/>
        </p:nvPicPr>
        <p:blipFill>
          <a:blip r:embed="rId3"/>
          <a:stretch>
            <a:fillRect/>
          </a:stretch>
        </p:blipFill>
        <p:spPr>
          <a:xfrm>
            <a:off x="4118545" y="3154680"/>
            <a:ext cx="3954605" cy="822960"/>
          </a:xfrm>
          <a:prstGeom prst="rect">
            <a:avLst/>
          </a:prstGeom>
        </p:spPr>
      </p:pic>
      <p:sp>
        <p:nvSpPr>
          <p:cNvPr id="8" name="Text 3"/>
          <p:cNvSpPr/>
          <p:nvPr/>
        </p:nvSpPr>
        <p:spPr>
          <a:xfrm>
            <a:off x="566928" y="4480560"/>
            <a:ext cx="3529584" cy="310896"/>
          </a:xfrm>
          <a:prstGeom prst="rect">
            <a:avLst/>
          </a:prstGeom>
          <a:noFill/>
          <a:ln/>
        </p:spPr>
        <p:txBody>
          <a:bodyPr wrap="square" lIns="0" tIns="0" rIns="0" bIns="0" rtlCol="0" anchor="ctr"/>
          <a:lstStyle/>
          <a:p>
            <a:pPr indent="0" marL="0">
              <a:buNone/>
            </a:pPr>
            <a:r>
              <a:rPr lang="en-US" sz="1600" b="1" dirty="0">
                <a:solidFill>
                  <a:srgbClr val="F4F4F6"/>
                </a:solidFill>
                <a:latin typeface="Libre Franklin" pitchFamily="34" charset="0"/>
                <a:ea typeface="Libre Franklin" pitchFamily="34" charset="-122"/>
                <a:cs typeface="Libre Franklin" pitchFamily="34" charset="-120"/>
              </a:rPr>
              <a:t>Explainable</a:t>
            </a:r>
            <a:endParaRPr lang="en-US" sz="1600" dirty="0"/>
          </a:p>
        </p:txBody>
      </p:sp>
      <p:sp>
        <p:nvSpPr>
          <p:cNvPr id="9" name="Shape 4"/>
          <p:cNvSpPr/>
          <p:nvPr/>
        </p:nvSpPr>
        <p:spPr>
          <a:xfrm>
            <a:off x="566928" y="4818888"/>
            <a:ext cx="640080" cy="32004"/>
          </a:xfrm>
          <a:prstGeom prst="rect">
            <a:avLst/>
          </a:prstGeom>
          <a:solidFill>
            <a:srgbClr val="91BAF4"/>
          </a:solidFill>
          <a:ln/>
        </p:spPr>
      </p:sp>
      <p:sp>
        <p:nvSpPr>
          <p:cNvPr id="10" name="Text 5"/>
          <p:cNvSpPr/>
          <p:nvPr/>
        </p:nvSpPr>
        <p:spPr>
          <a:xfrm>
            <a:off x="566928" y="4956048"/>
            <a:ext cx="3529584" cy="868680"/>
          </a:xfrm>
          <a:prstGeom prst="rect">
            <a:avLst/>
          </a:prstGeom>
          <a:noFill/>
          <a:ln/>
        </p:spPr>
        <p:txBody>
          <a:bodyPr wrap="square" lIns="0" tIns="0" rIns="0" bIns="0" rtlCol="0" anchor="t"/>
          <a:lstStyle/>
          <a:p>
            <a:pPr indent="0" marL="0">
              <a:lnSpc>
                <a:spcPts val="1600"/>
              </a:lnSpc>
              <a:buNone/>
            </a:pPr>
            <a:r>
              <a:rPr lang="en-US" sz="1200" dirty="0">
                <a:solidFill>
                  <a:srgbClr val="F4F4F6"/>
                </a:solidFill>
                <a:latin typeface="Libre Franklin Medium" pitchFamily="34" charset="0"/>
                <a:ea typeface="Libre Franklin Medium" pitchFamily="34" charset="-122"/>
                <a:cs typeface="Libre Franklin Medium" pitchFamily="34" charset="-120"/>
              </a:rPr>
              <a:t>Every pick reduces to five numbers and five weights that anyone can check by hand.</a:t>
            </a:r>
            <a:endParaRPr lang="en-US" sz="1200" dirty="0"/>
          </a:p>
        </p:txBody>
      </p:sp>
      <p:sp>
        <p:nvSpPr>
          <p:cNvPr id="11" name="Text 6"/>
          <p:cNvSpPr/>
          <p:nvPr/>
        </p:nvSpPr>
        <p:spPr>
          <a:xfrm>
            <a:off x="4370832" y="4480560"/>
            <a:ext cx="3529584" cy="310896"/>
          </a:xfrm>
          <a:prstGeom prst="rect">
            <a:avLst/>
          </a:prstGeom>
          <a:noFill/>
          <a:ln/>
        </p:spPr>
        <p:txBody>
          <a:bodyPr wrap="square" lIns="0" tIns="0" rIns="0" bIns="0" rtlCol="0" anchor="ctr"/>
          <a:lstStyle/>
          <a:p>
            <a:pPr indent="0" marL="0">
              <a:buNone/>
            </a:pPr>
            <a:r>
              <a:rPr lang="en-US" sz="1600" b="1" dirty="0">
                <a:solidFill>
                  <a:srgbClr val="F4F4F6"/>
                </a:solidFill>
                <a:latin typeface="Libre Franklin" pitchFamily="34" charset="0"/>
                <a:ea typeface="Libre Franklin" pitchFamily="34" charset="-122"/>
                <a:cs typeface="Libre Franklin" pitchFamily="34" charset="-120"/>
              </a:rPr>
              <a:t>Tunable</a:t>
            </a:r>
            <a:endParaRPr lang="en-US" sz="1600" dirty="0"/>
          </a:p>
        </p:txBody>
      </p:sp>
      <p:sp>
        <p:nvSpPr>
          <p:cNvPr id="12" name="Shape 7"/>
          <p:cNvSpPr/>
          <p:nvPr/>
        </p:nvSpPr>
        <p:spPr>
          <a:xfrm>
            <a:off x="4370832" y="4818888"/>
            <a:ext cx="640080" cy="32004"/>
          </a:xfrm>
          <a:prstGeom prst="rect">
            <a:avLst/>
          </a:prstGeom>
          <a:solidFill>
            <a:srgbClr val="91BAF4"/>
          </a:solidFill>
          <a:ln/>
        </p:spPr>
      </p:sp>
      <p:sp>
        <p:nvSpPr>
          <p:cNvPr id="13" name="Text 8"/>
          <p:cNvSpPr/>
          <p:nvPr/>
        </p:nvSpPr>
        <p:spPr>
          <a:xfrm>
            <a:off x="4370832" y="4956048"/>
            <a:ext cx="3529584" cy="868680"/>
          </a:xfrm>
          <a:prstGeom prst="rect">
            <a:avLst/>
          </a:prstGeom>
          <a:noFill/>
          <a:ln/>
        </p:spPr>
        <p:txBody>
          <a:bodyPr wrap="square" lIns="0" tIns="0" rIns="0" bIns="0" rtlCol="0" anchor="t"/>
          <a:lstStyle/>
          <a:p>
            <a:pPr indent="0" marL="0">
              <a:lnSpc>
                <a:spcPts val="1600"/>
              </a:lnSpc>
              <a:buNone/>
            </a:pPr>
            <a:r>
              <a:rPr lang="en-US" sz="1200" dirty="0">
                <a:solidFill>
                  <a:srgbClr val="F4F4F6"/>
                </a:solidFill>
                <a:latin typeface="Libre Franklin Medium" pitchFamily="34" charset="0"/>
                <a:ea typeface="Libre Franklin Medium" pitchFamily="34" charset="-122"/>
                <a:cs typeface="Libre Franklin Medium" pitchFamily="34" charset="-120"/>
              </a:rPr>
              <a:t>The PI changes the weights in a settings table. No code release, and old picks stay reproducible.</a:t>
            </a:r>
            <a:endParaRPr lang="en-US" sz="1200" dirty="0"/>
          </a:p>
        </p:txBody>
      </p:sp>
      <p:sp>
        <p:nvSpPr>
          <p:cNvPr id="14" name="Text 9"/>
          <p:cNvSpPr/>
          <p:nvPr/>
        </p:nvSpPr>
        <p:spPr>
          <a:xfrm>
            <a:off x="8174736" y="4480560"/>
            <a:ext cx="3529584" cy="310896"/>
          </a:xfrm>
          <a:prstGeom prst="rect">
            <a:avLst/>
          </a:prstGeom>
          <a:noFill/>
          <a:ln/>
        </p:spPr>
        <p:txBody>
          <a:bodyPr wrap="square" lIns="0" tIns="0" rIns="0" bIns="0" rtlCol="0" anchor="ctr"/>
          <a:lstStyle/>
          <a:p>
            <a:pPr indent="0" marL="0">
              <a:buNone/>
            </a:pPr>
            <a:r>
              <a:rPr lang="en-US" sz="1600" b="1" dirty="0">
                <a:solidFill>
                  <a:srgbClr val="F4F4F6"/>
                </a:solidFill>
                <a:latin typeface="Libre Franklin" pitchFamily="34" charset="0"/>
                <a:ea typeface="Libre Franklin" pitchFamily="34" charset="-122"/>
                <a:cs typeface="Libre Franklin" pitchFamily="34" charset="-120"/>
              </a:rPr>
              <a:t>Honest</a:t>
            </a:r>
            <a:endParaRPr lang="en-US" sz="1600" dirty="0"/>
          </a:p>
        </p:txBody>
      </p:sp>
      <p:sp>
        <p:nvSpPr>
          <p:cNvPr id="15" name="Shape 10"/>
          <p:cNvSpPr/>
          <p:nvPr/>
        </p:nvSpPr>
        <p:spPr>
          <a:xfrm>
            <a:off x="8174736" y="4818888"/>
            <a:ext cx="640080" cy="32004"/>
          </a:xfrm>
          <a:prstGeom prst="rect">
            <a:avLst/>
          </a:prstGeom>
          <a:solidFill>
            <a:srgbClr val="91BAF4"/>
          </a:solidFill>
          <a:ln/>
        </p:spPr>
      </p:sp>
      <p:sp>
        <p:nvSpPr>
          <p:cNvPr id="16" name="Text 11"/>
          <p:cNvSpPr/>
          <p:nvPr/>
        </p:nvSpPr>
        <p:spPr>
          <a:xfrm>
            <a:off x="8174736" y="4956048"/>
            <a:ext cx="3529584" cy="868680"/>
          </a:xfrm>
          <a:prstGeom prst="rect">
            <a:avLst/>
          </a:prstGeom>
          <a:noFill/>
          <a:ln/>
        </p:spPr>
        <p:txBody>
          <a:bodyPr wrap="square" lIns="0" tIns="0" rIns="0" bIns="0" rtlCol="0" anchor="t"/>
          <a:lstStyle/>
          <a:p>
            <a:pPr indent="0" marL="0">
              <a:lnSpc>
                <a:spcPts val="1600"/>
              </a:lnSpc>
              <a:buNone/>
            </a:pPr>
            <a:r>
              <a:rPr lang="en-US" sz="1200" dirty="0">
                <a:solidFill>
                  <a:srgbClr val="F4F4F6"/>
                </a:solidFill>
                <a:latin typeface="Libre Franklin Medium" pitchFamily="34" charset="0"/>
                <a:ea typeface="Libre Franklin Medium" pitchFamily="34" charset="-122"/>
                <a:cs typeface="Libre Franklin Medium" pitchFamily="34" charset="-120"/>
              </a:rPr>
              <a:t>Close calls and family concerns come back to a person, by design rather than by accident.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Weighted Visit Assignment</dc:title>
  <dc:subject>PptxGenJS Presentation</dc:subject>
  <dc:creator>The Early Social Development Lab at UofSC</dc:creator>
  <cp:lastModifiedBy>The Early Social Development Lab at UofSC</cp:lastModifiedBy>
  <cp:revision>1</cp:revision>
  <dcterms:created xsi:type="dcterms:W3CDTF">2026-08-12T18:47:09Z</dcterms:created>
  <dcterms:modified xsi:type="dcterms:W3CDTF">2026-08-12T18:47:09Z</dcterms:modified>
</cp:coreProperties>
</file>